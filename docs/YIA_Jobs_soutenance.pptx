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628" autoAdjust="0"/>
  </p:normalViewPr>
  <p:slideViewPr>
    <p:cSldViewPr snapToGrid="0">
      <p:cViewPr>
        <p:scale>
          <a:sx n="66" d="100"/>
          <a:sy n="66" d="100"/>
        </p:scale>
        <p:origin x="-192" y="-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8A6968-F8A5-4117-883A-0C39BC6E68E7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C38A8C-A952-4860-9F51-CDDD32759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0191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Axel · 20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Dire en une phrase ce que c'est : un site d'emploi où l'on postule en quelques secondes. Annoncer : sept minutes de présentation, puis la démonstration en direct. Chacun parle de son périmètre : Axel le produit et l'équipe, Yohan la plateforme, Ismail la confiance.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7790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INTERVENANT : Yohan · 45 s</a:t>
            </a:r>
          </a:p>
          <a:p>
            <a:endParaRPr lang="fr-FR" dirty="0"/>
          </a:p>
          <a:p>
            <a:r>
              <a:rPr lang="fr-FR" dirty="0"/>
              <a:t>COMPLÉMENT</a:t>
            </a:r>
          </a:p>
          <a:p>
            <a:r>
              <a:rPr lang="fr-FR" dirty="0"/>
              <a:t>Le premier point vient du sujet : les offres sont dispersées sur de nombreuses plateformes. Les deux autres sont le vécu de n'importe quel candidat : parler d'une expérience personnelle rend le constat concret.</a:t>
            </a:r>
          </a:p>
          <a:p>
            <a:r>
              <a:rPr lang="fr-FR" dirty="0"/>
              <a:t>La phrase du bas est la promesse ; la diapositive suivante la tient.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32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Axel · 60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La capture de droite est l'accueil réel du site : recherche, puis les deux offres les plus récentes.</a:t>
            </a:r>
          </a:p>
          <a:p>
            <a:r>
              <a:rPr lang="fr-FR"/>
              <a:t>Sans compte : nom, prénom, e-mail, téléphone facultatif, message, CV en PDF facultatif. Si l'adresse appartient déjà à un compte, le site demande de se connecter : personne ne candidate au nom d'un autre.</a:t>
            </a:r>
          </a:p>
          <a:p>
            <a:r>
              <a:rPr lang="fr-FR"/>
              <a:t>Ne pas parler technique ici : on vend l'usage.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825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Axel · 60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La capture est une annonce réelle de la base, avec le formulaire ouvert. Le titre de l'annonce ouvre le détail dans la carte ; le bouton Postuler ouvre le formulaire au même endroit.</a:t>
            </a:r>
          </a:p>
          <a:p>
            <a:r>
              <a:rPr lang="fr-FR"/>
              <a:t>Montrer dans l'ordre du geste : l'annonce, le bouton Postuler, le formulaire, puis la confirmation à l'écran après l'envoi.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196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Axel · 50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Un recruteur est une personne rattachée à une entreprise par l'administrateur : personne ne se déclare recruteur lui-même. Pourvoir une offre : l'annonce se ferme, une candidature est retenue, les autres refusées, en une seule opération.</a:t>
            </a:r>
          </a:p>
          <a:p>
            <a:r>
              <a:rPr lang="fr-FR"/>
              <a:t>Administration : accès réservé au rôle admin, 10, 25 ou 50 lignes par page.</a:t>
            </a:r>
          </a:p>
          <a:p>
            <a:r>
              <a:rPr lang="fr-FR"/>
              <a:t>Démonstration : espace candidat, espace recruteur (publier, lire les candidatures et le CV, clôturer) et administration. La clôture se fait depuis l'espace recruteur ; la page d'administration ne la propose pas.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1009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Yohan · 35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Les 53 annonces : 22 CDI, 10 CDD, 9 stages, 7 alternances, 5 freelances, dans 12 entreprises et 12 villes, six catégories de métiers. 3 annonces viennent de seed.sql (TechNova, GreenWorks) ; les 50 autres sont insérées par seed_data.py, qui refuse de s'exécuter deux fois.</a:t>
            </a:r>
          </a:p>
          <a:p>
            <a:r>
              <a:rPr lang="fr-FR"/>
              <a:t>Si la question vient : les données sont fictives, rédigées par l'équipe ; aucune entreprise réelle.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848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Yohan · 60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Technique, si on la demande : React 19 avec Vite côté interface ; Flask 3 en Blueprints sous /api ; SQLite, neuf tables, clés étrangères actives, requêtes paramétrées, contraintes en base (SIREN unique, statuts contrôlés, suppressions protégées).</a:t>
            </a:r>
          </a:p>
          <a:p>
            <a:r>
              <a:rPr lang="fr-FR"/>
              <a:t>Le README à la racine décrit l'installation, le schéma, les routes et les pages ; le contrat d'API est dans docs/.</a:t>
            </a:r>
          </a:p>
          <a:p>
            <a:r>
              <a:rPr lang="fr-FR"/>
              <a:t>Investisseur : ne pas lister les technologies, dire ce qu'elles garantissent.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8056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Ismail · 70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Pourquoi ce parcours : une personne qui a candidaté sans compte a déjà une fiche. Sans vérification, connaître son adresse suffirait pour lire ses candidatures. Avec le lien, seul le propriétaire de la boîte mail ouvre le compte. À l'inverse, une adresse encore inconnue crée le compte tout de suite, sans lien : il n'y a aucune candidature à protéger.</a:t>
            </a:r>
          </a:p>
          <a:p>
            <a:r>
              <a:rPr lang="fr-FR"/>
              <a:t>Technique, si on la demande : jeton aléatoire stocké haché, un lien périmé, inconnu ou déjà utilisé reçoit le même refus ; cookie de session HttpOnly et SameSite=Lax ; cinq échecs en quinze minutes donnent une réponse 429 avec le délai d'attente, même avec le bon mot de passe ; clé secrète et réglages d'envoi dans un fichier .env ignoré par Git.</a:t>
            </a:r>
          </a:p>
          <a:p>
            <a:r>
              <a:rPr lang="fr-FR"/>
              <a:t>En démonstration : avec MAIL_ENABLED=1 dans .env, le lien arrive dans la boîte mail ; sinon, il s'affiche dans le terminal du serveur.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50436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INTERVENANT : Axel · 45 s</a:t>
            </a:r>
          </a:p>
          <a:p>
            <a:endParaRPr lang="fr-FR" dirty="0"/>
          </a:p>
          <a:p>
            <a:r>
              <a:rPr lang="fr-FR" dirty="0"/>
              <a:t>COMPLÉMENT</a:t>
            </a:r>
          </a:p>
          <a:p>
            <a:r>
              <a:rPr lang="fr-FR" dirty="0"/>
              <a:t>C'est le rythme réel du projet : chaque matin un document de tâches par personne, chaque soir les tests et la relecture, puis la fusion dans main et la mise à jour des dépôts. Le dire comme une capacité : le client demande, l'équipe livre.</a:t>
            </a:r>
          </a:p>
          <a:p>
            <a:r>
              <a:rPr lang="fr-FR" dirty="0"/>
              <a:t>Pour l'encadrant : c'est ici que se montre la gestion de projet, sans raconter le chemin.</a:t>
            </a:r>
          </a:p>
          <a:p>
            <a:r>
              <a:rPr lang="fr-FR" dirty="0">
                <a:sym typeface="Wingdings" panose="05000000000000000000" pitchFamily="2" charset="2"/>
              </a:rPr>
              <a:t> Prochainement onglet </a:t>
            </a:r>
            <a:r>
              <a:rPr lang="fr-FR">
                <a:sym typeface="Wingdings" panose="05000000000000000000" pitchFamily="2" charset="2"/>
              </a:rPr>
              <a:t>« nous contacter »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66354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INTERVENANT : Axel · 15 s, puis la démonstration par Axel, Yohan et Ismail</a:t>
            </a:r>
          </a:p>
          <a:p>
            <a:endParaRPr lang="fr-FR" dirty="0"/>
          </a:p>
          <a:p>
            <a:r>
              <a:rPr lang="fr-FR" dirty="0"/>
              <a:t>COMPLÉMENT</a:t>
            </a:r>
          </a:p>
          <a:p>
            <a:r>
              <a:rPr lang="fr-FR" dirty="0"/>
              <a:t>Une personne parle, une autre manipule. Serveur et site lancés avant la présentation, base remplie, boîte mail ouverte (ou terminal du serveur visible si les e-mails sont désactivés) pour le lien de confirmation. Compte administrateur et compte recruteur rattaché à une entreprise prêts. Aucun mot de passe affiché à l'écran. Étapes 02 et 03 : la même adresse e-mail, sinon aucun lien de confirmation n'est envoyé.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8957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INTERVENANT : Axel · 20 s, après la démonstration</a:t>
            </a:r>
          </a:p>
          <a:p>
            <a:endParaRPr lang="fr-FR" dirty="0"/>
          </a:p>
          <a:p>
            <a:r>
              <a:rPr lang="fr-FR" dirty="0"/>
              <a:t>COMPLÉMENT</a:t>
            </a:r>
          </a:p>
          <a:p>
            <a:r>
              <a:rPr lang="fr-FR" dirty="0"/>
              <a:t>Conclure sur la preuve : tout ce qui vient d'être montré est écrit et vérifiable dans le dépôt. Un clic sur le bloc ouvre docs/choix_techniques_front.md sur GitHub (dépôt </a:t>
            </a:r>
            <a:r>
              <a:rPr lang="fr-FR" dirty="0" err="1"/>
              <a:t>Epitech</a:t>
            </a:r>
            <a:r>
              <a:rPr lang="fr-FR" dirty="0"/>
              <a:t>, branche main).</a:t>
            </a:r>
          </a:p>
          <a:p>
            <a:r>
              <a:rPr lang="fr-FR" dirty="0"/>
              <a:t>Ce fichier et le contrat d'API (docs/contrat_api.md) sont sur main depuis le 13 octobre.</a:t>
            </a:r>
          </a:p>
          <a:p>
            <a:r>
              <a:rPr lang="fr-FR" dirty="0"/>
              <a:t>Le 3 : docs/choix_techniques_front.md, choix_techniques_back_donnees.md et choix_techniques_comptes_securite.md.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3302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DBEF89-856E-D86A-F731-B18EBF0F8D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A5A31D5-1405-8130-6827-38E68E9605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158E5A-FB45-7C11-F776-A4A7858A2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6153AF-5487-5FF4-BCDD-5B56D072E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09EFC08-2D12-2D3E-1748-5482D5E87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037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D29638-EC53-34B9-B583-DB5F863FC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9E580F-6697-8301-24AB-5C5EB65D2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A9B51C9-9FDC-C635-BEA6-154D01753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31D793-EA74-0611-9B2D-87BBD766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45A012-797B-F034-6F0B-D4CA1FF7C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4578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C9AF78-7EFB-BE4E-7C83-DA2B2B08D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6E28DCB-342B-71CB-D8DB-B51021C5B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ED0628-9C44-22C0-99CF-F1E5A61C4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D986D3-8E75-6356-F9F3-AD5CC9AC4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47D9CB-14C7-AE86-CF6B-B6CDE91CC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832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58900A-886C-E749-31BF-EA531F4DE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954034-8C93-9333-879E-2077831C41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A0C1D03-DC47-49FF-4A88-95F916F21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7B993E-02FB-AF1D-3716-0EB6C0AB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9F95481-882D-820C-CE90-0DAC17E72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47E3DE2-E7F3-D146-3A25-17A70D2E0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0891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05988C-D67F-B865-9390-9508214CC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DCCB69-3C9D-B943-5CC7-4BE582CE8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13B8E3A-1A2F-CF55-8AB9-C8B4342E16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F470DBA-8E74-E4BB-9D8A-207FEA37C5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E12CF19-38E7-B708-907B-C489C6D38D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47D34C6-AD7B-0818-018D-CE846BEDA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45CAFC5-32E6-DAA9-F679-E62B4A5D6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DD8BF7D-445A-CFC0-B4A7-9BA67B203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2503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DCDD1D-0F93-943E-0AF0-85C205C76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753FF6C-64E1-81F6-A31B-19D162488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F335D0D-F6FD-D771-C938-8D7DC1D67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91192B2-4F63-D864-3E00-3B97E3014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5850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3EB12BD-9158-E32F-A1A4-B33AF6CE6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818F952-9BF3-7C8D-1CD0-B521FC134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041CE7C-6444-AC86-BFD8-4AE232A7B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325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42B6FD-FB3A-5ECD-3837-84FB94235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8A3FB37-6C9F-C963-DA78-4CA64CEEA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ABAFA9-2543-AA10-1F20-F89D2EF7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F34426-274F-2FA7-56C1-D7956FAE4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3CF676-1A99-0995-2B73-3F91D2D67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E6741C-5826-C355-F017-0DC58D270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4684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908079-B36C-F441-2861-F05FD8E1D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CDFBB4D-E38C-9E1D-6C86-8E30137C03B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9BD4AC-2044-1BF5-15E3-0B8D8929B5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C74C0F3-E344-0075-EEB4-3AA16A072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DF5D253-85F2-4D0C-9203-16E7489F8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11B5EA-33A7-8D9D-2488-3F7E50FAC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376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23349F-8E5D-158A-E13C-C8AE0B3AD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E40E0B6-245C-3F6A-9B45-71710B958C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D529F8-1C67-DB14-3458-FCC5C9BFB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F2B689-9BFA-3091-A0A9-DB25A619B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C92901-CD21-5AC8-8B72-C32882D83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9614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0A207FE-7E19-391D-3ED5-301BD5F4CD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4C52670-31CB-5E40-420A-06E0294753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61A050-F626-C8DB-ECD2-DF687C45E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81D4CA5-193B-7791-9238-3762087A2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7959FA-9ACD-1483-4B11-0ED08FFE7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8068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0B3F5F2-BA05-DCCC-510E-659406FC0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519AC08-A5AF-3992-A79E-C4C624249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DE1C1FB-2D4C-C4C8-6CC4-C80A5D27B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4686B7-A23E-1244-B395-E861B45989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00ED5F-A504-F208-5E9E-8E8F38B23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5601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pitechMscProPromo2029/T-WEB-501-PAR-5-1-job_board-5/blob/main/docs/choix_techniques_front.m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6134A688-3A2E-E875-4DC8-63A7A9008D41}"/>
              </a:ext>
            </a:extLst>
          </p:cNvPr>
          <p:cNvSpPr txBox="1"/>
          <p:nvPr/>
        </p:nvSpPr>
        <p:spPr>
          <a:xfrm>
            <a:off x="914400" y="9144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000">
                <a:solidFill>
                  <a:srgbClr val="1D1D1F"/>
                </a:solidFill>
                <a:latin typeface="Manrope SemiBold" pitchFamily="2" charset="0"/>
              </a:rPr>
              <a:t>Y.I.A J</a:t>
            </a:r>
            <a:r>
              <a:rPr lang="fr-FR" sz="2000">
                <a:solidFill>
                  <a:srgbClr val="24577A"/>
                </a:solidFill>
                <a:latin typeface="Manrope SemiBold" pitchFamily="2" charset="0"/>
              </a:rPr>
              <a:t>o</a:t>
            </a:r>
            <a:r>
              <a:rPr lang="fr-FR" sz="2000">
                <a:solidFill>
                  <a:srgbClr val="1D1D1F"/>
                </a:solidFill>
                <a:latin typeface="Manrope SemiBold" pitchFamily="2" charset="0"/>
              </a:rPr>
              <a:t>bs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3249261-F637-F619-4D43-B4D35DAAA271}"/>
              </a:ext>
            </a:extLst>
          </p:cNvPr>
          <p:cNvSpPr txBox="1"/>
          <p:nvPr/>
        </p:nvSpPr>
        <p:spPr>
          <a:xfrm>
            <a:off x="914400" y="22352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5800" spc="-100">
                <a:solidFill>
                  <a:srgbClr val="1D1D1F"/>
                </a:solidFill>
                <a:latin typeface="Manrope SemiBold" pitchFamily="2" charset="0"/>
              </a:rPr>
              <a:t>Votre carrière,</a:t>
            </a:r>
          </a:p>
          <a:p>
            <a:r>
              <a:rPr lang="fr-FR" sz="5800" spc="-100">
                <a:solidFill>
                  <a:srgbClr val="1D1D1F"/>
                </a:solidFill>
                <a:latin typeface="Manrope SemiBold" pitchFamily="2" charset="0"/>
              </a:rPr>
              <a:t>traitée avec </a:t>
            </a:r>
            <a:r>
              <a:rPr lang="fr-FR" sz="5800" spc="-10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soin</a:t>
            </a:r>
            <a:r>
              <a:rPr lang="fr-FR" sz="5800" spc="-10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FDBBDFB-B9FC-4F52-3749-F2175201014A}"/>
              </a:ext>
            </a:extLst>
          </p:cNvPr>
          <p:cNvSpPr txBox="1"/>
          <p:nvPr/>
        </p:nvSpPr>
        <p:spPr>
          <a:xfrm>
            <a:off x="914400" y="53086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5F6B76"/>
                </a:solidFill>
                <a:latin typeface="Manrope" pitchFamily="2" charset="0"/>
              </a:rPr>
              <a:t>Soutenance · octobre 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617EC45-1874-0B4E-2784-26E7435B3B5A}"/>
              </a:ext>
            </a:extLst>
          </p:cNvPr>
          <p:cNvSpPr txBox="1"/>
          <p:nvPr/>
        </p:nvSpPr>
        <p:spPr>
          <a:xfrm>
            <a:off x="914400" y="56388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1D1D1F"/>
                </a:solidFill>
                <a:latin typeface="Manrope Medium" pitchFamily="2" charset="0"/>
              </a:rPr>
              <a:t>Axel FOLLET · Yohan AVRONSART · Ismail BASSIT</a:t>
            </a:r>
          </a:p>
        </p:txBody>
      </p:sp>
    </p:spTree>
    <p:extLst>
      <p:ext uri="{BB962C8B-B14F-4D97-AF65-F5344CB8AC3E}">
        <p14:creationId xmlns:p14="http://schemas.microsoft.com/office/powerpoint/2010/main" val="1670973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174AA58-2FA2-9B40-E869-92BCC6508318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LE CONSTAT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E92A121-080E-EF03-8468-184C330CF866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Postuler est devenu un parcours d'</a:t>
            </a:r>
            <a:r>
              <a:rPr lang="fr-FR" sz="3600" spc="-5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obstacles</a:t>
            </a:r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2AD5B0-F11B-9227-EEBF-B989A6FDC2C4}"/>
              </a:ext>
            </a:extLst>
          </p:cNvPr>
          <p:cNvSpPr/>
          <p:nvPr/>
        </p:nvSpPr>
        <p:spPr>
          <a:xfrm>
            <a:off x="914400" y="2235200"/>
            <a:ext cx="508000" cy="381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74EE2A7-5636-B272-DC5F-01536F704782}"/>
              </a:ext>
            </a:extLst>
          </p:cNvPr>
          <p:cNvSpPr txBox="1"/>
          <p:nvPr/>
        </p:nvSpPr>
        <p:spPr>
          <a:xfrm>
            <a:off x="914400" y="24892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>
                <a:solidFill>
                  <a:srgbClr val="1D1D1F"/>
                </a:solidFill>
                <a:latin typeface="Manrope SemiBold" pitchFamily="2" charset="0"/>
              </a:rPr>
              <a:t>Des offres dispersées.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B782D92-A0A6-3ADE-E480-2F5243F0AC01}"/>
              </a:ext>
            </a:extLst>
          </p:cNvPr>
          <p:cNvSpPr txBox="1"/>
          <p:nvPr/>
        </p:nvSpPr>
        <p:spPr>
          <a:xfrm>
            <a:off x="914400" y="34036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5F6B76"/>
                </a:solidFill>
                <a:latin typeface="Manrope" pitchFamily="2" charset="0"/>
              </a:rPr>
              <a:t>Les annonces sont réparties sur de nombreuses plateformes, chacune avec ses règles.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FA01C3-3B49-4FC1-35E1-62E5C5241335}"/>
              </a:ext>
            </a:extLst>
          </p:cNvPr>
          <p:cNvSpPr/>
          <p:nvPr/>
        </p:nvSpPr>
        <p:spPr>
          <a:xfrm>
            <a:off x="4495800" y="2235200"/>
            <a:ext cx="508000" cy="381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3D6F8C2-A20F-CADB-95FE-8CA6D0626F3D}"/>
              </a:ext>
            </a:extLst>
          </p:cNvPr>
          <p:cNvSpPr txBox="1"/>
          <p:nvPr/>
        </p:nvSpPr>
        <p:spPr>
          <a:xfrm>
            <a:off x="4495800" y="24892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>
                <a:solidFill>
                  <a:srgbClr val="1D1D1F"/>
                </a:solidFill>
                <a:latin typeface="Manrope SemiBold" pitchFamily="2" charset="0"/>
              </a:rPr>
              <a:t>Un compte avant tout.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7DC25EF-CDD2-C65A-092C-854A35A8E57A}"/>
              </a:ext>
            </a:extLst>
          </p:cNvPr>
          <p:cNvSpPr txBox="1"/>
          <p:nvPr/>
        </p:nvSpPr>
        <p:spPr>
          <a:xfrm>
            <a:off x="4495800" y="34036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5F6B76"/>
                </a:solidFill>
                <a:latin typeface="Manrope" pitchFamily="2" charset="0"/>
              </a:rPr>
              <a:t>Il faut s'inscrire, confirmer, se connecter, avant même de lire une offre.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C547B4-1750-604A-D557-AFDDFCDDA06D}"/>
              </a:ext>
            </a:extLst>
          </p:cNvPr>
          <p:cNvSpPr/>
          <p:nvPr/>
        </p:nvSpPr>
        <p:spPr>
          <a:xfrm>
            <a:off x="8077200" y="2235200"/>
            <a:ext cx="508000" cy="381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AA1A1C3-E17B-EE9D-D151-A3C431A19449}"/>
              </a:ext>
            </a:extLst>
          </p:cNvPr>
          <p:cNvSpPr txBox="1"/>
          <p:nvPr/>
        </p:nvSpPr>
        <p:spPr>
          <a:xfrm>
            <a:off x="8077200" y="24892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>
                <a:solidFill>
                  <a:srgbClr val="1D1D1F"/>
                </a:solidFill>
                <a:latin typeface="Manrope SemiBold" pitchFamily="2" charset="0"/>
              </a:rPr>
              <a:t>Puis le silence.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598C50F-ED7A-B3EF-07E1-A8A8F4DF36DA}"/>
              </a:ext>
            </a:extLst>
          </p:cNvPr>
          <p:cNvSpPr txBox="1"/>
          <p:nvPr/>
        </p:nvSpPr>
        <p:spPr>
          <a:xfrm>
            <a:off x="8077200" y="34036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5F6B76"/>
                </a:solidFill>
                <a:latin typeface="Manrope" pitchFamily="2" charset="0"/>
              </a:rPr>
              <a:t>Une fois la candidature envoyée, aucune réponse, aucun état, aucun suivi.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6F44757-92A3-2FE1-47E8-68C7A0D6C2D9}"/>
              </a:ext>
            </a:extLst>
          </p:cNvPr>
          <p:cNvSpPr txBox="1"/>
          <p:nvPr/>
        </p:nvSpPr>
        <p:spPr>
          <a:xfrm>
            <a:off x="914400" y="5334000"/>
            <a:ext cx="10363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000">
                <a:solidFill>
                  <a:srgbClr val="24577A"/>
                </a:solidFill>
                <a:latin typeface="Manrope Medium" pitchFamily="2" charset="0"/>
              </a:rPr>
              <a:t>Candidater devrait prendre quelques secondes.</a:t>
            </a:r>
          </a:p>
        </p:txBody>
      </p:sp>
    </p:spTree>
    <p:extLst>
      <p:ext uri="{BB962C8B-B14F-4D97-AF65-F5344CB8AC3E}">
        <p14:creationId xmlns:p14="http://schemas.microsoft.com/office/powerpoint/2010/main" val="1715952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BE10AB-A882-C6F9-B0B9-A73ADE313325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LA RÉPONSE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50DB812-290C-E2CF-31D5-73BECFF8E0EB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Trouver, lire, </a:t>
            </a:r>
            <a:r>
              <a:rPr lang="fr-FR" sz="3600" spc="-5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postuler</a:t>
            </a:r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. Sans détour.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0080F-E3C5-50FD-1D15-7C8681FACCFC}"/>
              </a:ext>
            </a:extLst>
          </p:cNvPr>
          <p:cNvSpPr/>
          <p:nvPr/>
        </p:nvSpPr>
        <p:spPr>
          <a:xfrm>
            <a:off x="914400" y="2159000"/>
            <a:ext cx="38100" cy="5588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650D61D-C91E-04F7-7306-CC85CF748AA2}"/>
              </a:ext>
            </a:extLst>
          </p:cNvPr>
          <p:cNvSpPr txBox="1"/>
          <p:nvPr/>
        </p:nvSpPr>
        <p:spPr>
          <a:xfrm>
            <a:off x="1143000" y="21082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Medium" pitchFamily="2" charset="0"/>
              </a:rPr>
              <a:t>Quelques secondes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9A67ACA-7C26-342E-2A82-311142B9DFB9}"/>
              </a:ext>
            </a:extLst>
          </p:cNvPr>
          <p:cNvSpPr txBox="1"/>
          <p:nvPr/>
        </p:nvSpPr>
        <p:spPr>
          <a:xfrm>
            <a:off x="1143000" y="24892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5F6B76"/>
                </a:solidFill>
                <a:latin typeface="Manrope" pitchFamily="2" charset="0"/>
              </a:rPr>
              <a:t>Nom, e-mail, message : la candidature est enregistrée.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26F2F-5601-B5BC-8F23-5BBC19B719DE}"/>
              </a:ext>
            </a:extLst>
          </p:cNvPr>
          <p:cNvSpPr/>
          <p:nvPr/>
        </p:nvSpPr>
        <p:spPr>
          <a:xfrm>
            <a:off x="914400" y="3378200"/>
            <a:ext cx="38100" cy="5588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AA5EF58-CCBD-9EE9-59B7-A68241CE4FD2}"/>
              </a:ext>
            </a:extLst>
          </p:cNvPr>
          <p:cNvSpPr txBox="1"/>
          <p:nvPr/>
        </p:nvSpPr>
        <p:spPr>
          <a:xfrm>
            <a:off x="1143000" y="3327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Medium" pitchFamily="2" charset="0"/>
              </a:rPr>
              <a:t>Avec ou sans compte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3C4E452-E33C-E5DD-65C3-E1547C8CBDE9}"/>
              </a:ext>
            </a:extLst>
          </p:cNvPr>
          <p:cNvSpPr txBox="1"/>
          <p:nvPr/>
        </p:nvSpPr>
        <p:spPr>
          <a:xfrm>
            <a:off x="1143000" y="3708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5F6B76"/>
                </a:solidFill>
                <a:latin typeface="Manrope" pitchFamily="2" charset="0"/>
              </a:rPr>
              <a:t>Le compte est une option, jamais une barrière.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1342EA-3FBC-25E9-413E-B04190BC647C}"/>
              </a:ext>
            </a:extLst>
          </p:cNvPr>
          <p:cNvSpPr/>
          <p:nvPr/>
        </p:nvSpPr>
        <p:spPr>
          <a:xfrm>
            <a:off x="914400" y="4597400"/>
            <a:ext cx="38100" cy="5588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13EDDBF-5555-E2F0-46C8-D26C5C224801}"/>
              </a:ext>
            </a:extLst>
          </p:cNvPr>
          <p:cNvSpPr txBox="1"/>
          <p:nvPr/>
        </p:nvSpPr>
        <p:spPr>
          <a:xfrm>
            <a:off x="1143000" y="4546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Medium" pitchFamily="2" charset="0"/>
              </a:rPr>
              <a:t>Un suivi lisible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1A87B3D-DC66-7F16-DBAC-66AC8C026FD6}"/>
              </a:ext>
            </a:extLst>
          </p:cNvPr>
          <p:cNvSpPr txBox="1"/>
          <p:nvPr/>
        </p:nvSpPr>
        <p:spPr>
          <a:xfrm>
            <a:off x="1143000" y="4927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5F6B76"/>
                </a:solidFill>
                <a:latin typeface="Manrope" pitchFamily="2" charset="0"/>
              </a:rPr>
              <a:t>Chaque candidature a un état : en attente, retenue, refusée.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0013B18A-BD82-B704-452F-DB240E67168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2269836"/>
            <a:ext cx="4927600" cy="3359727"/>
          </a:xfrm>
          <a:prstGeom prst="rect">
            <a:avLst/>
          </a:prstGeom>
          <a:ln w="9525">
            <a:solidFill>
              <a:srgbClr val="E2E8ED"/>
            </a:solidFill>
          </a:ln>
        </p:spPr>
      </p:pic>
    </p:spTree>
    <p:extLst>
      <p:ext uri="{BB962C8B-B14F-4D97-AF65-F5344CB8AC3E}">
        <p14:creationId xmlns:p14="http://schemas.microsoft.com/office/powerpoint/2010/main" val="339877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57FB4BB-36D0-5444-5839-DB1A8B9FE59B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LE PRODUIT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72E5CBE-2C2C-1F06-3BDF-B09236F3B056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Une annonce, un bouton, une </a:t>
            </a:r>
            <a:r>
              <a:rPr lang="fr-FR" sz="3600" spc="-5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candidature</a:t>
            </a:r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F01E1EB-C59A-0731-F82E-563B8F358179}"/>
              </a:ext>
            </a:extLst>
          </p:cNvPr>
          <p:cNvSpPr txBox="1"/>
          <p:nvPr/>
        </p:nvSpPr>
        <p:spPr>
          <a:xfrm>
            <a:off x="6604000" y="20574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Medium" pitchFamily="2" charset="0"/>
              </a:rPr>
              <a:t>Le détail dans la carte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098A0AB-0F85-A7E8-8E4C-C3FFF57D1883}"/>
              </a:ext>
            </a:extLst>
          </p:cNvPr>
          <p:cNvSpPr txBox="1"/>
          <p:nvPr/>
        </p:nvSpPr>
        <p:spPr>
          <a:xfrm>
            <a:off x="6604000" y="24384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5F6B76"/>
                </a:solidFill>
                <a:latin typeface="Manrope" pitchFamily="2" charset="0"/>
              </a:rPr>
              <a:t>Description, salaire, temps de travail : sans rechargement, sans fenêtre.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D6B5F5C-543D-10AB-D399-186988F5FC9C}"/>
              </a:ext>
            </a:extLst>
          </p:cNvPr>
          <p:cNvSpPr/>
          <p:nvPr/>
        </p:nvSpPr>
        <p:spPr>
          <a:xfrm>
            <a:off x="6604000" y="3073400"/>
            <a:ext cx="46736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6BEFB37-4FD0-AB2A-A898-FD0BFCABB63C}"/>
              </a:ext>
            </a:extLst>
          </p:cNvPr>
          <p:cNvSpPr txBox="1"/>
          <p:nvPr/>
        </p:nvSpPr>
        <p:spPr>
          <a:xfrm>
            <a:off x="6604000" y="34036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Medium" pitchFamily="2" charset="0"/>
              </a:rPr>
              <a:t>Cinq champs, un CV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FD36417B-0261-89CC-7724-058FAF629150}"/>
              </a:ext>
            </a:extLst>
          </p:cNvPr>
          <p:cNvSpPr txBox="1"/>
          <p:nvPr/>
        </p:nvSpPr>
        <p:spPr>
          <a:xfrm>
            <a:off x="6604000" y="37846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5F6B76"/>
                </a:solidFill>
                <a:latin typeface="Manrope" pitchFamily="2" charset="0"/>
              </a:rPr>
              <a:t>Le CV en PDF est facultatif : rien de plus que ce dont le recruteur a besoin.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1285DF-2037-2D4E-E271-11B0B0840F77}"/>
              </a:ext>
            </a:extLst>
          </p:cNvPr>
          <p:cNvSpPr/>
          <p:nvPr/>
        </p:nvSpPr>
        <p:spPr>
          <a:xfrm>
            <a:off x="6604000" y="4419600"/>
            <a:ext cx="46736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8021325-BD94-5B2C-6D22-9725706F463E}"/>
              </a:ext>
            </a:extLst>
          </p:cNvPr>
          <p:cNvSpPr txBox="1"/>
          <p:nvPr/>
        </p:nvSpPr>
        <p:spPr>
          <a:xfrm>
            <a:off x="6604000" y="47498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Medium" pitchFamily="2" charset="0"/>
              </a:rPr>
              <a:t>Confirmation immédiate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7A4EE74C-024B-0562-E4A0-807E8CFA8B46}"/>
              </a:ext>
            </a:extLst>
          </p:cNvPr>
          <p:cNvSpPr txBox="1"/>
          <p:nvPr/>
        </p:nvSpPr>
        <p:spPr>
          <a:xfrm>
            <a:off x="6604000" y="51308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5F6B76"/>
                </a:solidFill>
                <a:latin typeface="Manrope" pitchFamily="2" charset="0"/>
              </a:rPr>
              <a:t>Le candidat sait tout de suite que sa demande est partie.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04F62C-47D0-F1EC-872D-DC30A78E8E04}"/>
              </a:ext>
            </a:extLst>
          </p:cNvPr>
          <p:cNvSpPr/>
          <p:nvPr/>
        </p:nvSpPr>
        <p:spPr>
          <a:xfrm>
            <a:off x="6604000" y="5765800"/>
            <a:ext cx="46736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64147C62-6C5C-7EA0-BA34-E7BE6965997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4" t="746"/>
          <a:stretch>
            <a:fillRect/>
          </a:stretch>
        </p:blipFill>
        <p:spPr>
          <a:xfrm>
            <a:off x="1482290" y="1885846"/>
            <a:ext cx="4071803" cy="4210153"/>
          </a:xfrm>
          <a:prstGeom prst="rect">
            <a:avLst/>
          </a:prstGeom>
          <a:ln w="9525">
            <a:solidFill>
              <a:srgbClr val="E2E8ED"/>
            </a:solidFill>
          </a:ln>
        </p:spPr>
      </p:pic>
    </p:spTree>
    <p:extLst>
      <p:ext uri="{BB962C8B-B14F-4D97-AF65-F5344CB8AC3E}">
        <p14:creationId xmlns:p14="http://schemas.microsoft.com/office/powerpoint/2010/main" val="10967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26E096FB-E2AE-4177-AFDD-A77691727D5B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UNE PLATEFORME, TROIS ESPACES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C2CDBFC-FD1A-2CD4-65C0-570A0AF08E8F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Chacun son espace, la même </a:t>
            </a:r>
            <a:r>
              <a:rPr lang="fr-FR" sz="3600" spc="-5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simplicité</a:t>
            </a:r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524618D0-493C-E0EB-5D01-6CACBFEB37DA}"/>
              </a:ext>
            </a:extLst>
          </p:cNvPr>
          <p:cNvSpPr/>
          <p:nvPr/>
        </p:nvSpPr>
        <p:spPr>
          <a:xfrm>
            <a:off x="914400" y="2032000"/>
            <a:ext cx="3200400" cy="3683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C209EA4-7895-7DE1-FBD4-EF2E1EEDBA5F}"/>
              </a:ext>
            </a:extLst>
          </p:cNvPr>
          <p:cNvSpPr txBox="1"/>
          <p:nvPr/>
        </p:nvSpPr>
        <p:spPr>
          <a:xfrm>
            <a:off x="1219200" y="23368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24577A"/>
                </a:solidFill>
                <a:latin typeface="Manrope SemiBold" pitchFamily="2" charset="0"/>
              </a:rPr>
              <a:t>CANDIDAT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779EE69-15DC-DF40-0E18-C77BC3EC9E47}"/>
              </a:ext>
            </a:extLst>
          </p:cNvPr>
          <p:cNvSpPr txBox="1"/>
          <p:nvPr/>
        </p:nvSpPr>
        <p:spPr>
          <a:xfrm>
            <a:off x="1219200" y="2616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1D1D1F"/>
                </a:solidFill>
                <a:latin typeface="Manrope SemiBold" pitchFamily="2" charset="0"/>
              </a:rPr>
              <a:t>Postuler et suivre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84367D-BDC6-887B-67FF-9C5AD7EEE6BD}"/>
              </a:ext>
            </a:extLst>
          </p:cNvPr>
          <p:cNvSpPr/>
          <p:nvPr/>
        </p:nvSpPr>
        <p:spPr>
          <a:xfrm>
            <a:off x="1219200" y="33274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64B561-1A2A-48BD-BDAF-C7A5B11C2423}"/>
              </a:ext>
            </a:extLst>
          </p:cNvPr>
          <p:cNvSpPr txBox="1"/>
          <p:nvPr/>
        </p:nvSpPr>
        <p:spPr>
          <a:xfrm>
            <a:off x="1447800" y="322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Ses candidatures et leur état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E0D620-2BE3-A957-8337-1831DB8CC823}"/>
              </a:ext>
            </a:extLst>
          </p:cNvPr>
          <p:cNvSpPr/>
          <p:nvPr/>
        </p:nvSpPr>
        <p:spPr>
          <a:xfrm>
            <a:off x="1219200" y="39878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F10F86E-595A-0106-918E-ACF88CCE49E0}"/>
              </a:ext>
            </a:extLst>
          </p:cNvPr>
          <p:cNvSpPr txBox="1"/>
          <p:nvPr/>
        </p:nvSpPr>
        <p:spPr>
          <a:xfrm>
            <a:off x="1447800" y="3886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Ses informations, modifiables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5360DA-E702-D315-A9AF-F4866004D192}"/>
              </a:ext>
            </a:extLst>
          </p:cNvPr>
          <p:cNvSpPr/>
          <p:nvPr/>
        </p:nvSpPr>
        <p:spPr>
          <a:xfrm>
            <a:off x="1219200" y="46482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D2CA590-79F6-5AF2-521F-A2B160B35EB4}"/>
              </a:ext>
            </a:extLst>
          </p:cNvPr>
          <p:cNvSpPr txBox="1"/>
          <p:nvPr/>
        </p:nvSpPr>
        <p:spPr>
          <a:xfrm>
            <a:off x="1447800" y="454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Son CV, déposé une fois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66B0CBFE-9064-7192-CBFF-20D1F7BB3EA7}"/>
              </a:ext>
            </a:extLst>
          </p:cNvPr>
          <p:cNvSpPr/>
          <p:nvPr/>
        </p:nvSpPr>
        <p:spPr>
          <a:xfrm>
            <a:off x="4495800" y="2032000"/>
            <a:ext cx="3200400" cy="3683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E7537E5-5ACC-5C9D-0A3F-6B9419183A85}"/>
              </a:ext>
            </a:extLst>
          </p:cNvPr>
          <p:cNvSpPr txBox="1"/>
          <p:nvPr/>
        </p:nvSpPr>
        <p:spPr>
          <a:xfrm>
            <a:off x="4800600" y="23368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24577A"/>
                </a:solidFill>
                <a:latin typeface="Manrope SemiBold" pitchFamily="2" charset="0"/>
              </a:rPr>
              <a:t>RECRUTEUR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F2AA4DE-F439-23F8-2AE4-E8784A5AD1FC}"/>
              </a:ext>
            </a:extLst>
          </p:cNvPr>
          <p:cNvSpPr txBox="1"/>
          <p:nvPr/>
        </p:nvSpPr>
        <p:spPr>
          <a:xfrm>
            <a:off x="4800600" y="2616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1D1D1F"/>
                </a:solidFill>
                <a:latin typeface="Manrope SemiBold" pitchFamily="2" charset="0"/>
              </a:rPr>
              <a:t>Publier et choisir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1862B-B232-A6B0-0914-EF7EA5305A54}"/>
              </a:ext>
            </a:extLst>
          </p:cNvPr>
          <p:cNvSpPr/>
          <p:nvPr/>
        </p:nvSpPr>
        <p:spPr>
          <a:xfrm>
            <a:off x="4800600" y="33274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E47D10C2-900D-7734-0B41-C32C11748C3A}"/>
              </a:ext>
            </a:extLst>
          </p:cNvPr>
          <p:cNvSpPr txBox="1"/>
          <p:nvPr/>
        </p:nvSpPr>
        <p:spPr>
          <a:xfrm>
            <a:off x="5029200" y="322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Son entreprise, identifiée par son SIREN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64B17E-FECC-D285-C0A5-41E7D15E31DA}"/>
              </a:ext>
            </a:extLst>
          </p:cNvPr>
          <p:cNvSpPr/>
          <p:nvPr/>
        </p:nvSpPr>
        <p:spPr>
          <a:xfrm>
            <a:off x="4800600" y="39878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F9766DE-99D8-FAAB-613C-617F13617BD7}"/>
              </a:ext>
            </a:extLst>
          </p:cNvPr>
          <p:cNvSpPr txBox="1"/>
          <p:nvPr/>
        </p:nvSpPr>
        <p:spPr>
          <a:xfrm>
            <a:off x="5029200" y="3886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Ses offres et leurs candidatures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4332A1C-EAEE-C209-F1B2-C45F7A987EC7}"/>
              </a:ext>
            </a:extLst>
          </p:cNvPr>
          <p:cNvSpPr/>
          <p:nvPr/>
        </p:nvSpPr>
        <p:spPr>
          <a:xfrm>
            <a:off x="4800600" y="46482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BEBA637E-CE1F-0BDC-748F-CF0A8082D305}"/>
              </a:ext>
            </a:extLst>
          </p:cNvPr>
          <p:cNvSpPr txBox="1"/>
          <p:nvPr/>
        </p:nvSpPr>
        <p:spPr>
          <a:xfrm>
            <a:off x="5029200" y="454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Une offre pourvue en un geste</a:t>
            </a: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4EB0A40E-1022-BBCF-EC99-EA3455B9D546}"/>
              </a:ext>
            </a:extLst>
          </p:cNvPr>
          <p:cNvSpPr/>
          <p:nvPr/>
        </p:nvSpPr>
        <p:spPr>
          <a:xfrm>
            <a:off x="8077200" y="2032000"/>
            <a:ext cx="3200400" cy="36830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D3C453E-BAF5-B029-9666-E99F4BF77EE4}"/>
              </a:ext>
            </a:extLst>
          </p:cNvPr>
          <p:cNvSpPr txBox="1"/>
          <p:nvPr/>
        </p:nvSpPr>
        <p:spPr>
          <a:xfrm>
            <a:off x="8382000" y="23368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24577A"/>
                </a:solidFill>
                <a:latin typeface="Manrope SemiBold" pitchFamily="2" charset="0"/>
              </a:rPr>
              <a:t>ADMINISTRATION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72F11AF5-4DA7-45BB-9ABB-E4C6A7934F8D}"/>
              </a:ext>
            </a:extLst>
          </p:cNvPr>
          <p:cNvSpPr txBox="1"/>
          <p:nvPr/>
        </p:nvSpPr>
        <p:spPr>
          <a:xfrm>
            <a:off x="8382000" y="2616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1D1D1F"/>
                </a:solidFill>
                <a:latin typeface="Manrope SemiBold" pitchFamily="2" charset="0"/>
              </a:rPr>
              <a:t>Tout piloter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DE2B60-1CD8-7795-AFFE-4B4130FFF2ED}"/>
              </a:ext>
            </a:extLst>
          </p:cNvPr>
          <p:cNvSpPr/>
          <p:nvPr/>
        </p:nvSpPr>
        <p:spPr>
          <a:xfrm>
            <a:off x="8382000" y="33274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1360E5C-EC35-6AAB-211D-C9787970E53C}"/>
              </a:ext>
            </a:extLst>
          </p:cNvPr>
          <p:cNvSpPr txBox="1"/>
          <p:nvPr/>
        </p:nvSpPr>
        <p:spPr>
          <a:xfrm>
            <a:off x="8610600" y="322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Entreprises, catégories, offres, personnes, candidatures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911B624-968C-B6D3-0543-7B39C28B74F4}"/>
              </a:ext>
            </a:extLst>
          </p:cNvPr>
          <p:cNvSpPr/>
          <p:nvPr/>
        </p:nvSpPr>
        <p:spPr>
          <a:xfrm>
            <a:off x="8382000" y="39878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7DDC65F4-34FD-BC18-817D-3F2EA4DD897E}"/>
              </a:ext>
            </a:extLst>
          </p:cNvPr>
          <p:cNvSpPr txBox="1"/>
          <p:nvPr/>
        </p:nvSpPr>
        <p:spPr>
          <a:xfrm>
            <a:off x="8610600" y="3886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Lister, créer, modifier, supprimer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156688-A992-71EB-DE94-EEFEF397DF23}"/>
              </a:ext>
            </a:extLst>
          </p:cNvPr>
          <p:cNvSpPr/>
          <p:nvPr/>
        </p:nvSpPr>
        <p:spPr>
          <a:xfrm>
            <a:off x="8382000" y="4648200"/>
            <a:ext cx="127000" cy="1905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EF104B02-9BF0-9743-4EE6-8F68F06064FF}"/>
              </a:ext>
            </a:extLst>
          </p:cNvPr>
          <p:cNvSpPr txBox="1"/>
          <p:nvPr/>
        </p:nvSpPr>
        <p:spPr>
          <a:xfrm>
            <a:off x="8610600" y="454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Accès réservé, pages paginées</a:t>
            </a:r>
          </a:p>
        </p:txBody>
      </p:sp>
    </p:spTree>
    <p:extLst>
      <p:ext uri="{BB962C8B-B14F-4D97-AF65-F5344CB8AC3E}">
        <p14:creationId xmlns:p14="http://schemas.microsoft.com/office/powerpoint/2010/main" val="3351910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 animBg="1"/>
      <p:bldP spid="3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FF9A63-C840-00D2-A4BA-A3245E4FAF8A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DÉJÀ EN PLACE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FFE4B2-A5F6-13F5-036F-7F9959EC31FF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Un catalogue </a:t>
            </a:r>
            <a:r>
              <a:rPr lang="fr-FR" sz="3600" spc="-5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réel</a:t>
            </a:r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, pas une maquette.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666DF5E-FB67-3C6C-4F9E-0B555FB6F28B}"/>
              </a:ext>
            </a:extLst>
          </p:cNvPr>
          <p:cNvSpPr txBox="1"/>
          <p:nvPr/>
        </p:nvSpPr>
        <p:spPr>
          <a:xfrm>
            <a:off x="9144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7600" spc="-200">
                <a:solidFill>
                  <a:srgbClr val="1D1D1F"/>
                </a:solidFill>
                <a:latin typeface="Manrope SemiBold" pitchFamily="2" charset="0"/>
              </a:rPr>
              <a:t>53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787A40E-908D-6E75-B03F-7181C76651A7}"/>
              </a:ext>
            </a:extLst>
          </p:cNvPr>
          <p:cNvSpPr txBox="1"/>
          <p:nvPr/>
        </p:nvSpPr>
        <p:spPr>
          <a:xfrm>
            <a:off x="914400" y="3454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24577A"/>
                </a:solidFill>
                <a:latin typeface="Manrope Medium" pitchFamily="2" charset="0"/>
              </a:rPr>
              <a:t>annonces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A0EA17D-D87B-77C3-A571-0A950FE235CC}"/>
              </a:ext>
            </a:extLst>
          </p:cNvPr>
          <p:cNvSpPr txBox="1"/>
          <p:nvPr/>
        </p:nvSpPr>
        <p:spPr>
          <a:xfrm>
            <a:off x="914400" y="3810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250">
                <a:solidFill>
                  <a:srgbClr val="5F6B76"/>
                </a:solidFill>
                <a:latin typeface="Manrope" pitchFamily="2" charset="0"/>
              </a:rPr>
              <a:t>CDI, CDD, stage, alternance, freelance</a:t>
            </a:r>
            <a:endParaRPr lang="fr-FR" sz="1250">
              <a:solidFill>
                <a:srgbClr val="5F6B76"/>
              </a:solidFill>
              <a:latin typeface="Manrope" pitchFamily="2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D519F46-893B-37C2-AA9D-CE59986BAB12}"/>
              </a:ext>
            </a:extLst>
          </p:cNvPr>
          <p:cNvSpPr txBox="1"/>
          <p:nvPr/>
        </p:nvSpPr>
        <p:spPr>
          <a:xfrm>
            <a:off x="36830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7600" spc="-200">
                <a:solidFill>
                  <a:srgbClr val="1D1D1F"/>
                </a:solidFill>
                <a:latin typeface="Manrope SemiBold" pitchFamily="2" charset="0"/>
              </a:rPr>
              <a:t>12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8CC6840-CC20-196D-C410-5AA9CD2ABB34}"/>
              </a:ext>
            </a:extLst>
          </p:cNvPr>
          <p:cNvSpPr txBox="1"/>
          <p:nvPr/>
        </p:nvSpPr>
        <p:spPr>
          <a:xfrm>
            <a:off x="3683000" y="3454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24577A"/>
                </a:solidFill>
                <a:latin typeface="Manrope Medium" pitchFamily="2" charset="0"/>
              </a:rPr>
              <a:t>entreprises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360179E-47B6-2232-7A3B-528F2007E9E6}"/>
              </a:ext>
            </a:extLst>
          </p:cNvPr>
          <p:cNvSpPr txBox="1"/>
          <p:nvPr/>
        </p:nvSpPr>
        <p:spPr>
          <a:xfrm>
            <a:off x="3683000" y="3810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chacune identifiée par son SIREN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40F122C-A46E-B3BD-52E3-919D715DEA2C}"/>
              </a:ext>
            </a:extLst>
          </p:cNvPr>
          <p:cNvSpPr txBox="1"/>
          <p:nvPr/>
        </p:nvSpPr>
        <p:spPr>
          <a:xfrm>
            <a:off x="64516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7600" spc="-200">
                <a:solidFill>
                  <a:srgbClr val="1D1D1F"/>
                </a:solidFill>
                <a:latin typeface="Manrope SemiBold" pitchFamily="2" charset="0"/>
              </a:rPr>
              <a:t>12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5213E4B-21D9-749A-8715-2B7B46EA847B}"/>
              </a:ext>
            </a:extLst>
          </p:cNvPr>
          <p:cNvSpPr txBox="1"/>
          <p:nvPr/>
        </p:nvSpPr>
        <p:spPr>
          <a:xfrm>
            <a:off x="6451600" y="3454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24577A"/>
                </a:solidFill>
                <a:latin typeface="Manrope Medium" pitchFamily="2" charset="0"/>
              </a:rPr>
              <a:t>villes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C3744CF-3213-206D-C93C-9DED8818B62F}"/>
              </a:ext>
            </a:extLst>
          </p:cNvPr>
          <p:cNvSpPr txBox="1"/>
          <p:nvPr/>
        </p:nvSpPr>
        <p:spPr>
          <a:xfrm>
            <a:off x="6451600" y="3810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de Londres à Marseille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E608DD-C730-6E04-0A97-B4638A6EA06A}"/>
              </a:ext>
            </a:extLst>
          </p:cNvPr>
          <p:cNvSpPr txBox="1"/>
          <p:nvPr/>
        </p:nvSpPr>
        <p:spPr>
          <a:xfrm>
            <a:off x="92202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7600" spc="-200">
                <a:solidFill>
                  <a:srgbClr val="1D1D1F"/>
                </a:solidFill>
                <a:latin typeface="Manrope SemiBold" pitchFamily="2" charset="0"/>
              </a:rPr>
              <a:t>6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6098E9B-106B-606D-DC8A-6F6430B48EFE}"/>
              </a:ext>
            </a:extLst>
          </p:cNvPr>
          <p:cNvSpPr txBox="1"/>
          <p:nvPr/>
        </p:nvSpPr>
        <p:spPr>
          <a:xfrm>
            <a:off x="9220200" y="3454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24577A"/>
                </a:solidFill>
                <a:latin typeface="Manrope Medium" pitchFamily="2" charset="0"/>
              </a:rPr>
              <a:t>métiers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C2EBC0F-19B9-38EF-6515-E3EBA273DE62}"/>
              </a:ext>
            </a:extLst>
          </p:cNvPr>
          <p:cNvSpPr txBox="1"/>
          <p:nvPr/>
        </p:nvSpPr>
        <p:spPr>
          <a:xfrm>
            <a:off x="9220200" y="3810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du développement au support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D1BFFF-F33C-BFA2-214F-7F0E562356C3}"/>
              </a:ext>
            </a:extLst>
          </p:cNvPr>
          <p:cNvSpPr/>
          <p:nvPr/>
        </p:nvSpPr>
        <p:spPr>
          <a:xfrm>
            <a:off x="914400" y="4902200"/>
            <a:ext cx="103632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89CA362-85A1-4995-4FA7-141A29C37D0E}"/>
              </a:ext>
            </a:extLst>
          </p:cNvPr>
          <p:cNvSpPr txBox="1"/>
          <p:nvPr/>
        </p:nvSpPr>
        <p:spPr>
          <a:xfrm>
            <a:off x="914400" y="51308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5F6B76"/>
                </a:solidFill>
                <a:latin typeface="Manrope" pitchFamily="2" charset="0"/>
              </a:rPr>
              <a:t>Des données rédigées par l'équipe et insérées par la plateforme elle-même : ce que vous verrez en démonstration est ce que verrait un candidat.</a:t>
            </a:r>
          </a:p>
        </p:txBody>
      </p:sp>
    </p:spTree>
    <p:extLst>
      <p:ext uri="{BB962C8B-B14F-4D97-AF65-F5344CB8AC3E}">
        <p14:creationId xmlns:p14="http://schemas.microsoft.com/office/powerpoint/2010/main" val="210929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 animBg="1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8C49B02-AC47-AA2C-ABDD-76DBF51AE21A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LA PLATEFORME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7F28ABD-D3CE-3C65-43F3-A7B866DE7131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Conçue pour durer, pensée pour </a:t>
            </a:r>
            <a:r>
              <a:rPr lang="fr-FR" sz="3600" spc="-5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évoluer</a:t>
            </a:r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54C1CE45-0FEB-B66B-FF83-260A3E35EC61}"/>
              </a:ext>
            </a:extLst>
          </p:cNvPr>
          <p:cNvSpPr/>
          <p:nvPr/>
        </p:nvSpPr>
        <p:spPr>
          <a:xfrm>
            <a:off x="914400" y="20320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0E05584-1DDD-4BFB-ACA6-56D58425C438}"/>
              </a:ext>
            </a:extLst>
          </p:cNvPr>
          <p:cNvSpPr txBox="1"/>
          <p:nvPr/>
        </p:nvSpPr>
        <p:spPr>
          <a:xfrm>
            <a:off x="1219200" y="2286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24577A"/>
                </a:solidFill>
                <a:latin typeface="Manrope SemiBold" pitchFamily="2" charset="0"/>
              </a:rPr>
              <a:t>INTERFACE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186C508-54DF-B300-B44E-D89D55EBB093}"/>
              </a:ext>
            </a:extLst>
          </p:cNvPr>
          <p:cNvSpPr txBox="1"/>
          <p:nvPr/>
        </p:nvSpPr>
        <p:spPr>
          <a:xfrm>
            <a:off x="1219200" y="2565400"/>
            <a:ext cx="2667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400">
                <a:solidFill>
                  <a:srgbClr val="1D1D1F"/>
                </a:solidFill>
                <a:latin typeface="Manrope SemiBold" pitchFamily="2" charset="0"/>
              </a:rPr>
              <a:t>Rapide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4E31C78-1145-4E1D-DED7-BA25456FBD58}"/>
              </a:ext>
            </a:extLst>
          </p:cNvPr>
          <p:cNvSpPr txBox="1"/>
          <p:nvPr/>
        </p:nvSpPr>
        <p:spPr>
          <a:xfrm>
            <a:off x="1219200" y="3048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Une page par écran, aucun rechargement. Tout vient de l'API.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39C02A28-DD22-85BA-6949-01934A627DA6}"/>
              </a:ext>
            </a:extLst>
          </p:cNvPr>
          <p:cNvCxnSpPr/>
          <p:nvPr/>
        </p:nvCxnSpPr>
        <p:spPr>
          <a:xfrm>
            <a:off x="4165600" y="2984500"/>
            <a:ext cx="279400" cy="0"/>
          </a:xfrm>
          <a:prstGeom prst="line">
            <a:avLst/>
          </a:prstGeom>
          <a:ln w="15875">
            <a:solidFill>
              <a:srgbClr val="5F6B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C1D0C00-EF8B-5F10-698E-D703D7CA9707}"/>
              </a:ext>
            </a:extLst>
          </p:cNvPr>
          <p:cNvSpPr/>
          <p:nvPr/>
        </p:nvSpPr>
        <p:spPr>
          <a:xfrm>
            <a:off x="4495800" y="20320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3753272-638E-A790-D100-B529EA264609}"/>
              </a:ext>
            </a:extLst>
          </p:cNvPr>
          <p:cNvSpPr txBox="1"/>
          <p:nvPr/>
        </p:nvSpPr>
        <p:spPr>
          <a:xfrm>
            <a:off x="4800600" y="2286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24577A"/>
                </a:solidFill>
                <a:latin typeface="Manrope SemiBold" pitchFamily="2" charset="0"/>
              </a:rPr>
              <a:t>API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947F05-165B-CB84-E42C-2445AC0FB6FF}"/>
              </a:ext>
            </a:extLst>
          </p:cNvPr>
          <p:cNvSpPr txBox="1"/>
          <p:nvPr/>
        </p:nvSpPr>
        <p:spPr>
          <a:xfrm>
            <a:off x="4800600" y="2565400"/>
            <a:ext cx="2667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400">
                <a:solidFill>
                  <a:srgbClr val="1D1D1F"/>
                </a:solidFill>
                <a:latin typeface="Manrope SemiBold" pitchFamily="2" charset="0"/>
              </a:rPr>
              <a:t>Fiable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C0957EC-A31F-9076-AA76-2FCC23B40CD6}"/>
              </a:ext>
            </a:extLst>
          </p:cNvPr>
          <p:cNvSpPr txBox="1"/>
          <p:nvPr/>
        </p:nvSpPr>
        <p:spPr>
          <a:xfrm>
            <a:off x="4800600" y="3048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34 routes, chacune avec ses codes et ses messages écrits à l'avance.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996723ED-DA2F-4A5D-D926-C9FFC3387D42}"/>
              </a:ext>
            </a:extLst>
          </p:cNvPr>
          <p:cNvCxnSpPr/>
          <p:nvPr/>
        </p:nvCxnSpPr>
        <p:spPr>
          <a:xfrm>
            <a:off x="7747000" y="2984500"/>
            <a:ext cx="279400" cy="0"/>
          </a:xfrm>
          <a:prstGeom prst="line">
            <a:avLst/>
          </a:prstGeom>
          <a:ln w="15875">
            <a:solidFill>
              <a:srgbClr val="5F6B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5590EF68-DC28-CA64-B424-E526F3643E9B}"/>
              </a:ext>
            </a:extLst>
          </p:cNvPr>
          <p:cNvSpPr/>
          <p:nvPr/>
        </p:nvSpPr>
        <p:spPr>
          <a:xfrm>
            <a:off x="8077200" y="20320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E8EF90C-A0B8-05AB-01D6-4D05E1C44977}"/>
              </a:ext>
            </a:extLst>
          </p:cNvPr>
          <p:cNvSpPr txBox="1"/>
          <p:nvPr/>
        </p:nvSpPr>
        <p:spPr>
          <a:xfrm>
            <a:off x="8382000" y="2286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24577A"/>
                </a:solidFill>
                <a:latin typeface="Manrope SemiBold" pitchFamily="2" charset="0"/>
              </a:rPr>
              <a:t>DONNÉES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AC5D986-58C4-4622-F1CA-889A9BC73A50}"/>
              </a:ext>
            </a:extLst>
          </p:cNvPr>
          <p:cNvSpPr txBox="1"/>
          <p:nvPr/>
        </p:nvSpPr>
        <p:spPr>
          <a:xfrm>
            <a:off x="8382000" y="2565400"/>
            <a:ext cx="2667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400">
                <a:solidFill>
                  <a:srgbClr val="1D1D1F"/>
                </a:solidFill>
                <a:latin typeface="Manrope SemiBold" pitchFamily="2" charset="0"/>
              </a:rPr>
              <a:t>Protégées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E7D13312-D0C0-8CF7-481A-1ABF41A5A61E}"/>
              </a:ext>
            </a:extLst>
          </p:cNvPr>
          <p:cNvSpPr txBox="1"/>
          <p:nvPr/>
        </p:nvSpPr>
        <p:spPr>
          <a:xfrm>
            <a:off x="8382000" y="3048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9 tables liées. Rien d'encore utilisé ne peut être supprimé.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118CF8F9-CE74-62E7-55F1-4EDA9D69F07B}"/>
              </a:ext>
            </a:extLst>
          </p:cNvPr>
          <p:cNvSpPr/>
          <p:nvPr/>
        </p:nvSpPr>
        <p:spPr>
          <a:xfrm>
            <a:off x="914400" y="4343400"/>
            <a:ext cx="10363200" cy="1422400"/>
          </a:xfrm>
          <a:prstGeom prst="roundRect">
            <a:avLst>
              <a:gd name="adj" fmla="val 10714"/>
            </a:avLst>
          </a:prstGeom>
          <a:solidFill>
            <a:srgbClr val="F0F5F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E538A4-B4A1-6ADA-5665-A44F1C8ACC4F}"/>
              </a:ext>
            </a:extLst>
          </p:cNvPr>
          <p:cNvSpPr/>
          <p:nvPr/>
        </p:nvSpPr>
        <p:spPr>
          <a:xfrm>
            <a:off x="914400" y="4343400"/>
            <a:ext cx="50800" cy="14224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B690D44-C92E-62D1-CBBE-E06A8777B6F5}"/>
              </a:ext>
            </a:extLst>
          </p:cNvPr>
          <p:cNvSpPr txBox="1"/>
          <p:nvPr/>
        </p:nvSpPr>
        <p:spPr>
          <a:xfrm>
            <a:off x="1270000" y="45720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1D1D1F"/>
                </a:solidFill>
                <a:latin typeface="Manrope Medium" pitchFamily="2" charset="0"/>
              </a:rPr>
              <a:t>Le contrat d'API est écrit avant le code.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586C38A-06F5-92B7-6D59-784DF1B50668}"/>
              </a:ext>
            </a:extLst>
          </p:cNvPr>
          <p:cNvSpPr txBox="1"/>
          <p:nvPr/>
        </p:nvSpPr>
        <p:spPr>
          <a:xfrm>
            <a:off x="1270000" y="4978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5F6B76"/>
                </a:solidFill>
                <a:latin typeface="Manrope" pitchFamily="2" charset="0"/>
              </a:rPr>
              <a:t>Interface et serveur avancent en parallèle contre le même document. Une évolution se décide sur le papier, puis se livre sans surprise.</a:t>
            </a:r>
          </a:p>
        </p:txBody>
      </p:sp>
    </p:spTree>
    <p:extLst>
      <p:ext uri="{BB962C8B-B14F-4D97-AF65-F5344CB8AC3E}">
        <p14:creationId xmlns:p14="http://schemas.microsoft.com/office/powerpoint/2010/main" val="2405426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9" grpId="0" animBg="1"/>
      <p:bldP spid="10" grpId="0"/>
      <p:bldP spid="11" grpId="0"/>
      <p:bldP spid="12" grpId="0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56B9B6F-4C72-83B8-EE5B-05AF7AB70267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LA CONFIANCE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186848D-71CF-500E-A05A-E9FD6EF9145E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Vos données, protégées par </a:t>
            </a:r>
            <a:r>
              <a:rPr lang="fr-FR" sz="3600" spc="-5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conception</a:t>
            </a:r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16B9159-8BCF-37B2-705F-2DD69813AEEC}"/>
              </a:ext>
            </a:extLst>
          </p:cNvPr>
          <p:cNvSpPr/>
          <p:nvPr/>
        </p:nvSpPr>
        <p:spPr>
          <a:xfrm>
            <a:off x="914400" y="2032000"/>
            <a:ext cx="2362200" cy="1625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4AE214-BC8A-8498-F9A6-7D618D03F5E9}"/>
              </a:ext>
            </a:extLst>
          </p:cNvPr>
          <p:cNvSpPr txBox="1"/>
          <p:nvPr/>
        </p:nvSpPr>
        <p:spPr>
          <a:xfrm>
            <a:off x="1143000" y="2235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24577A"/>
                </a:solidFill>
                <a:latin typeface="Manrope SemiBold" pitchFamily="2" charset="0"/>
              </a:rPr>
              <a:t>01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99CFCE9-6847-6FEC-1393-C387C4A413F9}"/>
              </a:ext>
            </a:extLst>
          </p:cNvPr>
          <p:cNvSpPr txBox="1"/>
          <p:nvPr/>
        </p:nvSpPr>
        <p:spPr>
          <a:xfrm>
            <a:off x="1143000" y="25146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50">
                <a:solidFill>
                  <a:srgbClr val="1D1D1F"/>
                </a:solidFill>
                <a:latin typeface="Manrope Medium" pitchFamily="2" charset="0"/>
              </a:rPr>
              <a:t>Adresse déjà connue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478C48D-3D63-B84B-C825-1E222AB74FBB}"/>
              </a:ext>
            </a:extLst>
          </p:cNvPr>
          <p:cNvSpPr txBox="1"/>
          <p:nvPr/>
        </p:nvSpPr>
        <p:spPr>
          <a:xfrm>
            <a:off x="1143000" y="2844800"/>
            <a:ext cx="193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50">
                <a:solidFill>
                  <a:srgbClr val="5F6B76"/>
                </a:solidFill>
                <a:latin typeface="Manrope" pitchFamily="2" charset="0"/>
              </a:rPr>
              <a:t>Le compte attend : rien n'est créé sans vous.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FDA6766-298B-EF45-8035-629DF66CE63A}"/>
              </a:ext>
            </a:extLst>
          </p:cNvPr>
          <p:cNvCxnSpPr/>
          <p:nvPr/>
        </p:nvCxnSpPr>
        <p:spPr>
          <a:xfrm>
            <a:off x="3327400" y="2844800"/>
            <a:ext cx="203200" cy="0"/>
          </a:xfrm>
          <a:prstGeom prst="line">
            <a:avLst/>
          </a:prstGeom>
          <a:ln w="15875">
            <a:solidFill>
              <a:srgbClr val="5F6B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02C777C6-34DC-F2D0-8C21-F4917CEC80CC}"/>
              </a:ext>
            </a:extLst>
          </p:cNvPr>
          <p:cNvSpPr/>
          <p:nvPr/>
        </p:nvSpPr>
        <p:spPr>
          <a:xfrm>
            <a:off x="3581400" y="2032000"/>
            <a:ext cx="2362200" cy="1625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8314687-8EF9-B870-452C-262223EC24B1}"/>
              </a:ext>
            </a:extLst>
          </p:cNvPr>
          <p:cNvSpPr txBox="1"/>
          <p:nvPr/>
        </p:nvSpPr>
        <p:spPr>
          <a:xfrm>
            <a:off x="3810000" y="2235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24577A"/>
                </a:solidFill>
                <a:latin typeface="Manrope SemiBold" pitchFamily="2" charset="0"/>
              </a:rPr>
              <a:t>02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9C41258-16C1-77D3-EA03-377E3FB62582}"/>
              </a:ext>
            </a:extLst>
          </p:cNvPr>
          <p:cNvSpPr txBox="1"/>
          <p:nvPr/>
        </p:nvSpPr>
        <p:spPr>
          <a:xfrm>
            <a:off x="3810000" y="25146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50">
                <a:solidFill>
                  <a:srgbClr val="1D1D1F"/>
                </a:solidFill>
                <a:latin typeface="Manrope Medium" pitchFamily="2" charset="0"/>
              </a:rPr>
              <a:t>Lien par e-mail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B99816E-AFC7-C371-E4AE-485E6D3C1E60}"/>
              </a:ext>
            </a:extLst>
          </p:cNvPr>
          <p:cNvSpPr txBox="1"/>
          <p:nvPr/>
        </p:nvSpPr>
        <p:spPr>
          <a:xfrm>
            <a:off x="3810000" y="2844800"/>
            <a:ext cx="193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50">
                <a:solidFill>
                  <a:srgbClr val="5F6B76"/>
                </a:solidFill>
                <a:latin typeface="Manrope" pitchFamily="2" charset="0"/>
              </a:rPr>
              <a:t>Valable 24 heures, utilisable une seule fois.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AB50CA0-9610-8BB3-CD34-1535A7AA273A}"/>
              </a:ext>
            </a:extLst>
          </p:cNvPr>
          <p:cNvCxnSpPr/>
          <p:nvPr/>
        </p:nvCxnSpPr>
        <p:spPr>
          <a:xfrm>
            <a:off x="5994400" y="2844800"/>
            <a:ext cx="203200" cy="0"/>
          </a:xfrm>
          <a:prstGeom prst="line">
            <a:avLst/>
          </a:prstGeom>
          <a:ln w="15875">
            <a:solidFill>
              <a:srgbClr val="5F6B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B6B79028-E2C9-2D2C-7DAD-70FE540A0BA6}"/>
              </a:ext>
            </a:extLst>
          </p:cNvPr>
          <p:cNvSpPr/>
          <p:nvPr/>
        </p:nvSpPr>
        <p:spPr>
          <a:xfrm>
            <a:off x="6248400" y="2032000"/>
            <a:ext cx="2362200" cy="1625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AD90980-D898-D487-C4EB-A4EDD4ECDBEE}"/>
              </a:ext>
            </a:extLst>
          </p:cNvPr>
          <p:cNvSpPr txBox="1"/>
          <p:nvPr/>
        </p:nvSpPr>
        <p:spPr>
          <a:xfrm>
            <a:off x="6477000" y="2235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24577A"/>
                </a:solidFill>
                <a:latin typeface="Manrope SemiBold" pitchFamily="2" charset="0"/>
              </a:rPr>
              <a:t>03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C0112EF-1542-6853-19FF-1F1F158A7BAA}"/>
              </a:ext>
            </a:extLst>
          </p:cNvPr>
          <p:cNvSpPr txBox="1"/>
          <p:nvPr/>
        </p:nvSpPr>
        <p:spPr>
          <a:xfrm>
            <a:off x="6477000" y="25146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50">
                <a:solidFill>
                  <a:srgbClr val="1D1D1F"/>
                </a:solidFill>
                <a:latin typeface="Manrope Medium" pitchFamily="2" charset="0"/>
              </a:rPr>
              <a:t>Adresse confirmée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7301CF8-C5D4-5F65-A3CA-63B0623E107B}"/>
              </a:ext>
            </a:extLst>
          </p:cNvPr>
          <p:cNvSpPr txBox="1"/>
          <p:nvPr/>
        </p:nvSpPr>
        <p:spPr>
          <a:xfrm>
            <a:off x="6477000" y="2844800"/>
            <a:ext cx="193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50">
                <a:solidFill>
                  <a:srgbClr val="5F6B76"/>
                </a:solidFill>
                <a:latin typeface="Manrope" pitchFamily="2" charset="0"/>
              </a:rPr>
              <a:t>Seul le propriétaire de la boîte mail ouvre le compte.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B8E5F6FA-99D0-C2DE-3D59-1A56D9E7522E}"/>
              </a:ext>
            </a:extLst>
          </p:cNvPr>
          <p:cNvCxnSpPr/>
          <p:nvPr/>
        </p:nvCxnSpPr>
        <p:spPr>
          <a:xfrm>
            <a:off x="8661400" y="2844800"/>
            <a:ext cx="203200" cy="0"/>
          </a:xfrm>
          <a:prstGeom prst="line">
            <a:avLst/>
          </a:prstGeom>
          <a:ln w="15875">
            <a:solidFill>
              <a:srgbClr val="5F6B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C9AF8F1F-FCCD-B995-2E84-7BB60DD34A44}"/>
              </a:ext>
            </a:extLst>
          </p:cNvPr>
          <p:cNvSpPr/>
          <p:nvPr/>
        </p:nvSpPr>
        <p:spPr>
          <a:xfrm>
            <a:off x="8915400" y="2032000"/>
            <a:ext cx="2362200" cy="1625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8996304-1907-9EFC-5A93-D2401E467A96}"/>
              </a:ext>
            </a:extLst>
          </p:cNvPr>
          <p:cNvSpPr txBox="1"/>
          <p:nvPr/>
        </p:nvSpPr>
        <p:spPr>
          <a:xfrm>
            <a:off x="9144000" y="2235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24577A"/>
                </a:solidFill>
                <a:latin typeface="Manrope SemiBold" pitchFamily="2" charset="0"/>
              </a:rPr>
              <a:t>04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F762A33-407D-8FBB-43FA-ED42262A802B}"/>
              </a:ext>
            </a:extLst>
          </p:cNvPr>
          <p:cNvSpPr txBox="1"/>
          <p:nvPr/>
        </p:nvSpPr>
        <p:spPr>
          <a:xfrm>
            <a:off x="9144000" y="25146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50">
                <a:solidFill>
                  <a:srgbClr val="1D1D1F"/>
                </a:solidFill>
                <a:latin typeface="Manrope Medium" pitchFamily="2" charset="0"/>
              </a:rPr>
              <a:t>Connexion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05F713E-8E25-A9E9-4601-80877CC5B703}"/>
              </a:ext>
            </a:extLst>
          </p:cNvPr>
          <p:cNvSpPr txBox="1"/>
          <p:nvPr/>
        </p:nvSpPr>
        <p:spPr>
          <a:xfrm>
            <a:off x="9144000" y="2844800"/>
            <a:ext cx="193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50">
                <a:solidFill>
                  <a:srgbClr val="5F6B76"/>
                </a:solidFill>
                <a:latin typeface="Manrope" pitchFamily="2" charset="0"/>
              </a:rPr>
              <a:t>Une session sûre, invisible aux scripts.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C9E8B4-6310-61C2-F19B-81BDB17B2AFD}"/>
              </a:ext>
            </a:extLst>
          </p:cNvPr>
          <p:cNvSpPr/>
          <p:nvPr/>
        </p:nvSpPr>
        <p:spPr>
          <a:xfrm>
            <a:off x="914400" y="4191000"/>
            <a:ext cx="38100" cy="6858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013B04E-9F4E-B41F-347B-85CD4FF4BF0D}"/>
              </a:ext>
            </a:extLst>
          </p:cNvPr>
          <p:cNvSpPr txBox="1"/>
          <p:nvPr/>
        </p:nvSpPr>
        <p:spPr>
          <a:xfrm>
            <a:off x="1117600" y="4165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500">
                <a:solidFill>
                  <a:srgbClr val="1D1D1F"/>
                </a:solidFill>
                <a:latin typeface="Manrope Medium" pitchFamily="2" charset="0"/>
              </a:rPr>
              <a:t>Mots de passe hachés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42ACFA26-B0AD-5218-B5ED-813EC5A07918}"/>
              </a:ext>
            </a:extLst>
          </p:cNvPr>
          <p:cNvSpPr txBox="1"/>
          <p:nvPr/>
        </p:nvSpPr>
        <p:spPr>
          <a:xfrm>
            <a:off x="1117600" y="4775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5F6B76"/>
                </a:solidFill>
                <a:latin typeface="Manrope" pitchFamily="2" charset="0"/>
              </a:rPr>
              <a:t>Illisibles, même pour nous.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F8C5FE-C0CD-9C79-8141-D168636DDCC4}"/>
              </a:ext>
            </a:extLst>
          </p:cNvPr>
          <p:cNvSpPr/>
          <p:nvPr/>
        </p:nvSpPr>
        <p:spPr>
          <a:xfrm>
            <a:off x="3581400" y="4191000"/>
            <a:ext cx="38100" cy="6858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AE558CB2-0220-70AD-2B4E-6D3D04E38E40}"/>
              </a:ext>
            </a:extLst>
          </p:cNvPr>
          <p:cNvSpPr txBox="1"/>
          <p:nvPr/>
        </p:nvSpPr>
        <p:spPr>
          <a:xfrm>
            <a:off x="3784600" y="4165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500">
                <a:solidFill>
                  <a:srgbClr val="1D1D1F"/>
                </a:solidFill>
                <a:latin typeface="Manrope Medium" pitchFamily="2" charset="0"/>
              </a:rPr>
              <a:t>Cinq essais, puis pause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EACDC883-770F-E659-153F-BDEAD1A0B517}"/>
              </a:ext>
            </a:extLst>
          </p:cNvPr>
          <p:cNvSpPr txBox="1"/>
          <p:nvPr/>
        </p:nvSpPr>
        <p:spPr>
          <a:xfrm>
            <a:off x="3784600" y="4775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5F6B76"/>
                </a:solidFill>
                <a:latin typeface="Manrope" pitchFamily="2" charset="0"/>
              </a:rPr>
              <a:t>Les tentatives en rafale sont bloquées.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D6A524-8BB1-2D43-12F9-E22018486DA0}"/>
              </a:ext>
            </a:extLst>
          </p:cNvPr>
          <p:cNvSpPr/>
          <p:nvPr/>
        </p:nvSpPr>
        <p:spPr>
          <a:xfrm>
            <a:off x="6248400" y="4191000"/>
            <a:ext cx="38100" cy="6858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CACCDCD-9059-383C-5965-17A4206725F6}"/>
              </a:ext>
            </a:extLst>
          </p:cNvPr>
          <p:cNvSpPr txBox="1"/>
          <p:nvPr/>
        </p:nvSpPr>
        <p:spPr>
          <a:xfrm>
            <a:off x="6451600" y="4165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500">
                <a:solidFill>
                  <a:srgbClr val="1D1D1F"/>
                </a:solidFill>
                <a:latin typeface="Manrope Medium" pitchFamily="2" charset="0"/>
              </a:rPr>
              <a:t>Aucun secret en clair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84A98D7A-6D9F-301F-7F38-577907842555}"/>
              </a:ext>
            </a:extLst>
          </p:cNvPr>
          <p:cNvSpPr txBox="1"/>
          <p:nvPr/>
        </p:nvSpPr>
        <p:spPr>
          <a:xfrm>
            <a:off x="6451600" y="4775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5F6B76"/>
                </a:solidFill>
                <a:latin typeface="Manrope" pitchFamily="2" charset="0"/>
              </a:rPr>
              <a:t>Les clés vivent hors du dépôt.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0864E0-70F7-DC99-BDC0-3AC13245F404}"/>
              </a:ext>
            </a:extLst>
          </p:cNvPr>
          <p:cNvSpPr/>
          <p:nvPr/>
        </p:nvSpPr>
        <p:spPr>
          <a:xfrm>
            <a:off x="8915400" y="4191000"/>
            <a:ext cx="38100" cy="6858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9233C10A-C3B6-3980-0734-561E703C319D}"/>
              </a:ext>
            </a:extLst>
          </p:cNvPr>
          <p:cNvSpPr txBox="1"/>
          <p:nvPr/>
        </p:nvSpPr>
        <p:spPr>
          <a:xfrm>
            <a:off x="9118600" y="4165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500">
                <a:solidFill>
                  <a:srgbClr val="1D1D1F"/>
                </a:solidFill>
                <a:latin typeface="Manrope Medium" pitchFamily="2" charset="0"/>
              </a:rPr>
              <a:t>Jamais au nom d'un autre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F8D4F0C3-B9C5-E257-1DAA-D344BD783961}"/>
              </a:ext>
            </a:extLst>
          </p:cNvPr>
          <p:cNvSpPr txBox="1"/>
          <p:nvPr/>
        </p:nvSpPr>
        <p:spPr>
          <a:xfrm>
            <a:off x="9118600" y="4775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5F6B76"/>
                </a:solidFill>
                <a:latin typeface="Manrope" pitchFamily="2" charset="0"/>
              </a:rPr>
              <a:t>Une adresse déjà connue exige la connexion.</a:t>
            </a:r>
          </a:p>
        </p:txBody>
      </p:sp>
    </p:spTree>
    <p:extLst>
      <p:ext uri="{BB962C8B-B14F-4D97-AF65-F5344CB8AC3E}">
        <p14:creationId xmlns:p14="http://schemas.microsoft.com/office/powerpoint/2010/main" val="2619444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9" grpId="0" animBg="1"/>
      <p:bldP spid="10" grpId="0"/>
      <p:bldP spid="11" grpId="0"/>
      <p:bldP spid="12" grpId="0"/>
      <p:bldP spid="14" grpId="0" animBg="1"/>
      <p:bldP spid="15" grpId="0"/>
      <p:bldP spid="16" grpId="0"/>
      <p:bldP spid="17" grpId="0"/>
      <p:bldP spid="19" grpId="0" animBg="1"/>
      <p:bldP spid="20" grpId="0"/>
      <p:bldP spid="21" grpId="0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  <p:bldP spid="29" grpId="0" animBg="1"/>
      <p:bldP spid="30" grpId="0"/>
      <p:bldP spid="31" grpId="0"/>
      <p:bldP spid="32" grpId="0" animBg="1"/>
      <p:bldP spid="33" grpId="0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6A1BC3E-D2DF-5762-B2B3-AA4E870E2280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PERSONNALISATION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C33A5A5-255F-6AD0-82FD-046DD8A431FB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200" spc="-50" dirty="0">
                <a:solidFill>
                  <a:srgbClr val="1D1D1F"/>
                </a:solidFill>
                <a:latin typeface="Manrope SemiBold" pitchFamily="2" charset="0"/>
              </a:rPr>
              <a:t>Vous souhaitez personnaliser ? On s'occupe de </a:t>
            </a:r>
            <a:r>
              <a:rPr lang="fr-FR" sz="3200" spc="-50" dirty="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tout</a:t>
            </a:r>
            <a:r>
              <a:rPr lang="fr-FR" sz="3200" spc="-50" dirty="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EEBAC3B-0F3A-D42D-F633-51F075C04F08}"/>
              </a:ext>
            </a:extLst>
          </p:cNvPr>
          <p:cNvSpPr/>
          <p:nvPr/>
        </p:nvSpPr>
        <p:spPr>
          <a:xfrm>
            <a:off x="914400" y="20574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11E3FA4-A4CD-EEB5-DFB0-65C94495E77E}"/>
              </a:ext>
            </a:extLst>
          </p:cNvPr>
          <p:cNvSpPr txBox="1"/>
          <p:nvPr/>
        </p:nvSpPr>
        <p:spPr>
          <a:xfrm>
            <a:off x="1219200" y="23368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SemiBold" pitchFamily="2" charset="0"/>
              </a:rPr>
              <a:t>Axel FOLLET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F607C46-00CD-84E3-EB51-56C77BC8F1A6}"/>
              </a:ext>
            </a:extLst>
          </p:cNvPr>
          <p:cNvSpPr txBox="1"/>
          <p:nvPr/>
        </p:nvSpPr>
        <p:spPr>
          <a:xfrm>
            <a:off x="1219200" y="2692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24577A"/>
                </a:solidFill>
                <a:latin typeface="Manrope Medium" pitchFamily="2" charset="0"/>
              </a:rPr>
              <a:t>Interface et pilotage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26C6B43-728E-495F-A561-43BA317D7B88}"/>
              </a:ext>
            </a:extLst>
          </p:cNvPr>
          <p:cNvSpPr txBox="1"/>
          <p:nvPr/>
        </p:nvSpPr>
        <p:spPr>
          <a:xfrm>
            <a:off x="1219200" y="3073400"/>
            <a:ext cx="2616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Vos écrans, votre charte, votre parcours candidat.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3C6BEF0-2161-842A-179A-5E54C3690FD6}"/>
              </a:ext>
            </a:extLst>
          </p:cNvPr>
          <p:cNvSpPr/>
          <p:nvPr/>
        </p:nvSpPr>
        <p:spPr>
          <a:xfrm>
            <a:off x="4495800" y="20574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D020DB9-0B3E-F995-30C1-BE9ED5B2AC7E}"/>
              </a:ext>
            </a:extLst>
          </p:cNvPr>
          <p:cNvSpPr txBox="1"/>
          <p:nvPr/>
        </p:nvSpPr>
        <p:spPr>
          <a:xfrm>
            <a:off x="4800600" y="23368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SemiBold" pitchFamily="2" charset="0"/>
              </a:rPr>
              <a:t>Yohan AVRONSART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CB69AC-9926-F449-CC5D-B957B383B7BF}"/>
              </a:ext>
            </a:extLst>
          </p:cNvPr>
          <p:cNvSpPr txBox="1"/>
          <p:nvPr/>
        </p:nvSpPr>
        <p:spPr>
          <a:xfrm>
            <a:off x="4800600" y="2692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24577A"/>
                </a:solidFill>
                <a:latin typeface="Manrope Medium" pitchFamily="2" charset="0"/>
              </a:rPr>
              <a:t>Données et métier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EFFA136-2491-95E4-9CD8-989AE61C75D5}"/>
              </a:ext>
            </a:extLst>
          </p:cNvPr>
          <p:cNvSpPr txBox="1"/>
          <p:nvPr/>
        </p:nvSpPr>
        <p:spPr>
          <a:xfrm>
            <a:off x="4800600" y="3073400"/>
            <a:ext cx="2616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Vos règles de recrutement, vos catégories, vos statuts.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A29CD14C-AA7A-A636-50DE-6CEC705201A3}"/>
              </a:ext>
            </a:extLst>
          </p:cNvPr>
          <p:cNvSpPr/>
          <p:nvPr/>
        </p:nvSpPr>
        <p:spPr>
          <a:xfrm>
            <a:off x="8077200" y="20574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7266BB-2668-2840-1A71-DE5ADF105CE1}"/>
              </a:ext>
            </a:extLst>
          </p:cNvPr>
          <p:cNvSpPr txBox="1"/>
          <p:nvPr/>
        </p:nvSpPr>
        <p:spPr>
          <a:xfrm>
            <a:off x="8382000" y="23368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SemiBold" pitchFamily="2" charset="0"/>
              </a:rPr>
              <a:t>Ismail BASSIT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9368A14-5D9D-0DB9-7ACE-AB4A146950E2}"/>
              </a:ext>
            </a:extLst>
          </p:cNvPr>
          <p:cNvSpPr txBox="1"/>
          <p:nvPr/>
        </p:nvSpPr>
        <p:spPr>
          <a:xfrm>
            <a:off x="8382000" y="2692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24577A"/>
                </a:solidFill>
                <a:latin typeface="Manrope Medium" pitchFamily="2" charset="0"/>
              </a:rPr>
              <a:t>Comptes et sécurité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818ACD5-D9C3-1DE0-89CF-B08885CB38EC}"/>
              </a:ext>
            </a:extLst>
          </p:cNvPr>
          <p:cNvSpPr txBox="1"/>
          <p:nvPr/>
        </p:nvSpPr>
        <p:spPr>
          <a:xfrm>
            <a:off x="8382000" y="3073400"/>
            <a:ext cx="2616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5F6B76"/>
                </a:solidFill>
                <a:latin typeface="Manrope" pitchFamily="2" charset="0"/>
              </a:rPr>
              <a:t>Vos accès, vos rôles, vos exigences de confidentialité.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97C19BD-73B2-F0D6-3984-20317EB35C2A}"/>
              </a:ext>
            </a:extLst>
          </p:cNvPr>
          <p:cNvSpPr txBox="1"/>
          <p:nvPr/>
        </p:nvSpPr>
        <p:spPr>
          <a:xfrm>
            <a:off x="914400" y="4419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700">
                <a:solidFill>
                  <a:srgbClr val="1D1D1F"/>
                </a:solidFill>
                <a:latin typeface="Manrope Medium" pitchFamily="2" charset="0"/>
              </a:rPr>
              <a:t>Le matin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34F5AD1-FF73-8A69-3B84-CDAB5A014949}"/>
              </a:ext>
            </a:extLst>
          </p:cNvPr>
          <p:cNvSpPr txBox="1"/>
          <p:nvPr/>
        </p:nvSpPr>
        <p:spPr>
          <a:xfrm>
            <a:off x="914400" y="4775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5F6B76"/>
                </a:solidFill>
                <a:latin typeface="Manrope" pitchFamily="2" charset="0"/>
              </a:rPr>
              <a:t>votre demande devient un plan écrit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A91E9A77-B62B-99D4-94A7-2A06DF508A97}"/>
              </a:ext>
            </a:extLst>
          </p:cNvPr>
          <p:cNvCxnSpPr/>
          <p:nvPr/>
        </p:nvCxnSpPr>
        <p:spPr>
          <a:xfrm>
            <a:off x="3835400" y="4572000"/>
            <a:ext cx="406400" cy="0"/>
          </a:xfrm>
          <a:prstGeom prst="line">
            <a:avLst/>
          </a:prstGeom>
          <a:ln w="15875">
            <a:solidFill>
              <a:srgbClr val="5F6B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1C6404D-0E0A-6474-A24C-F20EA5075997}"/>
              </a:ext>
            </a:extLst>
          </p:cNvPr>
          <p:cNvSpPr txBox="1"/>
          <p:nvPr/>
        </p:nvSpPr>
        <p:spPr>
          <a:xfrm>
            <a:off x="4495800" y="4419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700">
                <a:solidFill>
                  <a:srgbClr val="1D1D1F"/>
                </a:solidFill>
                <a:latin typeface="Manrope Medium" pitchFamily="2" charset="0"/>
              </a:rPr>
              <a:t>Le soir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66ED05C-062C-88A0-5FFB-C63857BB3145}"/>
              </a:ext>
            </a:extLst>
          </p:cNvPr>
          <p:cNvSpPr txBox="1"/>
          <p:nvPr/>
        </p:nvSpPr>
        <p:spPr>
          <a:xfrm>
            <a:off x="4495800" y="4775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5F6B76"/>
                </a:solidFill>
                <a:latin typeface="Manrope" pitchFamily="2" charset="0"/>
              </a:rPr>
              <a:t>elle est testée et relue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F727346B-40D4-AC72-78AC-64E1C333A2F1}"/>
              </a:ext>
            </a:extLst>
          </p:cNvPr>
          <p:cNvCxnSpPr/>
          <p:nvPr/>
        </p:nvCxnSpPr>
        <p:spPr>
          <a:xfrm>
            <a:off x="7416800" y="4572000"/>
            <a:ext cx="406400" cy="0"/>
          </a:xfrm>
          <a:prstGeom prst="line">
            <a:avLst/>
          </a:prstGeom>
          <a:ln w="15875">
            <a:solidFill>
              <a:srgbClr val="5F6B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C89495BE-D030-A7C9-4788-0BE436BB0D1C}"/>
              </a:ext>
            </a:extLst>
          </p:cNvPr>
          <p:cNvSpPr txBox="1"/>
          <p:nvPr/>
        </p:nvSpPr>
        <p:spPr>
          <a:xfrm>
            <a:off x="8077200" y="4419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700">
                <a:solidFill>
                  <a:srgbClr val="1D1D1F"/>
                </a:solidFill>
                <a:latin typeface="Manrope Medium" pitchFamily="2" charset="0"/>
              </a:rPr>
              <a:t>Le lendemain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2FDA1D8-AE6F-4255-F2AF-47A184943437}"/>
              </a:ext>
            </a:extLst>
          </p:cNvPr>
          <p:cNvSpPr txBox="1"/>
          <p:nvPr/>
        </p:nvSpPr>
        <p:spPr>
          <a:xfrm>
            <a:off x="8077200" y="4775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5F6B76"/>
                </a:solidFill>
                <a:latin typeface="Manrope" pitchFamily="2" charset="0"/>
              </a:rPr>
              <a:t>elle est en ligne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560382E2-44DB-F365-9BF3-F9CBE462D1A5}"/>
              </a:ext>
            </a:extLst>
          </p:cNvPr>
          <p:cNvSpPr txBox="1"/>
          <p:nvPr/>
        </p:nvSpPr>
        <p:spPr>
          <a:xfrm>
            <a:off x="914400" y="5537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600">
                <a:solidFill>
                  <a:srgbClr val="24577A"/>
                </a:solidFill>
                <a:latin typeface="Manrope Medium" pitchFamily="2" charset="0"/>
              </a:rPr>
              <a:t>Trois spécialistes, une seule équipe à contacter.</a:t>
            </a:r>
          </a:p>
        </p:txBody>
      </p:sp>
    </p:spTree>
    <p:extLst>
      <p:ext uri="{BB962C8B-B14F-4D97-AF65-F5344CB8AC3E}">
        <p14:creationId xmlns:p14="http://schemas.microsoft.com/office/powerpoint/2010/main" val="2445666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/>
      <p:bldP spid="17" grpId="0"/>
      <p:bldP spid="19" grpId="0"/>
      <p:bldP spid="20" grpId="0"/>
      <p:bldP spid="22" grpId="0"/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1952C92-207F-7FAE-72BD-B82A78524649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DÉMONSTRATION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79BF206-EA42-D569-936A-A03D88329883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Voyez par </a:t>
            </a:r>
            <a:r>
              <a:rPr lang="fr-FR" sz="3600" spc="-5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vous-même</a:t>
            </a:r>
            <a:r>
              <a:rPr lang="fr-FR" sz="3600" spc="-5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AA09A13-534E-1BF8-64E8-9F284B72F429}"/>
              </a:ext>
            </a:extLst>
          </p:cNvPr>
          <p:cNvSpPr txBox="1"/>
          <p:nvPr/>
        </p:nvSpPr>
        <p:spPr>
          <a:xfrm>
            <a:off x="914400" y="2159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24577A"/>
                </a:solidFill>
                <a:latin typeface="Manrope SemiBold" pitchFamily="2" charset="0"/>
              </a:rPr>
              <a:t>01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F0D1DC9-C773-2AC7-235E-70E4F5369835}"/>
              </a:ext>
            </a:extLst>
          </p:cNvPr>
          <p:cNvSpPr txBox="1"/>
          <p:nvPr/>
        </p:nvSpPr>
        <p:spPr>
          <a:xfrm>
            <a:off x="1524000" y="21209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1D1D1F"/>
                </a:solidFill>
                <a:latin typeface="Manrope Medium" pitchFamily="2" charset="0"/>
              </a:rPr>
              <a:t>Trouver une offre et lire son détail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360111-4E65-85DF-D7C5-34E17F40CD35}"/>
              </a:ext>
            </a:extLst>
          </p:cNvPr>
          <p:cNvSpPr/>
          <p:nvPr/>
        </p:nvSpPr>
        <p:spPr>
          <a:xfrm>
            <a:off x="914400" y="2616200"/>
            <a:ext cx="103632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2804FF0-174D-CDBB-A031-2233FAD77983}"/>
              </a:ext>
            </a:extLst>
          </p:cNvPr>
          <p:cNvSpPr txBox="1"/>
          <p:nvPr/>
        </p:nvSpPr>
        <p:spPr>
          <a:xfrm>
            <a:off x="914400" y="2870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24577A"/>
                </a:solidFill>
                <a:latin typeface="Manrope SemiBold" pitchFamily="2" charset="0"/>
              </a:rPr>
              <a:t>02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B41F3AD-BD21-964B-E146-A640C3809E79}"/>
              </a:ext>
            </a:extLst>
          </p:cNvPr>
          <p:cNvSpPr txBox="1"/>
          <p:nvPr/>
        </p:nvSpPr>
        <p:spPr>
          <a:xfrm>
            <a:off x="1524000" y="28321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1D1D1F"/>
                </a:solidFill>
                <a:latin typeface="Manrope Medium" pitchFamily="2" charset="0"/>
              </a:rPr>
              <a:t>Postuler, sans compte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34B607-918B-425B-3396-9DB3A2A656D1}"/>
              </a:ext>
            </a:extLst>
          </p:cNvPr>
          <p:cNvSpPr/>
          <p:nvPr/>
        </p:nvSpPr>
        <p:spPr>
          <a:xfrm>
            <a:off x="914400" y="3327400"/>
            <a:ext cx="103632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9DC2418-D3FA-19ED-102A-0B496A8A9C2C}"/>
              </a:ext>
            </a:extLst>
          </p:cNvPr>
          <p:cNvSpPr txBox="1"/>
          <p:nvPr/>
        </p:nvSpPr>
        <p:spPr>
          <a:xfrm>
            <a:off x="914400" y="3581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24577A"/>
                </a:solidFill>
                <a:latin typeface="Manrope SemiBold" pitchFamily="2" charset="0"/>
              </a:rPr>
              <a:t>03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5CEEF4C-2485-EAFF-B3E1-F2E249C3D67B}"/>
              </a:ext>
            </a:extLst>
          </p:cNvPr>
          <p:cNvSpPr txBox="1"/>
          <p:nvPr/>
        </p:nvSpPr>
        <p:spPr>
          <a:xfrm>
            <a:off x="1524000" y="35433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1D1D1F"/>
                </a:solidFill>
                <a:latin typeface="Manrope Medium" pitchFamily="2" charset="0"/>
              </a:rPr>
              <a:t>Créer un compte et confirmer son adresse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FE70F1-A4DA-DC6E-91C5-B52AC6B12D74}"/>
              </a:ext>
            </a:extLst>
          </p:cNvPr>
          <p:cNvSpPr/>
          <p:nvPr/>
        </p:nvSpPr>
        <p:spPr>
          <a:xfrm>
            <a:off x="914400" y="4038600"/>
            <a:ext cx="103632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3AAFA6CF-09ED-00C3-C25D-07101DF2C697}"/>
              </a:ext>
            </a:extLst>
          </p:cNvPr>
          <p:cNvSpPr txBox="1"/>
          <p:nvPr/>
        </p:nvSpPr>
        <p:spPr>
          <a:xfrm>
            <a:off x="914400" y="4292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24577A"/>
                </a:solidFill>
                <a:latin typeface="Manrope SemiBold" pitchFamily="2" charset="0"/>
              </a:rPr>
              <a:t>04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80589C9-7E51-1CC2-AF1F-2CEFCB23163E}"/>
              </a:ext>
            </a:extLst>
          </p:cNvPr>
          <p:cNvSpPr txBox="1"/>
          <p:nvPr/>
        </p:nvSpPr>
        <p:spPr>
          <a:xfrm>
            <a:off x="1524000" y="42545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1D1D1F"/>
                </a:solidFill>
                <a:latin typeface="Manrope Medium" pitchFamily="2" charset="0"/>
              </a:rPr>
              <a:t>Retrouver ses candidatures et leur état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BBE369-397F-3D4F-FEAF-132EC2F5FA38}"/>
              </a:ext>
            </a:extLst>
          </p:cNvPr>
          <p:cNvSpPr/>
          <p:nvPr/>
        </p:nvSpPr>
        <p:spPr>
          <a:xfrm>
            <a:off x="914400" y="4749800"/>
            <a:ext cx="103632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4110B85-601A-0DD5-1F49-F34E3E22B1FA}"/>
              </a:ext>
            </a:extLst>
          </p:cNvPr>
          <p:cNvSpPr txBox="1"/>
          <p:nvPr/>
        </p:nvSpPr>
        <p:spPr>
          <a:xfrm>
            <a:off x="914400" y="5003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24577A"/>
                </a:solidFill>
                <a:latin typeface="Manrope SemiBold" pitchFamily="2" charset="0"/>
              </a:rPr>
              <a:t>05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03E69CE-2649-721F-467A-4FEB04133431}"/>
              </a:ext>
            </a:extLst>
          </p:cNvPr>
          <p:cNvSpPr txBox="1"/>
          <p:nvPr/>
        </p:nvSpPr>
        <p:spPr>
          <a:xfrm>
            <a:off x="1524000" y="49657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1D1D1F"/>
                </a:solidFill>
                <a:latin typeface="Manrope Medium" pitchFamily="2" charset="0"/>
              </a:rPr>
              <a:t>Recruter, puis administrer la plateforme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B321E9-A4C1-08A8-D14F-B0AFC04C95B4}"/>
              </a:ext>
            </a:extLst>
          </p:cNvPr>
          <p:cNvSpPr/>
          <p:nvPr/>
        </p:nvSpPr>
        <p:spPr>
          <a:xfrm>
            <a:off x="914400" y="5461000"/>
            <a:ext cx="10363200" cy="9525"/>
          </a:xfrm>
          <a:prstGeom prst="rect">
            <a:avLst/>
          </a:prstGeom>
          <a:solidFill>
            <a:srgbClr val="E2E8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74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03A74D5E-6F25-BE2A-DBB0-2DA863D880CF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24577A"/>
                </a:solidFill>
                <a:latin typeface="Manrope SemiBold" pitchFamily="2" charset="0"/>
              </a:rPr>
              <a:t>POUR ALLER PLUS LOIN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A56B22C-41DC-B7A6-5E06-4F578D44ADF4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 dirty="0">
                <a:solidFill>
                  <a:srgbClr val="1D1D1F"/>
                </a:solidFill>
                <a:latin typeface="Manrope SemiBold" pitchFamily="2" charset="0"/>
              </a:rPr>
              <a:t>Des données qui vont vous </a:t>
            </a:r>
            <a:r>
              <a:rPr lang="fr-FR" sz="3600" spc="-50" dirty="0">
                <a:gradFill flip="none" rotWithShape="1">
                  <a:gsLst>
                    <a:gs pos="0">
                      <a:srgbClr val="24577A"/>
                    </a:gs>
                    <a:gs pos="100000">
                      <a:srgbClr val="24577A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convaincre</a:t>
            </a:r>
            <a:r>
              <a:rPr lang="fr-FR" sz="3600" spc="-50" dirty="0">
                <a:solidFill>
                  <a:srgbClr val="1D1D1F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0181DF8-C271-20FC-5CC8-8F79D8CC31EF}"/>
              </a:ext>
            </a:extLst>
          </p:cNvPr>
          <p:cNvSpPr txBox="1"/>
          <p:nvPr/>
        </p:nvSpPr>
        <p:spPr>
          <a:xfrm>
            <a:off x="914400" y="21082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4800" dirty="0">
                <a:solidFill>
                  <a:srgbClr val="1D1D1F"/>
                </a:solidFill>
                <a:latin typeface="Manrope SemiBold" pitchFamily="2" charset="0"/>
              </a:rPr>
              <a:t>3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DA1ECDA-1497-45CD-BD74-2CEC64A70AEC}"/>
              </a:ext>
            </a:extLst>
          </p:cNvPr>
          <p:cNvSpPr txBox="1"/>
          <p:nvPr/>
        </p:nvSpPr>
        <p:spPr>
          <a:xfrm>
            <a:off x="914400" y="2921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600" dirty="0">
                <a:solidFill>
                  <a:srgbClr val="24577A"/>
                </a:solidFill>
                <a:latin typeface="Manrope Medium" pitchFamily="2" charset="0"/>
              </a:rPr>
              <a:t>Documents sur nos choix techniques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3971BEE-3FA5-59E8-95BD-17AD400FE8DB}"/>
              </a:ext>
            </a:extLst>
          </p:cNvPr>
          <p:cNvSpPr txBox="1"/>
          <p:nvPr/>
        </p:nvSpPr>
        <p:spPr>
          <a:xfrm>
            <a:off x="914400" y="3225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endParaRPr lang="fr-FR" sz="1200" dirty="0">
              <a:solidFill>
                <a:srgbClr val="5F6B76"/>
              </a:solidFill>
              <a:latin typeface="Manrope" pitchFamily="2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926D2D8-F79B-DC39-A73B-C1C0008B2F0D}"/>
              </a:ext>
            </a:extLst>
          </p:cNvPr>
          <p:cNvSpPr txBox="1"/>
          <p:nvPr/>
        </p:nvSpPr>
        <p:spPr>
          <a:xfrm>
            <a:off x="4470400" y="21082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fr-FR" sz="4800" dirty="0">
              <a:solidFill>
                <a:srgbClr val="1D1D1F"/>
              </a:solidFill>
              <a:latin typeface="Manrope SemiBold" pitchFamily="2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76DBFF5-2D56-D501-5D99-C1394B92F06A}"/>
              </a:ext>
            </a:extLst>
          </p:cNvPr>
          <p:cNvSpPr txBox="1"/>
          <p:nvPr/>
        </p:nvSpPr>
        <p:spPr>
          <a:xfrm>
            <a:off x="4470400" y="21082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000" dirty="0">
                <a:solidFill>
                  <a:srgbClr val="24577A"/>
                </a:solidFill>
                <a:latin typeface="Manrope Medium" pitchFamily="2" charset="0"/>
              </a:rPr>
              <a:t>Cadre légal défini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067B3FA-9455-35EC-6FE4-6ABA2949F60D}"/>
              </a:ext>
            </a:extLst>
          </p:cNvPr>
          <p:cNvSpPr txBox="1"/>
          <p:nvPr/>
        </p:nvSpPr>
        <p:spPr>
          <a:xfrm>
            <a:off x="4470400" y="2921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 dirty="0">
                <a:solidFill>
                  <a:srgbClr val="5F6B76"/>
                </a:solidFill>
                <a:latin typeface="Manrope" pitchFamily="2" charset="0"/>
              </a:rPr>
              <a:t>Contrat API et encart "Mentions légales et données personnelles"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D42C13E-D061-6212-514C-2B5DEA2C6CB5}"/>
              </a:ext>
            </a:extLst>
          </p:cNvPr>
          <p:cNvSpPr txBox="1"/>
          <p:nvPr/>
        </p:nvSpPr>
        <p:spPr>
          <a:xfrm>
            <a:off x="8026400" y="2108200"/>
            <a:ext cx="184912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fr-FR" sz="4800" dirty="0">
              <a:solidFill>
                <a:srgbClr val="1D1D1F"/>
              </a:solidFill>
              <a:latin typeface="Manrope SemiBold" pitchFamily="2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64D72AC-4CCF-74ED-409B-644DE9DF4721}"/>
              </a:ext>
            </a:extLst>
          </p:cNvPr>
          <p:cNvSpPr txBox="1"/>
          <p:nvPr/>
        </p:nvSpPr>
        <p:spPr>
          <a:xfrm>
            <a:off x="8026400" y="2108200"/>
            <a:ext cx="184912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>
            <a:defPPr>
              <a:defRPr lang="fr-FR"/>
            </a:defPPr>
            <a:lvl1pPr>
              <a:lnSpc>
                <a:spcPct val="115000"/>
              </a:lnSpc>
              <a:defRPr sz="2000">
                <a:solidFill>
                  <a:srgbClr val="24577A"/>
                </a:solidFill>
                <a:latin typeface="Manrope Medium" pitchFamily="2" charset="0"/>
              </a:defRPr>
            </a:lvl1pPr>
          </a:lstStyle>
          <a:p>
            <a:r>
              <a:rPr lang="fr-FR" dirty="0"/>
              <a:t>Une entreprise moderne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6C28A6D-22D2-7A1D-510D-B9021999BBBC}"/>
              </a:ext>
            </a:extLst>
          </p:cNvPr>
          <p:cNvSpPr txBox="1"/>
          <p:nvPr/>
        </p:nvSpPr>
        <p:spPr>
          <a:xfrm>
            <a:off x="8026400" y="2921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 dirty="0">
                <a:solidFill>
                  <a:srgbClr val="5F6B76"/>
                </a:solidFill>
                <a:latin typeface="Manrope" pitchFamily="2" charset="0"/>
              </a:rPr>
              <a:t>L’IA au service de notre équipe</a:t>
            </a:r>
          </a:p>
        </p:txBody>
      </p:sp>
      <p:sp>
        <p:nvSpPr>
          <p:cNvPr id="13" name="Rectangle : coins arrondis 12">
            <a:hlinkClick r:id="rId3"/>
            <a:extLst>
              <a:ext uri="{FF2B5EF4-FFF2-40B4-BE49-F238E27FC236}">
                <a16:creationId xmlns:a16="http://schemas.microsoft.com/office/drawing/2014/main" id="{2D56565A-BAEE-C09A-9403-7EAD2F8B2010}"/>
              </a:ext>
            </a:extLst>
          </p:cNvPr>
          <p:cNvSpPr/>
          <p:nvPr/>
        </p:nvSpPr>
        <p:spPr>
          <a:xfrm>
            <a:off x="914400" y="4241800"/>
            <a:ext cx="10363200" cy="1498600"/>
          </a:xfrm>
          <a:prstGeom prst="roundRect">
            <a:avLst>
              <a:gd name="adj" fmla="val 10169"/>
            </a:avLst>
          </a:prstGeom>
          <a:solidFill>
            <a:srgbClr val="F0F5F8"/>
          </a:solidFill>
          <a:ln w="9525">
            <a:solidFill>
              <a:srgbClr val="E2E8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hlinkClick r:id="rId3"/>
            <a:extLst>
              <a:ext uri="{FF2B5EF4-FFF2-40B4-BE49-F238E27FC236}">
                <a16:creationId xmlns:a16="http://schemas.microsoft.com/office/drawing/2014/main" id="{D2C842D4-D0D9-DC49-D715-71959A90AE4A}"/>
              </a:ext>
            </a:extLst>
          </p:cNvPr>
          <p:cNvSpPr/>
          <p:nvPr/>
        </p:nvSpPr>
        <p:spPr>
          <a:xfrm>
            <a:off x="914400" y="4241800"/>
            <a:ext cx="50800" cy="1498600"/>
          </a:xfrm>
          <a:prstGeom prst="rect">
            <a:avLst/>
          </a:prstGeom>
          <a:solidFill>
            <a:srgbClr val="24577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hlinkClick r:id="rId3"/>
            <a:extLst>
              <a:ext uri="{FF2B5EF4-FFF2-40B4-BE49-F238E27FC236}">
                <a16:creationId xmlns:a16="http://schemas.microsoft.com/office/drawing/2014/main" id="{5B9FA308-37A5-197E-D0C6-06152F590F01}"/>
              </a:ext>
            </a:extLst>
          </p:cNvPr>
          <p:cNvSpPr txBox="1"/>
          <p:nvPr/>
        </p:nvSpPr>
        <p:spPr>
          <a:xfrm>
            <a:off x="1270000" y="4470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1D1D1F"/>
                </a:solidFill>
                <a:latin typeface="Manrope Medium" pitchFamily="2" charset="0"/>
              </a:rPr>
              <a:t>Lire la documentation technique</a:t>
            </a:r>
          </a:p>
        </p:txBody>
      </p:sp>
      <p:sp>
        <p:nvSpPr>
          <p:cNvPr id="16" name="ZoneTexte 15">
            <a:hlinkClick r:id="rId3"/>
            <a:extLst>
              <a:ext uri="{FF2B5EF4-FFF2-40B4-BE49-F238E27FC236}">
                <a16:creationId xmlns:a16="http://schemas.microsoft.com/office/drawing/2014/main" id="{E5F9EAB9-59EF-1F33-F8D7-CC236FB3A39C}"/>
              </a:ext>
            </a:extLst>
          </p:cNvPr>
          <p:cNvSpPr txBox="1"/>
          <p:nvPr/>
        </p:nvSpPr>
        <p:spPr>
          <a:xfrm>
            <a:off x="1270000" y="4876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5F6B76"/>
                </a:solidFill>
                <a:latin typeface="Manrope" pitchFamily="2" charset="0"/>
              </a:rPr>
              <a:t>Choix techniques, contrat d'API, schéma des données : tout est écrit dans le dépôt.</a:t>
            </a:r>
          </a:p>
        </p:txBody>
      </p:sp>
      <p:sp>
        <p:nvSpPr>
          <p:cNvPr id="17" name="ZoneTexte 16">
            <a:hlinkClick r:id="rId3"/>
            <a:extLst>
              <a:ext uri="{FF2B5EF4-FFF2-40B4-BE49-F238E27FC236}">
                <a16:creationId xmlns:a16="http://schemas.microsoft.com/office/drawing/2014/main" id="{55C6E446-6170-1D22-66CE-5DC633060E71}"/>
              </a:ext>
            </a:extLst>
          </p:cNvPr>
          <p:cNvSpPr txBox="1"/>
          <p:nvPr/>
        </p:nvSpPr>
        <p:spPr>
          <a:xfrm>
            <a:off x="1270000" y="5283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50">
                <a:solidFill>
                  <a:srgbClr val="24577A"/>
                </a:solidFill>
                <a:latin typeface="Manrope" pitchFamily="2" charset="0"/>
              </a:rPr>
              <a:t>https://github.com/EpitechMscProPromo2029/T-WEB-501-PAR-5-1-job_board-5/blob/main/docs/choix_techniques_front.md</a:t>
            </a:r>
          </a:p>
        </p:txBody>
      </p:sp>
    </p:spTree>
    <p:extLst>
      <p:ext uri="{BB962C8B-B14F-4D97-AF65-F5344CB8AC3E}">
        <p14:creationId xmlns:p14="http://schemas.microsoft.com/office/powerpoint/2010/main" val="664265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nodePh="1">
                                  <p:stCondLst>
                                    <p:cond delay="45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 nodePh="1">
                                  <p:stCondLst>
                                    <p:cond delay="75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nodePh="1">
                                  <p:stCondLst>
                                    <p:cond delay="105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 animBg="1"/>
      <p:bldP spid="15" grpId="0"/>
      <p:bldP spid="16" grpId="0"/>
      <p:bldP spid="17" grpId="0"/>
    </p:bld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1786</Words>
  <Application>Microsoft Office PowerPoint</Application>
  <PresentationFormat>Grand écran</PresentationFormat>
  <Paragraphs>208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9" baseType="lpstr">
      <vt:lpstr>Aptos</vt:lpstr>
      <vt:lpstr>Aptos Display</vt:lpstr>
      <vt:lpstr>Arial</vt:lpstr>
      <vt:lpstr>Manrope</vt:lpstr>
      <vt:lpstr>Manrope Medium</vt:lpstr>
      <vt:lpstr>Manrope SemiBold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Axel Follet</dc:creator>
  <cp:lastModifiedBy>Axel Follet</cp:lastModifiedBy>
  <cp:revision>11</cp:revision>
  <dcterms:created xsi:type="dcterms:W3CDTF">2026-10-13T12:08:52Z</dcterms:created>
  <dcterms:modified xsi:type="dcterms:W3CDTF">2026-10-16T12:23:32Z</dcterms:modified>
</cp:coreProperties>
</file>