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6" r:id="rId6"/>
    <p:sldId id="260" r:id="rId7"/>
    <p:sldId id="261" r:id="rId8"/>
    <p:sldId id="262" r:id="rId9"/>
    <p:sldId id="263" r:id="rId10"/>
    <p:sldId id="264" r:id="rId11"/>
    <p:sldId id="265" r:id="rId12"/>
    <p:sldId id="267" r:id="rId1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8A6968-F8A5-4117-883A-0C39BC6E68E7}" type="datetimeFigureOut">
              <a:rPr lang="fr-FR" smtClean="0"/>
              <a:t>13/10/2026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C38A8C-A952-4860-9F51-CDDD32759BDD}" type="slidenum">
              <a:rPr lang="fr-FR" smtClean="0"/>
              <a:t>‹N°›</a:t>
            </a:fld>
            <a:endParaRPr lang="fr-FR"/>
          </a:p>
        </p:txBody>
      </p:sp>
    </p:spTree>
    <p:extLst>
      <p:ext uri="{BB962C8B-B14F-4D97-AF65-F5344CB8AC3E}">
        <p14:creationId xmlns:p14="http://schemas.microsoft.com/office/powerpoint/2010/main" val="2430191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20 s</a:t>
            </a:r>
          </a:p>
          <a:p>
            <a:endParaRPr lang="fr-FR"/>
          </a:p>
          <a:p>
            <a:r>
              <a:rPr lang="fr-FR"/>
              <a:t>COMPLÉMENT</a:t>
            </a:r>
          </a:p>
          <a:p>
            <a:r>
              <a:rPr lang="fr-FR"/>
              <a:t>Dire en une phrase ce que c'est : un site d'emploi où l'on postule en quelques secondes. Annoncer : sept minutes de présentation, puis la démonstration en direct. Chacun parle de son périmètre : Axel le produit et l'équipe, Yohan la plateforme, Ismail la confiance.</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1</a:t>
            </a:fld>
            <a:endParaRPr lang="fr-FR"/>
          </a:p>
        </p:txBody>
      </p:sp>
    </p:spTree>
    <p:extLst>
      <p:ext uri="{BB962C8B-B14F-4D97-AF65-F5344CB8AC3E}">
        <p14:creationId xmlns:p14="http://schemas.microsoft.com/office/powerpoint/2010/main" val="2857790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45 s</a:t>
            </a:r>
          </a:p>
          <a:p>
            <a:endParaRPr lang="fr-FR"/>
          </a:p>
          <a:p>
            <a:r>
              <a:rPr lang="fr-FR"/>
              <a:t>COMPLÉMENT</a:t>
            </a:r>
          </a:p>
          <a:p>
            <a:r>
              <a:rPr lang="fr-FR"/>
              <a:t>Le premier point vient du sujet : les offres sont dispersées sur de nombreuses plateformes. Les deux autres sont le vécu de n'importe quel candidat : parler d'une expérience personnelle rend le constat concret.</a:t>
            </a:r>
          </a:p>
          <a:p>
            <a:r>
              <a:rPr lang="fr-FR"/>
              <a:t>La phrase du bas est la promesse ; la diapositive suivante la tient.</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2</a:t>
            </a:fld>
            <a:endParaRPr lang="fr-FR"/>
          </a:p>
        </p:txBody>
      </p:sp>
    </p:spTree>
    <p:extLst>
      <p:ext uri="{BB962C8B-B14F-4D97-AF65-F5344CB8AC3E}">
        <p14:creationId xmlns:p14="http://schemas.microsoft.com/office/powerpoint/2010/main" val="3773289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60 s</a:t>
            </a:r>
          </a:p>
          <a:p>
            <a:endParaRPr lang="fr-FR"/>
          </a:p>
          <a:p>
            <a:r>
              <a:rPr lang="fr-FR"/>
              <a:t>COMPLÉMENT</a:t>
            </a:r>
          </a:p>
          <a:p>
            <a:r>
              <a:rPr lang="fr-FR"/>
              <a:t>La maquette de droite reprend l'accueil réel du site : recherche, puis les offres les plus récentes.</a:t>
            </a:r>
          </a:p>
          <a:p>
            <a:r>
              <a:rPr lang="fr-FR"/>
              <a:t>Sans compte : nom, prénom, e-mail, téléphone facultatif, message. Si l'adresse appartient déjà à un compte, le site demande de se connecter : personne ne candidate au nom d'un autre.</a:t>
            </a:r>
          </a:p>
          <a:p>
            <a:r>
              <a:rPr lang="fr-FR"/>
              <a:t>Ne pas parler technique ici : on vend l'usage.</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3</a:t>
            </a:fld>
            <a:endParaRPr lang="fr-FR"/>
          </a:p>
        </p:txBody>
      </p:sp>
    </p:spTree>
    <p:extLst>
      <p:ext uri="{BB962C8B-B14F-4D97-AF65-F5344CB8AC3E}">
        <p14:creationId xmlns:p14="http://schemas.microsoft.com/office/powerpoint/2010/main" val="311825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60 s</a:t>
            </a:r>
          </a:p>
          <a:p>
            <a:endParaRPr lang="fr-FR"/>
          </a:p>
          <a:p>
            <a:r>
              <a:rPr lang="fr-FR"/>
              <a:t>COMPLÉMENT</a:t>
            </a:r>
          </a:p>
          <a:p>
            <a:r>
              <a:rPr lang="fr-FR"/>
              <a:t>La carte est une annonce réelle de la base. Le titre de l'annonce ouvre le détail dans la carte ; le bouton Postuler ouvre le formulaire au même endroit.</a:t>
            </a:r>
          </a:p>
          <a:p>
            <a:r>
              <a:rPr lang="fr-FR"/>
              <a:t>La diapositive se construit dans l'ordre du geste : l'annonce, le formulaire, la confirmation. Laisser l'animation finir avant de parler du formulaire.</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4</a:t>
            </a:fld>
            <a:endParaRPr lang="fr-FR"/>
          </a:p>
        </p:txBody>
      </p:sp>
    </p:spTree>
    <p:extLst>
      <p:ext uri="{BB962C8B-B14F-4D97-AF65-F5344CB8AC3E}">
        <p14:creationId xmlns:p14="http://schemas.microsoft.com/office/powerpoint/2010/main" val="3205196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40 s</a:t>
            </a:r>
          </a:p>
          <a:p>
            <a:endParaRPr lang="fr-FR"/>
          </a:p>
          <a:p>
            <a:r>
              <a:rPr lang="fr-FR"/>
              <a:t>COMPLÉMENT</a:t>
            </a:r>
          </a:p>
          <a:p>
            <a:r>
              <a:rPr lang="fr-FR"/>
              <a:t>À dire : le CV suit la candidature. Le candidat le joint en postulant, ou le dépose une fois pour toutes dans son espace ; le recruteur l'ouvre avec le dossier, sans échange d'e-mails.</a:t>
            </a:r>
          </a:p>
          <a:p>
            <a:r>
              <a:rPr lang="fr-FR"/>
              <a:t>État réel au 13 octobre : fonctionnalité en cours de développement, livraison annoncée pour la fin de semaine (rendu du 16 octobre). Ne pas la montrer en démonstration tant qu'elle n'est pas fusionnée dans main. Si la question vient : en finition pour vendredi.</a:t>
            </a:r>
          </a:p>
          <a:p>
            <a:r>
              <a:rPr lang="fr-FR"/>
              <a:t>La diapositive la présente comme une capacité en place, sur décision de l'équipe.</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5</a:t>
            </a:fld>
            <a:endParaRPr lang="fr-FR"/>
          </a:p>
        </p:txBody>
      </p:sp>
    </p:spTree>
    <p:extLst>
      <p:ext uri="{BB962C8B-B14F-4D97-AF65-F5344CB8AC3E}">
        <p14:creationId xmlns:p14="http://schemas.microsoft.com/office/powerpoint/2010/main" val="18099020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50 s</a:t>
            </a:r>
          </a:p>
          <a:p>
            <a:endParaRPr lang="fr-FR"/>
          </a:p>
          <a:p>
            <a:r>
              <a:rPr lang="fr-FR"/>
              <a:t>COMPLÉMENT</a:t>
            </a:r>
          </a:p>
          <a:p>
            <a:r>
              <a:rPr lang="fr-FR"/>
              <a:t>Un recruteur est une personne rattachée à une entreprise par l'administrateur : personne ne se déclare recruteur lui-même. Pourvoir une offre : l'annonce se ferme, une candidature est retenue, les autres refusées, en une seule opération.</a:t>
            </a:r>
          </a:p>
          <a:p>
            <a:r>
              <a:rPr lang="fr-FR"/>
              <a:t>Administration : accès réservé au rôle admin, 10, 25 ou 50 lignes par page.</a:t>
            </a:r>
          </a:p>
          <a:p>
            <a:r>
              <a:rPr lang="fr-FR"/>
              <a:t>Démonstration : montrer l'espace candidat et l'administration ; l'espace recruteur se présente depuis cette diapositive.</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6</a:t>
            </a:fld>
            <a:endParaRPr lang="fr-FR"/>
          </a:p>
        </p:txBody>
      </p:sp>
    </p:spTree>
    <p:extLst>
      <p:ext uri="{BB962C8B-B14F-4D97-AF65-F5344CB8AC3E}">
        <p14:creationId xmlns:p14="http://schemas.microsoft.com/office/powerpoint/2010/main" val="2231100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Yohan · 35 s</a:t>
            </a:r>
          </a:p>
          <a:p>
            <a:endParaRPr lang="fr-FR"/>
          </a:p>
          <a:p>
            <a:r>
              <a:rPr lang="fr-FR"/>
              <a:t>COMPLÉMENT</a:t>
            </a:r>
          </a:p>
          <a:p>
            <a:r>
              <a:rPr lang="fr-FR"/>
              <a:t>Les 50 annonces : 20 CDI, 10 CDD, 8 stages, 7 alternances, 5 freelances. Dix villes, six catégories de métiers. Les annonces sont insérées par un script du back-end, qui refuse de s'exécuter deux fois.</a:t>
            </a:r>
          </a:p>
          <a:p>
            <a:r>
              <a:rPr lang="fr-FR"/>
              <a:t>Si la question vient : les données sont fictives, rédigées par l'équipe ; aucune entreprise réelle.</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7</a:t>
            </a:fld>
            <a:endParaRPr lang="fr-FR"/>
          </a:p>
        </p:txBody>
      </p:sp>
    </p:spTree>
    <p:extLst>
      <p:ext uri="{BB962C8B-B14F-4D97-AF65-F5344CB8AC3E}">
        <p14:creationId xmlns:p14="http://schemas.microsoft.com/office/powerpoint/2010/main" val="2058848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Yohan · 60 s</a:t>
            </a:r>
          </a:p>
          <a:p>
            <a:endParaRPr lang="fr-FR"/>
          </a:p>
          <a:p>
            <a:r>
              <a:rPr lang="fr-FR"/>
              <a:t>COMPLÉMENT</a:t>
            </a:r>
          </a:p>
          <a:p>
            <a:r>
              <a:rPr lang="fr-FR"/>
              <a:t>Technique, si on la demande : React 19 avec Vite côté interface ; Flask 3 en Blueprints sous /api ; SQLite, six tables, clés étrangères actives, requêtes paramétrées, contraintes en base (SIREN unique, statuts contrôlés, suppressions protégées).</a:t>
            </a:r>
          </a:p>
          <a:p>
            <a:r>
              <a:rPr lang="fr-FR"/>
              <a:t>Le README à la racine décrit l'installation, le schéma, les routes et les pages ; le contrat d'API est dans docs/.</a:t>
            </a:r>
          </a:p>
          <a:p>
            <a:r>
              <a:rPr lang="fr-FR"/>
              <a:t>Investisseur : ne pas lister les technologies, dire ce qu'elles garantissent.</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8</a:t>
            </a:fld>
            <a:endParaRPr lang="fr-FR"/>
          </a:p>
        </p:txBody>
      </p:sp>
    </p:spTree>
    <p:extLst>
      <p:ext uri="{BB962C8B-B14F-4D97-AF65-F5344CB8AC3E}">
        <p14:creationId xmlns:p14="http://schemas.microsoft.com/office/powerpoint/2010/main" val="4052805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Ismail · 70 s</a:t>
            </a:r>
          </a:p>
          <a:p>
            <a:endParaRPr lang="fr-FR"/>
          </a:p>
          <a:p>
            <a:r>
              <a:rPr lang="fr-FR"/>
              <a:t>COMPLÉMENT</a:t>
            </a:r>
          </a:p>
          <a:p>
            <a:r>
              <a:rPr lang="fr-FR"/>
              <a:t>Pourquoi ce parcours : une personne qui a candidaté sans compte a déjà une fiche. Sans vérification, connaître son adresse suffirait pour lire ses candidatures. Avec le lien, seul le propriétaire de la boîte mail ouvre le compte.</a:t>
            </a:r>
          </a:p>
          <a:p>
            <a:r>
              <a:rPr lang="fr-FR"/>
              <a:t>Technique, si on la demande : jeton aléatoire stocké haché, un lien périmé, inconnu ou déjà utilisé reçoit le même refus ; cookie de session HttpOnly et SameSite=Lax ; cinq échecs en quinze minutes donnent une réponse 429 avec le délai d'attente, même avec le bon mot de passe ; clé secrète et réglages d'envoi dans un fichier .env ignoré par Git.</a:t>
            </a:r>
          </a:p>
          <a:p>
            <a:r>
              <a:rPr lang="fr-FR"/>
              <a:t>En démonstration, le lien de confirmation s'affiche dans le terminal du serveur.</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9</a:t>
            </a:fld>
            <a:endParaRPr lang="fr-FR"/>
          </a:p>
        </p:txBody>
      </p:sp>
    </p:spTree>
    <p:extLst>
      <p:ext uri="{BB962C8B-B14F-4D97-AF65-F5344CB8AC3E}">
        <p14:creationId xmlns:p14="http://schemas.microsoft.com/office/powerpoint/2010/main" val="23950436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45 s</a:t>
            </a:r>
          </a:p>
          <a:p>
            <a:endParaRPr lang="fr-FR"/>
          </a:p>
          <a:p>
            <a:r>
              <a:rPr lang="fr-FR"/>
              <a:t>COMPLÉMENT</a:t>
            </a:r>
          </a:p>
          <a:p>
            <a:r>
              <a:rPr lang="fr-FR"/>
              <a:t>C'est le rythme réel du projet : chaque matin un document de tâches par personne, chaque soir les tests et la relecture, puis la fusion dans main et la mise à jour des dépôts. Le dire comme une capacité : le client demande, l'équipe livre.</a:t>
            </a:r>
          </a:p>
          <a:p>
            <a:r>
              <a:rPr lang="fr-FR"/>
              <a:t>Pour l'encadrant : c'est ici que se montre la gestion de projet, sans raconter le chemin.</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10</a:t>
            </a:fld>
            <a:endParaRPr lang="fr-FR"/>
          </a:p>
        </p:txBody>
      </p:sp>
    </p:spTree>
    <p:extLst>
      <p:ext uri="{BB962C8B-B14F-4D97-AF65-F5344CB8AC3E}">
        <p14:creationId xmlns:p14="http://schemas.microsoft.com/office/powerpoint/2010/main" val="30866354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15 s, puis la démonstration</a:t>
            </a:r>
          </a:p>
          <a:p>
            <a:endParaRPr lang="fr-FR"/>
          </a:p>
          <a:p>
            <a:r>
              <a:rPr lang="fr-FR"/>
              <a:t>COMPLÉMENT</a:t>
            </a:r>
          </a:p>
          <a:p>
            <a:r>
              <a:rPr lang="fr-FR"/>
              <a:t>Une personne parle, une autre manipule. Serveur et site lancés avant la présentation, base remplie, terminal du serveur visible pour le lien de confirmation. Compte administrateur prêt. Aucun mot de passe affiché à l'écran.</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11</a:t>
            </a:fld>
            <a:endParaRPr lang="fr-FR"/>
          </a:p>
        </p:txBody>
      </p:sp>
    </p:spTree>
    <p:extLst>
      <p:ext uri="{BB962C8B-B14F-4D97-AF65-F5344CB8AC3E}">
        <p14:creationId xmlns:p14="http://schemas.microsoft.com/office/powerpoint/2010/main" val="858957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INTERVENANT : Axel · 20 s, après la démonstration</a:t>
            </a:r>
          </a:p>
          <a:p>
            <a:endParaRPr lang="fr-FR"/>
          </a:p>
          <a:p>
            <a:r>
              <a:rPr lang="fr-FR"/>
              <a:t>COMPLÉMENT</a:t>
            </a:r>
          </a:p>
          <a:p>
            <a:r>
              <a:rPr lang="fr-FR"/>
              <a:t>Conclure sur la preuve : tout ce qui vient d'être montré est écrit et vérifiable dans le dépôt. Un clic sur le bloc ouvre docs/choix_techniques_front.md sur GitHub (dépôt Epitech, branche main).</a:t>
            </a:r>
          </a:p>
          <a:p>
            <a:r>
              <a:rPr lang="fr-FR"/>
              <a:t>Ce fichier n'est pas encore poussé au 13 octobre : il doit être sur main avant la soutenance, sinon le lien est mort. Le contrat d'API (docs/contrat_api.md) y est déjà.</a:t>
            </a:r>
          </a:p>
          <a:p>
            <a:r>
              <a:rPr lang="fr-FR"/>
              <a:t>Les trois chiffres sont ceux des diapositives précédentes : aucun chiffre nouveau.</a:t>
            </a:r>
          </a:p>
        </p:txBody>
      </p:sp>
      <p:sp>
        <p:nvSpPr>
          <p:cNvPr id="4" name="Espace réservé du numéro de diapositive 3"/>
          <p:cNvSpPr>
            <a:spLocks noGrp="1"/>
          </p:cNvSpPr>
          <p:nvPr>
            <p:ph type="sldNum" sz="quarter" idx="5"/>
          </p:nvPr>
        </p:nvSpPr>
        <p:spPr/>
        <p:txBody>
          <a:bodyPr/>
          <a:lstStyle/>
          <a:p>
            <a:fld id="{D9C38A8C-A952-4860-9F51-CDDD32759BDD}" type="slidenum">
              <a:rPr lang="fr-FR" smtClean="0"/>
              <a:t>12</a:t>
            </a:fld>
            <a:endParaRPr lang="fr-FR"/>
          </a:p>
        </p:txBody>
      </p:sp>
    </p:spTree>
    <p:extLst>
      <p:ext uri="{BB962C8B-B14F-4D97-AF65-F5344CB8AC3E}">
        <p14:creationId xmlns:p14="http://schemas.microsoft.com/office/powerpoint/2010/main" val="533302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DBEF89-856E-D86A-F731-B18EBF0F8D3D}"/>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A5A31D5-1405-8130-6827-38E68E9605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9158E5A-FB45-7C11-F776-A4A7858A2F52}"/>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5" name="Espace réservé du pied de page 4">
            <a:extLst>
              <a:ext uri="{FF2B5EF4-FFF2-40B4-BE49-F238E27FC236}">
                <a16:creationId xmlns:a16="http://schemas.microsoft.com/office/drawing/2014/main" id="{716153AF-5487-5FF4-BCDD-5B56D072EEB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09EFC08-2D12-2D3E-1748-5482D5E8710E}"/>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2422037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9D29638-EC53-34B9-B583-DB5F863FCE60}"/>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D9E580F-6697-8301-24AB-5C5EB65D2A6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A9B51C9-9FDC-C635-BEA6-154D01753986}"/>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5" name="Espace réservé du pied de page 4">
            <a:extLst>
              <a:ext uri="{FF2B5EF4-FFF2-40B4-BE49-F238E27FC236}">
                <a16:creationId xmlns:a16="http://schemas.microsoft.com/office/drawing/2014/main" id="{7C31D793-EA74-0611-9B2D-87BBD766F27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645A012-797B-F034-6F0B-D4CA1FF7C8D5}"/>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3044578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C9AF78-7EFB-BE4E-7C83-DA2B2B08D12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86E28DCB-342B-71CB-D8DB-B51021C5B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3FED0628-9C44-22C0-99CF-F1E5A61C41E0}"/>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5" name="Espace réservé du pied de page 4">
            <a:extLst>
              <a:ext uri="{FF2B5EF4-FFF2-40B4-BE49-F238E27FC236}">
                <a16:creationId xmlns:a16="http://schemas.microsoft.com/office/drawing/2014/main" id="{8FD986D3-8E75-6356-F9F3-AD5CC9AC46E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E47D9CB-14C7-AE86-CF6B-B6CDE91CC93E}"/>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240832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958900A-886C-E749-31BF-EA531F4DE5D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48954034-8C93-9333-879E-2077831C41B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AA0C1D03-DC47-49FF-4A88-95F916F21C41}"/>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C7B993E-02FB-AF1D-3716-0EB6C0AB2DF9}"/>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6" name="Espace réservé du pied de page 5">
            <a:extLst>
              <a:ext uri="{FF2B5EF4-FFF2-40B4-BE49-F238E27FC236}">
                <a16:creationId xmlns:a16="http://schemas.microsoft.com/office/drawing/2014/main" id="{69F95481-882D-820C-CE90-0DAC17E7206B}"/>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47E3DE2-E7F3-D146-3A25-17A70D2E0092}"/>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1300891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05988C-D67F-B865-9390-9508214CC8C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10DCCB69-3C9D-B943-5CC7-4BE582CE8F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13B8E3A-1A2F-CF55-8AB9-C8B4342E16A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F470DBA-8E74-E4BB-9D8A-207FEA37C5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E12CF19-38E7-B708-907B-C489C6D38D0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D47D34C6-AD7B-0818-018D-CE846BEDAC15}"/>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8" name="Espace réservé du pied de page 7">
            <a:extLst>
              <a:ext uri="{FF2B5EF4-FFF2-40B4-BE49-F238E27FC236}">
                <a16:creationId xmlns:a16="http://schemas.microsoft.com/office/drawing/2014/main" id="{045CAFC5-32E6-DAA9-F679-E62B4A5D602E}"/>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DD8BF7D-445A-CFC0-B4A7-9BA67B203CBE}"/>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2222503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3DCDD1D-0F93-943E-0AF0-85C205C76A87}"/>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8753FF6C-64E1-81F6-A31B-19D1624883ED}"/>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4" name="Espace réservé du pied de page 3">
            <a:extLst>
              <a:ext uri="{FF2B5EF4-FFF2-40B4-BE49-F238E27FC236}">
                <a16:creationId xmlns:a16="http://schemas.microsoft.com/office/drawing/2014/main" id="{BF335D0D-F6FD-D771-C938-8D7DC1D6724E}"/>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91192B2-4F63-D864-3E00-3B97E3014C00}"/>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148585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73EB12BD-9158-E32F-A1A4-B33AF6CE6732}"/>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3" name="Espace réservé du pied de page 2">
            <a:extLst>
              <a:ext uri="{FF2B5EF4-FFF2-40B4-BE49-F238E27FC236}">
                <a16:creationId xmlns:a16="http://schemas.microsoft.com/office/drawing/2014/main" id="{6818F952-9BF3-7C8D-1CD0-B521FC13467B}"/>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B041CE7C-6444-AC86-BFD8-4AE232A7B7F2}"/>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2546325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642B6FD-FB3A-5ECD-3837-84FB942350D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C8A3FB37-6C9F-C963-DA78-4CA64CEEAE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CABAFA9-2543-AA10-1F20-F89D2EF73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4F34426-274F-2FA7-56C1-D7956FAE46D7}"/>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6" name="Espace réservé du pied de page 5">
            <a:extLst>
              <a:ext uri="{FF2B5EF4-FFF2-40B4-BE49-F238E27FC236}">
                <a16:creationId xmlns:a16="http://schemas.microsoft.com/office/drawing/2014/main" id="{833CF676-1A99-0995-2B73-3F91D2D67A0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4FE6741C-5826-C355-F017-0DC58D27021D}"/>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4204684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908079-B36C-F441-2861-F05FD8E1DD04}"/>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CDFBB4D-E38C-9E1D-6C86-8E30137C03B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A09BD4AC-2044-1BF5-15E3-0B8D8929B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BC74C0F3-E344-0075-EEB4-3AA16A0727CA}"/>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6" name="Espace réservé du pied de page 5">
            <a:extLst>
              <a:ext uri="{FF2B5EF4-FFF2-40B4-BE49-F238E27FC236}">
                <a16:creationId xmlns:a16="http://schemas.microsoft.com/office/drawing/2014/main" id="{8DF5D253-85F2-4D0C-9203-16E7489F80D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C11B5EA-33A7-8D9D-2488-3F7E50FAC2B6}"/>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863767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23349F-8E5D-158A-E13C-C8AE0B3AD38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7E40E0B6-245C-3F6A-9B45-71710B958C3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F8D529F8-1C67-DB14-3458-FCC5C9BFB259}"/>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5" name="Espace réservé du pied de page 4">
            <a:extLst>
              <a:ext uri="{FF2B5EF4-FFF2-40B4-BE49-F238E27FC236}">
                <a16:creationId xmlns:a16="http://schemas.microsoft.com/office/drawing/2014/main" id="{59F2B689-9BFA-3091-A0A9-DB25A619B2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1AC92901-CD21-5AC8-8B72-C32882D832B2}"/>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23396147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0A207FE-7E19-391D-3ED5-301BD5F4CD14}"/>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4C52670-31CB-5E40-420A-06E0294753A3}"/>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661A050-F626-C8DB-ECD2-DF687C45EA93}"/>
              </a:ext>
            </a:extLst>
          </p:cNvPr>
          <p:cNvSpPr>
            <a:spLocks noGrp="1"/>
          </p:cNvSpPr>
          <p:nvPr>
            <p:ph type="dt" sz="half" idx="10"/>
          </p:nvPr>
        </p:nvSpPr>
        <p:spPr/>
        <p:txBody>
          <a:bodyPr/>
          <a:lstStyle/>
          <a:p>
            <a:fld id="{B25980C9-7327-4AB2-AF60-70BAAFF4AD3D}" type="datetimeFigureOut">
              <a:rPr lang="fr-FR" smtClean="0"/>
              <a:t>13/10/2026</a:t>
            </a:fld>
            <a:endParaRPr lang="fr-FR"/>
          </a:p>
        </p:txBody>
      </p:sp>
      <p:sp>
        <p:nvSpPr>
          <p:cNvPr id="5" name="Espace réservé du pied de page 4">
            <a:extLst>
              <a:ext uri="{FF2B5EF4-FFF2-40B4-BE49-F238E27FC236}">
                <a16:creationId xmlns:a16="http://schemas.microsoft.com/office/drawing/2014/main" id="{681D4CA5-193B-7791-9238-3762087A2A3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37959FA-9ACD-1483-4B11-0ED08FFE7F8E}"/>
              </a:ext>
            </a:extLst>
          </p:cNvPr>
          <p:cNvSpPr>
            <a:spLocks noGrp="1"/>
          </p:cNvSpPr>
          <p:nvPr>
            <p:ph type="sldNum" sz="quarter" idx="12"/>
          </p:nvPr>
        </p:nvSpPr>
        <p:spPr/>
        <p:txBody>
          <a:bodyPr/>
          <a:lstStyle/>
          <a:p>
            <a:fld id="{19D42B5C-DFA0-4F61-93A5-06651F3E99BC}" type="slidenum">
              <a:rPr lang="fr-FR" smtClean="0"/>
              <a:t>‹N°›</a:t>
            </a:fld>
            <a:endParaRPr lang="fr-FR"/>
          </a:p>
        </p:txBody>
      </p:sp>
    </p:spTree>
    <p:extLst>
      <p:ext uri="{BB962C8B-B14F-4D97-AF65-F5344CB8AC3E}">
        <p14:creationId xmlns:p14="http://schemas.microsoft.com/office/powerpoint/2010/main" val="25280688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D0B3F5F2-BA05-DCCC-510E-659406FC00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E519AC08-A5AF-3992-A79E-C4C6242498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DE1C1FB-2D4C-C4C8-6CC4-C80A5D27B8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25980C9-7327-4AB2-AF60-70BAAFF4AD3D}" type="datetimeFigureOut">
              <a:rPr lang="fr-FR" smtClean="0"/>
              <a:t>13/10/2026</a:t>
            </a:fld>
            <a:endParaRPr lang="fr-FR"/>
          </a:p>
        </p:txBody>
      </p:sp>
      <p:sp>
        <p:nvSpPr>
          <p:cNvPr id="5" name="Espace réservé du pied de page 4">
            <a:extLst>
              <a:ext uri="{FF2B5EF4-FFF2-40B4-BE49-F238E27FC236}">
                <a16:creationId xmlns:a16="http://schemas.microsoft.com/office/drawing/2014/main" id="{954686B7-A23E-1244-B395-E861B45989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0100ED5F-A504-F208-5E9E-8E8F38B235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D42B5C-DFA0-4F61-93A5-06651F3E99BC}" type="slidenum">
              <a:rPr lang="fr-FR" smtClean="0"/>
              <a:t>‹N°›</a:t>
            </a:fld>
            <a:endParaRPr lang="fr-FR"/>
          </a:p>
        </p:txBody>
      </p:sp>
    </p:spTree>
    <p:extLst>
      <p:ext uri="{BB962C8B-B14F-4D97-AF65-F5344CB8AC3E}">
        <p14:creationId xmlns:p14="http://schemas.microsoft.com/office/powerpoint/2010/main" val="38056014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EpitechMscProPromo2029/T-WEB-501-PAR-5-1-job_board-5/blob/main/docs/choix_techniques_front.md"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6134A688-3A2E-E875-4DC8-63A7A9008D41}"/>
              </a:ext>
            </a:extLst>
          </p:cNvPr>
          <p:cNvSpPr txBox="1"/>
          <p:nvPr/>
        </p:nvSpPr>
        <p:spPr>
          <a:xfrm>
            <a:off x="914400" y="914400"/>
            <a:ext cx="2032000" cy="369332"/>
          </a:xfrm>
          <a:prstGeom prst="rect">
            <a:avLst/>
          </a:prstGeom>
          <a:noFill/>
        </p:spPr>
        <p:txBody>
          <a:bodyPr vert="horz" wrap="square" lIns="0" tIns="0" rIns="0" bIns="0" rtlCol="0">
            <a:noAutofit/>
          </a:bodyPr>
          <a:lstStyle/>
          <a:p>
            <a:pPr>
              <a:lnSpc>
                <a:spcPct val="115000"/>
              </a:lnSpc>
            </a:pPr>
            <a:r>
              <a:rPr lang="fr-FR" sz="2000">
                <a:solidFill>
                  <a:srgbClr val="F2F5F8"/>
                </a:solidFill>
                <a:latin typeface="Manrope SemiBold" pitchFamily="2" charset="0"/>
              </a:rPr>
              <a:t>Y.I.A J</a:t>
            </a:r>
            <a:r>
              <a:rPr lang="fr-FR" sz="2000">
                <a:solidFill>
                  <a:srgbClr val="A9CCE3"/>
                </a:solidFill>
                <a:latin typeface="Manrope SemiBold" pitchFamily="2" charset="0"/>
              </a:rPr>
              <a:t>o</a:t>
            </a:r>
            <a:r>
              <a:rPr lang="fr-FR" sz="2000">
                <a:solidFill>
                  <a:srgbClr val="F2F5F8"/>
                </a:solidFill>
                <a:latin typeface="Manrope SemiBold" pitchFamily="2" charset="0"/>
              </a:rPr>
              <a:t>bs</a:t>
            </a:r>
          </a:p>
        </p:txBody>
      </p:sp>
      <p:sp>
        <p:nvSpPr>
          <p:cNvPr id="3" name="ZoneTexte 2">
            <a:extLst>
              <a:ext uri="{FF2B5EF4-FFF2-40B4-BE49-F238E27FC236}">
                <a16:creationId xmlns:a16="http://schemas.microsoft.com/office/drawing/2014/main" id="{A3249261-F637-F619-4D43-B4D35DAAA271}"/>
              </a:ext>
            </a:extLst>
          </p:cNvPr>
          <p:cNvSpPr txBox="1"/>
          <p:nvPr/>
        </p:nvSpPr>
        <p:spPr>
          <a:xfrm>
            <a:off x="914400" y="2235200"/>
            <a:ext cx="10160000" cy="369332"/>
          </a:xfrm>
          <a:prstGeom prst="rect">
            <a:avLst/>
          </a:prstGeom>
          <a:noFill/>
        </p:spPr>
        <p:txBody>
          <a:bodyPr vert="horz" wrap="square" lIns="0" tIns="0" rIns="0" bIns="0" rtlCol="0">
            <a:noAutofit/>
          </a:bodyPr>
          <a:lstStyle/>
          <a:p>
            <a:r>
              <a:rPr lang="fr-FR" sz="5800" spc="-100">
                <a:solidFill>
                  <a:srgbClr val="F2F5F8"/>
                </a:solidFill>
                <a:latin typeface="Manrope SemiBold" pitchFamily="2" charset="0"/>
              </a:rPr>
              <a:t>Votre carrière,</a:t>
            </a:r>
          </a:p>
          <a:p>
            <a:r>
              <a:rPr lang="fr-FR" sz="5800" spc="-100">
                <a:solidFill>
                  <a:srgbClr val="F2F5F8"/>
                </a:solidFill>
                <a:latin typeface="Manrope SemiBold" pitchFamily="2" charset="0"/>
              </a:rPr>
              <a:t>traitée avec </a:t>
            </a:r>
            <a:r>
              <a:rPr lang="fr-FR" sz="5800" spc="-100">
                <a:gradFill flip="none" rotWithShape="1">
                  <a:gsLst>
                    <a:gs pos="0">
                      <a:srgbClr val="5A93BF"/>
                    </a:gs>
                    <a:gs pos="100000">
                      <a:srgbClr val="A9CCE3"/>
                    </a:gs>
                  </a:gsLst>
                  <a:lin ang="0" scaled="1"/>
                  <a:tileRect/>
                </a:gradFill>
                <a:latin typeface="Manrope SemiBold" pitchFamily="2" charset="0"/>
              </a:rPr>
              <a:t>soin</a:t>
            </a:r>
            <a:r>
              <a:rPr lang="fr-FR" sz="5800" spc="-100">
                <a:solidFill>
                  <a:srgbClr val="F2F5F8"/>
                </a:solidFill>
                <a:latin typeface="Manrope SemiBold" pitchFamily="2" charset="0"/>
              </a:rPr>
              <a:t>.</a:t>
            </a:r>
          </a:p>
        </p:txBody>
      </p:sp>
      <p:sp>
        <p:nvSpPr>
          <p:cNvPr id="4" name="ZoneTexte 3">
            <a:extLst>
              <a:ext uri="{FF2B5EF4-FFF2-40B4-BE49-F238E27FC236}">
                <a16:creationId xmlns:a16="http://schemas.microsoft.com/office/drawing/2014/main" id="{1FDBBDFB-B9FC-4F52-3749-F2175201014A}"/>
              </a:ext>
            </a:extLst>
          </p:cNvPr>
          <p:cNvSpPr txBox="1"/>
          <p:nvPr/>
        </p:nvSpPr>
        <p:spPr>
          <a:xfrm>
            <a:off x="914400" y="5308600"/>
            <a:ext cx="7620000" cy="369332"/>
          </a:xfrm>
          <a:prstGeom prst="rect">
            <a:avLst/>
          </a:prstGeom>
          <a:noFill/>
        </p:spPr>
        <p:txBody>
          <a:bodyPr vert="horz" wrap="square" lIns="0" tIns="0" rIns="0" bIns="0" rtlCol="0">
            <a:noAutofit/>
          </a:bodyPr>
          <a:lstStyle/>
          <a:p>
            <a:pPr>
              <a:lnSpc>
                <a:spcPct val="115000"/>
              </a:lnSpc>
            </a:pPr>
            <a:r>
              <a:rPr lang="fr-FR" sz="1400">
                <a:solidFill>
                  <a:srgbClr val="9CA9B6"/>
                </a:solidFill>
                <a:latin typeface="Manrope" pitchFamily="2" charset="0"/>
              </a:rPr>
              <a:t>Soutenance du 14 octobre 2026</a:t>
            </a:r>
          </a:p>
        </p:txBody>
      </p:sp>
      <p:sp>
        <p:nvSpPr>
          <p:cNvPr id="5" name="ZoneTexte 4">
            <a:extLst>
              <a:ext uri="{FF2B5EF4-FFF2-40B4-BE49-F238E27FC236}">
                <a16:creationId xmlns:a16="http://schemas.microsoft.com/office/drawing/2014/main" id="{8617EC45-1874-0B4E-2784-26E7435B3B5A}"/>
              </a:ext>
            </a:extLst>
          </p:cNvPr>
          <p:cNvSpPr txBox="1"/>
          <p:nvPr/>
        </p:nvSpPr>
        <p:spPr>
          <a:xfrm>
            <a:off x="914400" y="5638800"/>
            <a:ext cx="8890000" cy="369332"/>
          </a:xfrm>
          <a:prstGeom prst="rect">
            <a:avLst/>
          </a:prstGeom>
          <a:noFill/>
        </p:spPr>
        <p:txBody>
          <a:bodyPr vert="horz" wrap="square" lIns="0" tIns="0" rIns="0" bIns="0" rtlCol="0">
            <a:noAutofit/>
          </a:bodyPr>
          <a:lstStyle/>
          <a:p>
            <a:pPr>
              <a:lnSpc>
                <a:spcPct val="115000"/>
              </a:lnSpc>
            </a:pPr>
            <a:r>
              <a:rPr lang="fr-FR" sz="1400">
                <a:solidFill>
                  <a:srgbClr val="F2F5F8"/>
                </a:solidFill>
                <a:latin typeface="Manrope Medium" pitchFamily="2" charset="0"/>
              </a:rPr>
              <a:t>Axel FOLLET · Yohan AVRONSART · Ismail BASSIT</a:t>
            </a:r>
          </a:p>
        </p:txBody>
      </p:sp>
    </p:spTree>
    <p:extLst>
      <p:ext uri="{BB962C8B-B14F-4D97-AF65-F5344CB8AC3E}">
        <p14:creationId xmlns:p14="http://schemas.microsoft.com/office/powerpoint/2010/main" val="167097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8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8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174AA58-2FA2-9B40-E869-92BCC6508318}"/>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LE CONSTAT</a:t>
            </a:r>
          </a:p>
        </p:txBody>
      </p:sp>
      <p:sp>
        <p:nvSpPr>
          <p:cNvPr id="3" name="ZoneTexte 2">
            <a:extLst>
              <a:ext uri="{FF2B5EF4-FFF2-40B4-BE49-F238E27FC236}">
                <a16:creationId xmlns:a16="http://schemas.microsoft.com/office/drawing/2014/main" id="{5E92A121-080E-EF03-8468-184C330CF866}"/>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Postuler est devenu un parcours d'</a:t>
            </a:r>
            <a:r>
              <a:rPr lang="fr-FR" sz="3600" spc="-50">
                <a:gradFill flip="none" rotWithShape="1">
                  <a:gsLst>
                    <a:gs pos="0">
                      <a:srgbClr val="5A93BF"/>
                    </a:gs>
                    <a:gs pos="100000">
                      <a:srgbClr val="A9CCE3"/>
                    </a:gs>
                  </a:gsLst>
                  <a:lin ang="0" scaled="1"/>
                  <a:tileRect/>
                </a:gradFill>
                <a:latin typeface="Manrope SemiBold" pitchFamily="2" charset="0"/>
              </a:rPr>
              <a:t>obstacles</a:t>
            </a:r>
            <a:r>
              <a:rPr lang="fr-FR" sz="3600" spc="-50">
                <a:solidFill>
                  <a:srgbClr val="F2F5F8"/>
                </a:solidFill>
                <a:latin typeface="Manrope SemiBold" pitchFamily="2" charset="0"/>
              </a:rPr>
              <a:t>.</a:t>
            </a:r>
          </a:p>
        </p:txBody>
      </p:sp>
      <p:sp>
        <p:nvSpPr>
          <p:cNvPr id="4" name="Rectangle 3">
            <a:extLst>
              <a:ext uri="{FF2B5EF4-FFF2-40B4-BE49-F238E27FC236}">
                <a16:creationId xmlns:a16="http://schemas.microsoft.com/office/drawing/2014/main" id="{E72AD5B0-F11B-9227-EEBF-B989A6FDC2C4}"/>
              </a:ext>
            </a:extLst>
          </p:cNvPr>
          <p:cNvSpPr/>
          <p:nvPr/>
        </p:nvSpPr>
        <p:spPr>
          <a:xfrm>
            <a:off x="914400" y="2235200"/>
            <a:ext cx="508000" cy="381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674EE2A7-5636-B272-DC5F-01536F704782}"/>
              </a:ext>
            </a:extLst>
          </p:cNvPr>
          <p:cNvSpPr txBox="1"/>
          <p:nvPr/>
        </p:nvSpPr>
        <p:spPr>
          <a:xfrm>
            <a:off x="914400" y="2489200"/>
            <a:ext cx="3200400" cy="369332"/>
          </a:xfrm>
          <a:prstGeom prst="rect">
            <a:avLst/>
          </a:prstGeom>
          <a:noFill/>
        </p:spPr>
        <p:txBody>
          <a:bodyPr vert="horz" wrap="square" lIns="0" tIns="0" rIns="0" bIns="0" rtlCol="0">
            <a:noAutofit/>
          </a:bodyPr>
          <a:lstStyle/>
          <a:p>
            <a:pPr>
              <a:lnSpc>
                <a:spcPct val="105000"/>
              </a:lnSpc>
            </a:pPr>
            <a:r>
              <a:rPr lang="fr-FR" sz="2400">
                <a:solidFill>
                  <a:srgbClr val="F2F5F8"/>
                </a:solidFill>
                <a:latin typeface="Manrope SemiBold" pitchFamily="2" charset="0"/>
              </a:rPr>
              <a:t>Des offres dispersées.</a:t>
            </a:r>
          </a:p>
        </p:txBody>
      </p:sp>
      <p:sp>
        <p:nvSpPr>
          <p:cNvPr id="6" name="ZoneTexte 5">
            <a:extLst>
              <a:ext uri="{FF2B5EF4-FFF2-40B4-BE49-F238E27FC236}">
                <a16:creationId xmlns:a16="http://schemas.microsoft.com/office/drawing/2014/main" id="{CB782D92-A0A6-3ADE-E480-2F5243F0AC01}"/>
              </a:ext>
            </a:extLst>
          </p:cNvPr>
          <p:cNvSpPr txBox="1"/>
          <p:nvPr/>
        </p:nvSpPr>
        <p:spPr>
          <a:xfrm>
            <a:off x="914400" y="3403600"/>
            <a:ext cx="2997200" cy="369332"/>
          </a:xfrm>
          <a:prstGeom prst="rect">
            <a:avLst/>
          </a:prstGeom>
          <a:noFill/>
        </p:spPr>
        <p:txBody>
          <a:bodyPr vert="horz" wrap="square" lIns="0" tIns="0" rIns="0" bIns="0" rtlCol="0">
            <a:noAutofit/>
          </a:bodyPr>
          <a:lstStyle/>
          <a:p>
            <a:pPr>
              <a:lnSpc>
                <a:spcPct val="115000"/>
              </a:lnSpc>
            </a:pPr>
            <a:r>
              <a:rPr lang="fr-FR" sz="1400">
                <a:solidFill>
                  <a:srgbClr val="9CA9B6"/>
                </a:solidFill>
                <a:latin typeface="Manrope" pitchFamily="2" charset="0"/>
              </a:rPr>
              <a:t>Les annonces sont réparties sur de nombreuses plateformes, chacune avec ses règles.</a:t>
            </a:r>
          </a:p>
        </p:txBody>
      </p:sp>
      <p:sp>
        <p:nvSpPr>
          <p:cNvPr id="7" name="Rectangle 6">
            <a:extLst>
              <a:ext uri="{FF2B5EF4-FFF2-40B4-BE49-F238E27FC236}">
                <a16:creationId xmlns:a16="http://schemas.microsoft.com/office/drawing/2014/main" id="{E3FA01C3-3B49-4FC1-35E1-62E5C5241335}"/>
              </a:ext>
            </a:extLst>
          </p:cNvPr>
          <p:cNvSpPr/>
          <p:nvPr/>
        </p:nvSpPr>
        <p:spPr>
          <a:xfrm>
            <a:off x="4495800" y="2235200"/>
            <a:ext cx="508000" cy="381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53D6F8C2-A20F-CADB-95FE-8CA6D0626F3D}"/>
              </a:ext>
            </a:extLst>
          </p:cNvPr>
          <p:cNvSpPr txBox="1"/>
          <p:nvPr/>
        </p:nvSpPr>
        <p:spPr>
          <a:xfrm>
            <a:off x="4495800" y="2489200"/>
            <a:ext cx="3200400" cy="369332"/>
          </a:xfrm>
          <a:prstGeom prst="rect">
            <a:avLst/>
          </a:prstGeom>
          <a:noFill/>
        </p:spPr>
        <p:txBody>
          <a:bodyPr vert="horz" wrap="square" lIns="0" tIns="0" rIns="0" bIns="0" rtlCol="0">
            <a:noAutofit/>
          </a:bodyPr>
          <a:lstStyle/>
          <a:p>
            <a:pPr>
              <a:lnSpc>
                <a:spcPct val="105000"/>
              </a:lnSpc>
            </a:pPr>
            <a:r>
              <a:rPr lang="fr-FR" sz="2400">
                <a:solidFill>
                  <a:srgbClr val="F2F5F8"/>
                </a:solidFill>
                <a:latin typeface="Manrope SemiBold" pitchFamily="2" charset="0"/>
              </a:rPr>
              <a:t>Un compte avant tout.</a:t>
            </a:r>
          </a:p>
        </p:txBody>
      </p:sp>
      <p:sp>
        <p:nvSpPr>
          <p:cNvPr id="9" name="ZoneTexte 8">
            <a:extLst>
              <a:ext uri="{FF2B5EF4-FFF2-40B4-BE49-F238E27FC236}">
                <a16:creationId xmlns:a16="http://schemas.microsoft.com/office/drawing/2014/main" id="{B7DC25EF-CDD2-C65A-092C-854A35A8E57A}"/>
              </a:ext>
            </a:extLst>
          </p:cNvPr>
          <p:cNvSpPr txBox="1"/>
          <p:nvPr/>
        </p:nvSpPr>
        <p:spPr>
          <a:xfrm>
            <a:off x="4495800" y="3403600"/>
            <a:ext cx="2997200" cy="369332"/>
          </a:xfrm>
          <a:prstGeom prst="rect">
            <a:avLst/>
          </a:prstGeom>
          <a:noFill/>
        </p:spPr>
        <p:txBody>
          <a:bodyPr vert="horz" wrap="square" lIns="0" tIns="0" rIns="0" bIns="0" rtlCol="0">
            <a:noAutofit/>
          </a:bodyPr>
          <a:lstStyle/>
          <a:p>
            <a:pPr>
              <a:lnSpc>
                <a:spcPct val="115000"/>
              </a:lnSpc>
            </a:pPr>
            <a:r>
              <a:rPr lang="fr-FR" sz="1400">
                <a:solidFill>
                  <a:srgbClr val="9CA9B6"/>
                </a:solidFill>
                <a:latin typeface="Manrope" pitchFamily="2" charset="0"/>
              </a:rPr>
              <a:t>Il faut s'inscrire, confirmer, se connecter, avant même de lire une offre.</a:t>
            </a:r>
          </a:p>
        </p:txBody>
      </p:sp>
      <p:sp>
        <p:nvSpPr>
          <p:cNvPr id="10" name="Rectangle 9">
            <a:extLst>
              <a:ext uri="{FF2B5EF4-FFF2-40B4-BE49-F238E27FC236}">
                <a16:creationId xmlns:a16="http://schemas.microsoft.com/office/drawing/2014/main" id="{7DC547B4-1750-604A-D557-AFDDFCDDA06D}"/>
              </a:ext>
            </a:extLst>
          </p:cNvPr>
          <p:cNvSpPr/>
          <p:nvPr/>
        </p:nvSpPr>
        <p:spPr>
          <a:xfrm>
            <a:off x="8077200" y="2235200"/>
            <a:ext cx="508000" cy="381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8AA1A1C3-E17B-EE9D-D151-A3C431A19449}"/>
              </a:ext>
            </a:extLst>
          </p:cNvPr>
          <p:cNvSpPr txBox="1"/>
          <p:nvPr/>
        </p:nvSpPr>
        <p:spPr>
          <a:xfrm>
            <a:off x="8077200" y="2489200"/>
            <a:ext cx="3200400" cy="369332"/>
          </a:xfrm>
          <a:prstGeom prst="rect">
            <a:avLst/>
          </a:prstGeom>
          <a:noFill/>
        </p:spPr>
        <p:txBody>
          <a:bodyPr vert="horz" wrap="square" lIns="0" tIns="0" rIns="0" bIns="0" rtlCol="0">
            <a:noAutofit/>
          </a:bodyPr>
          <a:lstStyle/>
          <a:p>
            <a:pPr>
              <a:lnSpc>
                <a:spcPct val="105000"/>
              </a:lnSpc>
            </a:pPr>
            <a:r>
              <a:rPr lang="fr-FR" sz="2400">
                <a:solidFill>
                  <a:srgbClr val="F2F5F8"/>
                </a:solidFill>
                <a:latin typeface="Manrope SemiBold" pitchFamily="2" charset="0"/>
              </a:rPr>
              <a:t>Puis le silence.</a:t>
            </a:r>
          </a:p>
        </p:txBody>
      </p:sp>
      <p:sp>
        <p:nvSpPr>
          <p:cNvPr id="12" name="ZoneTexte 11">
            <a:extLst>
              <a:ext uri="{FF2B5EF4-FFF2-40B4-BE49-F238E27FC236}">
                <a16:creationId xmlns:a16="http://schemas.microsoft.com/office/drawing/2014/main" id="{4598C50F-ED7A-B3EF-07E1-A8A8F4DF36DA}"/>
              </a:ext>
            </a:extLst>
          </p:cNvPr>
          <p:cNvSpPr txBox="1"/>
          <p:nvPr/>
        </p:nvSpPr>
        <p:spPr>
          <a:xfrm>
            <a:off x="8077200" y="3403600"/>
            <a:ext cx="2997200" cy="369332"/>
          </a:xfrm>
          <a:prstGeom prst="rect">
            <a:avLst/>
          </a:prstGeom>
          <a:noFill/>
        </p:spPr>
        <p:txBody>
          <a:bodyPr vert="horz" wrap="square" lIns="0" tIns="0" rIns="0" bIns="0" rtlCol="0">
            <a:noAutofit/>
          </a:bodyPr>
          <a:lstStyle/>
          <a:p>
            <a:pPr>
              <a:lnSpc>
                <a:spcPct val="115000"/>
              </a:lnSpc>
            </a:pPr>
            <a:r>
              <a:rPr lang="fr-FR" sz="1400">
                <a:solidFill>
                  <a:srgbClr val="9CA9B6"/>
                </a:solidFill>
                <a:latin typeface="Manrope" pitchFamily="2" charset="0"/>
              </a:rPr>
              <a:t>Une fois la candidature envoyée, aucune réponse, aucun état, aucun suivi.</a:t>
            </a:r>
          </a:p>
        </p:txBody>
      </p:sp>
      <p:sp>
        <p:nvSpPr>
          <p:cNvPr id="13" name="ZoneTexte 12">
            <a:extLst>
              <a:ext uri="{FF2B5EF4-FFF2-40B4-BE49-F238E27FC236}">
                <a16:creationId xmlns:a16="http://schemas.microsoft.com/office/drawing/2014/main" id="{D6F44757-92A3-2FE1-47E8-68C7A0D6C2D9}"/>
              </a:ext>
            </a:extLst>
          </p:cNvPr>
          <p:cNvSpPr txBox="1"/>
          <p:nvPr/>
        </p:nvSpPr>
        <p:spPr>
          <a:xfrm>
            <a:off x="914400" y="5334000"/>
            <a:ext cx="10363200" cy="381000"/>
          </a:xfrm>
          <a:prstGeom prst="rect">
            <a:avLst/>
          </a:prstGeom>
          <a:noFill/>
        </p:spPr>
        <p:txBody>
          <a:bodyPr vert="horz" wrap="square" lIns="0" tIns="0" rIns="0" bIns="0" rtlCol="0">
            <a:noAutofit/>
          </a:bodyPr>
          <a:lstStyle/>
          <a:p>
            <a:pPr>
              <a:lnSpc>
                <a:spcPct val="115000"/>
              </a:lnSpc>
            </a:pPr>
            <a:r>
              <a:rPr lang="fr-FR" sz="2000">
                <a:solidFill>
                  <a:srgbClr val="A9CCE3"/>
                </a:solidFill>
                <a:latin typeface="Manrope Medium" pitchFamily="2" charset="0"/>
              </a:rPr>
              <a:t>Candidater devrait prendre quelques secondes.</a:t>
            </a:r>
          </a:p>
        </p:txBody>
      </p:sp>
    </p:spTree>
    <p:extLst>
      <p:ext uri="{BB962C8B-B14F-4D97-AF65-F5344CB8AC3E}">
        <p14:creationId xmlns:p14="http://schemas.microsoft.com/office/powerpoint/2010/main" val="1715952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0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3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animBg="1"/>
      <p:bldP spid="8" grpId="0"/>
      <p:bldP spid="9" grpId="0"/>
      <p:bldP spid="10" grpId="0" animBg="1"/>
      <p:bldP spid="11" grpId="0"/>
      <p:bldP spid="12"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5BE10AB-A882-C6F9-B0B9-A73ADE313325}"/>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LA RÉPONSE</a:t>
            </a:r>
          </a:p>
        </p:txBody>
      </p:sp>
      <p:sp>
        <p:nvSpPr>
          <p:cNvPr id="3" name="ZoneTexte 2">
            <a:extLst>
              <a:ext uri="{FF2B5EF4-FFF2-40B4-BE49-F238E27FC236}">
                <a16:creationId xmlns:a16="http://schemas.microsoft.com/office/drawing/2014/main" id="{350DB812-290C-E2CF-31D5-73BECFF8E0EB}"/>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Trouver, lire, </a:t>
            </a:r>
            <a:r>
              <a:rPr lang="fr-FR" sz="3600" spc="-50">
                <a:gradFill flip="none" rotWithShape="1">
                  <a:gsLst>
                    <a:gs pos="0">
                      <a:srgbClr val="5A93BF"/>
                    </a:gs>
                    <a:gs pos="100000">
                      <a:srgbClr val="A9CCE3"/>
                    </a:gs>
                  </a:gsLst>
                  <a:lin ang="0" scaled="1"/>
                  <a:tileRect/>
                </a:gradFill>
                <a:latin typeface="Manrope SemiBold" pitchFamily="2" charset="0"/>
              </a:rPr>
              <a:t>postuler</a:t>
            </a:r>
            <a:r>
              <a:rPr lang="fr-FR" sz="3600" spc="-50">
                <a:solidFill>
                  <a:srgbClr val="F2F5F8"/>
                </a:solidFill>
                <a:latin typeface="Manrope SemiBold" pitchFamily="2" charset="0"/>
              </a:rPr>
              <a:t>. Sans détour.</a:t>
            </a:r>
          </a:p>
        </p:txBody>
      </p:sp>
      <p:sp>
        <p:nvSpPr>
          <p:cNvPr id="4" name="Rectangle 3">
            <a:extLst>
              <a:ext uri="{FF2B5EF4-FFF2-40B4-BE49-F238E27FC236}">
                <a16:creationId xmlns:a16="http://schemas.microsoft.com/office/drawing/2014/main" id="{2BD0080F-E3C5-50FD-1D15-7C8681FACCFC}"/>
              </a:ext>
            </a:extLst>
          </p:cNvPr>
          <p:cNvSpPr/>
          <p:nvPr/>
        </p:nvSpPr>
        <p:spPr>
          <a:xfrm>
            <a:off x="914400" y="2159000"/>
            <a:ext cx="38100" cy="5588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650D61D-C91E-04F7-7306-CC85CF748AA2}"/>
              </a:ext>
            </a:extLst>
          </p:cNvPr>
          <p:cNvSpPr txBox="1"/>
          <p:nvPr/>
        </p:nvSpPr>
        <p:spPr>
          <a:xfrm>
            <a:off x="1143000" y="2108200"/>
            <a:ext cx="4826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Quelques secondes</a:t>
            </a:r>
          </a:p>
        </p:txBody>
      </p:sp>
      <p:sp>
        <p:nvSpPr>
          <p:cNvPr id="6" name="ZoneTexte 5">
            <a:extLst>
              <a:ext uri="{FF2B5EF4-FFF2-40B4-BE49-F238E27FC236}">
                <a16:creationId xmlns:a16="http://schemas.microsoft.com/office/drawing/2014/main" id="{59A67ACA-7C26-342E-2A82-311142B9DFB9}"/>
              </a:ext>
            </a:extLst>
          </p:cNvPr>
          <p:cNvSpPr txBox="1"/>
          <p:nvPr/>
        </p:nvSpPr>
        <p:spPr>
          <a:xfrm>
            <a:off x="1143000" y="2489200"/>
            <a:ext cx="48260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Nom, e-mail, message : la candidature est enregistrée.</a:t>
            </a:r>
          </a:p>
        </p:txBody>
      </p:sp>
      <p:sp>
        <p:nvSpPr>
          <p:cNvPr id="7" name="Rectangle 6">
            <a:extLst>
              <a:ext uri="{FF2B5EF4-FFF2-40B4-BE49-F238E27FC236}">
                <a16:creationId xmlns:a16="http://schemas.microsoft.com/office/drawing/2014/main" id="{D9326F2F-5601-B5BC-8F23-5BBC19B719DE}"/>
              </a:ext>
            </a:extLst>
          </p:cNvPr>
          <p:cNvSpPr/>
          <p:nvPr/>
        </p:nvSpPr>
        <p:spPr>
          <a:xfrm>
            <a:off x="914400" y="3378200"/>
            <a:ext cx="38100" cy="5588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1AA5EF58-CCBD-9EE9-59B7-A68241CE4FD2}"/>
              </a:ext>
            </a:extLst>
          </p:cNvPr>
          <p:cNvSpPr txBox="1"/>
          <p:nvPr/>
        </p:nvSpPr>
        <p:spPr>
          <a:xfrm>
            <a:off x="1143000" y="3327400"/>
            <a:ext cx="4826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Avec ou sans compte</a:t>
            </a:r>
          </a:p>
        </p:txBody>
      </p:sp>
      <p:sp>
        <p:nvSpPr>
          <p:cNvPr id="9" name="ZoneTexte 8">
            <a:extLst>
              <a:ext uri="{FF2B5EF4-FFF2-40B4-BE49-F238E27FC236}">
                <a16:creationId xmlns:a16="http://schemas.microsoft.com/office/drawing/2014/main" id="{43C4E452-E33C-E5DD-65C3-E1547C8CBDE9}"/>
              </a:ext>
            </a:extLst>
          </p:cNvPr>
          <p:cNvSpPr txBox="1"/>
          <p:nvPr/>
        </p:nvSpPr>
        <p:spPr>
          <a:xfrm>
            <a:off x="1143000" y="3708400"/>
            <a:ext cx="48260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Le compte est une option, jamais une barrière.</a:t>
            </a:r>
          </a:p>
        </p:txBody>
      </p:sp>
      <p:sp>
        <p:nvSpPr>
          <p:cNvPr id="10" name="Rectangle 9">
            <a:extLst>
              <a:ext uri="{FF2B5EF4-FFF2-40B4-BE49-F238E27FC236}">
                <a16:creationId xmlns:a16="http://schemas.microsoft.com/office/drawing/2014/main" id="{6F1342EA-3FBC-25E9-413E-B04190BC647C}"/>
              </a:ext>
            </a:extLst>
          </p:cNvPr>
          <p:cNvSpPr/>
          <p:nvPr/>
        </p:nvSpPr>
        <p:spPr>
          <a:xfrm>
            <a:off x="914400" y="4597400"/>
            <a:ext cx="38100" cy="5588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C13EDDBF-5555-E2F0-46C8-D26C5C224801}"/>
              </a:ext>
            </a:extLst>
          </p:cNvPr>
          <p:cNvSpPr txBox="1"/>
          <p:nvPr/>
        </p:nvSpPr>
        <p:spPr>
          <a:xfrm>
            <a:off x="1143000" y="4546600"/>
            <a:ext cx="4826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Un suivi lisible</a:t>
            </a:r>
          </a:p>
        </p:txBody>
      </p:sp>
      <p:sp>
        <p:nvSpPr>
          <p:cNvPr id="12" name="ZoneTexte 11">
            <a:extLst>
              <a:ext uri="{FF2B5EF4-FFF2-40B4-BE49-F238E27FC236}">
                <a16:creationId xmlns:a16="http://schemas.microsoft.com/office/drawing/2014/main" id="{51A87B3D-DC66-7F16-DBAC-66AC8C026FD6}"/>
              </a:ext>
            </a:extLst>
          </p:cNvPr>
          <p:cNvSpPr txBox="1"/>
          <p:nvPr/>
        </p:nvSpPr>
        <p:spPr>
          <a:xfrm>
            <a:off x="1143000" y="4927600"/>
            <a:ext cx="48260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Chaque candidature a un état : en attente, retenue, refusée.</a:t>
            </a:r>
          </a:p>
        </p:txBody>
      </p:sp>
      <p:sp>
        <p:nvSpPr>
          <p:cNvPr id="13" name="Rectangle : coins arrondis 12">
            <a:extLst>
              <a:ext uri="{FF2B5EF4-FFF2-40B4-BE49-F238E27FC236}">
                <a16:creationId xmlns:a16="http://schemas.microsoft.com/office/drawing/2014/main" id="{FB5798E4-C2B7-D471-DC14-4A8E121D97EA}"/>
              </a:ext>
            </a:extLst>
          </p:cNvPr>
          <p:cNvSpPr/>
          <p:nvPr/>
        </p:nvSpPr>
        <p:spPr>
          <a:xfrm>
            <a:off x="6350000" y="1854200"/>
            <a:ext cx="4927600" cy="4191000"/>
          </a:xfrm>
          <a:prstGeom prst="roundRect">
            <a:avLst>
              <a:gd name="adj" fmla="val 4242"/>
            </a:avLst>
          </a:prstGeom>
          <a:solidFill>
            <a:srgbClr val="F7F9FB"/>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FB812D4E-2D12-E3F5-D8E5-5429D3EA07DC}"/>
              </a:ext>
            </a:extLst>
          </p:cNvPr>
          <p:cNvSpPr txBox="1"/>
          <p:nvPr/>
        </p:nvSpPr>
        <p:spPr>
          <a:xfrm>
            <a:off x="6629400" y="2082800"/>
            <a:ext cx="1016000" cy="369332"/>
          </a:xfrm>
          <a:prstGeom prst="rect">
            <a:avLst/>
          </a:prstGeom>
          <a:noFill/>
        </p:spPr>
        <p:txBody>
          <a:bodyPr vert="horz" wrap="square" lIns="0" tIns="0" rIns="0" bIns="0" rtlCol="0">
            <a:noAutofit/>
          </a:bodyPr>
          <a:lstStyle/>
          <a:p>
            <a:pPr>
              <a:lnSpc>
                <a:spcPct val="115000"/>
              </a:lnSpc>
            </a:pPr>
            <a:r>
              <a:rPr lang="fr-FR" sz="1000">
                <a:solidFill>
                  <a:srgbClr val="1D1D1F"/>
                </a:solidFill>
                <a:latin typeface="Manrope SemiBold" pitchFamily="2" charset="0"/>
              </a:rPr>
              <a:t>Y.I.A J</a:t>
            </a:r>
            <a:r>
              <a:rPr lang="fr-FR" sz="1000">
                <a:solidFill>
                  <a:srgbClr val="A9CCE3"/>
                </a:solidFill>
                <a:latin typeface="Manrope SemiBold" pitchFamily="2" charset="0"/>
              </a:rPr>
              <a:t>o</a:t>
            </a:r>
            <a:r>
              <a:rPr lang="fr-FR" sz="1000">
                <a:solidFill>
                  <a:srgbClr val="1D1D1F"/>
                </a:solidFill>
                <a:latin typeface="Manrope SemiBold" pitchFamily="2" charset="0"/>
              </a:rPr>
              <a:t>bs</a:t>
            </a:r>
          </a:p>
        </p:txBody>
      </p:sp>
      <p:sp>
        <p:nvSpPr>
          <p:cNvPr id="15" name="ZoneTexte 14">
            <a:extLst>
              <a:ext uri="{FF2B5EF4-FFF2-40B4-BE49-F238E27FC236}">
                <a16:creationId xmlns:a16="http://schemas.microsoft.com/office/drawing/2014/main" id="{D920CC29-7180-CF1E-30F5-6934EDB48E20}"/>
              </a:ext>
            </a:extLst>
          </p:cNvPr>
          <p:cNvSpPr txBox="1"/>
          <p:nvPr/>
        </p:nvSpPr>
        <p:spPr>
          <a:xfrm>
            <a:off x="8128000" y="2108200"/>
            <a:ext cx="2895600" cy="369332"/>
          </a:xfrm>
          <a:prstGeom prst="rect">
            <a:avLst/>
          </a:prstGeom>
          <a:noFill/>
        </p:spPr>
        <p:txBody>
          <a:bodyPr vert="horz" wrap="square" lIns="0" tIns="0" rIns="0" bIns="0" rtlCol="0">
            <a:noAutofit/>
          </a:bodyPr>
          <a:lstStyle/>
          <a:p>
            <a:pPr algn="r">
              <a:lnSpc>
                <a:spcPct val="115000"/>
              </a:lnSpc>
            </a:pPr>
            <a:r>
              <a:rPr lang="fr-FR" sz="750">
                <a:solidFill>
                  <a:srgbClr val="5F6B76"/>
                </a:solidFill>
                <a:latin typeface="Manrope" pitchFamily="2" charset="0"/>
              </a:rPr>
              <a:t>Offres d'emploi     Espace recruteur     Connexion</a:t>
            </a:r>
          </a:p>
        </p:txBody>
      </p:sp>
      <p:sp>
        <p:nvSpPr>
          <p:cNvPr id="16" name="ZoneTexte 15">
            <a:extLst>
              <a:ext uri="{FF2B5EF4-FFF2-40B4-BE49-F238E27FC236}">
                <a16:creationId xmlns:a16="http://schemas.microsoft.com/office/drawing/2014/main" id="{8337809E-B16B-4132-BF34-9F36327CB863}"/>
              </a:ext>
            </a:extLst>
          </p:cNvPr>
          <p:cNvSpPr txBox="1"/>
          <p:nvPr/>
        </p:nvSpPr>
        <p:spPr>
          <a:xfrm>
            <a:off x="6629400" y="2590800"/>
            <a:ext cx="4318000" cy="369332"/>
          </a:xfrm>
          <a:prstGeom prst="rect">
            <a:avLst/>
          </a:prstGeom>
          <a:noFill/>
        </p:spPr>
        <p:txBody>
          <a:bodyPr vert="horz" wrap="square" lIns="0" tIns="0" rIns="0" bIns="0" rtlCol="0">
            <a:noAutofit/>
          </a:bodyPr>
          <a:lstStyle/>
          <a:p>
            <a:pPr>
              <a:lnSpc>
                <a:spcPct val="105000"/>
              </a:lnSpc>
            </a:pPr>
            <a:r>
              <a:rPr lang="fr-FR" sz="2100">
                <a:solidFill>
                  <a:srgbClr val="1D1D1F"/>
                </a:solidFill>
                <a:latin typeface="Manrope SemiBold" pitchFamily="2" charset="0"/>
              </a:rPr>
              <a:t>Votre carrière,</a:t>
            </a:r>
          </a:p>
          <a:p>
            <a:pPr>
              <a:lnSpc>
                <a:spcPct val="105000"/>
              </a:lnSpc>
            </a:pPr>
            <a:r>
              <a:rPr lang="fr-FR" sz="2100">
                <a:solidFill>
                  <a:srgbClr val="1D1D1F"/>
                </a:solidFill>
                <a:latin typeface="Manrope SemiBold" pitchFamily="2" charset="0"/>
              </a:rPr>
              <a:t>traitée avec soin.</a:t>
            </a:r>
          </a:p>
        </p:txBody>
      </p:sp>
      <p:sp>
        <p:nvSpPr>
          <p:cNvPr id="17" name="Rectangle : coins arrondis 16">
            <a:extLst>
              <a:ext uri="{FF2B5EF4-FFF2-40B4-BE49-F238E27FC236}">
                <a16:creationId xmlns:a16="http://schemas.microsoft.com/office/drawing/2014/main" id="{84AC904C-A41F-1435-62BB-243416126B36}"/>
              </a:ext>
            </a:extLst>
          </p:cNvPr>
          <p:cNvSpPr/>
          <p:nvPr/>
        </p:nvSpPr>
        <p:spPr>
          <a:xfrm>
            <a:off x="6629400" y="3479800"/>
            <a:ext cx="4368800" cy="431800"/>
          </a:xfrm>
          <a:prstGeom prst="roundRect">
            <a:avLst>
              <a:gd name="adj" fmla="val 23529"/>
            </a:avLst>
          </a:prstGeom>
          <a:solidFill>
            <a:srgbClr val="FFFFFF"/>
          </a:solidFill>
          <a:ln w="9525">
            <a:solidFill>
              <a:srgbClr val="7C899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ZoneTexte 17">
            <a:extLst>
              <a:ext uri="{FF2B5EF4-FFF2-40B4-BE49-F238E27FC236}">
                <a16:creationId xmlns:a16="http://schemas.microsoft.com/office/drawing/2014/main" id="{F900AFCA-C7DA-3447-2BF4-079ECB17FA9C}"/>
              </a:ext>
            </a:extLst>
          </p:cNvPr>
          <p:cNvSpPr txBox="1"/>
          <p:nvPr/>
        </p:nvSpPr>
        <p:spPr>
          <a:xfrm>
            <a:off x="6781800" y="3619500"/>
            <a:ext cx="3048000" cy="369332"/>
          </a:xfrm>
          <a:prstGeom prst="rect">
            <a:avLst/>
          </a:prstGeom>
          <a:noFill/>
        </p:spPr>
        <p:txBody>
          <a:bodyPr vert="horz" wrap="square" lIns="0" tIns="0" rIns="0" bIns="0" rtlCol="0">
            <a:noAutofit/>
          </a:bodyPr>
          <a:lstStyle/>
          <a:p>
            <a:pPr>
              <a:lnSpc>
                <a:spcPct val="115000"/>
              </a:lnSpc>
            </a:pPr>
            <a:r>
              <a:rPr lang="fr-FR" sz="950">
                <a:solidFill>
                  <a:srgbClr val="5F6B76"/>
                </a:solidFill>
                <a:latin typeface="Manrope" pitchFamily="2" charset="0"/>
              </a:rPr>
              <a:t>Développeur, data, alternance…</a:t>
            </a:r>
          </a:p>
        </p:txBody>
      </p:sp>
      <p:sp>
        <p:nvSpPr>
          <p:cNvPr id="19" name="Rectangle : coins arrondis 18">
            <a:extLst>
              <a:ext uri="{FF2B5EF4-FFF2-40B4-BE49-F238E27FC236}">
                <a16:creationId xmlns:a16="http://schemas.microsoft.com/office/drawing/2014/main" id="{978D08E7-8502-F76F-6398-D0B47D6CBAD4}"/>
              </a:ext>
            </a:extLst>
          </p:cNvPr>
          <p:cNvSpPr/>
          <p:nvPr/>
        </p:nvSpPr>
        <p:spPr>
          <a:xfrm>
            <a:off x="10591800" y="3517900"/>
            <a:ext cx="355600" cy="355600"/>
          </a:xfrm>
          <a:prstGeom prst="roundRect">
            <a:avLst>
              <a:gd name="adj" fmla="val 21429"/>
            </a:avLst>
          </a:prstGeom>
          <a:solidFill>
            <a:srgbClr val="245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1100">
                <a:solidFill>
                  <a:srgbClr val="FFFFFF"/>
                </a:solidFill>
                <a:latin typeface="Manrope Medium" pitchFamily="2" charset="0"/>
              </a:rPr>
              <a:t>→</a:t>
            </a:r>
          </a:p>
        </p:txBody>
      </p:sp>
      <p:sp>
        <p:nvSpPr>
          <p:cNvPr id="20" name="ZoneTexte 19">
            <a:extLst>
              <a:ext uri="{FF2B5EF4-FFF2-40B4-BE49-F238E27FC236}">
                <a16:creationId xmlns:a16="http://schemas.microsoft.com/office/drawing/2014/main" id="{59436A74-FA00-54A5-7C3F-50A2A6AC8FDE}"/>
              </a:ext>
            </a:extLst>
          </p:cNvPr>
          <p:cNvSpPr txBox="1"/>
          <p:nvPr/>
        </p:nvSpPr>
        <p:spPr>
          <a:xfrm>
            <a:off x="6629400" y="4165600"/>
            <a:ext cx="2540000" cy="369332"/>
          </a:xfrm>
          <a:prstGeom prst="rect">
            <a:avLst/>
          </a:prstGeom>
          <a:noFill/>
        </p:spPr>
        <p:txBody>
          <a:bodyPr vert="horz" wrap="square" lIns="0" tIns="0" rIns="0" bIns="0" rtlCol="0">
            <a:noAutofit/>
          </a:bodyPr>
          <a:lstStyle/>
          <a:p>
            <a:pPr>
              <a:lnSpc>
                <a:spcPct val="115000"/>
              </a:lnSpc>
            </a:pPr>
            <a:r>
              <a:rPr lang="fr-FR" sz="800">
                <a:solidFill>
                  <a:srgbClr val="5F6B76"/>
                </a:solidFill>
                <a:latin typeface="Manrope Medium" pitchFamily="2" charset="0"/>
              </a:rPr>
              <a:t>Offres récentes</a:t>
            </a:r>
          </a:p>
        </p:txBody>
      </p:sp>
      <p:sp>
        <p:nvSpPr>
          <p:cNvPr id="21" name="ZoneTexte 20">
            <a:extLst>
              <a:ext uri="{FF2B5EF4-FFF2-40B4-BE49-F238E27FC236}">
                <a16:creationId xmlns:a16="http://schemas.microsoft.com/office/drawing/2014/main" id="{B6451B68-CA8E-BBF8-66A3-FB47A7CA8646}"/>
              </a:ext>
            </a:extLst>
          </p:cNvPr>
          <p:cNvSpPr txBox="1"/>
          <p:nvPr/>
        </p:nvSpPr>
        <p:spPr>
          <a:xfrm>
            <a:off x="6629400" y="4394200"/>
            <a:ext cx="4191000" cy="369332"/>
          </a:xfrm>
          <a:prstGeom prst="rect">
            <a:avLst/>
          </a:prstGeom>
          <a:noFill/>
        </p:spPr>
        <p:txBody>
          <a:bodyPr vert="horz" wrap="square" lIns="0" tIns="0" rIns="0" bIns="0" rtlCol="0">
            <a:noAutofit/>
          </a:bodyPr>
          <a:lstStyle/>
          <a:p>
            <a:pPr>
              <a:lnSpc>
                <a:spcPct val="115000"/>
              </a:lnSpc>
            </a:pPr>
            <a:r>
              <a:rPr lang="fr-FR" sz="1000">
                <a:solidFill>
                  <a:srgbClr val="1D1D1F"/>
                </a:solidFill>
                <a:latin typeface="Manrope Medium" pitchFamily="2" charset="0"/>
              </a:rPr>
              <a:t>Développeur React — Orvelune</a:t>
            </a:r>
          </a:p>
        </p:txBody>
      </p:sp>
      <p:sp>
        <p:nvSpPr>
          <p:cNvPr id="22" name="ZoneTexte 21">
            <a:extLst>
              <a:ext uri="{FF2B5EF4-FFF2-40B4-BE49-F238E27FC236}">
                <a16:creationId xmlns:a16="http://schemas.microsoft.com/office/drawing/2014/main" id="{28497474-C10F-651D-7DD8-EF34FB6BEF08}"/>
              </a:ext>
            </a:extLst>
          </p:cNvPr>
          <p:cNvSpPr txBox="1"/>
          <p:nvPr/>
        </p:nvSpPr>
        <p:spPr>
          <a:xfrm>
            <a:off x="6629400" y="4572000"/>
            <a:ext cx="4191000" cy="369332"/>
          </a:xfrm>
          <a:prstGeom prst="rect">
            <a:avLst/>
          </a:prstGeom>
          <a:noFill/>
        </p:spPr>
        <p:txBody>
          <a:bodyPr vert="horz" wrap="square" lIns="0" tIns="0" rIns="0" bIns="0" rtlCol="0">
            <a:noAutofit/>
          </a:bodyPr>
          <a:lstStyle/>
          <a:p>
            <a:pPr>
              <a:lnSpc>
                <a:spcPct val="115000"/>
              </a:lnSpc>
            </a:pPr>
            <a:r>
              <a:rPr lang="fr-FR" sz="850">
                <a:solidFill>
                  <a:srgbClr val="5F6B76"/>
                </a:solidFill>
                <a:latin typeface="Manrope" pitchFamily="2" charset="0"/>
              </a:rPr>
              <a:t>75009 Paris · CDI</a:t>
            </a:r>
          </a:p>
        </p:txBody>
      </p:sp>
      <p:sp>
        <p:nvSpPr>
          <p:cNvPr id="23" name="ZoneTexte 22">
            <a:extLst>
              <a:ext uri="{FF2B5EF4-FFF2-40B4-BE49-F238E27FC236}">
                <a16:creationId xmlns:a16="http://schemas.microsoft.com/office/drawing/2014/main" id="{3FE50740-225A-0B06-50B8-102E9D4EBF20}"/>
              </a:ext>
            </a:extLst>
          </p:cNvPr>
          <p:cNvSpPr txBox="1"/>
          <p:nvPr/>
        </p:nvSpPr>
        <p:spPr>
          <a:xfrm>
            <a:off x="6629400" y="4876800"/>
            <a:ext cx="4191000" cy="369332"/>
          </a:xfrm>
          <a:prstGeom prst="rect">
            <a:avLst/>
          </a:prstGeom>
          <a:noFill/>
        </p:spPr>
        <p:txBody>
          <a:bodyPr vert="horz" wrap="square" lIns="0" tIns="0" rIns="0" bIns="0" rtlCol="0">
            <a:noAutofit/>
          </a:bodyPr>
          <a:lstStyle/>
          <a:p>
            <a:pPr>
              <a:lnSpc>
                <a:spcPct val="115000"/>
              </a:lnSpc>
            </a:pPr>
            <a:r>
              <a:rPr lang="fr-FR" sz="1000">
                <a:solidFill>
                  <a:srgbClr val="1D1D1F"/>
                </a:solidFill>
                <a:latin typeface="Manrope Medium" pitchFamily="2" charset="0"/>
              </a:rPr>
              <a:t>Technicien support informatique — Talvoria</a:t>
            </a:r>
          </a:p>
        </p:txBody>
      </p:sp>
      <p:sp>
        <p:nvSpPr>
          <p:cNvPr id="24" name="ZoneTexte 23">
            <a:extLst>
              <a:ext uri="{FF2B5EF4-FFF2-40B4-BE49-F238E27FC236}">
                <a16:creationId xmlns:a16="http://schemas.microsoft.com/office/drawing/2014/main" id="{4A28C44E-8C6C-5479-77C7-C77A8E42D952}"/>
              </a:ext>
            </a:extLst>
          </p:cNvPr>
          <p:cNvSpPr txBox="1"/>
          <p:nvPr/>
        </p:nvSpPr>
        <p:spPr>
          <a:xfrm>
            <a:off x="6629400" y="5054600"/>
            <a:ext cx="4191000" cy="369332"/>
          </a:xfrm>
          <a:prstGeom prst="rect">
            <a:avLst/>
          </a:prstGeom>
          <a:noFill/>
        </p:spPr>
        <p:txBody>
          <a:bodyPr vert="horz" wrap="square" lIns="0" tIns="0" rIns="0" bIns="0" rtlCol="0">
            <a:noAutofit/>
          </a:bodyPr>
          <a:lstStyle/>
          <a:p>
            <a:pPr>
              <a:lnSpc>
                <a:spcPct val="115000"/>
              </a:lnSpc>
            </a:pPr>
            <a:r>
              <a:rPr lang="fr-FR" sz="850">
                <a:solidFill>
                  <a:srgbClr val="5F6B76"/>
                </a:solidFill>
                <a:latin typeface="Manrope" pitchFamily="2" charset="0"/>
              </a:rPr>
              <a:t>69003 Lyon · CDI</a:t>
            </a:r>
          </a:p>
        </p:txBody>
      </p:sp>
      <p:sp>
        <p:nvSpPr>
          <p:cNvPr id="25" name="Rectangle 24">
            <a:extLst>
              <a:ext uri="{FF2B5EF4-FFF2-40B4-BE49-F238E27FC236}">
                <a16:creationId xmlns:a16="http://schemas.microsoft.com/office/drawing/2014/main" id="{707E62F2-6CDB-E63A-EF43-668A78D28E0D}"/>
              </a:ext>
            </a:extLst>
          </p:cNvPr>
          <p:cNvSpPr/>
          <p:nvPr/>
        </p:nvSpPr>
        <p:spPr>
          <a:xfrm>
            <a:off x="6629400" y="5410200"/>
            <a:ext cx="4368800" cy="9525"/>
          </a:xfrm>
          <a:prstGeom prst="rect">
            <a:avLst/>
          </a:prstGeom>
          <a:solidFill>
            <a:srgbClr val="E2E8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75153BFE-7F94-0106-C651-57E00052D025}"/>
              </a:ext>
            </a:extLst>
          </p:cNvPr>
          <p:cNvSpPr txBox="1"/>
          <p:nvPr/>
        </p:nvSpPr>
        <p:spPr>
          <a:xfrm>
            <a:off x="6629400" y="5562600"/>
            <a:ext cx="4191000" cy="369332"/>
          </a:xfrm>
          <a:prstGeom prst="rect">
            <a:avLst/>
          </a:prstGeom>
          <a:noFill/>
        </p:spPr>
        <p:txBody>
          <a:bodyPr vert="horz" wrap="square" lIns="0" tIns="0" rIns="0" bIns="0" rtlCol="0">
            <a:noAutofit/>
          </a:bodyPr>
          <a:lstStyle/>
          <a:p>
            <a:pPr>
              <a:lnSpc>
                <a:spcPct val="115000"/>
              </a:lnSpc>
            </a:pPr>
            <a:r>
              <a:rPr lang="fr-FR" sz="850">
                <a:solidFill>
                  <a:srgbClr val="5F6B76"/>
                </a:solidFill>
                <a:latin typeface="Manrope" pitchFamily="2" charset="0"/>
              </a:rPr>
              <a:t>Filtres : contrat, lieu, catégorie</a:t>
            </a:r>
          </a:p>
        </p:txBody>
      </p:sp>
    </p:spTree>
    <p:extLst>
      <p:ext uri="{BB962C8B-B14F-4D97-AF65-F5344CB8AC3E}">
        <p14:creationId xmlns:p14="http://schemas.microsoft.com/office/powerpoint/2010/main" val="339877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0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3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3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3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3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3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13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13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135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135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135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135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135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135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135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p:bldP spid="17" grpId="0" animBg="1"/>
      <p:bldP spid="18" grpId="0"/>
      <p:bldP spid="19" grpId="0" animBg="1"/>
      <p:bldP spid="20" grpId="0"/>
      <p:bldP spid="21" grpId="0"/>
      <p:bldP spid="22" grpId="0"/>
      <p:bldP spid="23" grpId="0"/>
      <p:bldP spid="24" grpId="0"/>
      <p:bldP spid="25" grpId="0" animBg="1"/>
      <p:bldP spid="26"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57FB4BB-36D0-5444-5839-DB1A8B9FE59B}"/>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LE PRODUIT</a:t>
            </a:r>
          </a:p>
        </p:txBody>
      </p:sp>
      <p:sp>
        <p:nvSpPr>
          <p:cNvPr id="3" name="ZoneTexte 2">
            <a:extLst>
              <a:ext uri="{FF2B5EF4-FFF2-40B4-BE49-F238E27FC236}">
                <a16:creationId xmlns:a16="http://schemas.microsoft.com/office/drawing/2014/main" id="{E72E5CBE-2C2C-1F06-3BDF-B09236F3B056}"/>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Une annonce, un bouton, une </a:t>
            </a:r>
            <a:r>
              <a:rPr lang="fr-FR" sz="3600" spc="-50">
                <a:gradFill flip="none" rotWithShape="1">
                  <a:gsLst>
                    <a:gs pos="0">
                      <a:srgbClr val="5A93BF"/>
                    </a:gs>
                    <a:gs pos="100000">
                      <a:srgbClr val="A9CCE3"/>
                    </a:gs>
                  </a:gsLst>
                  <a:lin ang="0" scaled="1"/>
                  <a:tileRect/>
                </a:gradFill>
                <a:latin typeface="Manrope SemiBold" pitchFamily="2" charset="0"/>
              </a:rPr>
              <a:t>candidature</a:t>
            </a:r>
            <a:r>
              <a:rPr lang="fr-FR" sz="3600" spc="-50">
                <a:solidFill>
                  <a:srgbClr val="F2F5F8"/>
                </a:solidFill>
                <a:latin typeface="Manrope SemiBold" pitchFamily="2" charset="0"/>
              </a:rPr>
              <a:t>.</a:t>
            </a:r>
          </a:p>
        </p:txBody>
      </p:sp>
      <p:sp>
        <p:nvSpPr>
          <p:cNvPr id="4" name="Rectangle : coins arrondis 3">
            <a:extLst>
              <a:ext uri="{FF2B5EF4-FFF2-40B4-BE49-F238E27FC236}">
                <a16:creationId xmlns:a16="http://schemas.microsoft.com/office/drawing/2014/main" id="{5C080E9F-F1A6-E9ED-A7CC-BBF09D32C5A6}"/>
              </a:ext>
            </a:extLst>
          </p:cNvPr>
          <p:cNvSpPr/>
          <p:nvPr/>
        </p:nvSpPr>
        <p:spPr>
          <a:xfrm>
            <a:off x="914400" y="1854200"/>
            <a:ext cx="5181600" cy="4241800"/>
          </a:xfrm>
          <a:prstGeom prst="roundRect">
            <a:avLst>
              <a:gd name="adj" fmla="val 4192"/>
            </a:avLst>
          </a:prstGeom>
          <a:solidFill>
            <a:srgbClr val="F7F9FB"/>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A678F253-7E6A-115B-10A2-BA74B4DD978D}"/>
              </a:ext>
            </a:extLst>
          </p:cNvPr>
          <p:cNvSpPr txBox="1"/>
          <p:nvPr/>
        </p:nvSpPr>
        <p:spPr>
          <a:xfrm>
            <a:off x="1168400" y="2057400"/>
            <a:ext cx="3810000" cy="369332"/>
          </a:xfrm>
          <a:prstGeom prst="rect">
            <a:avLst/>
          </a:prstGeom>
          <a:noFill/>
        </p:spPr>
        <p:txBody>
          <a:bodyPr vert="horz" wrap="square" lIns="0" tIns="0" rIns="0" bIns="0" rtlCol="0">
            <a:noAutofit/>
          </a:bodyPr>
          <a:lstStyle/>
          <a:p>
            <a:pPr>
              <a:lnSpc>
                <a:spcPct val="115000"/>
              </a:lnSpc>
            </a:pPr>
            <a:r>
              <a:rPr lang="fr-FR" sz="900">
                <a:solidFill>
                  <a:srgbClr val="5F6B76"/>
                </a:solidFill>
                <a:latin typeface="Manrope" pitchFamily="2" charset="0"/>
              </a:rPr>
              <a:t>Orvelune</a:t>
            </a:r>
          </a:p>
        </p:txBody>
      </p:sp>
      <p:sp>
        <p:nvSpPr>
          <p:cNvPr id="6" name="ZoneTexte 5">
            <a:extLst>
              <a:ext uri="{FF2B5EF4-FFF2-40B4-BE49-F238E27FC236}">
                <a16:creationId xmlns:a16="http://schemas.microsoft.com/office/drawing/2014/main" id="{699492B9-B6F1-A4BC-2548-4E51A4DCAAE8}"/>
              </a:ext>
            </a:extLst>
          </p:cNvPr>
          <p:cNvSpPr txBox="1"/>
          <p:nvPr/>
        </p:nvSpPr>
        <p:spPr>
          <a:xfrm>
            <a:off x="1168400" y="2235200"/>
            <a:ext cx="4572000" cy="369332"/>
          </a:xfrm>
          <a:prstGeom prst="rect">
            <a:avLst/>
          </a:prstGeom>
          <a:noFill/>
        </p:spPr>
        <p:txBody>
          <a:bodyPr vert="horz" wrap="square" lIns="0" tIns="0" rIns="0" bIns="0" rtlCol="0">
            <a:noAutofit/>
          </a:bodyPr>
          <a:lstStyle/>
          <a:p>
            <a:pPr>
              <a:lnSpc>
                <a:spcPct val="115000"/>
              </a:lnSpc>
            </a:pPr>
            <a:r>
              <a:rPr lang="fr-FR" sz="1600">
                <a:solidFill>
                  <a:srgbClr val="1D1D1F"/>
                </a:solidFill>
                <a:latin typeface="Manrope SemiBold" pitchFamily="2" charset="0"/>
              </a:rPr>
              <a:t>Développeur React</a:t>
            </a:r>
          </a:p>
        </p:txBody>
      </p:sp>
      <p:sp>
        <p:nvSpPr>
          <p:cNvPr id="7" name="ZoneTexte 6">
            <a:extLst>
              <a:ext uri="{FF2B5EF4-FFF2-40B4-BE49-F238E27FC236}">
                <a16:creationId xmlns:a16="http://schemas.microsoft.com/office/drawing/2014/main" id="{CEF3B1A6-35B7-0B9A-EA80-17CAE892057D}"/>
              </a:ext>
            </a:extLst>
          </p:cNvPr>
          <p:cNvSpPr txBox="1"/>
          <p:nvPr/>
        </p:nvSpPr>
        <p:spPr>
          <a:xfrm>
            <a:off x="1168400" y="2540000"/>
            <a:ext cx="4673600" cy="381000"/>
          </a:xfrm>
          <a:prstGeom prst="rect">
            <a:avLst/>
          </a:prstGeom>
          <a:noFill/>
        </p:spPr>
        <p:txBody>
          <a:bodyPr vert="horz" wrap="square" lIns="0" tIns="0" rIns="0" bIns="0" rtlCol="0">
            <a:noAutofit/>
          </a:bodyPr>
          <a:lstStyle/>
          <a:p>
            <a:pPr>
              <a:lnSpc>
                <a:spcPct val="115000"/>
              </a:lnSpc>
            </a:pPr>
            <a:r>
              <a:rPr lang="fr-FR" sz="950">
                <a:solidFill>
                  <a:srgbClr val="1D1D1F"/>
                </a:solidFill>
                <a:latin typeface="Manrope" pitchFamily="2" charset="0"/>
              </a:rPr>
              <a:t>Donnez aux artisans des écrans qui rendent leurs devis plus simples à préparer.</a:t>
            </a:r>
          </a:p>
        </p:txBody>
      </p:sp>
      <p:sp>
        <p:nvSpPr>
          <p:cNvPr id="8" name="ZoneTexte 7">
            <a:extLst>
              <a:ext uri="{FF2B5EF4-FFF2-40B4-BE49-F238E27FC236}">
                <a16:creationId xmlns:a16="http://schemas.microsoft.com/office/drawing/2014/main" id="{8BDE3288-AFA4-AC7C-5011-D1DDFE9A7128}"/>
              </a:ext>
            </a:extLst>
          </p:cNvPr>
          <p:cNvSpPr txBox="1"/>
          <p:nvPr/>
        </p:nvSpPr>
        <p:spPr>
          <a:xfrm>
            <a:off x="1168400" y="2946400"/>
            <a:ext cx="3810000" cy="369332"/>
          </a:xfrm>
          <a:prstGeom prst="rect">
            <a:avLst/>
          </a:prstGeom>
          <a:noFill/>
        </p:spPr>
        <p:txBody>
          <a:bodyPr vert="horz" wrap="square" lIns="0" tIns="0" rIns="0" bIns="0" rtlCol="0">
            <a:noAutofit/>
          </a:bodyPr>
          <a:lstStyle/>
          <a:p>
            <a:pPr>
              <a:lnSpc>
                <a:spcPct val="115000"/>
              </a:lnSpc>
            </a:pPr>
            <a:r>
              <a:rPr lang="fr-FR" sz="850">
                <a:solidFill>
                  <a:srgbClr val="5F6B76"/>
                </a:solidFill>
                <a:latin typeface="Manrope" pitchFamily="2" charset="0"/>
              </a:rPr>
              <a:t>75009 Paris · CDI · 42 000 € brut par an</a:t>
            </a:r>
          </a:p>
        </p:txBody>
      </p:sp>
      <p:sp>
        <p:nvSpPr>
          <p:cNvPr id="9" name="Rectangle : coins arrondis 8">
            <a:extLst>
              <a:ext uri="{FF2B5EF4-FFF2-40B4-BE49-F238E27FC236}">
                <a16:creationId xmlns:a16="http://schemas.microsoft.com/office/drawing/2014/main" id="{F0BBF8BE-64F8-A3A9-D33F-6DD4AA2CDEA6}"/>
              </a:ext>
            </a:extLst>
          </p:cNvPr>
          <p:cNvSpPr/>
          <p:nvPr/>
        </p:nvSpPr>
        <p:spPr>
          <a:xfrm>
            <a:off x="1168400" y="3175000"/>
            <a:ext cx="965200" cy="304800"/>
          </a:xfrm>
          <a:prstGeom prst="roundRect">
            <a:avLst>
              <a:gd name="adj" fmla="val 25000"/>
            </a:avLst>
          </a:prstGeom>
          <a:solidFill>
            <a:srgbClr val="245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900">
                <a:solidFill>
                  <a:srgbClr val="FFFFFF"/>
                </a:solidFill>
                <a:latin typeface="Manrope Medium" pitchFamily="2" charset="0"/>
              </a:rPr>
              <a:t>Postuler</a:t>
            </a:r>
          </a:p>
        </p:txBody>
      </p:sp>
      <p:sp>
        <p:nvSpPr>
          <p:cNvPr id="10" name="ZoneTexte 9">
            <a:extLst>
              <a:ext uri="{FF2B5EF4-FFF2-40B4-BE49-F238E27FC236}">
                <a16:creationId xmlns:a16="http://schemas.microsoft.com/office/drawing/2014/main" id="{FF8BD4BD-53D8-B6CD-8E77-73B109EBEAC1}"/>
              </a:ext>
            </a:extLst>
          </p:cNvPr>
          <p:cNvSpPr txBox="1"/>
          <p:nvPr/>
        </p:nvSpPr>
        <p:spPr>
          <a:xfrm>
            <a:off x="2286000" y="3251200"/>
            <a:ext cx="2540000" cy="369332"/>
          </a:xfrm>
          <a:prstGeom prst="rect">
            <a:avLst/>
          </a:prstGeom>
          <a:noFill/>
        </p:spPr>
        <p:txBody>
          <a:bodyPr vert="horz" wrap="square" lIns="0" tIns="0" rIns="0" bIns="0" rtlCol="0">
            <a:noAutofit/>
          </a:bodyPr>
          <a:lstStyle/>
          <a:p>
            <a:pPr>
              <a:lnSpc>
                <a:spcPct val="115000"/>
              </a:lnSpc>
            </a:pPr>
            <a:r>
              <a:rPr lang="fr-FR" sz="800">
                <a:solidFill>
                  <a:srgbClr val="5F6B76"/>
                </a:solidFill>
                <a:latin typeface="Manrope" pitchFamily="2" charset="0"/>
              </a:rPr>
              <a:t>Vous candidatez en tant que visiteur</a:t>
            </a:r>
          </a:p>
        </p:txBody>
      </p:sp>
      <p:sp>
        <p:nvSpPr>
          <p:cNvPr id="11" name="Rectangle : coins arrondis 10">
            <a:extLst>
              <a:ext uri="{FF2B5EF4-FFF2-40B4-BE49-F238E27FC236}">
                <a16:creationId xmlns:a16="http://schemas.microsoft.com/office/drawing/2014/main" id="{36B10220-D574-90E8-9269-F40CEFD481E8}"/>
              </a:ext>
            </a:extLst>
          </p:cNvPr>
          <p:cNvSpPr/>
          <p:nvPr/>
        </p:nvSpPr>
        <p:spPr>
          <a:xfrm>
            <a:off x="1168400" y="3632200"/>
            <a:ext cx="2235200" cy="304800"/>
          </a:xfrm>
          <a:prstGeom prst="roundRect">
            <a:avLst>
              <a:gd name="adj" fmla="val 25000"/>
            </a:avLst>
          </a:prstGeom>
          <a:solidFill>
            <a:srgbClr val="FFFFFF"/>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wrap="none" lIns="101600" tIns="0" rIns="76200" bIns="0" rtlCol="0" anchor="t"/>
          <a:lstStyle/>
          <a:p>
            <a:r>
              <a:rPr lang="fr-FR" sz="850">
                <a:solidFill>
                  <a:srgbClr val="5F6B76"/>
                </a:solidFill>
                <a:latin typeface="Manrope" pitchFamily="2" charset="0"/>
              </a:rPr>
              <a:t>Nom</a:t>
            </a:r>
          </a:p>
        </p:txBody>
      </p:sp>
      <p:sp>
        <p:nvSpPr>
          <p:cNvPr id="12" name="Rectangle : coins arrondis 11">
            <a:extLst>
              <a:ext uri="{FF2B5EF4-FFF2-40B4-BE49-F238E27FC236}">
                <a16:creationId xmlns:a16="http://schemas.microsoft.com/office/drawing/2014/main" id="{74A17669-1938-9B12-86D1-CB2FFF4375FA}"/>
              </a:ext>
            </a:extLst>
          </p:cNvPr>
          <p:cNvSpPr/>
          <p:nvPr/>
        </p:nvSpPr>
        <p:spPr>
          <a:xfrm>
            <a:off x="3505200" y="3632200"/>
            <a:ext cx="2336800" cy="304800"/>
          </a:xfrm>
          <a:prstGeom prst="roundRect">
            <a:avLst>
              <a:gd name="adj" fmla="val 25000"/>
            </a:avLst>
          </a:prstGeom>
          <a:solidFill>
            <a:srgbClr val="FFFFFF"/>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wrap="none" lIns="101600" tIns="0" rIns="76200" bIns="0" rtlCol="0" anchor="t"/>
          <a:lstStyle/>
          <a:p>
            <a:r>
              <a:rPr lang="fr-FR" sz="850">
                <a:solidFill>
                  <a:srgbClr val="5F6B76"/>
                </a:solidFill>
                <a:latin typeface="Manrope" pitchFamily="2" charset="0"/>
              </a:rPr>
              <a:t>Prénom</a:t>
            </a:r>
          </a:p>
        </p:txBody>
      </p:sp>
      <p:sp>
        <p:nvSpPr>
          <p:cNvPr id="13" name="Rectangle : coins arrondis 12">
            <a:extLst>
              <a:ext uri="{FF2B5EF4-FFF2-40B4-BE49-F238E27FC236}">
                <a16:creationId xmlns:a16="http://schemas.microsoft.com/office/drawing/2014/main" id="{8518EB17-7A32-8CEE-35AA-CEB9310D6064}"/>
              </a:ext>
            </a:extLst>
          </p:cNvPr>
          <p:cNvSpPr/>
          <p:nvPr/>
        </p:nvSpPr>
        <p:spPr>
          <a:xfrm>
            <a:off x="1168400" y="4038600"/>
            <a:ext cx="2235200" cy="304800"/>
          </a:xfrm>
          <a:prstGeom prst="roundRect">
            <a:avLst>
              <a:gd name="adj" fmla="val 25000"/>
            </a:avLst>
          </a:prstGeom>
          <a:solidFill>
            <a:srgbClr val="FFFFFF"/>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wrap="none" lIns="101600" tIns="0" rIns="76200" bIns="0" rtlCol="0" anchor="t"/>
          <a:lstStyle/>
          <a:p>
            <a:r>
              <a:rPr lang="fr-FR" sz="850">
                <a:solidFill>
                  <a:srgbClr val="5F6B76"/>
                </a:solidFill>
                <a:latin typeface="Manrope" pitchFamily="2" charset="0"/>
              </a:rPr>
              <a:t>Téléphone (facultatif)</a:t>
            </a:r>
          </a:p>
        </p:txBody>
      </p:sp>
      <p:sp>
        <p:nvSpPr>
          <p:cNvPr id="14" name="Rectangle : coins arrondis 13">
            <a:extLst>
              <a:ext uri="{FF2B5EF4-FFF2-40B4-BE49-F238E27FC236}">
                <a16:creationId xmlns:a16="http://schemas.microsoft.com/office/drawing/2014/main" id="{22304B49-775A-7EFC-7659-B3908F7124DB}"/>
              </a:ext>
            </a:extLst>
          </p:cNvPr>
          <p:cNvSpPr/>
          <p:nvPr/>
        </p:nvSpPr>
        <p:spPr>
          <a:xfrm>
            <a:off x="3505200" y="4038600"/>
            <a:ext cx="2336800" cy="304800"/>
          </a:xfrm>
          <a:prstGeom prst="roundRect">
            <a:avLst>
              <a:gd name="adj" fmla="val 25000"/>
            </a:avLst>
          </a:prstGeom>
          <a:solidFill>
            <a:srgbClr val="FFFFFF"/>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wrap="none" lIns="101600" tIns="0" rIns="76200" bIns="0" rtlCol="0" anchor="t"/>
          <a:lstStyle/>
          <a:p>
            <a:r>
              <a:rPr lang="fr-FR" sz="850">
                <a:solidFill>
                  <a:srgbClr val="5F6B76"/>
                </a:solidFill>
                <a:latin typeface="Manrope" pitchFamily="2" charset="0"/>
              </a:rPr>
              <a:t>E-mail</a:t>
            </a:r>
          </a:p>
        </p:txBody>
      </p:sp>
      <p:sp>
        <p:nvSpPr>
          <p:cNvPr id="15" name="Rectangle : coins arrondis 14">
            <a:extLst>
              <a:ext uri="{FF2B5EF4-FFF2-40B4-BE49-F238E27FC236}">
                <a16:creationId xmlns:a16="http://schemas.microsoft.com/office/drawing/2014/main" id="{924E507C-8263-7C29-6DA4-5EED6DB3317D}"/>
              </a:ext>
            </a:extLst>
          </p:cNvPr>
          <p:cNvSpPr/>
          <p:nvPr/>
        </p:nvSpPr>
        <p:spPr>
          <a:xfrm>
            <a:off x="1168400" y="4445000"/>
            <a:ext cx="4673600" cy="711200"/>
          </a:xfrm>
          <a:prstGeom prst="roundRect">
            <a:avLst>
              <a:gd name="adj" fmla="val 10714"/>
            </a:avLst>
          </a:prstGeom>
          <a:solidFill>
            <a:srgbClr val="FFFFFF"/>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wrap="none" lIns="101600" tIns="0" rIns="76200" bIns="0" rtlCol="0" anchor="t"/>
          <a:lstStyle/>
          <a:p>
            <a:r>
              <a:rPr lang="fr-FR" sz="850">
                <a:solidFill>
                  <a:srgbClr val="5F6B76"/>
                </a:solidFill>
                <a:latin typeface="Manrope" pitchFamily="2" charset="0"/>
              </a:rPr>
              <a:t>Votre message au recruteur…</a:t>
            </a:r>
          </a:p>
        </p:txBody>
      </p:sp>
      <p:sp>
        <p:nvSpPr>
          <p:cNvPr id="16" name="Rectangle : coins arrondis 15">
            <a:extLst>
              <a:ext uri="{FF2B5EF4-FFF2-40B4-BE49-F238E27FC236}">
                <a16:creationId xmlns:a16="http://schemas.microsoft.com/office/drawing/2014/main" id="{984A7CF3-1D2F-1F62-C6F1-567A797E0877}"/>
              </a:ext>
            </a:extLst>
          </p:cNvPr>
          <p:cNvSpPr/>
          <p:nvPr/>
        </p:nvSpPr>
        <p:spPr>
          <a:xfrm>
            <a:off x="1168400" y="5308600"/>
            <a:ext cx="1905000" cy="330200"/>
          </a:xfrm>
          <a:prstGeom prst="roundRect">
            <a:avLst>
              <a:gd name="adj" fmla="val 23077"/>
            </a:avLst>
          </a:prstGeom>
          <a:solidFill>
            <a:srgbClr val="245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900">
                <a:solidFill>
                  <a:srgbClr val="FFFFFF"/>
                </a:solidFill>
                <a:latin typeface="Manrope Medium" pitchFamily="2" charset="0"/>
              </a:rPr>
              <a:t>Envoyer ma candidature</a:t>
            </a:r>
          </a:p>
        </p:txBody>
      </p:sp>
      <p:sp>
        <p:nvSpPr>
          <p:cNvPr id="17" name="ZoneTexte 16">
            <a:extLst>
              <a:ext uri="{FF2B5EF4-FFF2-40B4-BE49-F238E27FC236}">
                <a16:creationId xmlns:a16="http://schemas.microsoft.com/office/drawing/2014/main" id="{AEDEE40A-F52B-5DCC-6658-98A225044F87}"/>
              </a:ext>
            </a:extLst>
          </p:cNvPr>
          <p:cNvSpPr txBox="1"/>
          <p:nvPr/>
        </p:nvSpPr>
        <p:spPr>
          <a:xfrm>
            <a:off x="3225800" y="5397500"/>
            <a:ext cx="2540000" cy="369332"/>
          </a:xfrm>
          <a:prstGeom prst="rect">
            <a:avLst/>
          </a:prstGeom>
          <a:noFill/>
        </p:spPr>
        <p:txBody>
          <a:bodyPr vert="horz" wrap="square" lIns="0" tIns="0" rIns="0" bIns="0" rtlCol="0">
            <a:noAutofit/>
          </a:bodyPr>
          <a:lstStyle/>
          <a:p>
            <a:pPr>
              <a:lnSpc>
                <a:spcPct val="115000"/>
              </a:lnSpc>
            </a:pPr>
            <a:r>
              <a:rPr lang="fr-FR" sz="900">
                <a:solidFill>
                  <a:srgbClr val="246044"/>
                </a:solidFill>
                <a:latin typeface="Manrope Medium" pitchFamily="2" charset="0"/>
              </a:rPr>
              <a:t>✓ Envoyée</a:t>
            </a:r>
          </a:p>
        </p:txBody>
      </p:sp>
      <p:sp>
        <p:nvSpPr>
          <p:cNvPr id="18" name="ZoneTexte 17">
            <a:extLst>
              <a:ext uri="{FF2B5EF4-FFF2-40B4-BE49-F238E27FC236}">
                <a16:creationId xmlns:a16="http://schemas.microsoft.com/office/drawing/2014/main" id="{BF01E1EB-C59A-0731-F82E-563B8F358179}"/>
              </a:ext>
            </a:extLst>
          </p:cNvPr>
          <p:cNvSpPr txBox="1"/>
          <p:nvPr/>
        </p:nvSpPr>
        <p:spPr>
          <a:xfrm>
            <a:off x="6604000" y="2057400"/>
            <a:ext cx="46736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Le détail dans la carte</a:t>
            </a:r>
          </a:p>
        </p:txBody>
      </p:sp>
      <p:sp>
        <p:nvSpPr>
          <p:cNvPr id="19" name="ZoneTexte 18">
            <a:extLst>
              <a:ext uri="{FF2B5EF4-FFF2-40B4-BE49-F238E27FC236}">
                <a16:creationId xmlns:a16="http://schemas.microsoft.com/office/drawing/2014/main" id="{7098A0AB-0F85-A7E8-8E4C-C3FFF57D1883}"/>
              </a:ext>
            </a:extLst>
          </p:cNvPr>
          <p:cNvSpPr txBox="1"/>
          <p:nvPr/>
        </p:nvSpPr>
        <p:spPr>
          <a:xfrm>
            <a:off x="6604000" y="2438400"/>
            <a:ext cx="46736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Description, salaire, temps de travail : sans rechargement, sans fenêtre.</a:t>
            </a:r>
          </a:p>
        </p:txBody>
      </p:sp>
      <p:sp>
        <p:nvSpPr>
          <p:cNvPr id="20" name="Rectangle 19">
            <a:extLst>
              <a:ext uri="{FF2B5EF4-FFF2-40B4-BE49-F238E27FC236}">
                <a16:creationId xmlns:a16="http://schemas.microsoft.com/office/drawing/2014/main" id="{7D6B5F5C-543D-10AB-D399-186988F5FC9C}"/>
              </a:ext>
            </a:extLst>
          </p:cNvPr>
          <p:cNvSpPr/>
          <p:nvPr/>
        </p:nvSpPr>
        <p:spPr>
          <a:xfrm>
            <a:off x="6604000" y="3073400"/>
            <a:ext cx="46736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36BEFB37-4FD0-AB2A-A898-FD0BFCABB63C}"/>
              </a:ext>
            </a:extLst>
          </p:cNvPr>
          <p:cNvSpPr txBox="1"/>
          <p:nvPr/>
        </p:nvSpPr>
        <p:spPr>
          <a:xfrm>
            <a:off x="6604000" y="3403600"/>
            <a:ext cx="46736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Un formulaire, cinq champs</a:t>
            </a:r>
          </a:p>
        </p:txBody>
      </p:sp>
      <p:sp>
        <p:nvSpPr>
          <p:cNvPr id="22" name="ZoneTexte 21">
            <a:extLst>
              <a:ext uri="{FF2B5EF4-FFF2-40B4-BE49-F238E27FC236}">
                <a16:creationId xmlns:a16="http://schemas.microsoft.com/office/drawing/2014/main" id="{FD36417B-0261-89CC-7724-058FAF629150}"/>
              </a:ext>
            </a:extLst>
          </p:cNvPr>
          <p:cNvSpPr txBox="1"/>
          <p:nvPr/>
        </p:nvSpPr>
        <p:spPr>
          <a:xfrm>
            <a:off x="6604000" y="3784600"/>
            <a:ext cx="46736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Rien de plus que ce dont le recruteur a besoin.</a:t>
            </a:r>
          </a:p>
        </p:txBody>
      </p:sp>
      <p:sp>
        <p:nvSpPr>
          <p:cNvPr id="23" name="Rectangle 22">
            <a:extLst>
              <a:ext uri="{FF2B5EF4-FFF2-40B4-BE49-F238E27FC236}">
                <a16:creationId xmlns:a16="http://schemas.microsoft.com/office/drawing/2014/main" id="{AB1285DF-2037-2D4E-E271-11B0B0840F77}"/>
              </a:ext>
            </a:extLst>
          </p:cNvPr>
          <p:cNvSpPr/>
          <p:nvPr/>
        </p:nvSpPr>
        <p:spPr>
          <a:xfrm>
            <a:off x="6604000" y="4419600"/>
            <a:ext cx="46736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28021325-BD94-5B2C-6D22-9725706F463E}"/>
              </a:ext>
            </a:extLst>
          </p:cNvPr>
          <p:cNvSpPr txBox="1"/>
          <p:nvPr/>
        </p:nvSpPr>
        <p:spPr>
          <a:xfrm>
            <a:off x="6604000" y="4749800"/>
            <a:ext cx="46736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Confirmation immédiate</a:t>
            </a:r>
          </a:p>
        </p:txBody>
      </p:sp>
      <p:sp>
        <p:nvSpPr>
          <p:cNvPr id="25" name="ZoneTexte 24">
            <a:extLst>
              <a:ext uri="{FF2B5EF4-FFF2-40B4-BE49-F238E27FC236}">
                <a16:creationId xmlns:a16="http://schemas.microsoft.com/office/drawing/2014/main" id="{7A4EE74C-024B-0562-E4A0-807E8CFA8B46}"/>
              </a:ext>
            </a:extLst>
          </p:cNvPr>
          <p:cNvSpPr txBox="1"/>
          <p:nvPr/>
        </p:nvSpPr>
        <p:spPr>
          <a:xfrm>
            <a:off x="6604000" y="5130800"/>
            <a:ext cx="46736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Le candidat sait tout de suite que sa demande est partie.</a:t>
            </a:r>
          </a:p>
        </p:txBody>
      </p:sp>
      <p:sp>
        <p:nvSpPr>
          <p:cNvPr id="26" name="Rectangle 25">
            <a:extLst>
              <a:ext uri="{FF2B5EF4-FFF2-40B4-BE49-F238E27FC236}">
                <a16:creationId xmlns:a16="http://schemas.microsoft.com/office/drawing/2014/main" id="{FF04F62C-47D0-F1EC-872D-DC30A78E8E04}"/>
              </a:ext>
            </a:extLst>
          </p:cNvPr>
          <p:cNvSpPr/>
          <p:nvPr/>
        </p:nvSpPr>
        <p:spPr>
          <a:xfrm>
            <a:off x="6604000" y="5765800"/>
            <a:ext cx="46736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967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4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4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4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4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7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7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0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13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13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135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165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165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165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195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195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195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p:bldP spid="8" grpId="0"/>
      <p:bldP spid="9" grpId="0" animBg="1"/>
      <p:bldP spid="10" grpId="0"/>
      <p:bldP spid="11" grpId="0" animBg="1"/>
      <p:bldP spid="12" grpId="0" animBg="1"/>
      <p:bldP spid="13" grpId="0" animBg="1"/>
      <p:bldP spid="14" grpId="0" animBg="1"/>
      <p:bldP spid="15" grpId="0" animBg="1"/>
      <p:bldP spid="16" grpId="0" animBg="1"/>
      <p:bldP spid="17" grpId="0"/>
      <p:bldP spid="18" grpId="0"/>
      <p:bldP spid="19" grpId="0"/>
      <p:bldP spid="20" grpId="0" animBg="1"/>
      <p:bldP spid="21" grpId="0"/>
      <p:bldP spid="22" grpId="0"/>
      <p:bldP spid="23" grpId="0" animBg="1"/>
      <p:bldP spid="24" grpId="0"/>
      <p:bldP spid="25" grpId="0"/>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5C1F2E0F-8471-C8C6-58D0-5F7E472AC696}"/>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LA CANDIDATURE</a:t>
            </a:r>
          </a:p>
        </p:txBody>
      </p:sp>
      <p:sp>
        <p:nvSpPr>
          <p:cNvPr id="3" name="ZoneTexte 2">
            <a:extLst>
              <a:ext uri="{FF2B5EF4-FFF2-40B4-BE49-F238E27FC236}">
                <a16:creationId xmlns:a16="http://schemas.microsoft.com/office/drawing/2014/main" id="{A621EC4E-9CD6-947E-4004-9E966B4EB0EF}"/>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Votre </a:t>
            </a:r>
            <a:r>
              <a:rPr lang="fr-FR" sz="3600" spc="-50">
                <a:gradFill flip="none" rotWithShape="1">
                  <a:gsLst>
                    <a:gs pos="0">
                      <a:srgbClr val="5A93BF"/>
                    </a:gs>
                    <a:gs pos="100000">
                      <a:srgbClr val="A9CCE3"/>
                    </a:gs>
                  </a:gsLst>
                  <a:lin ang="0" scaled="1"/>
                  <a:tileRect/>
                </a:gradFill>
                <a:latin typeface="Manrope SemiBold" pitchFamily="2" charset="0"/>
              </a:rPr>
              <a:t>CV</a:t>
            </a:r>
            <a:r>
              <a:rPr lang="fr-FR" sz="3600" spc="-50">
                <a:solidFill>
                  <a:srgbClr val="F2F5F8"/>
                </a:solidFill>
                <a:latin typeface="Manrope SemiBold" pitchFamily="2" charset="0"/>
              </a:rPr>
              <a:t>, joint en un geste.</a:t>
            </a:r>
          </a:p>
        </p:txBody>
      </p:sp>
      <p:sp>
        <p:nvSpPr>
          <p:cNvPr id="4" name="Rectangle 3">
            <a:extLst>
              <a:ext uri="{FF2B5EF4-FFF2-40B4-BE49-F238E27FC236}">
                <a16:creationId xmlns:a16="http://schemas.microsoft.com/office/drawing/2014/main" id="{0FDAC14C-011D-BFA5-306C-F63068CA3FE0}"/>
              </a:ext>
            </a:extLst>
          </p:cNvPr>
          <p:cNvSpPr/>
          <p:nvPr/>
        </p:nvSpPr>
        <p:spPr>
          <a:xfrm>
            <a:off x="914400" y="2108200"/>
            <a:ext cx="38100" cy="7366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B7B9ACAD-AAC4-3FA3-13C1-A01BB9A325AE}"/>
              </a:ext>
            </a:extLst>
          </p:cNvPr>
          <p:cNvSpPr txBox="1"/>
          <p:nvPr/>
        </p:nvSpPr>
        <p:spPr>
          <a:xfrm>
            <a:off x="1143000" y="2082800"/>
            <a:ext cx="4826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En candidatant</a:t>
            </a:r>
          </a:p>
        </p:txBody>
      </p:sp>
      <p:sp>
        <p:nvSpPr>
          <p:cNvPr id="6" name="ZoneTexte 5">
            <a:extLst>
              <a:ext uri="{FF2B5EF4-FFF2-40B4-BE49-F238E27FC236}">
                <a16:creationId xmlns:a16="http://schemas.microsoft.com/office/drawing/2014/main" id="{66002102-2B4D-1A5C-C388-E81CEF910B54}"/>
              </a:ext>
            </a:extLst>
          </p:cNvPr>
          <p:cNvSpPr txBox="1"/>
          <p:nvPr/>
        </p:nvSpPr>
        <p:spPr>
          <a:xfrm>
            <a:off x="1143000" y="2463800"/>
            <a:ext cx="48260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Le CV se joint au formulaire, avec le message.</a:t>
            </a:r>
          </a:p>
        </p:txBody>
      </p:sp>
      <p:sp>
        <p:nvSpPr>
          <p:cNvPr id="7" name="Rectangle 6">
            <a:extLst>
              <a:ext uri="{FF2B5EF4-FFF2-40B4-BE49-F238E27FC236}">
                <a16:creationId xmlns:a16="http://schemas.microsoft.com/office/drawing/2014/main" id="{1347DFB2-2E5B-7D49-77C3-21CA2554FC6D}"/>
              </a:ext>
            </a:extLst>
          </p:cNvPr>
          <p:cNvSpPr/>
          <p:nvPr/>
        </p:nvSpPr>
        <p:spPr>
          <a:xfrm>
            <a:off x="914400" y="3429000"/>
            <a:ext cx="38100" cy="7366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47354C88-CF5F-AC02-8B16-174892141D8B}"/>
              </a:ext>
            </a:extLst>
          </p:cNvPr>
          <p:cNvSpPr txBox="1"/>
          <p:nvPr/>
        </p:nvSpPr>
        <p:spPr>
          <a:xfrm>
            <a:off x="1143000" y="3403600"/>
            <a:ext cx="4826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Depuis son espace</a:t>
            </a:r>
          </a:p>
        </p:txBody>
      </p:sp>
      <p:sp>
        <p:nvSpPr>
          <p:cNvPr id="9" name="ZoneTexte 8">
            <a:extLst>
              <a:ext uri="{FF2B5EF4-FFF2-40B4-BE49-F238E27FC236}">
                <a16:creationId xmlns:a16="http://schemas.microsoft.com/office/drawing/2014/main" id="{FE4B7432-2ED7-587C-2CB1-A0428111D3A4}"/>
              </a:ext>
            </a:extLst>
          </p:cNvPr>
          <p:cNvSpPr txBox="1"/>
          <p:nvPr/>
        </p:nvSpPr>
        <p:spPr>
          <a:xfrm>
            <a:off x="1143000" y="3784600"/>
            <a:ext cx="48260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Déposé une fois, proposé à chaque candidature.</a:t>
            </a:r>
          </a:p>
        </p:txBody>
      </p:sp>
      <p:sp>
        <p:nvSpPr>
          <p:cNvPr id="10" name="Rectangle 9">
            <a:extLst>
              <a:ext uri="{FF2B5EF4-FFF2-40B4-BE49-F238E27FC236}">
                <a16:creationId xmlns:a16="http://schemas.microsoft.com/office/drawing/2014/main" id="{D86C10FF-A104-B051-DCB5-82A02682381D}"/>
              </a:ext>
            </a:extLst>
          </p:cNvPr>
          <p:cNvSpPr/>
          <p:nvPr/>
        </p:nvSpPr>
        <p:spPr>
          <a:xfrm>
            <a:off x="914400" y="4749800"/>
            <a:ext cx="38100" cy="7366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D076345A-7FA0-8878-D3A8-342F288EDE1B}"/>
              </a:ext>
            </a:extLst>
          </p:cNvPr>
          <p:cNvSpPr txBox="1"/>
          <p:nvPr/>
        </p:nvSpPr>
        <p:spPr>
          <a:xfrm>
            <a:off x="1143000" y="4724400"/>
            <a:ext cx="4826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Côté recruteur</a:t>
            </a:r>
          </a:p>
        </p:txBody>
      </p:sp>
      <p:sp>
        <p:nvSpPr>
          <p:cNvPr id="12" name="ZoneTexte 11">
            <a:extLst>
              <a:ext uri="{FF2B5EF4-FFF2-40B4-BE49-F238E27FC236}">
                <a16:creationId xmlns:a16="http://schemas.microsoft.com/office/drawing/2014/main" id="{CA781281-21B0-2345-A007-1CEFDE2A80BB}"/>
              </a:ext>
            </a:extLst>
          </p:cNvPr>
          <p:cNvSpPr txBox="1"/>
          <p:nvPr/>
        </p:nvSpPr>
        <p:spPr>
          <a:xfrm>
            <a:off x="1143000" y="5105400"/>
            <a:ext cx="48260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Le CV s'ouvre avec la candidature, sans échange d'e-mails.</a:t>
            </a:r>
          </a:p>
        </p:txBody>
      </p:sp>
      <p:sp>
        <p:nvSpPr>
          <p:cNvPr id="13" name="Rectangle : coins arrondis 12">
            <a:extLst>
              <a:ext uri="{FF2B5EF4-FFF2-40B4-BE49-F238E27FC236}">
                <a16:creationId xmlns:a16="http://schemas.microsoft.com/office/drawing/2014/main" id="{679522F9-0ED0-5D2F-C5BA-66ADEA4CD5DD}"/>
              </a:ext>
            </a:extLst>
          </p:cNvPr>
          <p:cNvSpPr/>
          <p:nvPr/>
        </p:nvSpPr>
        <p:spPr>
          <a:xfrm>
            <a:off x="6350000" y="1854200"/>
            <a:ext cx="4927600" cy="4241800"/>
          </a:xfrm>
          <a:prstGeom prst="roundRect">
            <a:avLst>
              <a:gd name="adj" fmla="val 4192"/>
            </a:avLst>
          </a:prstGeom>
          <a:solidFill>
            <a:srgbClr val="F7F9FB"/>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582D09F8-061E-C10F-7EF0-A3977D85B755}"/>
              </a:ext>
            </a:extLst>
          </p:cNvPr>
          <p:cNvSpPr txBox="1"/>
          <p:nvPr/>
        </p:nvSpPr>
        <p:spPr>
          <a:xfrm>
            <a:off x="6604000" y="2082800"/>
            <a:ext cx="2540000" cy="369332"/>
          </a:xfrm>
          <a:prstGeom prst="rect">
            <a:avLst/>
          </a:prstGeom>
          <a:noFill/>
        </p:spPr>
        <p:txBody>
          <a:bodyPr vert="horz" wrap="square" lIns="0" tIns="0" rIns="0" bIns="0" rtlCol="0">
            <a:noAutofit/>
          </a:bodyPr>
          <a:lstStyle/>
          <a:p>
            <a:pPr>
              <a:lnSpc>
                <a:spcPct val="115000"/>
              </a:lnSpc>
            </a:pPr>
            <a:r>
              <a:rPr lang="fr-FR" sz="1400">
                <a:solidFill>
                  <a:srgbClr val="1D1D1F"/>
                </a:solidFill>
                <a:latin typeface="Manrope SemiBold" pitchFamily="2" charset="0"/>
              </a:rPr>
              <a:t>Mon espace</a:t>
            </a:r>
          </a:p>
        </p:txBody>
      </p:sp>
      <p:sp>
        <p:nvSpPr>
          <p:cNvPr id="15" name="ZoneTexte 14">
            <a:extLst>
              <a:ext uri="{FF2B5EF4-FFF2-40B4-BE49-F238E27FC236}">
                <a16:creationId xmlns:a16="http://schemas.microsoft.com/office/drawing/2014/main" id="{4C27F41F-ADF3-DB36-7993-9D688AF9B926}"/>
              </a:ext>
            </a:extLst>
          </p:cNvPr>
          <p:cNvSpPr txBox="1"/>
          <p:nvPr/>
        </p:nvSpPr>
        <p:spPr>
          <a:xfrm>
            <a:off x="6604000" y="2463800"/>
            <a:ext cx="1143000" cy="369332"/>
          </a:xfrm>
          <a:prstGeom prst="rect">
            <a:avLst/>
          </a:prstGeom>
          <a:noFill/>
        </p:spPr>
        <p:txBody>
          <a:bodyPr vert="horz" wrap="square" lIns="0" tIns="0" rIns="0" bIns="0" rtlCol="0">
            <a:noAutofit/>
          </a:bodyPr>
          <a:lstStyle/>
          <a:p>
            <a:pPr>
              <a:lnSpc>
                <a:spcPct val="115000"/>
              </a:lnSpc>
            </a:pPr>
            <a:r>
              <a:rPr lang="fr-FR" sz="900">
                <a:solidFill>
                  <a:srgbClr val="5F6B76"/>
                </a:solidFill>
                <a:latin typeface="Manrope" pitchFamily="2" charset="0"/>
              </a:rPr>
              <a:t>Candidatures</a:t>
            </a:r>
          </a:p>
        </p:txBody>
      </p:sp>
      <p:sp>
        <p:nvSpPr>
          <p:cNvPr id="16" name="ZoneTexte 15">
            <a:extLst>
              <a:ext uri="{FF2B5EF4-FFF2-40B4-BE49-F238E27FC236}">
                <a16:creationId xmlns:a16="http://schemas.microsoft.com/office/drawing/2014/main" id="{C673316C-0EEC-CEC5-EAE7-A355624FBE11}"/>
              </a:ext>
            </a:extLst>
          </p:cNvPr>
          <p:cNvSpPr txBox="1"/>
          <p:nvPr/>
        </p:nvSpPr>
        <p:spPr>
          <a:xfrm>
            <a:off x="7620000" y="2463800"/>
            <a:ext cx="1143000" cy="369332"/>
          </a:xfrm>
          <a:prstGeom prst="rect">
            <a:avLst/>
          </a:prstGeom>
          <a:noFill/>
        </p:spPr>
        <p:txBody>
          <a:bodyPr vert="horz" wrap="square" lIns="0" tIns="0" rIns="0" bIns="0" rtlCol="0">
            <a:noAutofit/>
          </a:bodyPr>
          <a:lstStyle/>
          <a:p>
            <a:pPr>
              <a:lnSpc>
                <a:spcPct val="115000"/>
              </a:lnSpc>
            </a:pPr>
            <a:r>
              <a:rPr lang="fr-FR" sz="900">
                <a:solidFill>
                  <a:srgbClr val="5F6B76"/>
                </a:solidFill>
                <a:latin typeface="Manrope" pitchFamily="2" charset="0"/>
              </a:rPr>
              <a:t>Informations</a:t>
            </a:r>
          </a:p>
        </p:txBody>
      </p:sp>
      <p:sp>
        <p:nvSpPr>
          <p:cNvPr id="17" name="ZoneTexte 16">
            <a:extLst>
              <a:ext uri="{FF2B5EF4-FFF2-40B4-BE49-F238E27FC236}">
                <a16:creationId xmlns:a16="http://schemas.microsoft.com/office/drawing/2014/main" id="{C511F35F-E73F-38D4-B754-2D0398B36BED}"/>
              </a:ext>
            </a:extLst>
          </p:cNvPr>
          <p:cNvSpPr txBox="1"/>
          <p:nvPr/>
        </p:nvSpPr>
        <p:spPr>
          <a:xfrm>
            <a:off x="8636000" y="2463800"/>
            <a:ext cx="762000" cy="369332"/>
          </a:xfrm>
          <a:prstGeom prst="rect">
            <a:avLst/>
          </a:prstGeom>
          <a:noFill/>
        </p:spPr>
        <p:txBody>
          <a:bodyPr vert="horz" wrap="square" lIns="0" tIns="0" rIns="0" bIns="0" rtlCol="0">
            <a:noAutofit/>
          </a:bodyPr>
          <a:lstStyle/>
          <a:p>
            <a:pPr>
              <a:lnSpc>
                <a:spcPct val="115000"/>
              </a:lnSpc>
            </a:pPr>
            <a:r>
              <a:rPr lang="fr-FR" sz="900">
                <a:solidFill>
                  <a:srgbClr val="24577A"/>
                </a:solidFill>
                <a:latin typeface="Manrope Medium" pitchFamily="2" charset="0"/>
              </a:rPr>
              <a:t>Mon CV</a:t>
            </a:r>
          </a:p>
        </p:txBody>
      </p:sp>
      <p:sp>
        <p:nvSpPr>
          <p:cNvPr id="18" name="Rectangle 17">
            <a:extLst>
              <a:ext uri="{FF2B5EF4-FFF2-40B4-BE49-F238E27FC236}">
                <a16:creationId xmlns:a16="http://schemas.microsoft.com/office/drawing/2014/main" id="{8F20348D-E478-15BA-1F42-ED0114084B32}"/>
              </a:ext>
            </a:extLst>
          </p:cNvPr>
          <p:cNvSpPr/>
          <p:nvPr/>
        </p:nvSpPr>
        <p:spPr>
          <a:xfrm>
            <a:off x="8636000" y="2654300"/>
            <a:ext cx="431800" cy="19050"/>
          </a:xfrm>
          <a:prstGeom prst="rect">
            <a:avLst/>
          </a:prstGeom>
          <a:solidFill>
            <a:srgbClr val="245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F0388844-1CA1-7E90-0F8A-3B89D207E667}"/>
              </a:ext>
            </a:extLst>
          </p:cNvPr>
          <p:cNvSpPr/>
          <p:nvPr/>
        </p:nvSpPr>
        <p:spPr>
          <a:xfrm>
            <a:off x="6604000" y="2692400"/>
            <a:ext cx="4419600" cy="9525"/>
          </a:xfrm>
          <a:prstGeom prst="rect">
            <a:avLst/>
          </a:prstGeom>
          <a:solidFill>
            <a:srgbClr val="E2E8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Rectangle : coins arrondis 19">
            <a:extLst>
              <a:ext uri="{FF2B5EF4-FFF2-40B4-BE49-F238E27FC236}">
                <a16:creationId xmlns:a16="http://schemas.microsoft.com/office/drawing/2014/main" id="{90048AA6-8E55-0B6A-CDCB-FBEBDD6CA3AA}"/>
              </a:ext>
            </a:extLst>
          </p:cNvPr>
          <p:cNvSpPr/>
          <p:nvPr/>
        </p:nvSpPr>
        <p:spPr>
          <a:xfrm>
            <a:off x="6604000" y="2895600"/>
            <a:ext cx="4419600" cy="1168400"/>
          </a:xfrm>
          <a:prstGeom prst="roundRect">
            <a:avLst>
              <a:gd name="adj" fmla="val 8696"/>
            </a:avLst>
          </a:prstGeom>
          <a:solidFill>
            <a:srgbClr val="FFFFFF"/>
          </a:solidFill>
          <a:ln w="9525">
            <a:solidFill>
              <a:srgbClr val="7C8995"/>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0D0809B4-F428-B527-031D-1B2D792C43DA}"/>
              </a:ext>
            </a:extLst>
          </p:cNvPr>
          <p:cNvSpPr txBox="1"/>
          <p:nvPr/>
        </p:nvSpPr>
        <p:spPr>
          <a:xfrm>
            <a:off x="6858000" y="3124200"/>
            <a:ext cx="3911600" cy="369332"/>
          </a:xfrm>
          <a:prstGeom prst="rect">
            <a:avLst/>
          </a:prstGeom>
          <a:noFill/>
        </p:spPr>
        <p:txBody>
          <a:bodyPr vert="horz" wrap="square" lIns="0" tIns="0" rIns="0" bIns="0" rtlCol="0">
            <a:noAutofit/>
          </a:bodyPr>
          <a:lstStyle/>
          <a:p>
            <a:pPr algn="ctr">
              <a:lnSpc>
                <a:spcPct val="115000"/>
              </a:lnSpc>
            </a:pPr>
            <a:r>
              <a:rPr lang="fr-FR" sz="900">
                <a:solidFill>
                  <a:srgbClr val="5F6B76"/>
                </a:solidFill>
                <a:latin typeface="Manrope" pitchFamily="2" charset="0"/>
              </a:rPr>
              <a:t>Déposez votre CV au format PDF</a:t>
            </a:r>
          </a:p>
        </p:txBody>
      </p:sp>
      <p:sp>
        <p:nvSpPr>
          <p:cNvPr id="22" name="Rectangle : coins arrondis 21">
            <a:extLst>
              <a:ext uri="{FF2B5EF4-FFF2-40B4-BE49-F238E27FC236}">
                <a16:creationId xmlns:a16="http://schemas.microsoft.com/office/drawing/2014/main" id="{C0C81447-96A1-151A-A47C-5C1B9DB6A84E}"/>
              </a:ext>
            </a:extLst>
          </p:cNvPr>
          <p:cNvSpPr/>
          <p:nvPr/>
        </p:nvSpPr>
        <p:spPr>
          <a:xfrm>
            <a:off x="8128000" y="3429000"/>
            <a:ext cx="1371600" cy="304800"/>
          </a:xfrm>
          <a:prstGeom prst="roundRect">
            <a:avLst>
              <a:gd name="adj" fmla="val 25000"/>
            </a:avLst>
          </a:prstGeom>
          <a:solidFill>
            <a:srgbClr val="24577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fr-FR" sz="900">
                <a:solidFill>
                  <a:srgbClr val="FFFFFF"/>
                </a:solidFill>
                <a:latin typeface="Manrope Medium" pitchFamily="2" charset="0"/>
              </a:rPr>
              <a:t>Choisir un fichier</a:t>
            </a:r>
          </a:p>
        </p:txBody>
      </p:sp>
      <p:sp>
        <p:nvSpPr>
          <p:cNvPr id="23" name="Rectangle : coins arrondis 22">
            <a:extLst>
              <a:ext uri="{FF2B5EF4-FFF2-40B4-BE49-F238E27FC236}">
                <a16:creationId xmlns:a16="http://schemas.microsoft.com/office/drawing/2014/main" id="{92E62B35-338B-D1C9-7723-C379032B9970}"/>
              </a:ext>
            </a:extLst>
          </p:cNvPr>
          <p:cNvSpPr/>
          <p:nvPr/>
        </p:nvSpPr>
        <p:spPr>
          <a:xfrm>
            <a:off x="6604000" y="4267200"/>
            <a:ext cx="4419600" cy="558800"/>
          </a:xfrm>
          <a:prstGeom prst="roundRect">
            <a:avLst>
              <a:gd name="adj" fmla="val 13636"/>
            </a:avLst>
          </a:prstGeom>
          <a:solidFill>
            <a:srgbClr val="FFFFFF"/>
          </a:solidFill>
          <a:ln w="9525">
            <a:solidFill>
              <a:srgbClr val="E2E8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B5488FD7-59C0-F50C-FCAA-2568E39FDF05}"/>
              </a:ext>
            </a:extLst>
          </p:cNvPr>
          <p:cNvSpPr txBox="1"/>
          <p:nvPr/>
        </p:nvSpPr>
        <p:spPr>
          <a:xfrm>
            <a:off x="6781800" y="4394200"/>
            <a:ext cx="2540000" cy="369332"/>
          </a:xfrm>
          <a:prstGeom prst="rect">
            <a:avLst/>
          </a:prstGeom>
          <a:noFill/>
        </p:spPr>
        <p:txBody>
          <a:bodyPr vert="horz" wrap="square" lIns="0" tIns="0" rIns="0" bIns="0" rtlCol="0">
            <a:noAutofit/>
          </a:bodyPr>
          <a:lstStyle/>
          <a:p>
            <a:pPr>
              <a:lnSpc>
                <a:spcPct val="115000"/>
              </a:lnSpc>
            </a:pPr>
            <a:r>
              <a:rPr lang="fr-FR" sz="950">
                <a:solidFill>
                  <a:srgbClr val="1D1D1F"/>
                </a:solidFill>
                <a:latin typeface="Manrope Medium" pitchFamily="2" charset="0"/>
              </a:rPr>
              <a:t>Mon_CV.pdf</a:t>
            </a:r>
          </a:p>
        </p:txBody>
      </p:sp>
      <p:sp>
        <p:nvSpPr>
          <p:cNvPr id="25" name="ZoneTexte 24">
            <a:extLst>
              <a:ext uri="{FF2B5EF4-FFF2-40B4-BE49-F238E27FC236}">
                <a16:creationId xmlns:a16="http://schemas.microsoft.com/office/drawing/2014/main" id="{5C6991B2-3C66-C4F6-7CBC-46327359A542}"/>
              </a:ext>
            </a:extLst>
          </p:cNvPr>
          <p:cNvSpPr txBox="1"/>
          <p:nvPr/>
        </p:nvSpPr>
        <p:spPr>
          <a:xfrm>
            <a:off x="6781800" y="4584700"/>
            <a:ext cx="2540000" cy="369332"/>
          </a:xfrm>
          <a:prstGeom prst="rect">
            <a:avLst/>
          </a:prstGeom>
          <a:noFill/>
        </p:spPr>
        <p:txBody>
          <a:bodyPr vert="horz" wrap="square" lIns="0" tIns="0" rIns="0" bIns="0" rtlCol="0">
            <a:noAutofit/>
          </a:bodyPr>
          <a:lstStyle/>
          <a:p>
            <a:pPr>
              <a:lnSpc>
                <a:spcPct val="115000"/>
              </a:lnSpc>
            </a:pPr>
            <a:r>
              <a:rPr lang="fr-FR" sz="800">
                <a:solidFill>
                  <a:srgbClr val="5F6B76"/>
                </a:solidFill>
                <a:latin typeface="Manrope" pitchFamily="2" charset="0"/>
              </a:rPr>
              <a:t>184 Ko · PDF</a:t>
            </a:r>
          </a:p>
        </p:txBody>
      </p:sp>
      <p:sp>
        <p:nvSpPr>
          <p:cNvPr id="26" name="ZoneTexte 25">
            <a:extLst>
              <a:ext uri="{FF2B5EF4-FFF2-40B4-BE49-F238E27FC236}">
                <a16:creationId xmlns:a16="http://schemas.microsoft.com/office/drawing/2014/main" id="{F844434F-4F46-2980-FA05-1CFA6DB7B575}"/>
              </a:ext>
            </a:extLst>
          </p:cNvPr>
          <p:cNvSpPr txBox="1"/>
          <p:nvPr/>
        </p:nvSpPr>
        <p:spPr>
          <a:xfrm>
            <a:off x="9906000" y="4470400"/>
            <a:ext cx="1016000" cy="369332"/>
          </a:xfrm>
          <a:prstGeom prst="rect">
            <a:avLst/>
          </a:prstGeom>
          <a:noFill/>
        </p:spPr>
        <p:txBody>
          <a:bodyPr vert="horz" wrap="square" lIns="0" tIns="0" rIns="0" bIns="0" rtlCol="0">
            <a:noAutofit/>
          </a:bodyPr>
          <a:lstStyle/>
          <a:p>
            <a:pPr>
              <a:lnSpc>
                <a:spcPct val="115000"/>
              </a:lnSpc>
            </a:pPr>
            <a:r>
              <a:rPr lang="fr-FR" sz="900">
                <a:solidFill>
                  <a:srgbClr val="246044"/>
                </a:solidFill>
                <a:latin typeface="Manrope Medium" pitchFamily="2" charset="0"/>
              </a:rPr>
              <a:t>✓ Déposé</a:t>
            </a:r>
          </a:p>
        </p:txBody>
      </p:sp>
      <p:sp>
        <p:nvSpPr>
          <p:cNvPr id="27" name="ZoneTexte 26">
            <a:extLst>
              <a:ext uri="{FF2B5EF4-FFF2-40B4-BE49-F238E27FC236}">
                <a16:creationId xmlns:a16="http://schemas.microsoft.com/office/drawing/2014/main" id="{E2833DE4-AFBE-9848-245E-7561CA816CE6}"/>
              </a:ext>
            </a:extLst>
          </p:cNvPr>
          <p:cNvSpPr txBox="1"/>
          <p:nvPr/>
        </p:nvSpPr>
        <p:spPr>
          <a:xfrm>
            <a:off x="6604000" y="5029200"/>
            <a:ext cx="4419600" cy="369332"/>
          </a:xfrm>
          <a:prstGeom prst="rect">
            <a:avLst/>
          </a:prstGeom>
          <a:noFill/>
        </p:spPr>
        <p:txBody>
          <a:bodyPr vert="horz" wrap="square" lIns="0" tIns="0" rIns="0" bIns="0" rtlCol="0">
            <a:noAutofit/>
          </a:bodyPr>
          <a:lstStyle/>
          <a:p>
            <a:pPr>
              <a:lnSpc>
                <a:spcPct val="115000"/>
              </a:lnSpc>
            </a:pPr>
            <a:r>
              <a:rPr lang="fr-FR" sz="850">
                <a:solidFill>
                  <a:srgbClr val="5F6B76"/>
                </a:solidFill>
                <a:latin typeface="Manrope" pitchFamily="2" charset="0"/>
              </a:rPr>
              <a:t>Proposé automatiquement à chaque candidature. Le recruteur le lit avec votre dossier.</a:t>
            </a:r>
          </a:p>
        </p:txBody>
      </p:sp>
    </p:spTree>
    <p:extLst>
      <p:ext uri="{BB962C8B-B14F-4D97-AF65-F5344CB8AC3E}">
        <p14:creationId xmlns:p14="http://schemas.microsoft.com/office/powerpoint/2010/main" val="3418609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0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3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3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3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3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3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13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13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165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165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165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195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195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195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195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225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p:bldP spid="17" grpId="0"/>
      <p:bldP spid="18" grpId="0" animBg="1"/>
      <p:bldP spid="19" grpId="0" animBg="1"/>
      <p:bldP spid="20" grpId="0" animBg="1"/>
      <p:bldP spid="21" grpId="0"/>
      <p:bldP spid="22" grpId="0" animBg="1"/>
      <p:bldP spid="23" grpId="0" animBg="1"/>
      <p:bldP spid="24" grpId="0"/>
      <p:bldP spid="25" grpId="0"/>
      <p:bldP spid="26" grpId="0"/>
      <p:bldP spid="2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6E096FB-E2AE-4177-AFDD-A77691727D5B}"/>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UNE PLATEFORME, TROIS ESPACES</a:t>
            </a:r>
          </a:p>
        </p:txBody>
      </p:sp>
      <p:sp>
        <p:nvSpPr>
          <p:cNvPr id="3" name="ZoneTexte 2">
            <a:extLst>
              <a:ext uri="{FF2B5EF4-FFF2-40B4-BE49-F238E27FC236}">
                <a16:creationId xmlns:a16="http://schemas.microsoft.com/office/drawing/2014/main" id="{1C2CDBFC-FD1A-2CD4-65C0-570A0AF08E8F}"/>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Chacun son espace, la même </a:t>
            </a:r>
            <a:r>
              <a:rPr lang="fr-FR" sz="3600" spc="-50">
                <a:gradFill flip="none" rotWithShape="1">
                  <a:gsLst>
                    <a:gs pos="0">
                      <a:srgbClr val="5A93BF"/>
                    </a:gs>
                    <a:gs pos="100000">
                      <a:srgbClr val="A9CCE3"/>
                    </a:gs>
                  </a:gsLst>
                  <a:lin ang="0" scaled="1"/>
                  <a:tileRect/>
                </a:gradFill>
                <a:latin typeface="Manrope SemiBold" pitchFamily="2" charset="0"/>
              </a:rPr>
              <a:t>simplicité</a:t>
            </a:r>
            <a:r>
              <a:rPr lang="fr-FR" sz="3600" spc="-50">
                <a:solidFill>
                  <a:srgbClr val="F2F5F8"/>
                </a:solidFill>
                <a:latin typeface="Manrope SemiBold" pitchFamily="2" charset="0"/>
              </a:rPr>
              <a:t>.</a:t>
            </a:r>
          </a:p>
        </p:txBody>
      </p:sp>
      <p:sp>
        <p:nvSpPr>
          <p:cNvPr id="4" name="Rectangle : coins arrondis 3">
            <a:extLst>
              <a:ext uri="{FF2B5EF4-FFF2-40B4-BE49-F238E27FC236}">
                <a16:creationId xmlns:a16="http://schemas.microsoft.com/office/drawing/2014/main" id="{524618D0-493C-E0EB-5D01-6CACBFEB37DA}"/>
              </a:ext>
            </a:extLst>
          </p:cNvPr>
          <p:cNvSpPr/>
          <p:nvPr/>
        </p:nvSpPr>
        <p:spPr>
          <a:xfrm>
            <a:off x="914400" y="2032000"/>
            <a:ext cx="3200400" cy="3683000"/>
          </a:xfrm>
          <a:prstGeom prst="roundRect">
            <a:avLst>
              <a:gd name="adj" fmla="val 4762"/>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C209EA4-7895-7DE1-FBD4-EF2E1EEDBA5F}"/>
              </a:ext>
            </a:extLst>
          </p:cNvPr>
          <p:cNvSpPr txBox="1"/>
          <p:nvPr/>
        </p:nvSpPr>
        <p:spPr>
          <a:xfrm>
            <a:off x="1219200" y="2336800"/>
            <a:ext cx="2540000" cy="369332"/>
          </a:xfrm>
          <a:prstGeom prst="rect">
            <a:avLst/>
          </a:prstGeom>
          <a:noFill/>
        </p:spPr>
        <p:txBody>
          <a:bodyPr vert="horz" wrap="square" lIns="0" tIns="0" rIns="0" bIns="0" rtlCol="0">
            <a:noAutofit/>
          </a:bodyPr>
          <a:lstStyle/>
          <a:p>
            <a:pPr>
              <a:lnSpc>
                <a:spcPct val="115000"/>
              </a:lnSpc>
            </a:pPr>
            <a:r>
              <a:rPr lang="fr-FR" sz="1000" spc="220">
                <a:solidFill>
                  <a:srgbClr val="A9CCE3"/>
                </a:solidFill>
                <a:latin typeface="Manrope SemiBold" pitchFamily="2" charset="0"/>
              </a:rPr>
              <a:t>CANDIDAT</a:t>
            </a:r>
          </a:p>
        </p:txBody>
      </p:sp>
      <p:sp>
        <p:nvSpPr>
          <p:cNvPr id="6" name="ZoneTexte 5">
            <a:extLst>
              <a:ext uri="{FF2B5EF4-FFF2-40B4-BE49-F238E27FC236}">
                <a16:creationId xmlns:a16="http://schemas.microsoft.com/office/drawing/2014/main" id="{F779EE69-15DC-DF40-0E18-C77BC3EC9E47}"/>
              </a:ext>
            </a:extLst>
          </p:cNvPr>
          <p:cNvSpPr txBox="1"/>
          <p:nvPr/>
        </p:nvSpPr>
        <p:spPr>
          <a:xfrm>
            <a:off x="1219200" y="2616200"/>
            <a:ext cx="2667000" cy="369332"/>
          </a:xfrm>
          <a:prstGeom prst="rect">
            <a:avLst/>
          </a:prstGeom>
          <a:noFill/>
        </p:spPr>
        <p:txBody>
          <a:bodyPr vert="horz" wrap="square" lIns="0" tIns="0" rIns="0" bIns="0" rtlCol="0">
            <a:noAutofit/>
          </a:bodyPr>
          <a:lstStyle/>
          <a:p>
            <a:pPr>
              <a:lnSpc>
                <a:spcPct val="115000"/>
              </a:lnSpc>
            </a:pPr>
            <a:r>
              <a:rPr lang="fr-FR" sz="2100">
                <a:solidFill>
                  <a:srgbClr val="F2F5F8"/>
                </a:solidFill>
                <a:latin typeface="Manrope SemiBold" pitchFamily="2" charset="0"/>
              </a:rPr>
              <a:t>Postuler et suivre</a:t>
            </a:r>
          </a:p>
        </p:txBody>
      </p:sp>
      <p:sp>
        <p:nvSpPr>
          <p:cNvPr id="7" name="Rectangle 6">
            <a:extLst>
              <a:ext uri="{FF2B5EF4-FFF2-40B4-BE49-F238E27FC236}">
                <a16:creationId xmlns:a16="http://schemas.microsoft.com/office/drawing/2014/main" id="{D184367D-BDC6-887B-67FF-9C5AD7EEE6BD}"/>
              </a:ext>
            </a:extLst>
          </p:cNvPr>
          <p:cNvSpPr/>
          <p:nvPr/>
        </p:nvSpPr>
        <p:spPr>
          <a:xfrm>
            <a:off x="1219200" y="33274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1364B561-1A2A-48BD-BDAF-C7A5B11C2423}"/>
              </a:ext>
            </a:extLst>
          </p:cNvPr>
          <p:cNvSpPr txBox="1"/>
          <p:nvPr/>
        </p:nvSpPr>
        <p:spPr>
          <a:xfrm>
            <a:off x="1447800" y="32258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Ses candidatures et leur état</a:t>
            </a:r>
          </a:p>
        </p:txBody>
      </p:sp>
      <p:sp>
        <p:nvSpPr>
          <p:cNvPr id="9" name="Rectangle 8">
            <a:extLst>
              <a:ext uri="{FF2B5EF4-FFF2-40B4-BE49-F238E27FC236}">
                <a16:creationId xmlns:a16="http://schemas.microsoft.com/office/drawing/2014/main" id="{BDE0D620-2BE3-A957-8337-1831DB8CC823}"/>
              </a:ext>
            </a:extLst>
          </p:cNvPr>
          <p:cNvSpPr/>
          <p:nvPr/>
        </p:nvSpPr>
        <p:spPr>
          <a:xfrm>
            <a:off x="1219200" y="39878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F10F86E-595A-0106-918E-ACF88CCE49E0}"/>
              </a:ext>
            </a:extLst>
          </p:cNvPr>
          <p:cNvSpPr txBox="1"/>
          <p:nvPr/>
        </p:nvSpPr>
        <p:spPr>
          <a:xfrm>
            <a:off x="1447800" y="38862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Ses informations, modifiables</a:t>
            </a:r>
          </a:p>
        </p:txBody>
      </p:sp>
      <p:sp>
        <p:nvSpPr>
          <p:cNvPr id="11" name="Rectangle 10">
            <a:extLst>
              <a:ext uri="{FF2B5EF4-FFF2-40B4-BE49-F238E27FC236}">
                <a16:creationId xmlns:a16="http://schemas.microsoft.com/office/drawing/2014/main" id="{965360DA-E702-D315-A9AF-F4866004D192}"/>
              </a:ext>
            </a:extLst>
          </p:cNvPr>
          <p:cNvSpPr/>
          <p:nvPr/>
        </p:nvSpPr>
        <p:spPr>
          <a:xfrm>
            <a:off x="1219200" y="46482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8D2CA590-79F6-5AF2-521F-A2B160B35EB4}"/>
              </a:ext>
            </a:extLst>
          </p:cNvPr>
          <p:cNvSpPr txBox="1"/>
          <p:nvPr/>
        </p:nvSpPr>
        <p:spPr>
          <a:xfrm>
            <a:off x="1447800" y="45466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Une adresse e-mail confirmée</a:t>
            </a:r>
          </a:p>
        </p:txBody>
      </p:sp>
      <p:sp>
        <p:nvSpPr>
          <p:cNvPr id="13" name="Rectangle : coins arrondis 12">
            <a:extLst>
              <a:ext uri="{FF2B5EF4-FFF2-40B4-BE49-F238E27FC236}">
                <a16:creationId xmlns:a16="http://schemas.microsoft.com/office/drawing/2014/main" id="{66B0CBFE-9064-7192-CBFF-20D1F7BB3EA7}"/>
              </a:ext>
            </a:extLst>
          </p:cNvPr>
          <p:cNvSpPr/>
          <p:nvPr/>
        </p:nvSpPr>
        <p:spPr>
          <a:xfrm>
            <a:off x="4495800" y="2032000"/>
            <a:ext cx="3200400" cy="3683000"/>
          </a:xfrm>
          <a:prstGeom prst="roundRect">
            <a:avLst>
              <a:gd name="adj" fmla="val 4762"/>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EE7537E5-5ACC-5C9D-0A3F-6B9419183A85}"/>
              </a:ext>
            </a:extLst>
          </p:cNvPr>
          <p:cNvSpPr txBox="1"/>
          <p:nvPr/>
        </p:nvSpPr>
        <p:spPr>
          <a:xfrm>
            <a:off x="4800600" y="2336800"/>
            <a:ext cx="2540000" cy="369332"/>
          </a:xfrm>
          <a:prstGeom prst="rect">
            <a:avLst/>
          </a:prstGeom>
          <a:noFill/>
        </p:spPr>
        <p:txBody>
          <a:bodyPr vert="horz" wrap="square" lIns="0" tIns="0" rIns="0" bIns="0" rtlCol="0">
            <a:noAutofit/>
          </a:bodyPr>
          <a:lstStyle/>
          <a:p>
            <a:pPr>
              <a:lnSpc>
                <a:spcPct val="115000"/>
              </a:lnSpc>
            </a:pPr>
            <a:r>
              <a:rPr lang="fr-FR" sz="1000" spc="220">
                <a:solidFill>
                  <a:srgbClr val="A9CCE3"/>
                </a:solidFill>
                <a:latin typeface="Manrope SemiBold" pitchFamily="2" charset="0"/>
              </a:rPr>
              <a:t>RECRUTEUR</a:t>
            </a:r>
          </a:p>
        </p:txBody>
      </p:sp>
      <p:sp>
        <p:nvSpPr>
          <p:cNvPr id="15" name="ZoneTexte 14">
            <a:extLst>
              <a:ext uri="{FF2B5EF4-FFF2-40B4-BE49-F238E27FC236}">
                <a16:creationId xmlns:a16="http://schemas.microsoft.com/office/drawing/2014/main" id="{1F2AA4DE-F439-23F8-2AE4-E8784A5AD1FC}"/>
              </a:ext>
            </a:extLst>
          </p:cNvPr>
          <p:cNvSpPr txBox="1"/>
          <p:nvPr/>
        </p:nvSpPr>
        <p:spPr>
          <a:xfrm>
            <a:off x="4800600" y="2616200"/>
            <a:ext cx="2667000" cy="369332"/>
          </a:xfrm>
          <a:prstGeom prst="rect">
            <a:avLst/>
          </a:prstGeom>
          <a:noFill/>
        </p:spPr>
        <p:txBody>
          <a:bodyPr vert="horz" wrap="square" lIns="0" tIns="0" rIns="0" bIns="0" rtlCol="0">
            <a:noAutofit/>
          </a:bodyPr>
          <a:lstStyle/>
          <a:p>
            <a:pPr>
              <a:lnSpc>
                <a:spcPct val="115000"/>
              </a:lnSpc>
            </a:pPr>
            <a:r>
              <a:rPr lang="fr-FR" sz="2100">
                <a:solidFill>
                  <a:srgbClr val="F2F5F8"/>
                </a:solidFill>
                <a:latin typeface="Manrope SemiBold" pitchFamily="2" charset="0"/>
              </a:rPr>
              <a:t>Publier et choisir</a:t>
            </a:r>
          </a:p>
        </p:txBody>
      </p:sp>
      <p:sp>
        <p:nvSpPr>
          <p:cNvPr id="16" name="Rectangle 15">
            <a:extLst>
              <a:ext uri="{FF2B5EF4-FFF2-40B4-BE49-F238E27FC236}">
                <a16:creationId xmlns:a16="http://schemas.microsoft.com/office/drawing/2014/main" id="{5871862B-B232-A6B0-0914-EF7EA5305A54}"/>
              </a:ext>
            </a:extLst>
          </p:cNvPr>
          <p:cNvSpPr/>
          <p:nvPr/>
        </p:nvSpPr>
        <p:spPr>
          <a:xfrm>
            <a:off x="4800600" y="33274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E47D10C2-900D-7734-0B41-C32C11748C3A}"/>
              </a:ext>
            </a:extLst>
          </p:cNvPr>
          <p:cNvSpPr txBox="1"/>
          <p:nvPr/>
        </p:nvSpPr>
        <p:spPr>
          <a:xfrm>
            <a:off x="5029200" y="32258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Son entreprise, identifiée par son SIREN</a:t>
            </a:r>
          </a:p>
        </p:txBody>
      </p:sp>
      <p:sp>
        <p:nvSpPr>
          <p:cNvPr id="18" name="Rectangle 17">
            <a:extLst>
              <a:ext uri="{FF2B5EF4-FFF2-40B4-BE49-F238E27FC236}">
                <a16:creationId xmlns:a16="http://schemas.microsoft.com/office/drawing/2014/main" id="{E764B17E-FECC-D285-C0A5-41E7D15E31DA}"/>
              </a:ext>
            </a:extLst>
          </p:cNvPr>
          <p:cNvSpPr/>
          <p:nvPr/>
        </p:nvSpPr>
        <p:spPr>
          <a:xfrm>
            <a:off x="4800600" y="39878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2F9766DE-99D8-FAAB-613C-617F13617BD7}"/>
              </a:ext>
            </a:extLst>
          </p:cNvPr>
          <p:cNvSpPr txBox="1"/>
          <p:nvPr/>
        </p:nvSpPr>
        <p:spPr>
          <a:xfrm>
            <a:off x="5029200" y="38862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Ses offres et leurs candidatures</a:t>
            </a:r>
          </a:p>
        </p:txBody>
      </p:sp>
      <p:sp>
        <p:nvSpPr>
          <p:cNvPr id="20" name="Rectangle 19">
            <a:extLst>
              <a:ext uri="{FF2B5EF4-FFF2-40B4-BE49-F238E27FC236}">
                <a16:creationId xmlns:a16="http://schemas.microsoft.com/office/drawing/2014/main" id="{54332A1C-EAEE-C209-F1B2-C45F7A987EC7}"/>
              </a:ext>
            </a:extLst>
          </p:cNvPr>
          <p:cNvSpPr/>
          <p:nvPr/>
        </p:nvSpPr>
        <p:spPr>
          <a:xfrm>
            <a:off x="4800600" y="46482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BEBA637E-CE1F-0BDC-748F-CF0A8082D305}"/>
              </a:ext>
            </a:extLst>
          </p:cNvPr>
          <p:cNvSpPr txBox="1"/>
          <p:nvPr/>
        </p:nvSpPr>
        <p:spPr>
          <a:xfrm>
            <a:off x="5029200" y="45466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Une offre pourvue en un geste</a:t>
            </a:r>
          </a:p>
        </p:txBody>
      </p:sp>
      <p:sp>
        <p:nvSpPr>
          <p:cNvPr id="22" name="Rectangle : coins arrondis 21">
            <a:extLst>
              <a:ext uri="{FF2B5EF4-FFF2-40B4-BE49-F238E27FC236}">
                <a16:creationId xmlns:a16="http://schemas.microsoft.com/office/drawing/2014/main" id="{4EB0A40E-1022-BBCF-EC99-EA3455B9D546}"/>
              </a:ext>
            </a:extLst>
          </p:cNvPr>
          <p:cNvSpPr/>
          <p:nvPr/>
        </p:nvSpPr>
        <p:spPr>
          <a:xfrm>
            <a:off x="8077200" y="2032000"/>
            <a:ext cx="3200400" cy="3683000"/>
          </a:xfrm>
          <a:prstGeom prst="roundRect">
            <a:avLst>
              <a:gd name="adj" fmla="val 4762"/>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ZoneTexte 22">
            <a:extLst>
              <a:ext uri="{FF2B5EF4-FFF2-40B4-BE49-F238E27FC236}">
                <a16:creationId xmlns:a16="http://schemas.microsoft.com/office/drawing/2014/main" id="{DD3C453E-BAF5-B029-9666-E99F4BF77EE4}"/>
              </a:ext>
            </a:extLst>
          </p:cNvPr>
          <p:cNvSpPr txBox="1"/>
          <p:nvPr/>
        </p:nvSpPr>
        <p:spPr>
          <a:xfrm>
            <a:off x="8382000" y="2336800"/>
            <a:ext cx="2540000" cy="369332"/>
          </a:xfrm>
          <a:prstGeom prst="rect">
            <a:avLst/>
          </a:prstGeom>
          <a:noFill/>
        </p:spPr>
        <p:txBody>
          <a:bodyPr vert="horz" wrap="square" lIns="0" tIns="0" rIns="0" bIns="0" rtlCol="0">
            <a:noAutofit/>
          </a:bodyPr>
          <a:lstStyle/>
          <a:p>
            <a:pPr>
              <a:lnSpc>
                <a:spcPct val="115000"/>
              </a:lnSpc>
            </a:pPr>
            <a:r>
              <a:rPr lang="fr-FR" sz="1000" spc="220">
                <a:solidFill>
                  <a:srgbClr val="A9CCE3"/>
                </a:solidFill>
                <a:latin typeface="Manrope SemiBold" pitchFamily="2" charset="0"/>
              </a:rPr>
              <a:t>ADMINISTRATION</a:t>
            </a:r>
          </a:p>
        </p:txBody>
      </p:sp>
      <p:sp>
        <p:nvSpPr>
          <p:cNvPr id="24" name="ZoneTexte 23">
            <a:extLst>
              <a:ext uri="{FF2B5EF4-FFF2-40B4-BE49-F238E27FC236}">
                <a16:creationId xmlns:a16="http://schemas.microsoft.com/office/drawing/2014/main" id="{72F11AF5-4DA7-45BB-9ABB-E4C6A7934F8D}"/>
              </a:ext>
            </a:extLst>
          </p:cNvPr>
          <p:cNvSpPr txBox="1"/>
          <p:nvPr/>
        </p:nvSpPr>
        <p:spPr>
          <a:xfrm>
            <a:off x="8382000" y="2616200"/>
            <a:ext cx="2667000" cy="369332"/>
          </a:xfrm>
          <a:prstGeom prst="rect">
            <a:avLst/>
          </a:prstGeom>
          <a:noFill/>
        </p:spPr>
        <p:txBody>
          <a:bodyPr vert="horz" wrap="square" lIns="0" tIns="0" rIns="0" bIns="0" rtlCol="0">
            <a:noAutofit/>
          </a:bodyPr>
          <a:lstStyle/>
          <a:p>
            <a:pPr>
              <a:lnSpc>
                <a:spcPct val="115000"/>
              </a:lnSpc>
            </a:pPr>
            <a:r>
              <a:rPr lang="fr-FR" sz="2100">
                <a:solidFill>
                  <a:srgbClr val="F2F5F8"/>
                </a:solidFill>
                <a:latin typeface="Manrope SemiBold" pitchFamily="2" charset="0"/>
              </a:rPr>
              <a:t>Tout piloter</a:t>
            </a:r>
          </a:p>
        </p:txBody>
      </p:sp>
      <p:sp>
        <p:nvSpPr>
          <p:cNvPr id="25" name="Rectangle 24">
            <a:extLst>
              <a:ext uri="{FF2B5EF4-FFF2-40B4-BE49-F238E27FC236}">
                <a16:creationId xmlns:a16="http://schemas.microsoft.com/office/drawing/2014/main" id="{A1DE2B60-1CD8-7795-AFFE-4B4130FFF2ED}"/>
              </a:ext>
            </a:extLst>
          </p:cNvPr>
          <p:cNvSpPr/>
          <p:nvPr/>
        </p:nvSpPr>
        <p:spPr>
          <a:xfrm>
            <a:off x="8382000" y="33274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ZoneTexte 25">
            <a:extLst>
              <a:ext uri="{FF2B5EF4-FFF2-40B4-BE49-F238E27FC236}">
                <a16:creationId xmlns:a16="http://schemas.microsoft.com/office/drawing/2014/main" id="{91360E5C-EC35-6AAB-211D-C9787970E53C}"/>
              </a:ext>
            </a:extLst>
          </p:cNvPr>
          <p:cNvSpPr txBox="1"/>
          <p:nvPr/>
        </p:nvSpPr>
        <p:spPr>
          <a:xfrm>
            <a:off x="8610600" y="32258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Entreprises, offres, personnes, candidatures</a:t>
            </a:r>
          </a:p>
        </p:txBody>
      </p:sp>
      <p:sp>
        <p:nvSpPr>
          <p:cNvPr id="27" name="Rectangle 26">
            <a:extLst>
              <a:ext uri="{FF2B5EF4-FFF2-40B4-BE49-F238E27FC236}">
                <a16:creationId xmlns:a16="http://schemas.microsoft.com/office/drawing/2014/main" id="{7911B624-968C-B6D3-0543-7B39C28B74F4}"/>
              </a:ext>
            </a:extLst>
          </p:cNvPr>
          <p:cNvSpPr/>
          <p:nvPr/>
        </p:nvSpPr>
        <p:spPr>
          <a:xfrm>
            <a:off x="8382000" y="39878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7DDC65F4-34FD-BC18-817D-3F2EA4DD897E}"/>
              </a:ext>
            </a:extLst>
          </p:cNvPr>
          <p:cNvSpPr txBox="1"/>
          <p:nvPr/>
        </p:nvSpPr>
        <p:spPr>
          <a:xfrm>
            <a:off x="8610600" y="38862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Lister, créer, modifier, supprimer</a:t>
            </a:r>
          </a:p>
        </p:txBody>
      </p:sp>
      <p:sp>
        <p:nvSpPr>
          <p:cNvPr id="29" name="Rectangle 28">
            <a:extLst>
              <a:ext uri="{FF2B5EF4-FFF2-40B4-BE49-F238E27FC236}">
                <a16:creationId xmlns:a16="http://schemas.microsoft.com/office/drawing/2014/main" id="{F1156688-A992-71EB-DE94-EEFEF397DF23}"/>
              </a:ext>
            </a:extLst>
          </p:cNvPr>
          <p:cNvSpPr/>
          <p:nvPr/>
        </p:nvSpPr>
        <p:spPr>
          <a:xfrm>
            <a:off x="8382000" y="4648200"/>
            <a:ext cx="127000" cy="1905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EF104B02-9BF0-9743-4EE6-8F68F06064FF}"/>
              </a:ext>
            </a:extLst>
          </p:cNvPr>
          <p:cNvSpPr txBox="1"/>
          <p:nvPr/>
        </p:nvSpPr>
        <p:spPr>
          <a:xfrm>
            <a:off x="8610600" y="45466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Accès réservé, pages paginées</a:t>
            </a:r>
          </a:p>
        </p:txBody>
      </p:sp>
    </p:spTree>
    <p:extLst>
      <p:ext uri="{BB962C8B-B14F-4D97-AF65-F5344CB8AC3E}">
        <p14:creationId xmlns:p14="http://schemas.microsoft.com/office/powerpoint/2010/main" val="3351910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4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4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4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4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4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4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7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7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7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7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7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7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7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75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75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105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105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105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105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105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105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105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105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105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animBg="1"/>
      <p:bldP spid="8" grpId="0"/>
      <p:bldP spid="9" grpId="0" animBg="1"/>
      <p:bldP spid="10" grpId="0"/>
      <p:bldP spid="11" grpId="0" animBg="1"/>
      <p:bldP spid="12" grpId="0"/>
      <p:bldP spid="13" grpId="0" animBg="1"/>
      <p:bldP spid="14" grpId="0"/>
      <p:bldP spid="15" grpId="0"/>
      <p:bldP spid="16" grpId="0" animBg="1"/>
      <p:bldP spid="17" grpId="0"/>
      <p:bldP spid="18" grpId="0" animBg="1"/>
      <p:bldP spid="19" grpId="0"/>
      <p:bldP spid="20" grpId="0" animBg="1"/>
      <p:bldP spid="21" grpId="0"/>
      <p:bldP spid="22" grpId="0" animBg="1"/>
      <p:bldP spid="23" grpId="0"/>
      <p:bldP spid="24" grpId="0"/>
      <p:bldP spid="25" grpId="0" animBg="1"/>
      <p:bldP spid="26" grpId="0"/>
      <p:bldP spid="27" grpId="0" animBg="1"/>
      <p:bldP spid="28" grpId="0"/>
      <p:bldP spid="29" grpId="0" animBg="1"/>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5FF9A63-C840-00D2-A4BA-A3245E4FAF8A}"/>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DÉJÀ EN PLACE</a:t>
            </a:r>
          </a:p>
        </p:txBody>
      </p:sp>
      <p:sp>
        <p:nvSpPr>
          <p:cNvPr id="3" name="ZoneTexte 2">
            <a:extLst>
              <a:ext uri="{FF2B5EF4-FFF2-40B4-BE49-F238E27FC236}">
                <a16:creationId xmlns:a16="http://schemas.microsoft.com/office/drawing/2014/main" id="{F7FFE4B2-A5F6-13F5-036F-7F9959EC31FF}"/>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Un catalogue </a:t>
            </a:r>
            <a:r>
              <a:rPr lang="fr-FR" sz="3600" spc="-50">
                <a:gradFill flip="none" rotWithShape="1">
                  <a:gsLst>
                    <a:gs pos="0">
                      <a:srgbClr val="5A93BF"/>
                    </a:gs>
                    <a:gs pos="100000">
                      <a:srgbClr val="A9CCE3"/>
                    </a:gs>
                  </a:gsLst>
                  <a:lin ang="0" scaled="1"/>
                  <a:tileRect/>
                </a:gradFill>
                <a:latin typeface="Manrope SemiBold" pitchFamily="2" charset="0"/>
              </a:rPr>
              <a:t>réel</a:t>
            </a:r>
            <a:r>
              <a:rPr lang="fr-FR" sz="3600" spc="-50">
                <a:solidFill>
                  <a:srgbClr val="F2F5F8"/>
                </a:solidFill>
                <a:latin typeface="Manrope SemiBold" pitchFamily="2" charset="0"/>
              </a:rPr>
              <a:t>, pas une maquette.</a:t>
            </a:r>
          </a:p>
        </p:txBody>
      </p:sp>
      <p:sp>
        <p:nvSpPr>
          <p:cNvPr id="4" name="ZoneTexte 3">
            <a:extLst>
              <a:ext uri="{FF2B5EF4-FFF2-40B4-BE49-F238E27FC236}">
                <a16:creationId xmlns:a16="http://schemas.microsoft.com/office/drawing/2014/main" id="{7666DF5E-FB67-3C6C-4F9E-0B555FB6F28B}"/>
              </a:ext>
            </a:extLst>
          </p:cNvPr>
          <p:cNvSpPr txBox="1"/>
          <p:nvPr/>
        </p:nvSpPr>
        <p:spPr>
          <a:xfrm>
            <a:off x="914400" y="2260600"/>
            <a:ext cx="2540000" cy="369332"/>
          </a:xfrm>
          <a:prstGeom prst="rect">
            <a:avLst/>
          </a:prstGeom>
          <a:noFill/>
        </p:spPr>
        <p:txBody>
          <a:bodyPr vert="horz" wrap="square" lIns="0" tIns="0" rIns="0" bIns="0" rtlCol="0">
            <a:noAutofit/>
          </a:bodyPr>
          <a:lstStyle/>
          <a:p>
            <a:r>
              <a:rPr lang="fr-FR" sz="7600" spc="-200">
                <a:solidFill>
                  <a:srgbClr val="F2F5F8"/>
                </a:solidFill>
                <a:latin typeface="Manrope SemiBold" pitchFamily="2" charset="0"/>
              </a:rPr>
              <a:t>50</a:t>
            </a:r>
          </a:p>
        </p:txBody>
      </p:sp>
      <p:sp>
        <p:nvSpPr>
          <p:cNvPr id="5" name="ZoneTexte 4">
            <a:extLst>
              <a:ext uri="{FF2B5EF4-FFF2-40B4-BE49-F238E27FC236}">
                <a16:creationId xmlns:a16="http://schemas.microsoft.com/office/drawing/2014/main" id="{2787A40E-908D-6E75-B03F-7181C76651A7}"/>
              </a:ext>
            </a:extLst>
          </p:cNvPr>
          <p:cNvSpPr txBox="1"/>
          <p:nvPr/>
        </p:nvSpPr>
        <p:spPr>
          <a:xfrm>
            <a:off x="914400" y="3454400"/>
            <a:ext cx="2540000" cy="369332"/>
          </a:xfrm>
          <a:prstGeom prst="rect">
            <a:avLst/>
          </a:prstGeom>
          <a:noFill/>
        </p:spPr>
        <p:txBody>
          <a:bodyPr vert="horz" wrap="square" lIns="0" tIns="0" rIns="0" bIns="0" rtlCol="0">
            <a:noAutofit/>
          </a:bodyPr>
          <a:lstStyle/>
          <a:p>
            <a:pPr>
              <a:lnSpc>
                <a:spcPct val="115000"/>
              </a:lnSpc>
            </a:pPr>
            <a:r>
              <a:rPr lang="fr-FR">
                <a:solidFill>
                  <a:srgbClr val="A9CCE3"/>
                </a:solidFill>
                <a:latin typeface="Manrope Medium" pitchFamily="2" charset="0"/>
              </a:rPr>
              <a:t>annonces</a:t>
            </a:r>
          </a:p>
        </p:txBody>
      </p:sp>
      <p:sp>
        <p:nvSpPr>
          <p:cNvPr id="6" name="ZoneTexte 5">
            <a:extLst>
              <a:ext uri="{FF2B5EF4-FFF2-40B4-BE49-F238E27FC236}">
                <a16:creationId xmlns:a16="http://schemas.microsoft.com/office/drawing/2014/main" id="{DA0EA17D-D87B-77C3-A571-0A950FE235CC}"/>
              </a:ext>
            </a:extLst>
          </p:cNvPr>
          <p:cNvSpPr txBox="1"/>
          <p:nvPr/>
        </p:nvSpPr>
        <p:spPr>
          <a:xfrm>
            <a:off x="914400" y="3810000"/>
            <a:ext cx="2413000" cy="369332"/>
          </a:xfrm>
          <a:prstGeom prst="rect">
            <a:avLst/>
          </a:prstGeom>
          <a:noFill/>
        </p:spPr>
        <p:txBody>
          <a:bodyPr vert="horz" wrap="square" lIns="0" tIns="0" rIns="0" bIns="0" rtlCol="0">
            <a:noAutofit/>
          </a:bodyPr>
          <a:lstStyle/>
          <a:p>
            <a:pPr>
              <a:lnSpc>
                <a:spcPct val="115000"/>
              </a:lnSpc>
            </a:pPr>
            <a:r>
              <a:rPr lang="en-US" sz="1250">
                <a:solidFill>
                  <a:srgbClr val="9CA9B6"/>
                </a:solidFill>
                <a:latin typeface="Manrope" pitchFamily="2" charset="0"/>
              </a:rPr>
              <a:t>CDI, CDD, stage, alternance, freelance</a:t>
            </a:r>
            <a:endParaRPr lang="fr-FR" sz="1250">
              <a:solidFill>
                <a:srgbClr val="9CA9B6"/>
              </a:solidFill>
              <a:latin typeface="Manrope" pitchFamily="2" charset="0"/>
            </a:endParaRPr>
          </a:p>
        </p:txBody>
      </p:sp>
      <p:sp>
        <p:nvSpPr>
          <p:cNvPr id="7" name="ZoneTexte 6">
            <a:extLst>
              <a:ext uri="{FF2B5EF4-FFF2-40B4-BE49-F238E27FC236}">
                <a16:creationId xmlns:a16="http://schemas.microsoft.com/office/drawing/2014/main" id="{5D519F46-893B-37C2-AA9D-CE59986BAB12}"/>
              </a:ext>
            </a:extLst>
          </p:cNvPr>
          <p:cNvSpPr txBox="1"/>
          <p:nvPr/>
        </p:nvSpPr>
        <p:spPr>
          <a:xfrm>
            <a:off x="3683000" y="2260600"/>
            <a:ext cx="2540000" cy="369332"/>
          </a:xfrm>
          <a:prstGeom prst="rect">
            <a:avLst/>
          </a:prstGeom>
          <a:noFill/>
        </p:spPr>
        <p:txBody>
          <a:bodyPr vert="horz" wrap="square" lIns="0" tIns="0" rIns="0" bIns="0" rtlCol="0">
            <a:noAutofit/>
          </a:bodyPr>
          <a:lstStyle/>
          <a:p>
            <a:r>
              <a:rPr lang="fr-FR" sz="7600" spc="-200">
                <a:solidFill>
                  <a:srgbClr val="F2F5F8"/>
                </a:solidFill>
                <a:latin typeface="Manrope SemiBold" pitchFamily="2" charset="0"/>
              </a:rPr>
              <a:t>10</a:t>
            </a:r>
          </a:p>
        </p:txBody>
      </p:sp>
      <p:sp>
        <p:nvSpPr>
          <p:cNvPr id="8" name="ZoneTexte 7">
            <a:extLst>
              <a:ext uri="{FF2B5EF4-FFF2-40B4-BE49-F238E27FC236}">
                <a16:creationId xmlns:a16="http://schemas.microsoft.com/office/drawing/2014/main" id="{98CC6840-CC20-196D-C410-5AA9CD2ABB34}"/>
              </a:ext>
            </a:extLst>
          </p:cNvPr>
          <p:cNvSpPr txBox="1"/>
          <p:nvPr/>
        </p:nvSpPr>
        <p:spPr>
          <a:xfrm>
            <a:off x="3683000" y="3454400"/>
            <a:ext cx="2540000" cy="369332"/>
          </a:xfrm>
          <a:prstGeom prst="rect">
            <a:avLst/>
          </a:prstGeom>
          <a:noFill/>
        </p:spPr>
        <p:txBody>
          <a:bodyPr vert="horz" wrap="square" lIns="0" tIns="0" rIns="0" bIns="0" rtlCol="0">
            <a:noAutofit/>
          </a:bodyPr>
          <a:lstStyle/>
          <a:p>
            <a:pPr>
              <a:lnSpc>
                <a:spcPct val="115000"/>
              </a:lnSpc>
            </a:pPr>
            <a:r>
              <a:rPr lang="fr-FR">
                <a:solidFill>
                  <a:srgbClr val="A9CCE3"/>
                </a:solidFill>
                <a:latin typeface="Manrope Medium" pitchFamily="2" charset="0"/>
              </a:rPr>
              <a:t>entreprises</a:t>
            </a:r>
          </a:p>
        </p:txBody>
      </p:sp>
      <p:sp>
        <p:nvSpPr>
          <p:cNvPr id="9" name="ZoneTexte 8">
            <a:extLst>
              <a:ext uri="{FF2B5EF4-FFF2-40B4-BE49-F238E27FC236}">
                <a16:creationId xmlns:a16="http://schemas.microsoft.com/office/drawing/2014/main" id="{E360179E-47B6-2232-7A3B-528F2007E9E6}"/>
              </a:ext>
            </a:extLst>
          </p:cNvPr>
          <p:cNvSpPr txBox="1"/>
          <p:nvPr/>
        </p:nvSpPr>
        <p:spPr>
          <a:xfrm>
            <a:off x="3683000" y="38100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chacune identifiée par son SIREN</a:t>
            </a:r>
          </a:p>
        </p:txBody>
      </p:sp>
      <p:sp>
        <p:nvSpPr>
          <p:cNvPr id="10" name="ZoneTexte 9">
            <a:extLst>
              <a:ext uri="{FF2B5EF4-FFF2-40B4-BE49-F238E27FC236}">
                <a16:creationId xmlns:a16="http://schemas.microsoft.com/office/drawing/2014/main" id="{A40F122C-A46E-B3BD-52E3-919D715DEA2C}"/>
              </a:ext>
            </a:extLst>
          </p:cNvPr>
          <p:cNvSpPr txBox="1"/>
          <p:nvPr/>
        </p:nvSpPr>
        <p:spPr>
          <a:xfrm>
            <a:off x="6451600" y="2260600"/>
            <a:ext cx="2540000" cy="369332"/>
          </a:xfrm>
          <a:prstGeom prst="rect">
            <a:avLst/>
          </a:prstGeom>
          <a:noFill/>
        </p:spPr>
        <p:txBody>
          <a:bodyPr vert="horz" wrap="square" lIns="0" tIns="0" rIns="0" bIns="0" rtlCol="0">
            <a:noAutofit/>
          </a:bodyPr>
          <a:lstStyle/>
          <a:p>
            <a:r>
              <a:rPr lang="fr-FR" sz="7600" spc="-200">
                <a:solidFill>
                  <a:srgbClr val="F2F5F8"/>
                </a:solidFill>
                <a:latin typeface="Manrope SemiBold" pitchFamily="2" charset="0"/>
              </a:rPr>
              <a:t>10</a:t>
            </a:r>
          </a:p>
        </p:txBody>
      </p:sp>
      <p:sp>
        <p:nvSpPr>
          <p:cNvPr id="11" name="ZoneTexte 10">
            <a:extLst>
              <a:ext uri="{FF2B5EF4-FFF2-40B4-BE49-F238E27FC236}">
                <a16:creationId xmlns:a16="http://schemas.microsoft.com/office/drawing/2014/main" id="{15213E4B-21D9-749A-8715-2B7B46EA847B}"/>
              </a:ext>
            </a:extLst>
          </p:cNvPr>
          <p:cNvSpPr txBox="1"/>
          <p:nvPr/>
        </p:nvSpPr>
        <p:spPr>
          <a:xfrm>
            <a:off x="6451600" y="3454400"/>
            <a:ext cx="2540000" cy="369332"/>
          </a:xfrm>
          <a:prstGeom prst="rect">
            <a:avLst/>
          </a:prstGeom>
          <a:noFill/>
        </p:spPr>
        <p:txBody>
          <a:bodyPr vert="horz" wrap="square" lIns="0" tIns="0" rIns="0" bIns="0" rtlCol="0">
            <a:noAutofit/>
          </a:bodyPr>
          <a:lstStyle/>
          <a:p>
            <a:pPr>
              <a:lnSpc>
                <a:spcPct val="115000"/>
              </a:lnSpc>
            </a:pPr>
            <a:r>
              <a:rPr lang="fr-FR">
                <a:solidFill>
                  <a:srgbClr val="A9CCE3"/>
                </a:solidFill>
                <a:latin typeface="Manrope Medium" pitchFamily="2" charset="0"/>
              </a:rPr>
              <a:t>villes</a:t>
            </a:r>
          </a:p>
        </p:txBody>
      </p:sp>
      <p:sp>
        <p:nvSpPr>
          <p:cNvPr id="12" name="ZoneTexte 11">
            <a:extLst>
              <a:ext uri="{FF2B5EF4-FFF2-40B4-BE49-F238E27FC236}">
                <a16:creationId xmlns:a16="http://schemas.microsoft.com/office/drawing/2014/main" id="{0C3744CF-3213-206D-C93C-9DED8818B62F}"/>
              </a:ext>
            </a:extLst>
          </p:cNvPr>
          <p:cNvSpPr txBox="1"/>
          <p:nvPr/>
        </p:nvSpPr>
        <p:spPr>
          <a:xfrm>
            <a:off x="6451600" y="38100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de Lille à Marseille</a:t>
            </a:r>
          </a:p>
        </p:txBody>
      </p:sp>
      <p:sp>
        <p:nvSpPr>
          <p:cNvPr id="13" name="ZoneTexte 12">
            <a:extLst>
              <a:ext uri="{FF2B5EF4-FFF2-40B4-BE49-F238E27FC236}">
                <a16:creationId xmlns:a16="http://schemas.microsoft.com/office/drawing/2014/main" id="{2DE608DD-C730-6E04-0A97-B4638A6EA06A}"/>
              </a:ext>
            </a:extLst>
          </p:cNvPr>
          <p:cNvSpPr txBox="1"/>
          <p:nvPr/>
        </p:nvSpPr>
        <p:spPr>
          <a:xfrm>
            <a:off x="9220200" y="2260600"/>
            <a:ext cx="2540000" cy="369332"/>
          </a:xfrm>
          <a:prstGeom prst="rect">
            <a:avLst/>
          </a:prstGeom>
          <a:noFill/>
        </p:spPr>
        <p:txBody>
          <a:bodyPr vert="horz" wrap="square" lIns="0" tIns="0" rIns="0" bIns="0" rtlCol="0">
            <a:noAutofit/>
          </a:bodyPr>
          <a:lstStyle/>
          <a:p>
            <a:r>
              <a:rPr lang="fr-FR" sz="7600" spc="-200">
                <a:solidFill>
                  <a:srgbClr val="F2F5F8"/>
                </a:solidFill>
                <a:latin typeface="Manrope SemiBold" pitchFamily="2" charset="0"/>
              </a:rPr>
              <a:t>6</a:t>
            </a:r>
          </a:p>
        </p:txBody>
      </p:sp>
      <p:sp>
        <p:nvSpPr>
          <p:cNvPr id="14" name="ZoneTexte 13">
            <a:extLst>
              <a:ext uri="{FF2B5EF4-FFF2-40B4-BE49-F238E27FC236}">
                <a16:creationId xmlns:a16="http://schemas.microsoft.com/office/drawing/2014/main" id="{36098E9B-106B-606D-DC8A-6F6430B48EFE}"/>
              </a:ext>
            </a:extLst>
          </p:cNvPr>
          <p:cNvSpPr txBox="1"/>
          <p:nvPr/>
        </p:nvSpPr>
        <p:spPr>
          <a:xfrm>
            <a:off x="9220200" y="3454400"/>
            <a:ext cx="2540000" cy="369332"/>
          </a:xfrm>
          <a:prstGeom prst="rect">
            <a:avLst/>
          </a:prstGeom>
          <a:noFill/>
        </p:spPr>
        <p:txBody>
          <a:bodyPr vert="horz" wrap="square" lIns="0" tIns="0" rIns="0" bIns="0" rtlCol="0">
            <a:noAutofit/>
          </a:bodyPr>
          <a:lstStyle/>
          <a:p>
            <a:pPr>
              <a:lnSpc>
                <a:spcPct val="115000"/>
              </a:lnSpc>
            </a:pPr>
            <a:r>
              <a:rPr lang="fr-FR">
                <a:solidFill>
                  <a:srgbClr val="A9CCE3"/>
                </a:solidFill>
                <a:latin typeface="Manrope Medium" pitchFamily="2" charset="0"/>
              </a:rPr>
              <a:t>métiers</a:t>
            </a:r>
          </a:p>
        </p:txBody>
      </p:sp>
      <p:sp>
        <p:nvSpPr>
          <p:cNvPr id="15" name="ZoneTexte 14">
            <a:extLst>
              <a:ext uri="{FF2B5EF4-FFF2-40B4-BE49-F238E27FC236}">
                <a16:creationId xmlns:a16="http://schemas.microsoft.com/office/drawing/2014/main" id="{CC2EBC0F-19B9-38EF-6515-E3EBA273DE62}"/>
              </a:ext>
            </a:extLst>
          </p:cNvPr>
          <p:cNvSpPr txBox="1"/>
          <p:nvPr/>
        </p:nvSpPr>
        <p:spPr>
          <a:xfrm>
            <a:off x="9220200" y="3810000"/>
            <a:ext cx="2413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du développement au support</a:t>
            </a:r>
          </a:p>
        </p:txBody>
      </p:sp>
      <p:sp>
        <p:nvSpPr>
          <p:cNvPr id="16" name="Rectangle 15">
            <a:extLst>
              <a:ext uri="{FF2B5EF4-FFF2-40B4-BE49-F238E27FC236}">
                <a16:creationId xmlns:a16="http://schemas.microsoft.com/office/drawing/2014/main" id="{1AD1BFFF-F33C-BFA2-214F-7F0E562356C3}"/>
              </a:ext>
            </a:extLst>
          </p:cNvPr>
          <p:cNvSpPr/>
          <p:nvPr/>
        </p:nvSpPr>
        <p:spPr>
          <a:xfrm>
            <a:off x="914400" y="4902200"/>
            <a:ext cx="103632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489CA362-85A1-4995-4FA7-141A29C37D0E}"/>
              </a:ext>
            </a:extLst>
          </p:cNvPr>
          <p:cNvSpPr txBox="1"/>
          <p:nvPr/>
        </p:nvSpPr>
        <p:spPr>
          <a:xfrm>
            <a:off x="914400" y="5130800"/>
            <a:ext cx="10363200" cy="369332"/>
          </a:xfrm>
          <a:prstGeom prst="rect">
            <a:avLst/>
          </a:prstGeom>
          <a:noFill/>
        </p:spPr>
        <p:txBody>
          <a:bodyPr vert="horz" wrap="square" lIns="0" tIns="0" rIns="0" bIns="0" rtlCol="0">
            <a:noAutofit/>
          </a:bodyPr>
          <a:lstStyle/>
          <a:p>
            <a:pPr>
              <a:lnSpc>
                <a:spcPct val="115000"/>
              </a:lnSpc>
            </a:pPr>
            <a:r>
              <a:rPr lang="fr-FR" sz="1400">
                <a:solidFill>
                  <a:srgbClr val="9CA9B6"/>
                </a:solidFill>
                <a:latin typeface="Manrope" pitchFamily="2" charset="0"/>
              </a:rPr>
              <a:t>Des données rédigées par l'équipe et insérées par la plateforme elle-même : ce que vous verrez en démonstration est ce que verrait un candidat.</a:t>
            </a:r>
          </a:p>
        </p:txBody>
      </p:sp>
    </p:spTree>
    <p:extLst>
      <p:ext uri="{BB962C8B-B14F-4D97-AF65-F5344CB8AC3E}">
        <p14:creationId xmlns:p14="http://schemas.microsoft.com/office/powerpoint/2010/main" val="21092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7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10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0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3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3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3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6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6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p:bldP spid="14" grpId="0"/>
      <p:bldP spid="15" grpId="0"/>
      <p:bldP spid="16" grpId="0" animBg="1"/>
      <p:bldP spid="1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8C49B02-AC47-AA2C-ABDD-76DBF51AE21A}"/>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LA PLATEFORME</a:t>
            </a:r>
          </a:p>
        </p:txBody>
      </p:sp>
      <p:sp>
        <p:nvSpPr>
          <p:cNvPr id="3" name="ZoneTexte 2">
            <a:extLst>
              <a:ext uri="{FF2B5EF4-FFF2-40B4-BE49-F238E27FC236}">
                <a16:creationId xmlns:a16="http://schemas.microsoft.com/office/drawing/2014/main" id="{97F28ABD-D3CE-3C65-43F3-A7B866DE7131}"/>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Conçue pour durer, pensée pour </a:t>
            </a:r>
            <a:r>
              <a:rPr lang="fr-FR" sz="3600" spc="-50">
                <a:gradFill flip="none" rotWithShape="1">
                  <a:gsLst>
                    <a:gs pos="0">
                      <a:srgbClr val="5A93BF"/>
                    </a:gs>
                    <a:gs pos="100000">
                      <a:srgbClr val="A9CCE3"/>
                    </a:gs>
                  </a:gsLst>
                  <a:lin ang="0" scaled="1"/>
                  <a:tileRect/>
                </a:gradFill>
                <a:latin typeface="Manrope SemiBold" pitchFamily="2" charset="0"/>
              </a:rPr>
              <a:t>évoluer</a:t>
            </a:r>
            <a:r>
              <a:rPr lang="fr-FR" sz="3600" spc="-50">
                <a:solidFill>
                  <a:srgbClr val="F2F5F8"/>
                </a:solidFill>
                <a:latin typeface="Manrope SemiBold" pitchFamily="2" charset="0"/>
              </a:rPr>
              <a:t>.</a:t>
            </a:r>
          </a:p>
        </p:txBody>
      </p:sp>
      <p:sp>
        <p:nvSpPr>
          <p:cNvPr id="4" name="Rectangle : coins arrondis 3">
            <a:extLst>
              <a:ext uri="{FF2B5EF4-FFF2-40B4-BE49-F238E27FC236}">
                <a16:creationId xmlns:a16="http://schemas.microsoft.com/office/drawing/2014/main" id="{54C1CE45-0FEB-B66B-FF83-260A3E35EC61}"/>
              </a:ext>
            </a:extLst>
          </p:cNvPr>
          <p:cNvSpPr/>
          <p:nvPr/>
        </p:nvSpPr>
        <p:spPr>
          <a:xfrm>
            <a:off x="914400" y="2032000"/>
            <a:ext cx="3200400" cy="1905000"/>
          </a:xfrm>
          <a:prstGeom prst="roundRect">
            <a:avLst>
              <a:gd name="adj" fmla="val 8000"/>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0E05584-1DDD-4BFB-ACA6-56D58425C438}"/>
              </a:ext>
            </a:extLst>
          </p:cNvPr>
          <p:cNvSpPr txBox="1"/>
          <p:nvPr/>
        </p:nvSpPr>
        <p:spPr>
          <a:xfrm>
            <a:off x="1219200" y="2286000"/>
            <a:ext cx="2540000" cy="369332"/>
          </a:xfrm>
          <a:prstGeom prst="rect">
            <a:avLst/>
          </a:prstGeom>
          <a:noFill/>
        </p:spPr>
        <p:txBody>
          <a:bodyPr vert="horz" wrap="square" lIns="0" tIns="0" rIns="0" bIns="0" rtlCol="0">
            <a:noAutofit/>
          </a:bodyPr>
          <a:lstStyle/>
          <a:p>
            <a:pPr>
              <a:lnSpc>
                <a:spcPct val="115000"/>
              </a:lnSpc>
            </a:pPr>
            <a:r>
              <a:rPr lang="fr-FR" sz="1000" spc="220">
                <a:solidFill>
                  <a:srgbClr val="A9CCE3"/>
                </a:solidFill>
                <a:latin typeface="Manrope SemiBold" pitchFamily="2" charset="0"/>
              </a:rPr>
              <a:t>INTERFACE</a:t>
            </a:r>
          </a:p>
        </p:txBody>
      </p:sp>
      <p:sp>
        <p:nvSpPr>
          <p:cNvPr id="6" name="ZoneTexte 5">
            <a:extLst>
              <a:ext uri="{FF2B5EF4-FFF2-40B4-BE49-F238E27FC236}">
                <a16:creationId xmlns:a16="http://schemas.microsoft.com/office/drawing/2014/main" id="{7186C508-54DF-B300-B44E-D89D55EBB093}"/>
              </a:ext>
            </a:extLst>
          </p:cNvPr>
          <p:cNvSpPr txBox="1"/>
          <p:nvPr/>
        </p:nvSpPr>
        <p:spPr>
          <a:xfrm>
            <a:off x="1219200" y="2565400"/>
            <a:ext cx="2667000" cy="381000"/>
          </a:xfrm>
          <a:prstGeom prst="rect">
            <a:avLst/>
          </a:prstGeom>
          <a:noFill/>
        </p:spPr>
        <p:txBody>
          <a:bodyPr vert="horz" wrap="square" lIns="0" tIns="0" rIns="0" bIns="0" rtlCol="0">
            <a:noAutofit/>
          </a:bodyPr>
          <a:lstStyle/>
          <a:p>
            <a:pPr>
              <a:lnSpc>
                <a:spcPct val="115000"/>
              </a:lnSpc>
            </a:pPr>
            <a:r>
              <a:rPr lang="fr-FR" sz="2400">
                <a:solidFill>
                  <a:srgbClr val="F2F5F8"/>
                </a:solidFill>
                <a:latin typeface="Manrope SemiBold" pitchFamily="2" charset="0"/>
              </a:rPr>
              <a:t>Rapide</a:t>
            </a:r>
          </a:p>
        </p:txBody>
      </p:sp>
      <p:sp>
        <p:nvSpPr>
          <p:cNvPr id="7" name="ZoneTexte 6">
            <a:extLst>
              <a:ext uri="{FF2B5EF4-FFF2-40B4-BE49-F238E27FC236}">
                <a16:creationId xmlns:a16="http://schemas.microsoft.com/office/drawing/2014/main" id="{64E31C78-1145-4E1D-DED7-BA25456FBD58}"/>
              </a:ext>
            </a:extLst>
          </p:cNvPr>
          <p:cNvSpPr txBox="1"/>
          <p:nvPr/>
        </p:nvSpPr>
        <p:spPr>
          <a:xfrm>
            <a:off x="1219200" y="3048000"/>
            <a:ext cx="2667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Une page par écran, aucun rechargement. Tout vient de l'API.</a:t>
            </a:r>
          </a:p>
        </p:txBody>
      </p:sp>
      <p:cxnSp>
        <p:nvCxnSpPr>
          <p:cNvPr id="8" name="Connecteur droit 7">
            <a:extLst>
              <a:ext uri="{FF2B5EF4-FFF2-40B4-BE49-F238E27FC236}">
                <a16:creationId xmlns:a16="http://schemas.microsoft.com/office/drawing/2014/main" id="{39C02A28-DD22-85BA-6949-01934A627DA6}"/>
              </a:ext>
            </a:extLst>
          </p:cNvPr>
          <p:cNvCxnSpPr/>
          <p:nvPr/>
        </p:nvCxnSpPr>
        <p:spPr>
          <a:xfrm>
            <a:off x="4165600" y="2984500"/>
            <a:ext cx="279400" cy="0"/>
          </a:xfrm>
          <a:prstGeom prst="line">
            <a:avLst/>
          </a:prstGeom>
          <a:ln w="15875">
            <a:solidFill>
              <a:srgbClr val="9CA9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 coins arrondis 8">
            <a:extLst>
              <a:ext uri="{FF2B5EF4-FFF2-40B4-BE49-F238E27FC236}">
                <a16:creationId xmlns:a16="http://schemas.microsoft.com/office/drawing/2014/main" id="{4C1D0C00-EF8B-5F10-698E-D703D7CA9707}"/>
              </a:ext>
            </a:extLst>
          </p:cNvPr>
          <p:cNvSpPr/>
          <p:nvPr/>
        </p:nvSpPr>
        <p:spPr>
          <a:xfrm>
            <a:off x="4495800" y="2032000"/>
            <a:ext cx="3200400" cy="1905000"/>
          </a:xfrm>
          <a:prstGeom prst="roundRect">
            <a:avLst>
              <a:gd name="adj" fmla="val 8000"/>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3753272-638E-A790-D100-B529EA264609}"/>
              </a:ext>
            </a:extLst>
          </p:cNvPr>
          <p:cNvSpPr txBox="1"/>
          <p:nvPr/>
        </p:nvSpPr>
        <p:spPr>
          <a:xfrm>
            <a:off x="4800600" y="2286000"/>
            <a:ext cx="2540000" cy="369332"/>
          </a:xfrm>
          <a:prstGeom prst="rect">
            <a:avLst/>
          </a:prstGeom>
          <a:noFill/>
        </p:spPr>
        <p:txBody>
          <a:bodyPr vert="horz" wrap="square" lIns="0" tIns="0" rIns="0" bIns="0" rtlCol="0">
            <a:noAutofit/>
          </a:bodyPr>
          <a:lstStyle/>
          <a:p>
            <a:pPr>
              <a:lnSpc>
                <a:spcPct val="115000"/>
              </a:lnSpc>
            </a:pPr>
            <a:r>
              <a:rPr lang="fr-FR" sz="1000" spc="220">
                <a:solidFill>
                  <a:srgbClr val="A9CCE3"/>
                </a:solidFill>
                <a:latin typeface="Manrope SemiBold" pitchFamily="2" charset="0"/>
              </a:rPr>
              <a:t>API</a:t>
            </a:r>
          </a:p>
        </p:txBody>
      </p:sp>
      <p:sp>
        <p:nvSpPr>
          <p:cNvPr id="11" name="ZoneTexte 10">
            <a:extLst>
              <a:ext uri="{FF2B5EF4-FFF2-40B4-BE49-F238E27FC236}">
                <a16:creationId xmlns:a16="http://schemas.microsoft.com/office/drawing/2014/main" id="{50947F05-165B-CB84-E42C-2445AC0FB6FF}"/>
              </a:ext>
            </a:extLst>
          </p:cNvPr>
          <p:cNvSpPr txBox="1"/>
          <p:nvPr/>
        </p:nvSpPr>
        <p:spPr>
          <a:xfrm>
            <a:off x="4800600" y="2565400"/>
            <a:ext cx="2667000" cy="381000"/>
          </a:xfrm>
          <a:prstGeom prst="rect">
            <a:avLst/>
          </a:prstGeom>
          <a:noFill/>
        </p:spPr>
        <p:txBody>
          <a:bodyPr vert="horz" wrap="square" lIns="0" tIns="0" rIns="0" bIns="0" rtlCol="0">
            <a:noAutofit/>
          </a:bodyPr>
          <a:lstStyle/>
          <a:p>
            <a:pPr>
              <a:lnSpc>
                <a:spcPct val="115000"/>
              </a:lnSpc>
            </a:pPr>
            <a:r>
              <a:rPr lang="fr-FR" sz="2400">
                <a:solidFill>
                  <a:srgbClr val="F2F5F8"/>
                </a:solidFill>
                <a:latin typeface="Manrope SemiBold" pitchFamily="2" charset="0"/>
              </a:rPr>
              <a:t>Fiable</a:t>
            </a:r>
          </a:p>
        </p:txBody>
      </p:sp>
      <p:sp>
        <p:nvSpPr>
          <p:cNvPr id="12" name="ZoneTexte 11">
            <a:extLst>
              <a:ext uri="{FF2B5EF4-FFF2-40B4-BE49-F238E27FC236}">
                <a16:creationId xmlns:a16="http://schemas.microsoft.com/office/drawing/2014/main" id="{6C0957EC-A31F-9076-AA76-2FCC23B40CD6}"/>
              </a:ext>
            </a:extLst>
          </p:cNvPr>
          <p:cNvSpPr txBox="1"/>
          <p:nvPr/>
        </p:nvSpPr>
        <p:spPr>
          <a:xfrm>
            <a:off x="4800600" y="3048000"/>
            <a:ext cx="2667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17 routes, chacune avec ses codes et ses messages écrits à l'avance.</a:t>
            </a:r>
          </a:p>
        </p:txBody>
      </p:sp>
      <p:cxnSp>
        <p:nvCxnSpPr>
          <p:cNvPr id="13" name="Connecteur droit 12">
            <a:extLst>
              <a:ext uri="{FF2B5EF4-FFF2-40B4-BE49-F238E27FC236}">
                <a16:creationId xmlns:a16="http://schemas.microsoft.com/office/drawing/2014/main" id="{996723ED-DA2F-4A5D-D926-C9FFC3387D42}"/>
              </a:ext>
            </a:extLst>
          </p:cNvPr>
          <p:cNvCxnSpPr/>
          <p:nvPr/>
        </p:nvCxnSpPr>
        <p:spPr>
          <a:xfrm>
            <a:off x="7747000" y="2984500"/>
            <a:ext cx="279400" cy="0"/>
          </a:xfrm>
          <a:prstGeom prst="line">
            <a:avLst/>
          </a:prstGeom>
          <a:ln w="15875">
            <a:solidFill>
              <a:srgbClr val="9CA9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 coins arrondis 13">
            <a:extLst>
              <a:ext uri="{FF2B5EF4-FFF2-40B4-BE49-F238E27FC236}">
                <a16:creationId xmlns:a16="http://schemas.microsoft.com/office/drawing/2014/main" id="{5590EF68-DC28-CA64-B424-E526F3643E9B}"/>
              </a:ext>
            </a:extLst>
          </p:cNvPr>
          <p:cNvSpPr/>
          <p:nvPr/>
        </p:nvSpPr>
        <p:spPr>
          <a:xfrm>
            <a:off x="8077200" y="2032000"/>
            <a:ext cx="3200400" cy="1905000"/>
          </a:xfrm>
          <a:prstGeom prst="roundRect">
            <a:avLst>
              <a:gd name="adj" fmla="val 8000"/>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8E8EF90C-A0B8-05AB-01D6-4D05E1C44977}"/>
              </a:ext>
            </a:extLst>
          </p:cNvPr>
          <p:cNvSpPr txBox="1"/>
          <p:nvPr/>
        </p:nvSpPr>
        <p:spPr>
          <a:xfrm>
            <a:off x="8382000" y="2286000"/>
            <a:ext cx="2540000" cy="369332"/>
          </a:xfrm>
          <a:prstGeom prst="rect">
            <a:avLst/>
          </a:prstGeom>
          <a:noFill/>
        </p:spPr>
        <p:txBody>
          <a:bodyPr vert="horz" wrap="square" lIns="0" tIns="0" rIns="0" bIns="0" rtlCol="0">
            <a:noAutofit/>
          </a:bodyPr>
          <a:lstStyle/>
          <a:p>
            <a:pPr>
              <a:lnSpc>
                <a:spcPct val="115000"/>
              </a:lnSpc>
            </a:pPr>
            <a:r>
              <a:rPr lang="fr-FR" sz="1000" spc="220">
                <a:solidFill>
                  <a:srgbClr val="A9CCE3"/>
                </a:solidFill>
                <a:latin typeface="Manrope SemiBold" pitchFamily="2" charset="0"/>
              </a:rPr>
              <a:t>DONNÉES</a:t>
            </a:r>
          </a:p>
        </p:txBody>
      </p:sp>
      <p:sp>
        <p:nvSpPr>
          <p:cNvPr id="16" name="ZoneTexte 15">
            <a:extLst>
              <a:ext uri="{FF2B5EF4-FFF2-40B4-BE49-F238E27FC236}">
                <a16:creationId xmlns:a16="http://schemas.microsoft.com/office/drawing/2014/main" id="{0AC5D986-58C4-4622-F1CA-889A9BC73A50}"/>
              </a:ext>
            </a:extLst>
          </p:cNvPr>
          <p:cNvSpPr txBox="1"/>
          <p:nvPr/>
        </p:nvSpPr>
        <p:spPr>
          <a:xfrm>
            <a:off x="8382000" y="2565400"/>
            <a:ext cx="2667000" cy="381000"/>
          </a:xfrm>
          <a:prstGeom prst="rect">
            <a:avLst/>
          </a:prstGeom>
          <a:noFill/>
        </p:spPr>
        <p:txBody>
          <a:bodyPr vert="horz" wrap="square" lIns="0" tIns="0" rIns="0" bIns="0" rtlCol="0">
            <a:noAutofit/>
          </a:bodyPr>
          <a:lstStyle/>
          <a:p>
            <a:pPr>
              <a:lnSpc>
                <a:spcPct val="115000"/>
              </a:lnSpc>
            </a:pPr>
            <a:r>
              <a:rPr lang="fr-FR" sz="2400">
                <a:solidFill>
                  <a:srgbClr val="F2F5F8"/>
                </a:solidFill>
                <a:latin typeface="Manrope SemiBold" pitchFamily="2" charset="0"/>
              </a:rPr>
              <a:t>Protégées</a:t>
            </a:r>
          </a:p>
        </p:txBody>
      </p:sp>
      <p:sp>
        <p:nvSpPr>
          <p:cNvPr id="17" name="ZoneTexte 16">
            <a:extLst>
              <a:ext uri="{FF2B5EF4-FFF2-40B4-BE49-F238E27FC236}">
                <a16:creationId xmlns:a16="http://schemas.microsoft.com/office/drawing/2014/main" id="{E7D13312-D0C0-8CF7-481A-1ABF41A5A61E}"/>
              </a:ext>
            </a:extLst>
          </p:cNvPr>
          <p:cNvSpPr txBox="1"/>
          <p:nvPr/>
        </p:nvSpPr>
        <p:spPr>
          <a:xfrm>
            <a:off x="8382000" y="3048000"/>
            <a:ext cx="26670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6 tables liées. Rien d'encore utilisé ne peut être supprimé.</a:t>
            </a:r>
          </a:p>
        </p:txBody>
      </p:sp>
      <p:sp>
        <p:nvSpPr>
          <p:cNvPr id="18" name="Rectangle : coins arrondis 17">
            <a:extLst>
              <a:ext uri="{FF2B5EF4-FFF2-40B4-BE49-F238E27FC236}">
                <a16:creationId xmlns:a16="http://schemas.microsoft.com/office/drawing/2014/main" id="{118CF8F9-CE74-62E7-55F1-4EDA9D69F07B}"/>
              </a:ext>
            </a:extLst>
          </p:cNvPr>
          <p:cNvSpPr/>
          <p:nvPr/>
        </p:nvSpPr>
        <p:spPr>
          <a:xfrm>
            <a:off x="914400" y="4343400"/>
            <a:ext cx="10363200" cy="1422400"/>
          </a:xfrm>
          <a:prstGeom prst="roundRect">
            <a:avLst>
              <a:gd name="adj" fmla="val 10714"/>
            </a:avLst>
          </a:prstGeom>
          <a:solidFill>
            <a:srgbClr val="18233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05E538A4-B4A1-6ADA-5665-A44F1C8ACC4F}"/>
              </a:ext>
            </a:extLst>
          </p:cNvPr>
          <p:cNvSpPr/>
          <p:nvPr/>
        </p:nvSpPr>
        <p:spPr>
          <a:xfrm>
            <a:off x="914400" y="4343400"/>
            <a:ext cx="50800" cy="14224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2B690D44-C92E-62D1-CBBE-E06A8777B6F5}"/>
              </a:ext>
            </a:extLst>
          </p:cNvPr>
          <p:cNvSpPr txBox="1"/>
          <p:nvPr/>
        </p:nvSpPr>
        <p:spPr>
          <a:xfrm>
            <a:off x="1270000" y="4572000"/>
            <a:ext cx="8890000" cy="369332"/>
          </a:xfrm>
          <a:prstGeom prst="rect">
            <a:avLst/>
          </a:prstGeom>
          <a:noFill/>
        </p:spPr>
        <p:txBody>
          <a:bodyPr vert="horz" wrap="square" lIns="0" tIns="0" rIns="0" bIns="0" rtlCol="0">
            <a:noAutofit/>
          </a:bodyPr>
          <a:lstStyle/>
          <a:p>
            <a:pPr>
              <a:lnSpc>
                <a:spcPct val="115000"/>
              </a:lnSpc>
            </a:pPr>
            <a:r>
              <a:rPr lang="fr-FR">
                <a:solidFill>
                  <a:srgbClr val="F2F5F8"/>
                </a:solidFill>
                <a:latin typeface="Manrope Medium" pitchFamily="2" charset="0"/>
              </a:rPr>
              <a:t>Le contrat d'API est écrit avant le code.</a:t>
            </a:r>
          </a:p>
        </p:txBody>
      </p:sp>
      <p:sp>
        <p:nvSpPr>
          <p:cNvPr id="21" name="ZoneTexte 20">
            <a:extLst>
              <a:ext uri="{FF2B5EF4-FFF2-40B4-BE49-F238E27FC236}">
                <a16:creationId xmlns:a16="http://schemas.microsoft.com/office/drawing/2014/main" id="{8586C38A-06F5-92B7-6D59-784DF1B50668}"/>
              </a:ext>
            </a:extLst>
          </p:cNvPr>
          <p:cNvSpPr txBox="1"/>
          <p:nvPr/>
        </p:nvSpPr>
        <p:spPr>
          <a:xfrm>
            <a:off x="1270000" y="4978400"/>
            <a:ext cx="96520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Interface et serveur avancent en parallèle contre le même document. Une évolution se décide sur le papier, puis se livre sans surprise.</a:t>
            </a:r>
          </a:p>
        </p:txBody>
      </p:sp>
    </p:spTree>
    <p:extLst>
      <p:ext uri="{BB962C8B-B14F-4D97-AF65-F5344CB8AC3E}">
        <p14:creationId xmlns:p14="http://schemas.microsoft.com/office/powerpoint/2010/main" val="240542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4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7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10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0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0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0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0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13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13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135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135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p:bldP spid="9" grpId="0" animBg="1"/>
      <p:bldP spid="10" grpId="0"/>
      <p:bldP spid="11" grpId="0"/>
      <p:bldP spid="12" grpId="0"/>
      <p:bldP spid="14" grpId="0" animBg="1"/>
      <p:bldP spid="15" grpId="0"/>
      <p:bldP spid="16" grpId="0"/>
      <p:bldP spid="17" grpId="0"/>
      <p:bldP spid="18" grpId="0" animBg="1"/>
      <p:bldP spid="19" grpId="0" animBg="1"/>
      <p:bldP spid="20" grpId="0"/>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356B9B6F-4C72-83B8-EE5B-05AF7AB70267}"/>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LA CONFIANCE</a:t>
            </a:r>
          </a:p>
        </p:txBody>
      </p:sp>
      <p:sp>
        <p:nvSpPr>
          <p:cNvPr id="3" name="ZoneTexte 2">
            <a:extLst>
              <a:ext uri="{FF2B5EF4-FFF2-40B4-BE49-F238E27FC236}">
                <a16:creationId xmlns:a16="http://schemas.microsoft.com/office/drawing/2014/main" id="{F186848D-71CF-500E-A05A-E9FD6EF9145E}"/>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Vos données, protégées par </a:t>
            </a:r>
            <a:r>
              <a:rPr lang="fr-FR" sz="3600" spc="-50">
                <a:gradFill flip="none" rotWithShape="1">
                  <a:gsLst>
                    <a:gs pos="0">
                      <a:srgbClr val="5A93BF"/>
                    </a:gs>
                    <a:gs pos="100000">
                      <a:srgbClr val="A9CCE3"/>
                    </a:gs>
                  </a:gsLst>
                  <a:lin ang="0" scaled="1"/>
                  <a:tileRect/>
                </a:gradFill>
                <a:latin typeface="Manrope SemiBold" pitchFamily="2" charset="0"/>
              </a:rPr>
              <a:t>conception</a:t>
            </a:r>
            <a:r>
              <a:rPr lang="fr-FR" sz="3600" spc="-50">
                <a:solidFill>
                  <a:srgbClr val="F2F5F8"/>
                </a:solidFill>
                <a:latin typeface="Manrope SemiBold" pitchFamily="2" charset="0"/>
              </a:rPr>
              <a:t>.</a:t>
            </a:r>
          </a:p>
        </p:txBody>
      </p:sp>
      <p:sp>
        <p:nvSpPr>
          <p:cNvPr id="4" name="Rectangle : coins arrondis 3">
            <a:extLst>
              <a:ext uri="{FF2B5EF4-FFF2-40B4-BE49-F238E27FC236}">
                <a16:creationId xmlns:a16="http://schemas.microsoft.com/office/drawing/2014/main" id="{716B9159-8BCF-37B2-705F-2DD69813AEEC}"/>
              </a:ext>
            </a:extLst>
          </p:cNvPr>
          <p:cNvSpPr/>
          <p:nvPr/>
        </p:nvSpPr>
        <p:spPr>
          <a:xfrm>
            <a:off x="914400" y="2032000"/>
            <a:ext cx="2362200" cy="1625600"/>
          </a:xfrm>
          <a:prstGeom prst="roundRect">
            <a:avLst>
              <a:gd name="adj" fmla="val 9375"/>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F4AE214-BC8A-8498-F9A6-7D618D03F5E9}"/>
              </a:ext>
            </a:extLst>
          </p:cNvPr>
          <p:cNvSpPr txBox="1"/>
          <p:nvPr/>
        </p:nvSpPr>
        <p:spPr>
          <a:xfrm>
            <a:off x="1143000" y="2235200"/>
            <a:ext cx="508000" cy="369332"/>
          </a:xfrm>
          <a:prstGeom prst="rect">
            <a:avLst/>
          </a:prstGeom>
          <a:noFill/>
        </p:spPr>
        <p:txBody>
          <a:bodyPr vert="horz" wrap="square" lIns="0" tIns="0" rIns="0" bIns="0" rtlCol="0">
            <a:noAutofit/>
          </a:bodyPr>
          <a:lstStyle/>
          <a:p>
            <a:pPr>
              <a:lnSpc>
                <a:spcPct val="115000"/>
              </a:lnSpc>
            </a:pPr>
            <a:r>
              <a:rPr lang="fr-FR" sz="1200">
                <a:solidFill>
                  <a:srgbClr val="A9CCE3"/>
                </a:solidFill>
                <a:latin typeface="Manrope SemiBold" pitchFamily="2" charset="0"/>
              </a:rPr>
              <a:t>01</a:t>
            </a:r>
          </a:p>
        </p:txBody>
      </p:sp>
      <p:sp>
        <p:nvSpPr>
          <p:cNvPr id="6" name="ZoneTexte 5">
            <a:extLst>
              <a:ext uri="{FF2B5EF4-FFF2-40B4-BE49-F238E27FC236}">
                <a16:creationId xmlns:a16="http://schemas.microsoft.com/office/drawing/2014/main" id="{E99CFCE9-6847-6FEC-1393-C387C4A413F9}"/>
              </a:ext>
            </a:extLst>
          </p:cNvPr>
          <p:cNvSpPr txBox="1"/>
          <p:nvPr/>
        </p:nvSpPr>
        <p:spPr>
          <a:xfrm>
            <a:off x="1143000" y="2514600"/>
            <a:ext cx="2032000" cy="369332"/>
          </a:xfrm>
          <a:prstGeom prst="rect">
            <a:avLst/>
          </a:prstGeom>
          <a:noFill/>
        </p:spPr>
        <p:txBody>
          <a:bodyPr vert="horz" wrap="square" lIns="0" tIns="0" rIns="0" bIns="0" rtlCol="0">
            <a:noAutofit/>
          </a:bodyPr>
          <a:lstStyle/>
          <a:p>
            <a:pPr>
              <a:lnSpc>
                <a:spcPct val="115000"/>
              </a:lnSpc>
            </a:pPr>
            <a:r>
              <a:rPr lang="fr-FR" sz="1550">
                <a:solidFill>
                  <a:srgbClr val="F2F5F8"/>
                </a:solidFill>
                <a:latin typeface="Manrope Medium" pitchFamily="2" charset="0"/>
              </a:rPr>
              <a:t>Inscription</a:t>
            </a:r>
          </a:p>
        </p:txBody>
      </p:sp>
      <p:sp>
        <p:nvSpPr>
          <p:cNvPr id="7" name="ZoneTexte 6">
            <a:extLst>
              <a:ext uri="{FF2B5EF4-FFF2-40B4-BE49-F238E27FC236}">
                <a16:creationId xmlns:a16="http://schemas.microsoft.com/office/drawing/2014/main" id="{B478C48D-3D63-B84B-C825-1E222AB74FBB}"/>
              </a:ext>
            </a:extLst>
          </p:cNvPr>
          <p:cNvSpPr txBox="1"/>
          <p:nvPr/>
        </p:nvSpPr>
        <p:spPr>
          <a:xfrm>
            <a:off x="1143000" y="2844800"/>
            <a:ext cx="1930400" cy="369332"/>
          </a:xfrm>
          <a:prstGeom prst="rect">
            <a:avLst/>
          </a:prstGeom>
          <a:noFill/>
        </p:spPr>
        <p:txBody>
          <a:bodyPr vert="horz" wrap="square" lIns="0" tIns="0" rIns="0" bIns="0" rtlCol="0">
            <a:noAutofit/>
          </a:bodyPr>
          <a:lstStyle/>
          <a:p>
            <a:pPr>
              <a:lnSpc>
                <a:spcPct val="115000"/>
              </a:lnSpc>
            </a:pPr>
            <a:r>
              <a:rPr lang="fr-FR" sz="1150">
                <a:solidFill>
                  <a:srgbClr val="9CA9B6"/>
                </a:solidFill>
                <a:latin typeface="Manrope" pitchFamily="2" charset="0"/>
              </a:rPr>
              <a:t>Le compte attend : rien n'est créé sans vous.</a:t>
            </a:r>
          </a:p>
        </p:txBody>
      </p:sp>
      <p:cxnSp>
        <p:nvCxnSpPr>
          <p:cNvPr id="8" name="Connecteur droit 7">
            <a:extLst>
              <a:ext uri="{FF2B5EF4-FFF2-40B4-BE49-F238E27FC236}">
                <a16:creationId xmlns:a16="http://schemas.microsoft.com/office/drawing/2014/main" id="{AFDA6766-298B-EF45-8035-629DF66CE63A}"/>
              </a:ext>
            </a:extLst>
          </p:cNvPr>
          <p:cNvCxnSpPr/>
          <p:nvPr/>
        </p:nvCxnSpPr>
        <p:spPr>
          <a:xfrm>
            <a:off x="3327400" y="2844800"/>
            <a:ext cx="203200" cy="0"/>
          </a:xfrm>
          <a:prstGeom prst="line">
            <a:avLst/>
          </a:prstGeom>
          <a:ln w="15875">
            <a:solidFill>
              <a:srgbClr val="9CA9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 coins arrondis 8">
            <a:extLst>
              <a:ext uri="{FF2B5EF4-FFF2-40B4-BE49-F238E27FC236}">
                <a16:creationId xmlns:a16="http://schemas.microsoft.com/office/drawing/2014/main" id="{02C777C6-34DC-F2D0-8C21-F4917CEC80CC}"/>
              </a:ext>
            </a:extLst>
          </p:cNvPr>
          <p:cNvSpPr/>
          <p:nvPr/>
        </p:nvSpPr>
        <p:spPr>
          <a:xfrm>
            <a:off x="3581400" y="2032000"/>
            <a:ext cx="2362200" cy="1625600"/>
          </a:xfrm>
          <a:prstGeom prst="roundRect">
            <a:avLst>
              <a:gd name="adj" fmla="val 9375"/>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48314687-8EF9-B870-452C-262223EC24B1}"/>
              </a:ext>
            </a:extLst>
          </p:cNvPr>
          <p:cNvSpPr txBox="1"/>
          <p:nvPr/>
        </p:nvSpPr>
        <p:spPr>
          <a:xfrm>
            <a:off x="3810000" y="2235200"/>
            <a:ext cx="508000" cy="369332"/>
          </a:xfrm>
          <a:prstGeom prst="rect">
            <a:avLst/>
          </a:prstGeom>
          <a:noFill/>
        </p:spPr>
        <p:txBody>
          <a:bodyPr vert="horz" wrap="square" lIns="0" tIns="0" rIns="0" bIns="0" rtlCol="0">
            <a:noAutofit/>
          </a:bodyPr>
          <a:lstStyle/>
          <a:p>
            <a:pPr>
              <a:lnSpc>
                <a:spcPct val="115000"/>
              </a:lnSpc>
            </a:pPr>
            <a:r>
              <a:rPr lang="fr-FR" sz="1200">
                <a:solidFill>
                  <a:srgbClr val="A9CCE3"/>
                </a:solidFill>
                <a:latin typeface="Manrope SemiBold" pitchFamily="2" charset="0"/>
              </a:rPr>
              <a:t>02</a:t>
            </a:r>
          </a:p>
        </p:txBody>
      </p:sp>
      <p:sp>
        <p:nvSpPr>
          <p:cNvPr id="11" name="ZoneTexte 10">
            <a:extLst>
              <a:ext uri="{FF2B5EF4-FFF2-40B4-BE49-F238E27FC236}">
                <a16:creationId xmlns:a16="http://schemas.microsoft.com/office/drawing/2014/main" id="{19C41258-16C1-77D3-EA03-377E3FB62582}"/>
              </a:ext>
            </a:extLst>
          </p:cNvPr>
          <p:cNvSpPr txBox="1"/>
          <p:nvPr/>
        </p:nvSpPr>
        <p:spPr>
          <a:xfrm>
            <a:off x="3810000" y="2514600"/>
            <a:ext cx="2032000" cy="369332"/>
          </a:xfrm>
          <a:prstGeom prst="rect">
            <a:avLst/>
          </a:prstGeom>
          <a:noFill/>
        </p:spPr>
        <p:txBody>
          <a:bodyPr vert="horz" wrap="square" lIns="0" tIns="0" rIns="0" bIns="0" rtlCol="0">
            <a:noAutofit/>
          </a:bodyPr>
          <a:lstStyle/>
          <a:p>
            <a:pPr>
              <a:lnSpc>
                <a:spcPct val="115000"/>
              </a:lnSpc>
            </a:pPr>
            <a:r>
              <a:rPr lang="fr-FR" sz="1550">
                <a:solidFill>
                  <a:srgbClr val="F2F5F8"/>
                </a:solidFill>
                <a:latin typeface="Manrope Medium" pitchFamily="2" charset="0"/>
              </a:rPr>
              <a:t>Lien par e-mail</a:t>
            </a:r>
          </a:p>
        </p:txBody>
      </p:sp>
      <p:sp>
        <p:nvSpPr>
          <p:cNvPr id="12" name="ZoneTexte 11">
            <a:extLst>
              <a:ext uri="{FF2B5EF4-FFF2-40B4-BE49-F238E27FC236}">
                <a16:creationId xmlns:a16="http://schemas.microsoft.com/office/drawing/2014/main" id="{6B99816E-AFC7-C371-E4AE-485E6D3C1E60}"/>
              </a:ext>
            </a:extLst>
          </p:cNvPr>
          <p:cNvSpPr txBox="1"/>
          <p:nvPr/>
        </p:nvSpPr>
        <p:spPr>
          <a:xfrm>
            <a:off x="3810000" y="2844800"/>
            <a:ext cx="1930400" cy="369332"/>
          </a:xfrm>
          <a:prstGeom prst="rect">
            <a:avLst/>
          </a:prstGeom>
          <a:noFill/>
        </p:spPr>
        <p:txBody>
          <a:bodyPr vert="horz" wrap="square" lIns="0" tIns="0" rIns="0" bIns="0" rtlCol="0">
            <a:noAutofit/>
          </a:bodyPr>
          <a:lstStyle/>
          <a:p>
            <a:pPr>
              <a:lnSpc>
                <a:spcPct val="115000"/>
              </a:lnSpc>
            </a:pPr>
            <a:r>
              <a:rPr lang="fr-FR" sz="1150">
                <a:solidFill>
                  <a:srgbClr val="9CA9B6"/>
                </a:solidFill>
                <a:latin typeface="Manrope" pitchFamily="2" charset="0"/>
              </a:rPr>
              <a:t>Valable 24 heures, utilisable une seule fois.</a:t>
            </a:r>
          </a:p>
        </p:txBody>
      </p:sp>
      <p:cxnSp>
        <p:nvCxnSpPr>
          <p:cNvPr id="13" name="Connecteur droit 12">
            <a:extLst>
              <a:ext uri="{FF2B5EF4-FFF2-40B4-BE49-F238E27FC236}">
                <a16:creationId xmlns:a16="http://schemas.microsoft.com/office/drawing/2014/main" id="{DAB50CA0-9610-8BB3-CD34-1535A7AA273A}"/>
              </a:ext>
            </a:extLst>
          </p:cNvPr>
          <p:cNvCxnSpPr/>
          <p:nvPr/>
        </p:nvCxnSpPr>
        <p:spPr>
          <a:xfrm>
            <a:off x="5994400" y="2844800"/>
            <a:ext cx="203200" cy="0"/>
          </a:xfrm>
          <a:prstGeom prst="line">
            <a:avLst/>
          </a:prstGeom>
          <a:ln w="15875">
            <a:solidFill>
              <a:srgbClr val="9CA9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 coins arrondis 13">
            <a:extLst>
              <a:ext uri="{FF2B5EF4-FFF2-40B4-BE49-F238E27FC236}">
                <a16:creationId xmlns:a16="http://schemas.microsoft.com/office/drawing/2014/main" id="{B6B79028-E2C9-2D2C-7DAD-70FE540A0BA6}"/>
              </a:ext>
            </a:extLst>
          </p:cNvPr>
          <p:cNvSpPr/>
          <p:nvPr/>
        </p:nvSpPr>
        <p:spPr>
          <a:xfrm>
            <a:off x="6248400" y="2032000"/>
            <a:ext cx="2362200" cy="1625600"/>
          </a:xfrm>
          <a:prstGeom prst="roundRect">
            <a:avLst>
              <a:gd name="adj" fmla="val 9375"/>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AAD90980-D898-D487-C4EB-A4EDD4ECDBEE}"/>
              </a:ext>
            </a:extLst>
          </p:cNvPr>
          <p:cNvSpPr txBox="1"/>
          <p:nvPr/>
        </p:nvSpPr>
        <p:spPr>
          <a:xfrm>
            <a:off x="6477000" y="2235200"/>
            <a:ext cx="508000" cy="369332"/>
          </a:xfrm>
          <a:prstGeom prst="rect">
            <a:avLst/>
          </a:prstGeom>
          <a:noFill/>
        </p:spPr>
        <p:txBody>
          <a:bodyPr vert="horz" wrap="square" lIns="0" tIns="0" rIns="0" bIns="0" rtlCol="0">
            <a:noAutofit/>
          </a:bodyPr>
          <a:lstStyle/>
          <a:p>
            <a:pPr>
              <a:lnSpc>
                <a:spcPct val="115000"/>
              </a:lnSpc>
            </a:pPr>
            <a:r>
              <a:rPr lang="fr-FR" sz="1200">
                <a:solidFill>
                  <a:srgbClr val="A9CCE3"/>
                </a:solidFill>
                <a:latin typeface="Manrope SemiBold" pitchFamily="2" charset="0"/>
              </a:rPr>
              <a:t>03</a:t>
            </a:r>
          </a:p>
        </p:txBody>
      </p:sp>
      <p:sp>
        <p:nvSpPr>
          <p:cNvPr id="16" name="ZoneTexte 15">
            <a:extLst>
              <a:ext uri="{FF2B5EF4-FFF2-40B4-BE49-F238E27FC236}">
                <a16:creationId xmlns:a16="http://schemas.microsoft.com/office/drawing/2014/main" id="{6C0112EF-1542-6853-19FF-1F1F158A7BAA}"/>
              </a:ext>
            </a:extLst>
          </p:cNvPr>
          <p:cNvSpPr txBox="1"/>
          <p:nvPr/>
        </p:nvSpPr>
        <p:spPr>
          <a:xfrm>
            <a:off x="6477000" y="2514600"/>
            <a:ext cx="2032000" cy="369332"/>
          </a:xfrm>
          <a:prstGeom prst="rect">
            <a:avLst/>
          </a:prstGeom>
          <a:noFill/>
        </p:spPr>
        <p:txBody>
          <a:bodyPr vert="horz" wrap="square" lIns="0" tIns="0" rIns="0" bIns="0" rtlCol="0">
            <a:noAutofit/>
          </a:bodyPr>
          <a:lstStyle/>
          <a:p>
            <a:pPr>
              <a:lnSpc>
                <a:spcPct val="115000"/>
              </a:lnSpc>
            </a:pPr>
            <a:r>
              <a:rPr lang="fr-FR" sz="1550">
                <a:solidFill>
                  <a:srgbClr val="F2F5F8"/>
                </a:solidFill>
                <a:latin typeface="Manrope Medium" pitchFamily="2" charset="0"/>
              </a:rPr>
              <a:t>Adresse confirmée</a:t>
            </a:r>
          </a:p>
        </p:txBody>
      </p:sp>
      <p:sp>
        <p:nvSpPr>
          <p:cNvPr id="17" name="ZoneTexte 16">
            <a:extLst>
              <a:ext uri="{FF2B5EF4-FFF2-40B4-BE49-F238E27FC236}">
                <a16:creationId xmlns:a16="http://schemas.microsoft.com/office/drawing/2014/main" id="{17301CF8-C5D4-5F65-A3CA-63B0623E107B}"/>
              </a:ext>
            </a:extLst>
          </p:cNvPr>
          <p:cNvSpPr txBox="1"/>
          <p:nvPr/>
        </p:nvSpPr>
        <p:spPr>
          <a:xfrm>
            <a:off x="6477000" y="2844800"/>
            <a:ext cx="1930400" cy="369332"/>
          </a:xfrm>
          <a:prstGeom prst="rect">
            <a:avLst/>
          </a:prstGeom>
          <a:noFill/>
        </p:spPr>
        <p:txBody>
          <a:bodyPr vert="horz" wrap="square" lIns="0" tIns="0" rIns="0" bIns="0" rtlCol="0">
            <a:noAutofit/>
          </a:bodyPr>
          <a:lstStyle/>
          <a:p>
            <a:pPr>
              <a:lnSpc>
                <a:spcPct val="115000"/>
              </a:lnSpc>
            </a:pPr>
            <a:r>
              <a:rPr lang="fr-FR" sz="1150">
                <a:solidFill>
                  <a:srgbClr val="9CA9B6"/>
                </a:solidFill>
                <a:latin typeface="Manrope" pitchFamily="2" charset="0"/>
              </a:rPr>
              <a:t>Seul le propriétaire de la boîte mail ouvre le compte.</a:t>
            </a:r>
          </a:p>
        </p:txBody>
      </p:sp>
      <p:cxnSp>
        <p:nvCxnSpPr>
          <p:cNvPr id="18" name="Connecteur droit 17">
            <a:extLst>
              <a:ext uri="{FF2B5EF4-FFF2-40B4-BE49-F238E27FC236}">
                <a16:creationId xmlns:a16="http://schemas.microsoft.com/office/drawing/2014/main" id="{B8E5F6FA-99D0-C2DE-3D59-1A56D9E7522E}"/>
              </a:ext>
            </a:extLst>
          </p:cNvPr>
          <p:cNvCxnSpPr/>
          <p:nvPr/>
        </p:nvCxnSpPr>
        <p:spPr>
          <a:xfrm>
            <a:off x="8661400" y="2844800"/>
            <a:ext cx="203200" cy="0"/>
          </a:xfrm>
          <a:prstGeom prst="line">
            <a:avLst/>
          </a:prstGeom>
          <a:ln w="15875">
            <a:solidFill>
              <a:srgbClr val="9CA9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 coins arrondis 18">
            <a:extLst>
              <a:ext uri="{FF2B5EF4-FFF2-40B4-BE49-F238E27FC236}">
                <a16:creationId xmlns:a16="http://schemas.microsoft.com/office/drawing/2014/main" id="{C9AF8F1F-FCCD-B995-2E84-7BB60DD34A44}"/>
              </a:ext>
            </a:extLst>
          </p:cNvPr>
          <p:cNvSpPr/>
          <p:nvPr/>
        </p:nvSpPr>
        <p:spPr>
          <a:xfrm>
            <a:off x="8915400" y="2032000"/>
            <a:ext cx="2362200" cy="1625600"/>
          </a:xfrm>
          <a:prstGeom prst="roundRect">
            <a:avLst>
              <a:gd name="adj" fmla="val 9375"/>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0" name="ZoneTexte 19">
            <a:extLst>
              <a:ext uri="{FF2B5EF4-FFF2-40B4-BE49-F238E27FC236}">
                <a16:creationId xmlns:a16="http://schemas.microsoft.com/office/drawing/2014/main" id="{18996304-1907-9EFC-5A93-D2401E467A96}"/>
              </a:ext>
            </a:extLst>
          </p:cNvPr>
          <p:cNvSpPr txBox="1"/>
          <p:nvPr/>
        </p:nvSpPr>
        <p:spPr>
          <a:xfrm>
            <a:off x="9144000" y="2235200"/>
            <a:ext cx="508000" cy="369332"/>
          </a:xfrm>
          <a:prstGeom prst="rect">
            <a:avLst/>
          </a:prstGeom>
          <a:noFill/>
        </p:spPr>
        <p:txBody>
          <a:bodyPr vert="horz" wrap="square" lIns="0" tIns="0" rIns="0" bIns="0" rtlCol="0">
            <a:noAutofit/>
          </a:bodyPr>
          <a:lstStyle/>
          <a:p>
            <a:pPr>
              <a:lnSpc>
                <a:spcPct val="115000"/>
              </a:lnSpc>
            </a:pPr>
            <a:r>
              <a:rPr lang="fr-FR" sz="1200">
                <a:solidFill>
                  <a:srgbClr val="A9CCE3"/>
                </a:solidFill>
                <a:latin typeface="Manrope SemiBold" pitchFamily="2" charset="0"/>
              </a:rPr>
              <a:t>04</a:t>
            </a:r>
          </a:p>
        </p:txBody>
      </p:sp>
      <p:sp>
        <p:nvSpPr>
          <p:cNvPr id="21" name="ZoneTexte 20">
            <a:extLst>
              <a:ext uri="{FF2B5EF4-FFF2-40B4-BE49-F238E27FC236}">
                <a16:creationId xmlns:a16="http://schemas.microsoft.com/office/drawing/2014/main" id="{1F762A33-407D-8FBB-43FA-ED42262A802B}"/>
              </a:ext>
            </a:extLst>
          </p:cNvPr>
          <p:cNvSpPr txBox="1"/>
          <p:nvPr/>
        </p:nvSpPr>
        <p:spPr>
          <a:xfrm>
            <a:off x="9144000" y="2514600"/>
            <a:ext cx="2032000" cy="369332"/>
          </a:xfrm>
          <a:prstGeom prst="rect">
            <a:avLst/>
          </a:prstGeom>
          <a:noFill/>
        </p:spPr>
        <p:txBody>
          <a:bodyPr vert="horz" wrap="square" lIns="0" tIns="0" rIns="0" bIns="0" rtlCol="0">
            <a:noAutofit/>
          </a:bodyPr>
          <a:lstStyle/>
          <a:p>
            <a:pPr>
              <a:lnSpc>
                <a:spcPct val="115000"/>
              </a:lnSpc>
            </a:pPr>
            <a:r>
              <a:rPr lang="fr-FR" sz="1550">
                <a:solidFill>
                  <a:srgbClr val="F2F5F8"/>
                </a:solidFill>
                <a:latin typeface="Manrope Medium" pitchFamily="2" charset="0"/>
              </a:rPr>
              <a:t>Connexion</a:t>
            </a:r>
          </a:p>
        </p:txBody>
      </p:sp>
      <p:sp>
        <p:nvSpPr>
          <p:cNvPr id="22" name="ZoneTexte 21">
            <a:extLst>
              <a:ext uri="{FF2B5EF4-FFF2-40B4-BE49-F238E27FC236}">
                <a16:creationId xmlns:a16="http://schemas.microsoft.com/office/drawing/2014/main" id="{105F713E-8E25-A9E9-4601-80877CC5B703}"/>
              </a:ext>
            </a:extLst>
          </p:cNvPr>
          <p:cNvSpPr txBox="1"/>
          <p:nvPr/>
        </p:nvSpPr>
        <p:spPr>
          <a:xfrm>
            <a:off x="9144000" y="2844800"/>
            <a:ext cx="1930400" cy="369332"/>
          </a:xfrm>
          <a:prstGeom prst="rect">
            <a:avLst/>
          </a:prstGeom>
          <a:noFill/>
        </p:spPr>
        <p:txBody>
          <a:bodyPr vert="horz" wrap="square" lIns="0" tIns="0" rIns="0" bIns="0" rtlCol="0">
            <a:noAutofit/>
          </a:bodyPr>
          <a:lstStyle/>
          <a:p>
            <a:pPr>
              <a:lnSpc>
                <a:spcPct val="115000"/>
              </a:lnSpc>
            </a:pPr>
            <a:r>
              <a:rPr lang="fr-FR" sz="1150">
                <a:solidFill>
                  <a:srgbClr val="9CA9B6"/>
                </a:solidFill>
                <a:latin typeface="Manrope" pitchFamily="2" charset="0"/>
              </a:rPr>
              <a:t>Une session sûre, invisible aux scripts.</a:t>
            </a:r>
          </a:p>
        </p:txBody>
      </p:sp>
      <p:sp>
        <p:nvSpPr>
          <p:cNvPr id="23" name="Rectangle 22">
            <a:extLst>
              <a:ext uri="{FF2B5EF4-FFF2-40B4-BE49-F238E27FC236}">
                <a16:creationId xmlns:a16="http://schemas.microsoft.com/office/drawing/2014/main" id="{ADC9E8B4-6310-61C2-F19B-81BDB17B2AFD}"/>
              </a:ext>
            </a:extLst>
          </p:cNvPr>
          <p:cNvSpPr/>
          <p:nvPr/>
        </p:nvSpPr>
        <p:spPr>
          <a:xfrm>
            <a:off x="914400" y="4191000"/>
            <a:ext cx="38100" cy="6858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2013B04E-9F4E-B41F-347B-85CD4FF4BF0D}"/>
              </a:ext>
            </a:extLst>
          </p:cNvPr>
          <p:cNvSpPr txBox="1"/>
          <p:nvPr/>
        </p:nvSpPr>
        <p:spPr>
          <a:xfrm>
            <a:off x="1117600" y="4165600"/>
            <a:ext cx="2413000" cy="369332"/>
          </a:xfrm>
          <a:prstGeom prst="rect">
            <a:avLst/>
          </a:prstGeom>
          <a:noFill/>
        </p:spPr>
        <p:txBody>
          <a:bodyPr vert="horz" wrap="square" lIns="0" tIns="0" rIns="0" bIns="0" rtlCol="0">
            <a:noAutofit/>
          </a:bodyPr>
          <a:lstStyle/>
          <a:p>
            <a:pPr>
              <a:lnSpc>
                <a:spcPct val="105000"/>
              </a:lnSpc>
            </a:pPr>
            <a:r>
              <a:rPr lang="fr-FR" sz="1500">
                <a:solidFill>
                  <a:srgbClr val="F2F5F8"/>
                </a:solidFill>
                <a:latin typeface="Manrope Medium" pitchFamily="2" charset="0"/>
              </a:rPr>
              <a:t>Mots de passe hachés</a:t>
            </a:r>
          </a:p>
        </p:txBody>
      </p:sp>
      <p:sp>
        <p:nvSpPr>
          <p:cNvPr id="25" name="ZoneTexte 24">
            <a:extLst>
              <a:ext uri="{FF2B5EF4-FFF2-40B4-BE49-F238E27FC236}">
                <a16:creationId xmlns:a16="http://schemas.microsoft.com/office/drawing/2014/main" id="{42ACFA26-B0AD-5218-B5ED-813EC5A07918}"/>
              </a:ext>
            </a:extLst>
          </p:cNvPr>
          <p:cNvSpPr txBox="1"/>
          <p:nvPr/>
        </p:nvSpPr>
        <p:spPr>
          <a:xfrm>
            <a:off x="1117600" y="4775200"/>
            <a:ext cx="2413000" cy="369332"/>
          </a:xfrm>
          <a:prstGeom prst="rect">
            <a:avLst/>
          </a:prstGeom>
          <a:noFill/>
        </p:spPr>
        <p:txBody>
          <a:bodyPr vert="horz" wrap="square" lIns="0" tIns="0" rIns="0" bIns="0" rtlCol="0">
            <a:noAutofit/>
          </a:bodyPr>
          <a:lstStyle/>
          <a:p>
            <a:pPr>
              <a:lnSpc>
                <a:spcPct val="115000"/>
              </a:lnSpc>
            </a:pPr>
            <a:r>
              <a:rPr lang="fr-FR" sz="1200">
                <a:solidFill>
                  <a:srgbClr val="9CA9B6"/>
                </a:solidFill>
                <a:latin typeface="Manrope" pitchFamily="2" charset="0"/>
              </a:rPr>
              <a:t>Illisibles, même pour nous.</a:t>
            </a:r>
          </a:p>
        </p:txBody>
      </p:sp>
      <p:sp>
        <p:nvSpPr>
          <p:cNvPr id="26" name="Rectangle 25">
            <a:extLst>
              <a:ext uri="{FF2B5EF4-FFF2-40B4-BE49-F238E27FC236}">
                <a16:creationId xmlns:a16="http://schemas.microsoft.com/office/drawing/2014/main" id="{7BF8C5FE-C0CD-9C79-8141-D168636DDCC4}"/>
              </a:ext>
            </a:extLst>
          </p:cNvPr>
          <p:cNvSpPr/>
          <p:nvPr/>
        </p:nvSpPr>
        <p:spPr>
          <a:xfrm>
            <a:off x="3581400" y="4191000"/>
            <a:ext cx="38100" cy="6858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AE558CB2-0220-70AD-2B4E-6D3D04E38E40}"/>
              </a:ext>
            </a:extLst>
          </p:cNvPr>
          <p:cNvSpPr txBox="1"/>
          <p:nvPr/>
        </p:nvSpPr>
        <p:spPr>
          <a:xfrm>
            <a:off x="3784600" y="4165600"/>
            <a:ext cx="2413000" cy="369332"/>
          </a:xfrm>
          <a:prstGeom prst="rect">
            <a:avLst/>
          </a:prstGeom>
          <a:noFill/>
        </p:spPr>
        <p:txBody>
          <a:bodyPr vert="horz" wrap="square" lIns="0" tIns="0" rIns="0" bIns="0" rtlCol="0">
            <a:noAutofit/>
          </a:bodyPr>
          <a:lstStyle/>
          <a:p>
            <a:pPr>
              <a:lnSpc>
                <a:spcPct val="105000"/>
              </a:lnSpc>
            </a:pPr>
            <a:r>
              <a:rPr lang="fr-FR" sz="1500">
                <a:solidFill>
                  <a:srgbClr val="F2F5F8"/>
                </a:solidFill>
                <a:latin typeface="Manrope Medium" pitchFamily="2" charset="0"/>
              </a:rPr>
              <a:t>Cinq essais, puis pause</a:t>
            </a:r>
          </a:p>
        </p:txBody>
      </p:sp>
      <p:sp>
        <p:nvSpPr>
          <p:cNvPr id="28" name="ZoneTexte 27">
            <a:extLst>
              <a:ext uri="{FF2B5EF4-FFF2-40B4-BE49-F238E27FC236}">
                <a16:creationId xmlns:a16="http://schemas.microsoft.com/office/drawing/2014/main" id="{EACDC883-770F-E659-153F-BDEAD1A0B517}"/>
              </a:ext>
            </a:extLst>
          </p:cNvPr>
          <p:cNvSpPr txBox="1"/>
          <p:nvPr/>
        </p:nvSpPr>
        <p:spPr>
          <a:xfrm>
            <a:off x="3784600" y="4775200"/>
            <a:ext cx="2413000" cy="369332"/>
          </a:xfrm>
          <a:prstGeom prst="rect">
            <a:avLst/>
          </a:prstGeom>
          <a:noFill/>
        </p:spPr>
        <p:txBody>
          <a:bodyPr vert="horz" wrap="square" lIns="0" tIns="0" rIns="0" bIns="0" rtlCol="0">
            <a:noAutofit/>
          </a:bodyPr>
          <a:lstStyle/>
          <a:p>
            <a:pPr>
              <a:lnSpc>
                <a:spcPct val="115000"/>
              </a:lnSpc>
            </a:pPr>
            <a:r>
              <a:rPr lang="fr-FR" sz="1200">
                <a:solidFill>
                  <a:srgbClr val="9CA9B6"/>
                </a:solidFill>
                <a:latin typeface="Manrope" pitchFamily="2" charset="0"/>
              </a:rPr>
              <a:t>Les tentatives en rafale sont bloquées.</a:t>
            </a:r>
          </a:p>
        </p:txBody>
      </p:sp>
      <p:sp>
        <p:nvSpPr>
          <p:cNvPr id="29" name="Rectangle 28">
            <a:extLst>
              <a:ext uri="{FF2B5EF4-FFF2-40B4-BE49-F238E27FC236}">
                <a16:creationId xmlns:a16="http://schemas.microsoft.com/office/drawing/2014/main" id="{44D6A524-8BB1-2D43-12F9-E22018486DA0}"/>
              </a:ext>
            </a:extLst>
          </p:cNvPr>
          <p:cNvSpPr/>
          <p:nvPr/>
        </p:nvSpPr>
        <p:spPr>
          <a:xfrm>
            <a:off x="6248400" y="4191000"/>
            <a:ext cx="38100" cy="6858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0" name="ZoneTexte 29">
            <a:extLst>
              <a:ext uri="{FF2B5EF4-FFF2-40B4-BE49-F238E27FC236}">
                <a16:creationId xmlns:a16="http://schemas.microsoft.com/office/drawing/2014/main" id="{CCACCDCD-9059-383C-5965-17A4206725F6}"/>
              </a:ext>
            </a:extLst>
          </p:cNvPr>
          <p:cNvSpPr txBox="1"/>
          <p:nvPr/>
        </p:nvSpPr>
        <p:spPr>
          <a:xfrm>
            <a:off x="6451600" y="4165600"/>
            <a:ext cx="2413000" cy="369332"/>
          </a:xfrm>
          <a:prstGeom prst="rect">
            <a:avLst/>
          </a:prstGeom>
          <a:noFill/>
        </p:spPr>
        <p:txBody>
          <a:bodyPr vert="horz" wrap="square" lIns="0" tIns="0" rIns="0" bIns="0" rtlCol="0">
            <a:noAutofit/>
          </a:bodyPr>
          <a:lstStyle/>
          <a:p>
            <a:pPr>
              <a:lnSpc>
                <a:spcPct val="105000"/>
              </a:lnSpc>
            </a:pPr>
            <a:r>
              <a:rPr lang="fr-FR" sz="1500">
                <a:solidFill>
                  <a:srgbClr val="F2F5F8"/>
                </a:solidFill>
                <a:latin typeface="Manrope Medium" pitchFamily="2" charset="0"/>
              </a:rPr>
              <a:t>Aucun secret en clair</a:t>
            </a:r>
          </a:p>
        </p:txBody>
      </p:sp>
      <p:sp>
        <p:nvSpPr>
          <p:cNvPr id="31" name="ZoneTexte 30">
            <a:extLst>
              <a:ext uri="{FF2B5EF4-FFF2-40B4-BE49-F238E27FC236}">
                <a16:creationId xmlns:a16="http://schemas.microsoft.com/office/drawing/2014/main" id="{84A98D7A-6D9F-301F-7F38-577907842555}"/>
              </a:ext>
            </a:extLst>
          </p:cNvPr>
          <p:cNvSpPr txBox="1"/>
          <p:nvPr/>
        </p:nvSpPr>
        <p:spPr>
          <a:xfrm>
            <a:off x="6451600" y="4775200"/>
            <a:ext cx="2413000" cy="369332"/>
          </a:xfrm>
          <a:prstGeom prst="rect">
            <a:avLst/>
          </a:prstGeom>
          <a:noFill/>
        </p:spPr>
        <p:txBody>
          <a:bodyPr vert="horz" wrap="square" lIns="0" tIns="0" rIns="0" bIns="0" rtlCol="0">
            <a:noAutofit/>
          </a:bodyPr>
          <a:lstStyle/>
          <a:p>
            <a:pPr>
              <a:lnSpc>
                <a:spcPct val="115000"/>
              </a:lnSpc>
            </a:pPr>
            <a:r>
              <a:rPr lang="fr-FR" sz="1200">
                <a:solidFill>
                  <a:srgbClr val="9CA9B6"/>
                </a:solidFill>
                <a:latin typeface="Manrope" pitchFamily="2" charset="0"/>
              </a:rPr>
              <a:t>Les clés vivent hors du dépôt.</a:t>
            </a:r>
          </a:p>
        </p:txBody>
      </p:sp>
      <p:sp>
        <p:nvSpPr>
          <p:cNvPr id="32" name="Rectangle 31">
            <a:extLst>
              <a:ext uri="{FF2B5EF4-FFF2-40B4-BE49-F238E27FC236}">
                <a16:creationId xmlns:a16="http://schemas.microsoft.com/office/drawing/2014/main" id="{800864E0-70F7-DC99-BDC0-3AC13245F404}"/>
              </a:ext>
            </a:extLst>
          </p:cNvPr>
          <p:cNvSpPr/>
          <p:nvPr/>
        </p:nvSpPr>
        <p:spPr>
          <a:xfrm>
            <a:off x="8915400" y="4191000"/>
            <a:ext cx="38100" cy="6858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3" name="ZoneTexte 32">
            <a:extLst>
              <a:ext uri="{FF2B5EF4-FFF2-40B4-BE49-F238E27FC236}">
                <a16:creationId xmlns:a16="http://schemas.microsoft.com/office/drawing/2014/main" id="{9233C10A-C3B6-3980-0734-561E703C319D}"/>
              </a:ext>
            </a:extLst>
          </p:cNvPr>
          <p:cNvSpPr txBox="1"/>
          <p:nvPr/>
        </p:nvSpPr>
        <p:spPr>
          <a:xfrm>
            <a:off x="9118600" y="4165600"/>
            <a:ext cx="2413000" cy="369332"/>
          </a:xfrm>
          <a:prstGeom prst="rect">
            <a:avLst/>
          </a:prstGeom>
          <a:noFill/>
        </p:spPr>
        <p:txBody>
          <a:bodyPr vert="horz" wrap="square" lIns="0" tIns="0" rIns="0" bIns="0" rtlCol="0">
            <a:noAutofit/>
          </a:bodyPr>
          <a:lstStyle/>
          <a:p>
            <a:pPr>
              <a:lnSpc>
                <a:spcPct val="105000"/>
              </a:lnSpc>
            </a:pPr>
            <a:r>
              <a:rPr lang="fr-FR" sz="1500">
                <a:solidFill>
                  <a:srgbClr val="F2F5F8"/>
                </a:solidFill>
                <a:latin typeface="Manrope Medium" pitchFamily="2" charset="0"/>
              </a:rPr>
              <a:t>Jamais au nom d'un autre</a:t>
            </a:r>
          </a:p>
        </p:txBody>
      </p:sp>
      <p:sp>
        <p:nvSpPr>
          <p:cNvPr id="34" name="ZoneTexte 33">
            <a:extLst>
              <a:ext uri="{FF2B5EF4-FFF2-40B4-BE49-F238E27FC236}">
                <a16:creationId xmlns:a16="http://schemas.microsoft.com/office/drawing/2014/main" id="{F8D4F0C3-B9C5-E257-1DAA-D344BD783961}"/>
              </a:ext>
            </a:extLst>
          </p:cNvPr>
          <p:cNvSpPr txBox="1"/>
          <p:nvPr/>
        </p:nvSpPr>
        <p:spPr>
          <a:xfrm>
            <a:off x="9118600" y="4775200"/>
            <a:ext cx="2413000" cy="369332"/>
          </a:xfrm>
          <a:prstGeom prst="rect">
            <a:avLst/>
          </a:prstGeom>
          <a:noFill/>
        </p:spPr>
        <p:txBody>
          <a:bodyPr vert="horz" wrap="square" lIns="0" tIns="0" rIns="0" bIns="0" rtlCol="0">
            <a:noAutofit/>
          </a:bodyPr>
          <a:lstStyle/>
          <a:p>
            <a:pPr>
              <a:lnSpc>
                <a:spcPct val="115000"/>
              </a:lnSpc>
            </a:pPr>
            <a:r>
              <a:rPr lang="fr-FR" sz="1200">
                <a:solidFill>
                  <a:srgbClr val="9CA9B6"/>
                </a:solidFill>
                <a:latin typeface="Manrope" pitchFamily="2" charset="0"/>
              </a:rPr>
              <a:t>Une adresse déjà connue exige la connexion.</a:t>
            </a:r>
          </a:p>
        </p:txBody>
      </p:sp>
    </p:spTree>
    <p:extLst>
      <p:ext uri="{BB962C8B-B14F-4D97-AF65-F5344CB8AC3E}">
        <p14:creationId xmlns:p14="http://schemas.microsoft.com/office/powerpoint/2010/main" val="2619444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7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37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37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37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nodeType="withEffect">
                                  <p:stCondLst>
                                    <p:cond delay="37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59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59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59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59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nodeType="withEffect">
                                  <p:stCondLst>
                                    <p:cond delay="59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81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81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81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81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81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103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103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grpId="0" nodeType="withEffect">
                                  <p:stCondLst>
                                    <p:cond delay="103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103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125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125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grpId="0" nodeType="withEffect">
                                  <p:stCondLst>
                                    <p:cond delay="125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500"/>
                                        <p:tgtEl>
                                          <p:spTgt spid="25"/>
                                        </p:tgtEl>
                                      </p:cBhvr>
                                    </p:animEffect>
                                  </p:childTnLst>
                                </p:cTn>
                              </p:par>
                              <p:par>
                                <p:cTn id="77" presetID="10" presetClass="entr" presetSubtype="0" fill="hold" grpId="0" nodeType="withEffect">
                                  <p:stCondLst>
                                    <p:cond delay="147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500"/>
                                        <p:tgtEl>
                                          <p:spTgt spid="26"/>
                                        </p:tgtEl>
                                      </p:cBhvr>
                                    </p:animEffect>
                                  </p:childTnLst>
                                </p:cTn>
                              </p:par>
                              <p:par>
                                <p:cTn id="80" presetID="10" presetClass="entr" presetSubtype="0" fill="hold" grpId="0" nodeType="withEffect">
                                  <p:stCondLst>
                                    <p:cond delay="1470"/>
                                  </p:stCondLst>
                                  <p:childTnLst>
                                    <p:set>
                                      <p:cBhvr>
                                        <p:cTn id="81" dur="1" fill="hold">
                                          <p:stCondLst>
                                            <p:cond delay="0"/>
                                          </p:stCondLst>
                                        </p:cTn>
                                        <p:tgtEl>
                                          <p:spTgt spid="27"/>
                                        </p:tgtEl>
                                        <p:attrNameLst>
                                          <p:attrName>style.visibility</p:attrName>
                                        </p:attrNameLst>
                                      </p:cBhvr>
                                      <p:to>
                                        <p:strVal val="visible"/>
                                      </p:to>
                                    </p:set>
                                    <p:animEffect transition="in" filter="fade">
                                      <p:cBhvr>
                                        <p:cTn id="82" dur="500"/>
                                        <p:tgtEl>
                                          <p:spTgt spid="27"/>
                                        </p:tgtEl>
                                      </p:cBhvr>
                                    </p:animEffect>
                                  </p:childTnLst>
                                </p:cTn>
                              </p:par>
                              <p:par>
                                <p:cTn id="83" presetID="10" presetClass="entr" presetSubtype="0" fill="hold" grpId="0" nodeType="withEffect">
                                  <p:stCondLst>
                                    <p:cond delay="1470"/>
                                  </p:stCondLst>
                                  <p:childTnLst>
                                    <p:set>
                                      <p:cBhvr>
                                        <p:cTn id="84" dur="1" fill="hold">
                                          <p:stCondLst>
                                            <p:cond delay="0"/>
                                          </p:stCondLst>
                                        </p:cTn>
                                        <p:tgtEl>
                                          <p:spTgt spid="28"/>
                                        </p:tgtEl>
                                        <p:attrNameLst>
                                          <p:attrName>style.visibility</p:attrName>
                                        </p:attrNameLst>
                                      </p:cBhvr>
                                      <p:to>
                                        <p:strVal val="visible"/>
                                      </p:to>
                                    </p:set>
                                    <p:animEffect transition="in" filter="fade">
                                      <p:cBhvr>
                                        <p:cTn id="85" dur="500"/>
                                        <p:tgtEl>
                                          <p:spTgt spid="28"/>
                                        </p:tgtEl>
                                      </p:cBhvr>
                                    </p:animEffect>
                                  </p:childTnLst>
                                </p:cTn>
                              </p:par>
                              <p:par>
                                <p:cTn id="86" presetID="10" presetClass="entr" presetSubtype="0" fill="hold" grpId="0" nodeType="withEffect">
                                  <p:stCondLst>
                                    <p:cond delay="169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500"/>
                                        <p:tgtEl>
                                          <p:spTgt spid="29"/>
                                        </p:tgtEl>
                                      </p:cBhvr>
                                    </p:animEffect>
                                  </p:childTnLst>
                                </p:cTn>
                              </p:par>
                              <p:par>
                                <p:cTn id="89" presetID="10" presetClass="entr" presetSubtype="0" fill="hold" grpId="0" nodeType="withEffect">
                                  <p:stCondLst>
                                    <p:cond delay="169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500"/>
                                        <p:tgtEl>
                                          <p:spTgt spid="30"/>
                                        </p:tgtEl>
                                      </p:cBhvr>
                                    </p:animEffect>
                                  </p:childTnLst>
                                </p:cTn>
                              </p:par>
                              <p:par>
                                <p:cTn id="92" presetID="10" presetClass="entr" presetSubtype="0" fill="hold" grpId="0" nodeType="withEffect">
                                  <p:stCondLst>
                                    <p:cond delay="1690"/>
                                  </p:stCondLst>
                                  <p:childTnLst>
                                    <p:set>
                                      <p:cBhvr>
                                        <p:cTn id="93" dur="1" fill="hold">
                                          <p:stCondLst>
                                            <p:cond delay="0"/>
                                          </p:stCondLst>
                                        </p:cTn>
                                        <p:tgtEl>
                                          <p:spTgt spid="31"/>
                                        </p:tgtEl>
                                        <p:attrNameLst>
                                          <p:attrName>style.visibility</p:attrName>
                                        </p:attrNameLst>
                                      </p:cBhvr>
                                      <p:to>
                                        <p:strVal val="visible"/>
                                      </p:to>
                                    </p:set>
                                    <p:animEffect transition="in" filter="fade">
                                      <p:cBhvr>
                                        <p:cTn id="94" dur="500"/>
                                        <p:tgtEl>
                                          <p:spTgt spid="31"/>
                                        </p:tgtEl>
                                      </p:cBhvr>
                                    </p:animEffect>
                                  </p:childTnLst>
                                </p:cTn>
                              </p:par>
                              <p:par>
                                <p:cTn id="95" presetID="10" presetClass="entr" presetSubtype="0" fill="hold" grpId="0" nodeType="withEffect">
                                  <p:stCondLst>
                                    <p:cond delay="1910"/>
                                  </p:stCondLst>
                                  <p:childTnLst>
                                    <p:set>
                                      <p:cBhvr>
                                        <p:cTn id="96" dur="1" fill="hold">
                                          <p:stCondLst>
                                            <p:cond delay="0"/>
                                          </p:stCondLst>
                                        </p:cTn>
                                        <p:tgtEl>
                                          <p:spTgt spid="32"/>
                                        </p:tgtEl>
                                        <p:attrNameLst>
                                          <p:attrName>style.visibility</p:attrName>
                                        </p:attrNameLst>
                                      </p:cBhvr>
                                      <p:to>
                                        <p:strVal val="visible"/>
                                      </p:to>
                                    </p:set>
                                    <p:animEffect transition="in" filter="fade">
                                      <p:cBhvr>
                                        <p:cTn id="97" dur="500"/>
                                        <p:tgtEl>
                                          <p:spTgt spid="32"/>
                                        </p:tgtEl>
                                      </p:cBhvr>
                                    </p:animEffect>
                                  </p:childTnLst>
                                </p:cTn>
                              </p:par>
                              <p:par>
                                <p:cTn id="98" presetID="10" presetClass="entr" presetSubtype="0" fill="hold" grpId="0" nodeType="withEffect">
                                  <p:stCondLst>
                                    <p:cond delay="191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childTnLst>
                                </p:cTn>
                              </p:par>
                              <p:par>
                                <p:cTn id="101" presetID="10" presetClass="entr" presetSubtype="0" fill="hold" grpId="0" nodeType="withEffect">
                                  <p:stCondLst>
                                    <p:cond delay="1910"/>
                                  </p:stCondLst>
                                  <p:childTnLst>
                                    <p:set>
                                      <p:cBhvr>
                                        <p:cTn id="102" dur="1" fill="hold">
                                          <p:stCondLst>
                                            <p:cond delay="0"/>
                                          </p:stCondLst>
                                        </p:cTn>
                                        <p:tgtEl>
                                          <p:spTgt spid="34"/>
                                        </p:tgtEl>
                                        <p:attrNameLst>
                                          <p:attrName>style.visibility</p:attrName>
                                        </p:attrNameLst>
                                      </p:cBhvr>
                                      <p:to>
                                        <p:strVal val="visible"/>
                                      </p:to>
                                    </p:set>
                                    <p:animEffect transition="in" filter="fade">
                                      <p:cBhvr>
                                        <p:cTn id="103"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p:bldP spid="9" grpId="0" animBg="1"/>
      <p:bldP spid="10" grpId="0"/>
      <p:bldP spid="11" grpId="0"/>
      <p:bldP spid="12" grpId="0"/>
      <p:bldP spid="14" grpId="0" animBg="1"/>
      <p:bldP spid="15" grpId="0"/>
      <p:bldP spid="16" grpId="0"/>
      <p:bldP spid="17" grpId="0"/>
      <p:bldP spid="19" grpId="0" animBg="1"/>
      <p:bldP spid="20" grpId="0"/>
      <p:bldP spid="21" grpId="0"/>
      <p:bldP spid="22" grpId="0"/>
      <p:bldP spid="23" grpId="0" animBg="1"/>
      <p:bldP spid="24" grpId="0"/>
      <p:bldP spid="25" grpId="0"/>
      <p:bldP spid="26" grpId="0" animBg="1"/>
      <p:bldP spid="27" grpId="0"/>
      <p:bldP spid="28" grpId="0"/>
      <p:bldP spid="29" grpId="0" animBg="1"/>
      <p:bldP spid="30" grpId="0"/>
      <p:bldP spid="31" grpId="0"/>
      <p:bldP spid="32" grpId="0" animBg="1"/>
      <p:bldP spid="33" grpId="0"/>
      <p:bldP spid="3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86A1BC3E-D2DF-5762-B2B3-AA4E870E2280}"/>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PERSONNALISATION</a:t>
            </a:r>
          </a:p>
        </p:txBody>
      </p:sp>
      <p:sp>
        <p:nvSpPr>
          <p:cNvPr id="3" name="ZoneTexte 2">
            <a:extLst>
              <a:ext uri="{FF2B5EF4-FFF2-40B4-BE49-F238E27FC236}">
                <a16:creationId xmlns:a16="http://schemas.microsoft.com/office/drawing/2014/main" id="{1C33A5A5-255F-6AD0-82FD-046DD8A431FB}"/>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200" spc="-50" dirty="0">
                <a:solidFill>
                  <a:srgbClr val="F2F5F8"/>
                </a:solidFill>
                <a:latin typeface="Manrope SemiBold" pitchFamily="2" charset="0"/>
              </a:rPr>
              <a:t>Vous souhaitez personnaliser ? On s'occupe de </a:t>
            </a:r>
            <a:r>
              <a:rPr lang="fr-FR" sz="3200" spc="-50" dirty="0">
                <a:gradFill flip="none" rotWithShape="1">
                  <a:gsLst>
                    <a:gs pos="0">
                      <a:srgbClr val="5A93BF"/>
                    </a:gs>
                    <a:gs pos="100000">
                      <a:srgbClr val="A9CCE3"/>
                    </a:gs>
                  </a:gsLst>
                  <a:lin ang="0" scaled="1"/>
                  <a:tileRect/>
                </a:gradFill>
                <a:latin typeface="Manrope SemiBold" pitchFamily="2" charset="0"/>
              </a:rPr>
              <a:t>tout</a:t>
            </a:r>
            <a:r>
              <a:rPr lang="fr-FR" sz="3200" spc="-50" dirty="0">
                <a:solidFill>
                  <a:srgbClr val="F2F5F8"/>
                </a:solidFill>
                <a:latin typeface="Manrope SemiBold" pitchFamily="2" charset="0"/>
              </a:rPr>
              <a:t>.</a:t>
            </a:r>
          </a:p>
        </p:txBody>
      </p:sp>
      <p:sp>
        <p:nvSpPr>
          <p:cNvPr id="4" name="Rectangle : coins arrondis 3">
            <a:extLst>
              <a:ext uri="{FF2B5EF4-FFF2-40B4-BE49-F238E27FC236}">
                <a16:creationId xmlns:a16="http://schemas.microsoft.com/office/drawing/2014/main" id="{0EEBAC3B-0F3A-D42D-F633-51F075C04F08}"/>
              </a:ext>
            </a:extLst>
          </p:cNvPr>
          <p:cNvSpPr/>
          <p:nvPr/>
        </p:nvSpPr>
        <p:spPr>
          <a:xfrm>
            <a:off x="914400" y="2057400"/>
            <a:ext cx="3200400" cy="1905000"/>
          </a:xfrm>
          <a:prstGeom prst="roundRect">
            <a:avLst>
              <a:gd name="adj" fmla="val 8000"/>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E11E3FA4-A4CD-EEB5-DFB0-65C94495E77E}"/>
              </a:ext>
            </a:extLst>
          </p:cNvPr>
          <p:cNvSpPr txBox="1"/>
          <p:nvPr/>
        </p:nvSpPr>
        <p:spPr>
          <a:xfrm>
            <a:off x="1219200" y="2336800"/>
            <a:ext cx="2667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SemiBold" pitchFamily="2" charset="0"/>
              </a:rPr>
              <a:t>Axel FOLLET</a:t>
            </a:r>
          </a:p>
        </p:txBody>
      </p:sp>
      <p:sp>
        <p:nvSpPr>
          <p:cNvPr id="6" name="ZoneTexte 5">
            <a:extLst>
              <a:ext uri="{FF2B5EF4-FFF2-40B4-BE49-F238E27FC236}">
                <a16:creationId xmlns:a16="http://schemas.microsoft.com/office/drawing/2014/main" id="{FF607C46-00CD-84E3-EB51-56C77BC8F1A6}"/>
              </a:ext>
            </a:extLst>
          </p:cNvPr>
          <p:cNvSpPr txBox="1"/>
          <p:nvPr/>
        </p:nvSpPr>
        <p:spPr>
          <a:xfrm>
            <a:off x="1219200" y="2692400"/>
            <a:ext cx="2667000" cy="369332"/>
          </a:xfrm>
          <a:prstGeom prst="rect">
            <a:avLst/>
          </a:prstGeom>
          <a:noFill/>
        </p:spPr>
        <p:txBody>
          <a:bodyPr vert="horz" wrap="square" lIns="0" tIns="0" rIns="0" bIns="0" rtlCol="0">
            <a:noAutofit/>
          </a:bodyPr>
          <a:lstStyle/>
          <a:p>
            <a:pPr>
              <a:lnSpc>
                <a:spcPct val="115000"/>
              </a:lnSpc>
            </a:pPr>
            <a:r>
              <a:rPr lang="fr-FR" sz="1300">
                <a:solidFill>
                  <a:srgbClr val="A9CCE3"/>
                </a:solidFill>
                <a:latin typeface="Manrope Medium" pitchFamily="2" charset="0"/>
              </a:rPr>
              <a:t>Interface et pilotage</a:t>
            </a:r>
          </a:p>
        </p:txBody>
      </p:sp>
      <p:sp>
        <p:nvSpPr>
          <p:cNvPr id="7" name="ZoneTexte 6">
            <a:extLst>
              <a:ext uri="{FF2B5EF4-FFF2-40B4-BE49-F238E27FC236}">
                <a16:creationId xmlns:a16="http://schemas.microsoft.com/office/drawing/2014/main" id="{C26C6B43-728E-495F-A561-43BA317D7B88}"/>
              </a:ext>
            </a:extLst>
          </p:cNvPr>
          <p:cNvSpPr txBox="1"/>
          <p:nvPr/>
        </p:nvSpPr>
        <p:spPr>
          <a:xfrm>
            <a:off x="1219200" y="3073400"/>
            <a:ext cx="26162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Vos écrans, votre charte, votre parcours candidat.</a:t>
            </a:r>
          </a:p>
        </p:txBody>
      </p:sp>
      <p:sp>
        <p:nvSpPr>
          <p:cNvPr id="8" name="Rectangle : coins arrondis 7">
            <a:extLst>
              <a:ext uri="{FF2B5EF4-FFF2-40B4-BE49-F238E27FC236}">
                <a16:creationId xmlns:a16="http://schemas.microsoft.com/office/drawing/2014/main" id="{83C6BEF0-2161-842A-179A-5E54C3690FD6}"/>
              </a:ext>
            </a:extLst>
          </p:cNvPr>
          <p:cNvSpPr/>
          <p:nvPr/>
        </p:nvSpPr>
        <p:spPr>
          <a:xfrm>
            <a:off x="4495800" y="2057400"/>
            <a:ext cx="3200400" cy="1905000"/>
          </a:xfrm>
          <a:prstGeom prst="roundRect">
            <a:avLst>
              <a:gd name="adj" fmla="val 8000"/>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7D020DB9-0B3E-F995-30C1-BE9ED5B2AC7E}"/>
              </a:ext>
            </a:extLst>
          </p:cNvPr>
          <p:cNvSpPr txBox="1"/>
          <p:nvPr/>
        </p:nvSpPr>
        <p:spPr>
          <a:xfrm>
            <a:off x="4800600" y="2336800"/>
            <a:ext cx="2667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SemiBold" pitchFamily="2" charset="0"/>
              </a:rPr>
              <a:t>Yohan AVRONSART</a:t>
            </a:r>
          </a:p>
        </p:txBody>
      </p:sp>
      <p:sp>
        <p:nvSpPr>
          <p:cNvPr id="10" name="ZoneTexte 9">
            <a:extLst>
              <a:ext uri="{FF2B5EF4-FFF2-40B4-BE49-F238E27FC236}">
                <a16:creationId xmlns:a16="http://schemas.microsoft.com/office/drawing/2014/main" id="{C8CB69AC-9926-F449-CC5D-B957B383B7BF}"/>
              </a:ext>
            </a:extLst>
          </p:cNvPr>
          <p:cNvSpPr txBox="1"/>
          <p:nvPr/>
        </p:nvSpPr>
        <p:spPr>
          <a:xfrm>
            <a:off x="4800600" y="2692400"/>
            <a:ext cx="2667000" cy="369332"/>
          </a:xfrm>
          <a:prstGeom prst="rect">
            <a:avLst/>
          </a:prstGeom>
          <a:noFill/>
        </p:spPr>
        <p:txBody>
          <a:bodyPr vert="horz" wrap="square" lIns="0" tIns="0" rIns="0" bIns="0" rtlCol="0">
            <a:noAutofit/>
          </a:bodyPr>
          <a:lstStyle/>
          <a:p>
            <a:pPr>
              <a:lnSpc>
                <a:spcPct val="115000"/>
              </a:lnSpc>
            </a:pPr>
            <a:r>
              <a:rPr lang="fr-FR" sz="1300">
                <a:solidFill>
                  <a:srgbClr val="A9CCE3"/>
                </a:solidFill>
                <a:latin typeface="Manrope Medium" pitchFamily="2" charset="0"/>
              </a:rPr>
              <a:t>Données et métier</a:t>
            </a:r>
          </a:p>
        </p:txBody>
      </p:sp>
      <p:sp>
        <p:nvSpPr>
          <p:cNvPr id="11" name="ZoneTexte 10">
            <a:extLst>
              <a:ext uri="{FF2B5EF4-FFF2-40B4-BE49-F238E27FC236}">
                <a16:creationId xmlns:a16="http://schemas.microsoft.com/office/drawing/2014/main" id="{6EFFA136-2491-95E4-9CD8-989AE61C75D5}"/>
              </a:ext>
            </a:extLst>
          </p:cNvPr>
          <p:cNvSpPr txBox="1"/>
          <p:nvPr/>
        </p:nvSpPr>
        <p:spPr>
          <a:xfrm>
            <a:off x="4800600" y="3073400"/>
            <a:ext cx="26162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Vos règles de recrutement, vos catégories, vos statuts.</a:t>
            </a:r>
          </a:p>
        </p:txBody>
      </p:sp>
      <p:sp>
        <p:nvSpPr>
          <p:cNvPr id="12" name="Rectangle : coins arrondis 11">
            <a:extLst>
              <a:ext uri="{FF2B5EF4-FFF2-40B4-BE49-F238E27FC236}">
                <a16:creationId xmlns:a16="http://schemas.microsoft.com/office/drawing/2014/main" id="{A29CD14C-AA7A-A636-50DE-6CEC705201A3}"/>
              </a:ext>
            </a:extLst>
          </p:cNvPr>
          <p:cNvSpPr/>
          <p:nvPr/>
        </p:nvSpPr>
        <p:spPr>
          <a:xfrm>
            <a:off x="8077200" y="2057400"/>
            <a:ext cx="3200400" cy="1905000"/>
          </a:xfrm>
          <a:prstGeom prst="roundRect">
            <a:avLst>
              <a:gd name="adj" fmla="val 8000"/>
            </a:avLst>
          </a:prstGeom>
          <a:solidFill>
            <a:srgbClr val="121A23"/>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707266BB-2668-2840-1A71-DE5ADF105CE1}"/>
              </a:ext>
            </a:extLst>
          </p:cNvPr>
          <p:cNvSpPr txBox="1"/>
          <p:nvPr/>
        </p:nvSpPr>
        <p:spPr>
          <a:xfrm>
            <a:off x="8382000" y="2336800"/>
            <a:ext cx="2667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SemiBold" pitchFamily="2" charset="0"/>
              </a:rPr>
              <a:t>Ismail BASSIT</a:t>
            </a:r>
          </a:p>
        </p:txBody>
      </p:sp>
      <p:sp>
        <p:nvSpPr>
          <p:cNvPr id="14" name="ZoneTexte 13">
            <a:extLst>
              <a:ext uri="{FF2B5EF4-FFF2-40B4-BE49-F238E27FC236}">
                <a16:creationId xmlns:a16="http://schemas.microsoft.com/office/drawing/2014/main" id="{69368A14-5D9D-0DB9-7ACE-AB4A146950E2}"/>
              </a:ext>
            </a:extLst>
          </p:cNvPr>
          <p:cNvSpPr txBox="1"/>
          <p:nvPr/>
        </p:nvSpPr>
        <p:spPr>
          <a:xfrm>
            <a:off x="8382000" y="2692400"/>
            <a:ext cx="2667000" cy="369332"/>
          </a:xfrm>
          <a:prstGeom prst="rect">
            <a:avLst/>
          </a:prstGeom>
          <a:noFill/>
        </p:spPr>
        <p:txBody>
          <a:bodyPr vert="horz" wrap="square" lIns="0" tIns="0" rIns="0" bIns="0" rtlCol="0">
            <a:noAutofit/>
          </a:bodyPr>
          <a:lstStyle/>
          <a:p>
            <a:pPr>
              <a:lnSpc>
                <a:spcPct val="115000"/>
              </a:lnSpc>
            </a:pPr>
            <a:r>
              <a:rPr lang="fr-FR" sz="1300">
                <a:solidFill>
                  <a:srgbClr val="A9CCE3"/>
                </a:solidFill>
                <a:latin typeface="Manrope Medium" pitchFamily="2" charset="0"/>
              </a:rPr>
              <a:t>Comptes et sécurité</a:t>
            </a:r>
          </a:p>
        </p:txBody>
      </p:sp>
      <p:sp>
        <p:nvSpPr>
          <p:cNvPr id="15" name="ZoneTexte 14">
            <a:extLst>
              <a:ext uri="{FF2B5EF4-FFF2-40B4-BE49-F238E27FC236}">
                <a16:creationId xmlns:a16="http://schemas.microsoft.com/office/drawing/2014/main" id="{B818ACD5-D9C3-1DE0-89CF-B08885CB38EC}"/>
              </a:ext>
            </a:extLst>
          </p:cNvPr>
          <p:cNvSpPr txBox="1"/>
          <p:nvPr/>
        </p:nvSpPr>
        <p:spPr>
          <a:xfrm>
            <a:off x="8382000" y="3073400"/>
            <a:ext cx="2616200" cy="369332"/>
          </a:xfrm>
          <a:prstGeom prst="rect">
            <a:avLst/>
          </a:prstGeom>
          <a:noFill/>
        </p:spPr>
        <p:txBody>
          <a:bodyPr vert="horz" wrap="square" lIns="0" tIns="0" rIns="0" bIns="0" rtlCol="0">
            <a:noAutofit/>
          </a:bodyPr>
          <a:lstStyle/>
          <a:p>
            <a:pPr>
              <a:lnSpc>
                <a:spcPct val="115000"/>
              </a:lnSpc>
            </a:pPr>
            <a:r>
              <a:rPr lang="fr-FR" sz="1250">
                <a:solidFill>
                  <a:srgbClr val="9CA9B6"/>
                </a:solidFill>
                <a:latin typeface="Manrope" pitchFamily="2" charset="0"/>
              </a:rPr>
              <a:t>Vos accès, vos rôles, vos exigences de confidentialité.</a:t>
            </a:r>
          </a:p>
        </p:txBody>
      </p:sp>
      <p:sp>
        <p:nvSpPr>
          <p:cNvPr id="16" name="ZoneTexte 15">
            <a:extLst>
              <a:ext uri="{FF2B5EF4-FFF2-40B4-BE49-F238E27FC236}">
                <a16:creationId xmlns:a16="http://schemas.microsoft.com/office/drawing/2014/main" id="{697C19BD-73B2-F0D6-3984-20317EB35C2A}"/>
              </a:ext>
            </a:extLst>
          </p:cNvPr>
          <p:cNvSpPr txBox="1"/>
          <p:nvPr/>
        </p:nvSpPr>
        <p:spPr>
          <a:xfrm>
            <a:off x="914400" y="4419600"/>
            <a:ext cx="3200400" cy="369332"/>
          </a:xfrm>
          <a:prstGeom prst="rect">
            <a:avLst/>
          </a:prstGeom>
          <a:noFill/>
        </p:spPr>
        <p:txBody>
          <a:bodyPr vert="horz" wrap="square" lIns="0" tIns="0" rIns="0" bIns="0" rtlCol="0">
            <a:noAutofit/>
          </a:bodyPr>
          <a:lstStyle/>
          <a:p>
            <a:pPr>
              <a:lnSpc>
                <a:spcPct val="115000"/>
              </a:lnSpc>
            </a:pPr>
            <a:r>
              <a:rPr lang="fr-FR" sz="1700">
                <a:solidFill>
                  <a:srgbClr val="F2F5F8"/>
                </a:solidFill>
                <a:latin typeface="Manrope Medium" pitchFamily="2" charset="0"/>
              </a:rPr>
              <a:t>Le matin</a:t>
            </a:r>
          </a:p>
        </p:txBody>
      </p:sp>
      <p:sp>
        <p:nvSpPr>
          <p:cNvPr id="17" name="ZoneTexte 16">
            <a:extLst>
              <a:ext uri="{FF2B5EF4-FFF2-40B4-BE49-F238E27FC236}">
                <a16:creationId xmlns:a16="http://schemas.microsoft.com/office/drawing/2014/main" id="{534F5AD1-FF73-8A69-3B84-CDAB5A014949}"/>
              </a:ext>
            </a:extLst>
          </p:cNvPr>
          <p:cNvSpPr txBox="1"/>
          <p:nvPr/>
        </p:nvSpPr>
        <p:spPr>
          <a:xfrm>
            <a:off x="914400" y="4775200"/>
            <a:ext cx="3048000" cy="369332"/>
          </a:xfrm>
          <a:prstGeom prst="rect">
            <a:avLst/>
          </a:prstGeom>
          <a:noFill/>
        </p:spPr>
        <p:txBody>
          <a:bodyPr vert="horz" wrap="square" lIns="0" tIns="0" rIns="0" bIns="0" rtlCol="0">
            <a:noAutofit/>
          </a:bodyPr>
          <a:lstStyle/>
          <a:p>
            <a:pPr>
              <a:lnSpc>
                <a:spcPct val="115000"/>
              </a:lnSpc>
            </a:pPr>
            <a:r>
              <a:rPr lang="fr-FR" sz="1300">
                <a:solidFill>
                  <a:srgbClr val="9CA9B6"/>
                </a:solidFill>
                <a:latin typeface="Manrope" pitchFamily="2" charset="0"/>
              </a:rPr>
              <a:t>votre demande devient un plan écrit</a:t>
            </a:r>
          </a:p>
        </p:txBody>
      </p:sp>
      <p:cxnSp>
        <p:nvCxnSpPr>
          <p:cNvPr id="18" name="Connecteur droit 17">
            <a:extLst>
              <a:ext uri="{FF2B5EF4-FFF2-40B4-BE49-F238E27FC236}">
                <a16:creationId xmlns:a16="http://schemas.microsoft.com/office/drawing/2014/main" id="{A91E9A77-B62B-99D4-94A7-2A06DF508A97}"/>
              </a:ext>
            </a:extLst>
          </p:cNvPr>
          <p:cNvCxnSpPr/>
          <p:nvPr/>
        </p:nvCxnSpPr>
        <p:spPr>
          <a:xfrm>
            <a:off x="3835400" y="4572000"/>
            <a:ext cx="406400" cy="0"/>
          </a:xfrm>
          <a:prstGeom prst="line">
            <a:avLst/>
          </a:prstGeom>
          <a:ln w="15875">
            <a:solidFill>
              <a:srgbClr val="9CA9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31C6404D-0E0A-6474-A24C-F20EA5075997}"/>
              </a:ext>
            </a:extLst>
          </p:cNvPr>
          <p:cNvSpPr txBox="1"/>
          <p:nvPr/>
        </p:nvSpPr>
        <p:spPr>
          <a:xfrm>
            <a:off x="4495800" y="4419600"/>
            <a:ext cx="3200400" cy="369332"/>
          </a:xfrm>
          <a:prstGeom prst="rect">
            <a:avLst/>
          </a:prstGeom>
          <a:noFill/>
        </p:spPr>
        <p:txBody>
          <a:bodyPr vert="horz" wrap="square" lIns="0" tIns="0" rIns="0" bIns="0" rtlCol="0">
            <a:noAutofit/>
          </a:bodyPr>
          <a:lstStyle/>
          <a:p>
            <a:pPr>
              <a:lnSpc>
                <a:spcPct val="115000"/>
              </a:lnSpc>
            </a:pPr>
            <a:r>
              <a:rPr lang="fr-FR" sz="1700">
                <a:solidFill>
                  <a:srgbClr val="F2F5F8"/>
                </a:solidFill>
                <a:latin typeface="Manrope Medium" pitchFamily="2" charset="0"/>
              </a:rPr>
              <a:t>Le soir</a:t>
            </a:r>
          </a:p>
        </p:txBody>
      </p:sp>
      <p:sp>
        <p:nvSpPr>
          <p:cNvPr id="20" name="ZoneTexte 19">
            <a:extLst>
              <a:ext uri="{FF2B5EF4-FFF2-40B4-BE49-F238E27FC236}">
                <a16:creationId xmlns:a16="http://schemas.microsoft.com/office/drawing/2014/main" id="{466ED05C-062C-88A0-5FFB-C63857BB3145}"/>
              </a:ext>
            </a:extLst>
          </p:cNvPr>
          <p:cNvSpPr txBox="1"/>
          <p:nvPr/>
        </p:nvSpPr>
        <p:spPr>
          <a:xfrm>
            <a:off x="4495800" y="4775200"/>
            <a:ext cx="3048000" cy="369332"/>
          </a:xfrm>
          <a:prstGeom prst="rect">
            <a:avLst/>
          </a:prstGeom>
          <a:noFill/>
        </p:spPr>
        <p:txBody>
          <a:bodyPr vert="horz" wrap="square" lIns="0" tIns="0" rIns="0" bIns="0" rtlCol="0">
            <a:noAutofit/>
          </a:bodyPr>
          <a:lstStyle/>
          <a:p>
            <a:pPr>
              <a:lnSpc>
                <a:spcPct val="115000"/>
              </a:lnSpc>
            </a:pPr>
            <a:r>
              <a:rPr lang="fr-FR" sz="1300">
                <a:solidFill>
                  <a:srgbClr val="9CA9B6"/>
                </a:solidFill>
                <a:latin typeface="Manrope" pitchFamily="2" charset="0"/>
              </a:rPr>
              <a:t>elle est testée et relue</a:t>
            </a:r>
          </a:p>
        </p:txBody>
      </p:sp>
      <p:cxnSp>
        <p:nvCxnSpPr>
          <p:cNvPr id="21" name="Connecteur droit 20">
            <a:extLst>
              <a:ext uri="{FF2B5EF4-FFF2-40B4-BE49-F238E27FC236}">
                <a16:creationId xmlns:a16="http://schemas.microsoft.com/office/drawing/2014/main" id="{F727346B-40D4-AC72-78AC-64E1C333A2F1}"/>
              </a:ext>
            </a:extLst>
          </p:cNvPr>
          <p:cNvCxnSpPr/>
          <p:nvPr/>
        </p:nvCxnSpPr>
        <p:spPr>
          <a:xfrm>
            <a:off x="7416800" y="4572000"/>
            <a:ext cx="406400" cy="0"/>
          </a:xfrm>
          <a:prstGeom prst="line">
            <a:avLst/>
          </a:prstGeom>
          <a:ln w="15875">
            <a:solidFill>
              <a:srgbClr val="9CA9B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ZoneTexte 21">
            <a:extLst>
              <a:ext uri="{FF2B5EF4-FFF2-40B4-BE49-F238E27FC236}">
                <a16:creationId xmlns:a16="http://schemas.microsoft.com/office/drawing/2014/main" id="{C89495BE-D030-A7C9-4788-0BE436BB0D1C}"/>
              </a:ext>
            </a:extLst>
          </p:cNvPr>
          <p:cNvSpPr txBox="1"/>
          <p:nvPr/>
        </p:nvSpPr>
        <p:spPr>
          <a:xfrm>
            <a:off x="8077200" y="4419600"/>
            <a:ext cx="3200400" cy="369332"/>
          </a:xfrm>
          <a:prstGeom prst="rect">
            <a:avLst/>
          </a:prstGeom>
          <a:noFill/>
        </p:spPr>
        <p:txBody>
          <a:bodyPr vert="horz" wrap="square" lIns="0" tIns="0" rIns="0" bIns="0" rtlCol="0">
            <a:noAutofit/>
          </a:bodyPr>
          <a:lstStyle/>
          <a:p>
            <a:pPr>
              <a:lnSpc>
                <a:spcPct val="115000"/>
              </a:lnSpc>
            </a:pPr>
            <a:r>
              <a:rPr lang="fr-FR" sz="1700">
                <a:solidFill>
                  <a:srgbClr val="F2F5F8"/>
                </a:solidFill>
                <a:latin typeface="Manrope Medium" pitchFamily="2" charset="0"/>
              </a:rPr>
              <a:t>Le lendemain</a:t>
            </a:r>
          </a:p>
        </p:txBody>
      </p:sp>
      <p:sp>
        <p:nvSpPr>
          <p:cNvPr id="23" name="ZoneTexte 22">
            <a:extLst>
              <a:ext uri="{FF2B5EF4-FFF2-40B4-BE49-F238E27FC236}">
                <a16:creationId xmlns:a16="http://schemas.microsoft.com/office/drawing/2014/main" id="{82FDA1D8-AE6F-4255-F2AF-47A184943437}"/>
              </a:ext>
            </a:extLst>
          </p:cNvPr>
          <p:cNvSpPr txBox="1"/>
          <p:nvPr/>
        </p:nvSpPr>
        <p:spPr>
          <a:xfrm>
            <a:off x="8077200" y="4775200"/>
            <a:ext cx="3048000" cy="369332"/>
          </a:xfrm>
          <a:prstGeom prst="rect">
            <a:avLst/>
          </a:prstGeom>
          <a:noFill/>
        </p:spPr>
        <p:txBody>
          <a:bodyPr vert="horz" wrap="square" lIns="0" tIns="0" rIns="0" bIns="0" rtlCol="0">
            <a:noAutofit/>
          </a:bodyPr>
          <a:lstStyle/>
          <a:p>
            <a:pPr>
              <a:lnSpc>
                <a:spcPct val="115000"/>
              </a:lnSpc>
            </a:pPr>
            <a:r>
              <a:rPr lang="fr-FR" sz="1300">
                <a:solidFill>
                  <a:srgbClr val="9CA9B6"/>
                </a:solidFill>
                <a:latin typeface="Manrope" pitchFamily="2" charset="0"/>
              </a:rPr>
              <a:t>elle est en ligne</a:t>
            </a:r>
          </a:p>
        </p:txBody>
      </p:sp>
      <p:sp>
        <p:nvSpPr>
          <p:cNvPr id="24" name="ZoneTexte 23">
            <a:extLst>
              <a:ext uri="{FF2B5EF4-FFF2-40B4-BE49-F238E27FC236}">
                <a16:creationId xmlns:a16="http://schemas.microsoft.com/office/drawing/2014/main" id="{560382E2-44DB-F365-9BF3-F9CBE462D1A5}"/>
              </a:ext>
            </a:extLst>
          </p:cNvPr>
          <p:cNvSpPr txBox="1"/>
          <p:nvPr/>
        </p:nvSpPr>
        <p:spPr>
          <a:xfrm>
            <a:off x="914400" y="5537200"/>
            <a:ext cx="10363200" cy="369332"/>
          </a:xfrm>
          <a:prstGeom prst="rect">
            <a:avLst/>
          </a:prstGeom>
          <a:noFill/>
        </p:spPr>
        <p:txBody>
          <a:bodyPr vert="horz" wrap="square" lIns="0" tIns="0" rIns="0" bIns="0" rtlCol="0">
            <a:noAutofit/>
          </a:bodyPr>
          <a:lstStyle/>
          <a:p>
            <a:pPr>
              <a:lnSpc>
                <a:spcPct val="115000"/>
              </a:lnSpc>
            </a:pPr>
            <a:r>
              <a:rPr lang="fr-FR" sz="1600">
                <a:solidFill>
                  <a:srgbClr val="A9CCE3"/>
                </a:solidFill>
                <a:latin typeface="Manrope Medium" pitchFamily="2" charset="0"/>
              </a:rPr>
              <a:t>Trois spécialistes, une seule équipe à contacter.</a:t>
            </a:r>
          </a:p>
        </p:txBody>
      </p:sp>
    </p:spTree>
    <p:extLst>
      <p:ext uri="{BB962C8B-B14F-4D97-AF65-F5344CB8AC3E}">
        <p14:creationId xmlns:p14="http://schemas.microsoft.com/office/powerpoint/2010/main" val="244566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4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4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0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0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0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0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3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3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nodeType="withEffect">
                                  <p:stCondLst>
                                    <p:cond delay="13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par>
                                <p:cTn id="56" presetID="10" presetClass="entr" presetSubtype="0" fill="hold" grpId="0" nodeType="withEffect">
                                  <p:stCondLst>
                                    <p:cond delay="165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par>
                                <p:cTn id="59" presetID="10" presetClass="entr" presetSubtype="0" fill="hold" grpId="0" nodeType="withEffect">
                                  <p:stCondLst>
                                    <p:cond delay="1650"/>
                                  </p:stCondLst>
                                  <p:childTnLst>
                                    <p:set>
                                      <p:cBhvr>
                                        <p:cTn id="60" dur="1" fill="hold">
                                          <p:stCondLst>
                                            <p:cond delay="0"/>
                                          </p:stCondLst>
                                        </p:cTn>
                                        <p:tgtEl>
                                          <p:spTgt spid="20"/>
                                        </p:tgtEl>
                                        <p:attrNameLst>
                                          <p:attrName>style.visibility</p:attrName>
                                        </p:attrNameLst>
                                      </p:cBhvr>
                                      <p:to>
                                        <p:strVal val="visible"/>
                                      </p:to>
                                    </p:set>
                                    <p:animEffect transition="in" filter="fade">
                                      <p:cBhvr>
                                        <p:cTn id="61" dur="500"/>
                                        <p:tgtEl>
                                          <p:spTgt spid="20"/>
                                        </p:tgtEl>
                                      </p:cBhvr>
                                    </p:animEffect>
                                  </p:childTnLst>
                                </p:cTn>
                              </p:par>
                              <p:par>
                                <p:cTn id="62" presetID="10" presetClass="entr" presetSubtype="0" fill="hold" nodeType="withEffect">
                                  <p:stCondLst>
                                    <p:cond delay="1650"/>
                                  </p:stCondLst>
                                  <p:childTnLst>
                                    <p:set>
                                      <p:cBhvr>
                                        <p:cTn id="63" dur="1" fill="hold">
                                          <p:stCondLst>
                                            <p:cond delay="0"/>
                                          </p:stCondLst>
                                        </p:cTn>
                                        <p:tgtEl>
                                          <p:spTgt spid="21"/>
                                        </p:tgtEl>
                                        <p:attrNameLst>
                                          <p:attrName>style.visibility</p:attrName>
                                        </p:attrNameLst>
                                      </p:cBhvr>
                                      <p:to>
                                        <p:strVal val="visible"/>
                                      </p:to>
                                    </p:set>
                                    <p:animEffect transition="in" filter="fade">
                                      <p:cBhvr>
                                        <p:cTn id="64" dur="500"/>
                                        <p:tgtEl>
                                          <p:spTgt spid="21"/>
                                        </p:tgtEl>
                                      </p:cBhvr>
                                    </p:animEffect>
                                  </p:childTnLst>
                                </p:cTn>
                              </p:par>
                              <p:par>
                                <p:cTn id="65" presetID="10" presetClass="entr" presetSubtype="0" fill="hold" grpId="0" nodeType="withEffect">
                                  <p:stCondLst>
                                    <p:cond delay="195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500"/>
                                        <p:tgtEl>
                                          <p:spTgt spid="22"/>
                                        </p:tgtEl>
                                      </p:cBhvr>
                                    </p:animEffect>
                                  </p:childTnLst>
                                </p:cTn>
                              </p:par>
                              <p:par>
                                <p:cTn id="68" presetID="10" presetClass="entr" presetSubtype="0" fill="hold" grpId="0" nodeType="withEffect">
                                  <p:stCondLst>
                                    <p:cond delay="195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par>
                                <p:cTn id="71" presetID="10" presetClass="entr" presetSubtype="0" fill="hold" grpId="0" nodeType="withEffect">
                                  <p:stCondLst>
                                    <p:cond delay="225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animBg="1"/>
      <p:bldP spid="5" grpId="0"/>
      <p:bldP spid="6" grpId="0"/>
      <p:bldP spid="7" grpId="0"/>
      <p:bldP spid="8" grpId="0" animBg="1"/>
      <p:bldP spid="9" grpId="0"/>
      <p:bldP spid="10" grpId="0"/>
      <p:bldP spid="11" grpId="0"/>
      <p:bldP spid="12" grpId="0" animBg="1"/>
      <p:bldP spid="13" grpId="0"/>
      <p:bldP spid="14" grpId="0"/>
      <p:bldP spid="15" grpId="0"/>
      <p:bldP spid="16" grpId="0"/>
      <p:bldP spid="17" grpId="0"/>
      <p:bldP spid="19" grpId="0"/>
      <p:bldP spid="20" grpId="0"/>
      <p:bldP spid="22" grpId="0"/>
      <p:bldP spid="23" grpId="0"/>
      <p:bldP spid="2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1952C92-207F-7FAE-72BD-B82A78524649}"/>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DÉMONSTRATION</a:t>
            </a:r>
          </a:p>
        </p:txBody>
      </p:sp>
      <p:sp>
        <p:nvSpPr>
          <p:cNvPr id="3" name="ZoneTexte 2">
            <a:extLst>
              <a:ext uri="{FF2B5EF4-FFF2-40B4-BE49-F238E27FC236}">
                <a16:creationId xmlns:a16="http://schemas.microsoft.com/office/drawing/2014/main" id="{B79BF206-EA42-D569-936A-A03D88329883}"/>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a:solidFill>
                  <a:srgbClr val="F2F5F8"/>
                </a:solidFill>
                <a:latin typeface="Manrope SemiBold" pitchFamily="2" charset="0"/>
              </a:rPr>
              <a:t>Voyez par </a:t>
            </a:r>
            <a:r>
              <a:rPr lang="fr-FR" sz="3600" spc="-50">
                <a:gradFill flip="none" rotWithShape="1">
                  <a:gsLst>
                    <a:gs pos="0">
                      <a:srgbClr val="5A93BF"/>
                    </a:gs>
                    <a:gs pos="100000">
                      <a:srgbClr val="A9CCE3"/>
                    </a:gs>
                  </a:gsLst>
                  <a:lin ang="0" scaled="1"/>
                  <a:tileRect/>
                </a:gradFill>
                <a:latin typeface="Manrope SemiBold" pitchFamily="2" charset="0"/>
              </a:rPr>
              <a:t>vous-même</a:t>
            </a:r>
            <a:r>
              <a:rPr lang="fr-FR" sz="3600" spc="-50">
                <a:solidFill>
                  <a:srgbClr val="F2F5F8"/>
                </a:solidFill>
                <a:latin typeface="Manrope SemiBold" pitchFamily="2" charset="0"/>
              </a:rPr>
              <a:t>.</a:t>
            </a:r>
          </a:p>
        </p:txBody>
      </p:sp>
      <p:sp>
        <p:nvSpPr>
          <p:cNvPr id="4" name="ZoneTexte 3">
            <a:extLst>
              <a:ext uri="{FF2B5EF4-FFF2-40B4-BE49-F238E27FC236}">
                <a16:creationId xmlns:a16="http://schemas.microsoft.com/office/drawing/2014/main" id="{4AA09A13-534E-1BF8-64E8-9F284B72F429}"/>
              </a:ext>
            </a:extLst>
          </p:cNvPr>
          <p:cNvSpPr txBox="1"/>
          <p:nvPr/>
        </p:nvSpPr>
        <p:spPr>
          <a:xfrm>
            <a:off x="914400" y="2159000"/>
            <a:ext cx="508000" cy="369332"/>
          </a:xfrm>
          <a:prstGeom prst="rect">
            <a:avLst/>
          </a:prstGeom>
          <a:noFill/>
        </p:spPr>
        <p:txBody>
          <a:bodyPr vert="horz" wrap="square" lIns="0" tIns="0" rIns="0" bIns="0" rtlCol="0">
            <a:noAutofit/>
          </a:bodyPr>
          <a:lstStyle/>
          <a:p>
            <a:pPr>
              <a:lnSpc>
                <a:spcPct val="115000"/>
              </a:lnSpc>
            </a:pPr>
            <a:r>
              <a:rPr lang="fr-FR" sz="1500">
                <a:solidFill>
                  <a:srgbClr val="A9CCE3"/>
                </a:solidFill>
                <a:latin typeface="Manrope SemiBold" pitchFamily="2" charset="0"/>
              </a:rPr>
              <a:t>01</a:t>
            </a:r>
          </a:p>
        </p:txBody>
      </p:sp>
      <p:sp>
        <p:nvSpPr>
          <p:cNvPr id="5" name="ZoneTexte 4">
            <a:extLst>
              <a:ext uri="{FF2B5EF4-FFF2-40B4-BE49-F238E27FC236}">
                <a16:creationId xmlns:a16="http://schemas.microsoft.com/office/drawing/2014/main" id="{EF0D1DC9-C773-2AC7-235E-70E4F5369835}"/>
              </a:ext>
            </a:extLst>
          </p:cNvPr>
          <p:cNvSpPr txBox="1"/>
          <p:nvPr/>
        </p:nvSpPr>
        <p:spPr>
          <a:xfrm>
            <a:off x="1524000" y="2120900"/>
            <a:ext cx="8890000" cy="381000"/>
          </a:xfrm>
          <a:prstGeom prst="rect">
            <a:avLst/>
          </a:prstGeom>
          <a:noFill/>
        </p:spPr>
        <p:txBody>
          <a:bodyPr vert="horz" wrap="square" lIns="0" tIns="0" rIns="0" bIns="0" rtlCol="0">
            <a:noAutofit/>
          </a:bodyPr>
          <a:lstStyle/>
          <a:p>
            <a:pPr>
              <a:lnSpc>
                <a:spcPct val="115000"/>
              </a:lnSpc>
            </a:pPr>
            <a:r>
              <a:rPr lang="fr-FR" sz="2100">
                <a:solidFill>
                  <a:srgbClr val="F2F5F8"/>
                </a:solidFill>
                <a:latin typeface="Manrope Medium" pitchFamily="2" charset="0"/>
              </a:rPr>
              <a:t>Trouver une offre et lire son détail</a:t>
            </a:r>
          </a:p>
        </p:txBody>
      </p:sp>
      <p:sp>
        <p:nvSpPr>
          <p:cNvPr id="6" name="Rectangle 5">
            <a:extLst>
              <a:ext uri="{FF2B5EF4-FFF2-40B4-BE49-F238E27FC236}">
                <a16:creationId xmlns:a16="http://schemas.microsoft.com/office/drawing/2014/main" id="{F7360111-4E65-85DF-D7C5-34E17F40CD35}"/>
              </a:ext>
            </a:extLst>
          </p:cNvPr>
          <p:cNvSpPr/>
          <p:nvPr/>
        </p:nvSpPr>
        <p:spPr>
          <a:xfrm>
            <a:off x="914400" y="2616200"/>
            <a:ext cx="103632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ZoneTexte 6">
            <a:extLst>
              <a:ext uri="{FF2B5EF4-FFF2-40B4-BE49-F238E27FC236}">
                <a16:creationId xmlns:a16="http://schemas.microsoft.com/office/drawing/2014/main" id="{82804FF0-174D-CDBB-A031-2233FAD77983}"/>
              </a:ext>
            </a:extLst>
          </p:cNvPr>
          <p:cNvSpPr txBox="1"/>
          <p:nvPr/>
        </p:nvSpPr>
        <p:spPr>
          <a:xfrm>
            <a:off x="914400" y="2870200"/>
            <a:ext cx="508000" cy="369332"/>
          </a:xfrm>
          <a:prstGeom prst="rect">
            <a:avLst/>
          </a:prstGeom>
          <a:noFill/>
        </p:spPr>
        <p:txBody>
          <a:bodyPr vert="horz" wrap="square" lIns="0" tIns="0" rIns="0" bIns="0" rtlCol="0">
            <a:noAutofit/>
          </a:bodyPr>
          <a:lstStyle/>
          <a:p>
            <a:pPr>
              <a:lnSpc>
                <a:spcPct val="115000"/>
              </a:lnSpc>
            </a:pPr>
            <a:r>
              <a:rPr lang="fr-FR" sz="1500">
                <a:solidFill>
                  <a:srgbClr val="A9CCE3"/>
                </a:solidFill>
                <a:latin typeface="Manrope SemiBold" pitchFamily="2" charset="0"/>
              </a:rPr>
              <a:t>02</a:t>
            </a:r>
          </a:p>
        </p:txBody>
      </p:sp>
      <p:sp>
        <p:nvSpPr>
          <p:cNvPr id="8" name="ZoneTexte 7">
            <a:extLst>
              <a:ext uri="{FF2B5EF4-FFF2-40B4-BE49-F238E27FC236}">
                <a16:creationId xmlns:a16="http://schemas.microsoft.com/office/drawing/2014/main" id="{AB41F3AD-BD21-964B-E146-A640C3809E79}"/>
              </a:ext>
            </a:extLst>
          </p:cNvPr>
          <p:cNvSpPr txBox="1"/>
          <p:nvPr/>
        </p:nvSpPr>
        <p:spPr>
          <a:xfrm>
            <a:off x="1524000" y="2832100"/>
            <a:ext cx="8890000" cy="381000"/>
          </a:xfrm>
          <a:prstGeom prst="rect">
            <a:avLst/>
          </a:prstGeom>
          <a:noFill/>
        </p:spPr>
        <p:txBody>
          <a:bodyPr vert="horz" wrap="square" lIns="0" tIns="0" rIns="0" bIns="0" rtlCol="0">
            <a:noAutofit/>
          </a:bodyPr>
          <a:lstStyle/>
          <a:p>
            <a:pPr>
              <a:lnSpc>
                <a:spcPct val="115000"/>
              </a:lnSpc>
            </a:pPr>
            <a:r>
              <a:rPr lang="fr-FR" sz="2100">
                <a:solidFill>
                  <a:srgbClr val="F2F5F8"/>
                </a:solidFill>
                <a:latin typeface="Manrope Medium" pitchFamily="2" charset="0"/>
              </a:rPr>
              <a:t>Postuler, sans compte</a:t>
            </a:r>
          </a:p>
        </p:txBody>
      </p:sp>
      <p:sp>
        <p:nvSpPr>
          <p:cNvPr id="9" name="Rectangle 8">
            <a:extLst>
              <a:ext uri="{FF2B5EF4-FFF2-40B4-BE49-F238E27FC236}">
                <a16:creationId xmlns:a16="http://schemas.microsoft.com/office/drawing/2014/main" id="{5234B607-918B-425B-3396-9DB3A2A656D1}"/>
              </a:ext>
            </a:extLst>
          </p:cNvPr>
          <p:cNvSpPr/>
          <p:nvPr/>
        </p:nvSpPr>
        <p:spPr>
          <a:xfrm>
            <a:off x="914400" y="3327400"/>
            <a:ext cx="103632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79DC2418-D3FA-19ED-102A-0B496A8A9C2C}"/>
              </a:ext>
            </a:extLst>
          </p:cNvPr>
          <p:cNvSpPr txBox="1"/>
          <p:nvPr/>
        </p:nvSpPr>
        <p:spPr>
          <a:xfrm>
            <a:off x="914400" y="3581400"/>
            <a:ext cx="508000" cy="369332"/>
          </a:xfrm>
          <a:prstGeom prst="rect">
            <a:avLst/>
          </a:prstGeom>
          <a:noFill/>
        </p:spPr>
        <p:txBody>
          <a:bodyPr vert="horz" wrap="square" lIns="0" tIns="0" rIns="0" bIns="0" rtlCol="0">
            <a:noAutofit/>
          </a:bodyPr>
          <a:lstStyle/>
          <a:p>
            <a:pPr>
              <a:lnSpc>
                <a:spcPct val="115000"/>
              </a:lnSpc>
            </a:pPr>
            <a:r>
              <a:rPr lang="fr-FR" sz="1500">
                <a:solidFill>
                  <a:srgbClr val="A9CCE3"/>
                </a:solidFill>
                <a:latin typeface="Manrope SemiBold" pitchFamily="2" charset="0"/>
              </a:rPr>
              <a:t>03</a:t>
            </a:r>
          </a:p>
        </p:txBody>
      </p:sp>
      <p:sp>
        <p:nvSpPr>
          <p:cNvPr id="11" name="ZoneTexte 10">
            <a:extLst>
              <a:ext uri="{FF2B5EF4-FFF2-40B4-BE49-F238E27FC236}">
                <a16:creationId xmlns:a16="http://schemas.microsoft.com/office/drawing/2014/main" id="{A5CEEF4C-2485-EAFF-B3E1-F2E249C3D67B}"/>
              </a:ext>
            </a:extLst>
          </p:cNvPr>
          <p:cNvSpPr txBox="1"/>
          <p:nvPr/>
        </p:nvSpPr>
        <p:spPr>
          <a:xfrm>
            <a:off x="1524000" y="3543300"/>
            <a:ext cx="8890000" cy="381000"/>
          </a:xfrm>
          <a:prstGeom prst="rect">
            <a:avLst/>
          </a:prstGeom>
          <a:noFill/>
        </p:spPr>
        <p:txBody>
          <a:bodyPr vert="horz" wrap="square" lIns="0" tIns="0" rIns="0" bIns="0" rtlCol="0">
            <a:noAutofit/>
          </a:bodyPr>
          <a:lstStyle/>
          <a:p>
            <a:pPr>
              <a:lnSpc>
                <a:spcPct val="115000"/>
              </a:lnSpc>
            </a:pPr>
            <a:r>
              <a:rPr lang="fr-FR" sz="2100">
                <a:solidFill>
                  <a:srgbClr val="F2F5F8"/>
                </a:solidFill>
                <a:latin typeface="Manrope Medium" pitchFamily="2" charset="0"/>
              </a:rPr>
              <a:t>Créer un compte et confirmer son adresse</a:t>
            </a:r>
          </a:p>
        </p:txBody>
      </p:sp>
      <p:sp>
        <p:nvSpPr>
          <p:cNvPr id="12" name="Rectangle 11">
            <a:extLst>
              <a:ext uri="{FF2B5EF4-FFF2-40B4-BE49-F238E27FC236}">
                <a16:creationId xmlns:a16="http://schemas.microsoft.com/office/drawing/2014/main" id="{00FE70F1-A4DA-DC6E-91C5-B52AC6B12D74}"/>
              </a:ext>
            </a:extLst>
          </p:cNvPr>
          <p:cNvSpPr/>
          <p:nvPr/>
        </p:nvSpPr>
        <p:spPr>
          <a:xfrm>
            <a:off x="914400" y="4038600"/>
            <a:ext cx="103632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3AAFA6CF-09ED-00C3-C25D-07101DF2C697}"/>
              </a:ext>
            </a:extLst>
          </p:cNvPr>
          <p:cNvSpPr txBox="1"/>
          <p:nvPr/>
        </p:nvSpPr>
        <p:spPr>
          <a:xfrm>
            <a:off x="914400" y="4292600"/>
            <a:ext cx="508000" cy="369332"/>
          </a:xfrm>
          <a:prstGeom prst="rect">
            <a:avLst/>
          </a:prstGeom>
          <a:noFill/>
        </p:spPr>
        <p:txBody>
          <a:bodyPr vert="horz" wrap="square" lIns="0" tIns="0" rIns="0" bIns="0" rtlCol="0">
            <a:noAutofit/>
          </a:bodyPr>
          <a:lstStyle/>
          <a:p>
            <a:pPr>
              <a:lnSpc>
                <a:spcPct val="115000"/>
              </a:lnSpc>
            </a:pPr>
            <a:r>
              <a:rPr lang="fr-FR" sz="1500">
                <a:solidFill>
                  <a:srgbClr val="A9CCE3"/>
                </a:solidFill>
                <a:latin typeface="Manrope SemiBold" pitchFamily="2" charset="0"/>
              </a:rPr>
              <a:t>04</a:t>
            </a:r>
          </a:p>
        </p:txBody>
      </p:sp>
      <p:sp>
        <p:nvSpPr>
          <p:cNvPr id="14" name="ZoneTexte 13">
            <a:extLst>
              <a:ext uri="{FF2B5EF4-FFF2-40B4-BE49-F238E27FC236}">
                <a16:creationId xmlns:a16="http://schemas.microsoft.com/office/drawing/2014/main" id="{B80589C9-7E51-1CC2-AF1F-2CEFCB23163E}"/>
              </a:ext>
            </a:extLst>
          </p:cNvPr>
          <p:cNvSpPr txBox="1"/>
          <p:nvPr/>
        </p:nvSpPr>
        <p:spPr>
          <a:xfrm>
            <a:off x="1524000" y="4254500"/>
            <a:ext cx="8890000" cy="381000"/>
          </a:xfrm>
          <a:prstGeom prst="rect">
            <a:avLst/>
          </a:prstGeom>
          <a:noFill/>
        </p:spPr>
        <p:txBody>
          <a:bodyPr vert="horz" wrap="square" lIns="0" tIns="0" rIns="0" bIns="0" rtlCol="0">
            <a:noAutofit/>
          </a:bodyPr>
          <a:lstStyle/>
          <a:p>
            <a:pPr>
              <a:lnSpc>
                <a:spcPct val="115000"/>
              </a:lnSpc>
            </a:pPr>
            <a:r>
              <a:rPr lang="fr-FR" sz="2100">
                <a:solidFill>
                  <a:srgbClr val="F2F5F8"/>
                </a:solidFill>
                <a:latin typeface="Manrope Medium" pitchFamily="2" charset="0"/>
              </a:rPr>
              <a:t>Retrouver ses candidatures et leur état</a:t>
            </a:r>
          </a:p>
        </p:txBody>
      </p:sp>
      <p:sp>
        <p:nvSpPr>
          <p:cNvPr id="15" name="Rectangle 14">
            <a:extLst>
              <a:ext uri="{FF2B5EF4-FFF2-40B4-BE49-F238E27FC236}">
                <a16:creationId xmlns:a16="http://schemas.microsoft.com/office/drawing/2014/main" id="{BEBBE369-397F-3D4F-FEAF-132EC2F5FA38}"/>
              </a:ext>
            </a:extLst>
          </p:cNvPr>
          <p:cNvSpPr/>
          <p:nvPr/>
        </p:nvSpPr>
        <p:spPr>
          <a:xfrm>
            <a:off x="914400" y="4749800"/>
            <a:ext cx="103632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04110B85-601A-0DD5-1F49-F34E3E22B1FA}"/>
              </a:ext>
            </a:extLst>
          </p:cNvPr>
          <p:cNvSpPr txBox="1"/>
          <p:nvPr/>
        </p:nvSpPr>
        <p:spPr>
          <a:xfrm>
            <a:off x="914400" y="5003800"/>
            <a:ext cx="508000" cy="369332"/>
          </a:xfrm>
          <a:prstGeom prst="rect">
            <a:avLst/>
          </a:prstGeom>
          <a:noFill/>
        </p:spPr>
        <p:txBody>
          <a:bodyPr vert="horz" wrap="square" lIns="0" tIns="0" rIns="0" bIns="0" rtlCol="0">
            <a:noAutofit/>
          </a:bodyPr>
          <a:lstStyle/>
          <a:p>
            <a:pPr>
              <a:lnSpc>
                <a:spcPct val="115000"/>
              </a:lnSpc>
            </a:pPr>
            <a:r>
              <a:rPr lang="fr-FR" sz="1500">
                <a:solidFill>
                  <a:srgbClr val="A9CCE3"/>
                </a:solidFill>
                <a:latin typeface="Manrope SemiBold" pitchFamily="2" charset="0"/>
              </a:rPr>
              <a:t>05</a:t>
            </a:r>
          </a:p>
        </p:txBody>
      </p:sp>
      <p:sp>
        <p:nvSpPr>
          <p:cNvPr id="17" name="ZoneTexte 16">
            <a:extLst>
              <a:ext uri="{FF2B5EF4-FFF2-40B4-BE49-F238E27FC236}">
                <a16:creationId xmlns:a16="http://schemas.microsoft.com/office/drawing/2014/main" id="{D03E69CE-2649-721F-467A-4FEB04133431}"/>
              </a:ext>
            </a:extLst>
          </p:cNvPr>
          <p:cNvSpPr txBox="1"/>
          <p:nvPr/>
        </p:nvSpPr>
        <p:spPr>
          <a:xfrm>
            <a:off x="1524000" y="4965700"/>
            <a:ext cx="8890000" cy="381000"/>
          </a:xfrm>
          <a:prstGeom prst="rect">
            <a:avLst/>
          </a:prstGeom>
          <a:noFill/>
        </p:spPr>
        <p:txBody>
          <a:bodyPr vert="horz" wrap="square" lIns="0" tIns="0" rIns="0" bIns="0" rtlCol="0">
            <a:noAutofit/>
          </a:bodyPr>
          <a:lstStyle/>
          <a:p>
            <a:pPr>
              <a:lnSpc>
                <a:spcPct val="115000"/>
              </a:lnSpc>
            </a:pPr>
            <a:r>
              <a:rPr lang="fr-FR" sz="2100">
                <a:solidFill>
                  <a:srgbClr val="F2F5F8"/>
                </a:solidFill>
                <a:latin typeface="Manrope Medium" pitchFamily="2" charset="0"/>
              </a:rPr>
              <a:t>Administrer la plateforme</a:t>
            </a:r>
          </a:p>
        </p:txBody>
      </p:sp>
      <p:sp>
        <p:nvSpPr>
          <p:cNvPr id="18" name="Rectangle 17">
            <a:extLst>
              <a:ext uri="{FF2B5EF4-FFF2-40B4-BE49-F238E27FC236}">
                <a16:creationId xmlns:a16="http://schemas.microsoft.com/office/drawing/2014/main" id="{17B321E9-A4C1-08A8-D14F-B0AFC04C95B4}"/>
              </a:ext>
            </a:extLst>
          </p:cNvPr>
          <p:cNvSpPr/>
          <p:nvPr/>
        </p:nvSpPr>
        <p:spPr>
          <a:xfrm>
            <a:off x="914400" y="5461000"/>
            <a:ext cx="10363200" cy="9525"/>
          </a:xfrm>
          <a:prstGeom prst="rect">
            <a:avLst/>
          </a:prstGeom>
          <a:solidFill>
            <a:srgbClr val="24304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617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3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3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p:stCondLst>
                                    <p:cond delay="3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p:stCondLst>
                                    <p:cond delay="55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5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5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p:stCondLst>
                                    <p:cond delay="7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7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7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9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9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9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1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1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par>
                                <p:cTn id="53" presetID="10" presetClass="entr" presetSubtype="0" fill="hold" grpId="0" nodeType="withEffect">
                                  <p:stCondLst>
                                    <p:cond delay="115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animBg="1"/>
      <p:bldP spid="7" grpId="0"/>
      <p:bldP spid="8" grpId="0"/>
      <p:bldP spid="9" grpId="0" animBg="1"/>
      <p:bldP spid="10" grpId="0"/>
      <p:bldP spid="11" grpId="0"/>
      <p:bldP spid="12" grpId="0" animBg="1"/>
      <p:bldP spid="13" grpId="0"/>
      <p:bldP spid="14" grpId="0"/>
      <p:bldP spid="15" grpId="0" animBg="1"/>
      <p:bldP spid="16" grpId="0"/>
      <p:bldP spid="17" grpId="0"/>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016"/>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3A74D5E-6F25-BE2A-DBB0-2DA863D880CF}"/>
              </a:ext>
            </a:extLst>
          </p:cNvPr>
          <p:cNvSpPr txBox="1"/>
          <p:nvPr/>
        </p:nvSpPr>
        <p:spPr>
          <a:xfrm>
            <a:off x="914400" y="711200"/>
            <a:ext cx="10363200" cy="369332"/>
          </a:xfrm>
          <a:prstGeom prst="rect">
            <a:avLst/>
          </a:prstGeom>
          <a:noFill/>
        </p:spPr>
        <p:txBody>
          <a:bodyPr vert="horz" wrap="square" lIns="0" tIns="0" rIns="0" bIns="0" rtlCol="0">
            <a:noAutofit/>
          </a:bodyPr>
          <a:lstStyle/>
          <a:p>
            <a:pPr>
              <a:lnSpc>
                <a:spcPct val="115000"/>
              </a:lnSpc>
            </a:pPr>
            <a:r>
              <a:rPr lang="fr-FR" sz="1100" spc="260">
                <a:solidFill>
                  <a:srgbClr val="A9CCE3"/>
                </a:solidFill>
                <a:latin typeface="Manrope SemiBold" pitchFamily="2" charset="0"/>
              </a:rPr>
              <a:t>POUR ALLER PLUS LOIN</a:t>
            </a:r>
          </a:p>
        </p:txBody>
      </p:sp>
      <p:sp>
        <p:nvSpPr>
          <p:cNvPr id="3" name="ZoneTexte 2">
            <a:extLst>
              <a:ext uri="{FF2B5EF4-FFF2-40B4-BE49-F238E27FC236}">
                <a16:creationId xmlns:a16="http://schemas.microsoft.com/office/drawing/2014/main" id="{0A56B22C-41DC-B7A6-5E06-4F578D44ADF4}"/>
              </a:ext>
            </a:extLst>
          </p:cNvPr>
          <p:cNvSpPr txBox="1"/>
          <p:nvPr/>
        </p:nvSpPr>
        <p:spPr>
          <a:xfrm>
            <a:off x="914400" y="990600"/>
            <a:ext cx="10363200" cy="369332"/>
          </a:xfrm>
          <a:prstGeom prst="rect">
            <a:avLst/>
          </a:prstGeom>
          <a:noFill/>
        </p:spPr>
        <p:txBody>
          <a:bodyPr vert="horz" wrap="square" lIns="0" tIns="0" rIns="0" bIns="0" rtlCol="0">
            <a:noAutofit/>
          </a:bodyPr>
          <a:lstStyle/>
          <a:p>
            <a:r>
              <a:rPr lang="fr-FR" sz="3600" spc="-50" dirty="0">
                <a:solidFill>
                  <a:srgbClr val="F2F5F8"/>
                </a:solidFill>
                <a:latin typeface="Manrope SemiBold" pitchFamily="2" charset="0"/>
              </a:rPr>
              <a:t>Des données qui vont vous </a:t>
            </a:r>
            <a:r>
              <a:rPr lang="fr-FR" sz="3600" spc="-50" dirty="0">
                <a:gradFill flip="none" rotWithShape="1">
                  <a:gsLst>
                    <a:gs pos="0">
                      <a:srgbClr val="5A93BF"/>
                    </a:gs>
                    <a:gs pos="100000">
                      <a:srgbClr val="A9CCE3"/>
                    </a:gs>
                  </a:gsLst>
                  <a:lin ang="0" scaled="1"/>
                  <a:tileRect/>
                </a:gradFill>
                <a:latin typeface="Manrope SemiBold" pitchFamily="2" charset="0"/>
              </a:rPr>
              <a:t>convaincre</a:t>
            </a:r>
            <a:r>
              <a:rPr lang="fr-FR" sz="3600" spc="-50" dirty="0">
                <a:solidFill>
                  <a:srgbClr val="F2F5F8"/>
                </a:solidFill>
                <a:latin typeface="Manrope SemiBold" pitchFamily="2" charset="0"/>
              </a:rPr>
              <a:t>.</a:t>
            </a:r>
          </a:p>
        </p:txBody>
      </p:sp>
      <p:sp>
        <p:nvSpPr>
          <p:cNvPr id="4" name="ZoneTexte 3">
            <a:extLst>
              <a:ext uri="{FF2B5EF4-FFF2-40B4-BE49-F238E27FC236}">
                <a16:creationId xmlns:a16="http://schemas.microsoft.com/office/drawing/2014/main" id="{D0181DF8-C271-20FC-5CC8-8F79D8CC31EF}"/>
              </a:ext>
            </a:extLst>
          </p:cNvPr>
          <p:cNvSpPr txBox="1"/>
          <p:nvPr/>
        </p:nvSpPr>
        <p:spPr>
          <a:xfrm>
            <a:off x="914400" y="2108200"/>
            <a:ext cx="3302000" cy="369332"/>
          </a:xfrm>
          <a:prstGeom prst="rect">
            <a:avLst/>
          </a:prstGeom>
          <a:noFill/>
        </p:spPr>
        <p:txBody>
          <a:bodyPr vert="horz" wrap="square" lIns="0" tIns="0" rIns="0" bIns="0" rtlCol="0">
            <a:noAutofit/>
          </a:bodyPr>
          <a:lstStyle/>
          <a:p>
            <a:r>
              <a:rPr lang="fr-FR" sz="4800" dirty="0">
                <a:solidFill>
                  <a:srgbClr val="F2F5F8"/>
                </a:solidFill>
                <a:latin typeface="Manrope SemiBold" pitchFamily="2" charset="0"/>
              </a:rPr>
              <a:t>3</a:t>
            </a:r>
          </a:p>
        </p:txBody>
      </p:sp>
      <p:sp>
        <p:nvSpPr>
          <p:cNvPr id="5" name="ZoneTexte 4">
            <a:extLst>
              <a:ext uri="{FF2B5EF4-FFF2-40B4-BE49-F238E27FC236}">
                <a16:creationId xmlns:a16="http://schemas.microsoft.com/office/drawing/2014/main" id="{EDA1ECDA-1497-45CD-BD74-2CEC64A70AEC}"/>
              </a:ext>
            </a:extLst>
          </p:cNvPr>
          <p:cNvSpPr txBox="1"/>
          <p:nvPr/>
        </p:nvSpPr>
        <p:spPr>
          <a:xfrm>
            <a:off x="914400" y="2921000"/>
            <a:ext cx="3302000" cy="369332"/>
          </a:xfrm>
          <a:prstGeom prst="rect">
            <a:avLst/>
          </a:prstGeom>
          <a:noFill/>
        </p:spPr>
        <p:txBody>
          <a:bodyPr vert="horz" wrap="square" lIns="0" tIns="0" rIns="0" bIns="0" rtlCol="0">
            <a:noAutofit/>
          </a:bodyPr>
          <a:lstStyle/>
          <a:p>
            <a:pPr>
              <a:lnSpc>
                <a:spcPct val="115000"/>
              </a:lnSpc>
            </a:pPr>
            <a:r>
              <a:rPr lang="fr-FR" sz="1600" dirty="0">
                <a:solidFill>
                  <a:srgbClr val="A9CCE3"/>
                </a:solidFill>
                <a:latin typeface="Manrope Medium" pitchFamily="2" charset="0"/>
              </a:rPr>
              <a:t>Documents sur nos choix techniques</a:t>
            </a:r>
          </a:p>
        </p:txBody>
      </p:sp>
      <p:sp>
        <p:nvSpPr>
          <p:cNvPr id="6" name="ZoneTexte 5">
            <a:extLst>
              <a:ext uri="{FF2B5EF4-FFF2-40B4-BE49-F238E27FC236}">
                <a16:creationId xmlns:a16="http://schemas.microsoft.com/office/drawing/2014/main" id="{83971BEE-3FA5-59E8-95BD-17AD400FE8DB}"/>
              </a:ext>
            </a:extLst>
          </p:cNvPr>
          <p:cNvSpPr txBox="1"/>
          <p:nvPr/>
        </p:nvSpPr>
        <p:spPr>
          <a:xfrm>
            <a:off x="914400" y="3225800"/>
            <a:ext cx="3175000" cy="369332"/>
          </a:xfrm>
          <a:prstGeom prst="rect">
            <a:avLst/>
          </a:prstGeom>
          <a:noFill/>
        </p:spPr>
        <p:txBody>
          <a:bodyPr vert="horz" wrap="square" lIns="0" tIns="0" rIns="0" bIns="0" rtlCol="0">
            <a:noAutofit/>
          </a:bodyPr>
          <a:lstStyle/>
          <a:p>
            <a:pPr>
              <a:lnSpc>
                <a:spcPct val="115000"/>
              </a:lnSpc>
            </a:pPr>
            <a:endParaRPr lang="fr-FR" sz="1200" dirty="0">
              <a:solidFill>
                <a:srgbClr val="9CA9B6"/>
              </a:solidFill>
              <a:latin typeface="Manrope" pitchFamily="2" charset="0"/>
            </a:endParaRPr>
          </a:p>
        </p:txBody>
      </p:sp>
      <p:sp>
        <p:nvSpPr>
          <p:cNvPr id="7" name="ZoneTexte 6">
            <a:extLst>
              <a:ext uri="{FF2B5EF4-FFF2-40B4-BE49-F238E27FC236}">
                <a16:creationId xmlns:a16="http://schemas.microsoft.com/office/drawing/2014/main" id="{F926D2D8-F79B-DC39-A73B-C1C0008B2F0D}"/>
              </a:ext>
            </a:extLst>
          </p:cNvPr>
          <p:cNvSpPr txBox="1"/>
          <p:nvPr/>
        </p:nvSpPr>
        <p:spPr>
          <a:xfrm>
            <a:off x="4470400" y="2108200"/>
            <a:ext cx="3302000" cy="369332"/>
          </a:xfrm>
          <a:prstGeom prst="rect">
            <a:avLst/>
          </a:prstGeom>
          <a:noFill/>
        </p:spPr>
        <p:txBody>
          <a:bodyPr vert="horz" wrap="square" lIns="0" tIns="0" rIns="0" bIns="0" rtlCol="0">
            <a:noAutofit/>
          </a:bodyPr>
          <a:lstStyle/>
          <a:p>
            <a:endParaRPr lang="fr-FR" sz="4800" dirty="0">
              <a:solidFill>
                <a:srgbClr val="F2F5F8"/>
              </a:solidFill>
              <a:latin typeface="Manrope SemiBold" pitchFamily="2" charset="0"/>
            </a:endParaRPr>
          </a:p>
        </p:txBody>
      </p:sp>
      <p:sp>
        <p:nvSpPr>
          <p:cNvPr id="8" name="ZoneTexte 7">
            <a:extLst>
              <a:ext uri="{FF2B5EF4-FFF2-40B4-BE49-F238E27FC236}">
                <a16:creationId xmlns:a16="http://schemas.microsoft.com/office/drawing/2014/main" id="{C76DBFF5-2D56-D501-5D99-C1394B92F06A}"/>
              </a:ext>
            </a:extLst>
          </p:cNvPr>
          <p:cNvSpPr txBox="1"/>
          <p:nvPr/>
        </p:nvSpPr>
        <p:spPr>
          <a:xfrm>
            <a:off x="4470400" y="2108200"/>
            <a:ext cx="1625600" cy="369332"/>
          </a:xfrm>
          <a:prstGeom prst="rect">
            <a:avLst/>
          </a:prstGeom>
          <a:noFill/>
        </p:spPr>
        <p:txBody>
          <a:bodyPr vert="horz" wrap="square" lIns="0" tIns="0" rIns="0" bIns="0" rtlCol="0">
            <a:noAutofit/>
          </a:bodyPr>
          <a:lstStyle/>
          <a:p>
            <a:pPr>
              <a:lnSpc>
                <a:spcPct val="115000"/>
              </a:lnSpc>
            </a:pPr>
            <a:r>
              <a:rPr lang="fr-FR" sz="2000" dirty="0">
                <a:solidFill>
                  <a:srgbClr val="A9CCE3"/>
                </a:solidFill>
                <a:latin typeface="Manrope Medium" pitchFamily="2" charset="0"/>
              </a:rPr>
              <a:t>Cadre légal défini</a:t>
            </a:r>
          </a:p>
        </p:txBody>
      </p:sp>
      <p:sp>
        <p:nvSpPr>
          <p:cNvPr id="9" name="ZoneTexte 8">
            <a:extLst>
              <a:ext uri="{FF2B5EF4-FFF2-40B4-BE49-F238E27FC236}">
                <a16:creationId xmlns:a16="http://schemas.microsoft.com/office/drawing/2014/main" id="{C067B3FA-9455-35EC-6FE4-6ABA2949F60D}"/>
              </a:ext>
            </a:extLst>
          </p:cNvPr>
          <p:cNvSpPr txBox="1"/>
          <p:nvPr/>
        </p:nvSpPr>
        <p:spPr>
          <a:xfrm>
            <a:off x="4470400" y="2921000"/>
            <a:ext cx="3175000" cy="369332"/>
          </a:xfrm>
          <a:prstGeom prst="rect">
            <a:avLst/>
          </a:prstGeom>
          <a:noFill/>
        </p:spPr>
        <p:txBody>
          <a:bodyPr vert="horz" wrap="square" lIns="0" tIns="0" rIns="0" bIns="0" rtlCol="0">
            <a:noAutofit/>
          </a:bodyPr>
          <a:lstStyle/>
          <a:p>
            <a:pPr>
              <a:lnSpc>
                <a:spcPct val="115000"/>
              </a:lnSpc>
            </a:pPr>
            <a:r>
              <a:rPr lang="fr-FR" sz="1200" dirty="0">
                <a:solidFill>
                  <a:srgbClr val="9CA9B6"/>
                </a:solidFill>
                <a:latin typeface="Manrope" pitchFamily="2" charset="0"/>
              </a:rPr>
              <a:t>Contrat API et encart "Mentions légales et données personnelles"</a:t>
            </a:r>
          </a:p>
        </p:txBody>
      </p:sp>
      <p:sp>
        <p:nvSpPr>
          <p:cNvPr id="10" name="ZoneTexte 9">
            <a:extLst>
              <a:ext uri="{FF2B5EF4-FFF2-40B4-BE49-F238E27FC236}">
                <a16:creationId xmlns:a16="http://schemas.microsoft.com/office/drawing/2014/main" id="{3D42C13E-D061-6212-514C-2B5DEA2C6CB5}"/>
              </a:ext>
            </a:extLst>
          </p:cNvPr>
          <p:cNvSpPr txBox="1"/>
          <p:nvPr/>
        </p:nvSpPr>
        <p:spPr>
          <a:xfrm>
            <a:off x="8026400" y="2108200"/>
            <a:ext cx="1849120" cy="369332"/>
          </a:xfrm>
          <a:prstGeom prst="rect">
            <a:avLst/>
          </a:prstGeom>
          <a:noFill/>
        </p:spPr>
        <p:txBody>
          <a:bodyPr vert="horz" wrap="square" lIns="0" tIns="0" rIns="0" bIns="0" rtlCol="0">
            <a:noAutofit/>
          </a:bodyPr>
          <a:lstStyle/>
          <a:p>
            <a:endParaRPr lang="fr-FR" sz="4800" dirty="0">
              <a:solidFill>
                <a:srgbClr val="F2F5F8"/>
              </a:solidFill>
              <a:latin typeface="Manrope SemiBold" pitchFamily="2" charset="0"/>
            </a:endParaRPr>
          </a:p>
        </p:txBody>
      </p:sp>
      <p:sp>
        <p:nvSpPr>
          <p:cNvPr id="11" name="ZoneTexte 10">
            <a:extLst>
              <a:ext uri="{FF2B5EF4-FFF2-40B4-BE49-F238E27FC236}">
                <a16:creationId xmlns:a16="http://schemas.microsoft.com/office/drawing/2014/main" id="{964D72AC-4CCF-74ED-409B-644DE9DF4721}"/>
              </a:ext>
            </a:extLst>
          </p:cNvPr>
          <p:cNvSpPr txBox="1"/>
          <p:nvPr/>
        </p:nvSpPr>
        <p:spPr>
          <a:xfrm>
            <a:off x="8026400" y="2108200"/>
            <a:ext cx="1849120" cy="369332"/>
          </a:xfrm>
          <a:prstGeom prst="rect">
            <a:avLst/>
          </a:prstGeom>
          <a:noFill/>
        </p:spPr>
        <p:txBody>
          <a:bodyPr vert="horz" wrap="square" lIns="0" tIns="0" rIns="0" bIns="0" rtlCol="0">
            <a:noAutofit/>
          </a:bodyPr>
          <a:lstStyle>
            <a:defPPr>
              <a:defRPr lang="fr-FR"/>
            </a:defPPr>
            <a:lvl1pPr>
              <a:lnSpc>
                <a:spcPct val="115000"/>
              </a:lnSpc>
              <a:defRPr sz="2000">
                <a:solidFill>
                  <a:srgbClr val="A9CCE3"/>
                </a:solidFill>
                <a:latin typeface="Manrope Medium" pitchFamily="2" charset="0"/>
              </a:defRPr>
            </a:lvl1pPr>
          </a:lstStyle>
          <a:p>
            <a:r>
              <a:rPr lang="fr-FR" dirty="0"/>
              <a:t>Une entreprise moderne</a:t>
            </a:r>
          </a:p>
        </p:txBody>
      </p:sp>
      <p:sp>
        <p:nvSpPr>
          <p:cNvPr id="12" name="ZoneTexte 11">
            <a:extLst>
              <a:ext uri="{FF2B5EF4-FFF2-40B4-BE49-F238E27FC236}">
                <a16:creationId xmlns:a16="http://schemas.microsoft.com/office/drawing/2014/main" id="{76C28A6D-22D2-7A1D-510D-B9021999BBBC}"/>
              </a:ext>
            </a:extLst>
          </p:cNvPr>
          <p:cNvSpPr txBox="1"/>
          <p:nvPr/>
        </p:nvSpPr>
        <p:spPr>
          <a:xfrm>
            <a:off x="8026400" y="2921000"/>
            <a:ext cx="3175000" cy="369332"/>
          </a:xfrm>
          <a:prstGeom prst="rect">
            <a:avLst/>
          </a:prstGeom>
          <a:noFill/>
        </p:spPr>
        <p:txBody>
          <a:bodyPr vert="horz" wrap="square" lIns="0" tIns="0" rIns="0" bIns="0" rtlCol="0">
            <a:noAutofit/>
          </a:bodyPr>
          <a:lstStyle/>
          <a:p>
            <a:pPr>
              <a:lnSpc>
                <a:spcPct val="115000"/>
              </a:lnSpc>
            </a:pPr>
            <a:r>
              <a:rPr lang="fr-FR" sz="1200" dirty="0">
                <a:solidFill>
                  <a:srgbClr val="9CA9B6"/>
                </a:solidFill>
                <a:latin typeface="Manrope" pitchFamily="2" charset="0"/>
              </a:rPr>
              <a:t>L’IA au service de notre l’équipe</a:t>
            </a:r>
          </a:p>
        </p:txBody>
      </p:sp>
      <p:sp>
        <p:nvSpPr>
          <p:cNvPr id="13" name="Rectangle : coins arrondis 12">
            <a:hlinkClick r:id="rId3"/>
            <a:extLst>
              <a:ext uri="{FF2B5EF4-FFF2-40B4-BE49-F238E27FC236}">
                <a16:creationId xmlns:a16="http://schemas.microsoft.com/office/drawing/2014/main" id="{2D56565A-BAEE-C09A-9403-7EAD2F8B2010}"/>
              </a:ext>
            </a:extLst>
          </p:cNvPr>
          <p:cNvSpPr/>
          <p:nvPr/>
        </p:nvSpPr>
        <p:spPr>
          <a:xfrm>
            <a:off x="914400" y="4241800"/>
            <a:ext cx="10363200" cy="1498600"/>
          </a:xfrm>
          <a:prstGeom prst="roundRect">
            <a:avLst>
              <a:gd name="adj" fmla="val 10169"/>
            </a:avLst>
          </a:prstGeom>
          <a:solidFill>
            <a:srgbClr val="182330"/>
          </a:solidFill>
          <a:ln w="9525">
            <a:solidFill>
              <a:srgbClr val="24304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hlinkClick r:id="rId3"/>
            <a:extLst>
              <a:ext uri="{FF2B5EF4-FFF2-40B4-BE49-F238E27FC236}">
                <a16:creationId xmlns:a16="http://schemas.microsoft.com/office/drawing/2014/main" id="{D2C842D4-D0D9-DC49-D715-71959A90AE4A}"/>
              </a:ext>
            </a:extLst>
          </p:cNvPr>
          <p:cNvSpPr/>
          <p:nvPr/>
        </p:nvSpPr>
        <p:spPr>
          <a:xfrm>
            <a:off x="914400" y="4241800"/>
            <a:ext cx="50800" cy="1498600"/>
          </a:xfrm>
          <a:prstGeom prst="rect">
            <a:avLst/>
          </a:prstGeom>
          <a:solidFill>
            <a:srgbClr val="A9CC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hlinkClick r:id="rId3"/>
            <a:extLst>
              <a:ext uri="{FF2B5EF4-FFF2-40B4-BE49-F238E27FC236}">
                <a16:creationId xmlns:a16="http://schemas.microsoft.com/office/drawing/2014/main" id="{5B9FA308-37A5-197E-D0C6-06152F590F01}"/>
              </a:ext>
            </a:extLst>
          </p:cNvPr>
          <p:cNvSpPr txBox="1"/>
          <p:nvPr/>
        </p:nvSpPr>
        <p:spPr>
          <a:xfrm>
            <a:off x="1270000" y="4470400"/>
            <a:ext cx="9652000" cy="369332"/>
          </a:xfrm>
          <a:prstGeom prst="rect">
            <a:avLst/>
          </a:prstGeom>
          <a:noFill/>
        </p:spPr>
        <p:txBody>
          <a:bodyPr vert="horz" wrap="square" lIns="0" tIns="0" rIns="0" bIns="0" rtlCol="0">
            <a:noAutofit/>
          </a:bodyPr>
          <a:lstStyle/>
          <a:p>
            <a:pPr>
              <a:lnSpc>
                <a:spcPct val="115000"/>
              </a:lnSpc>
            </a:pPr>
            <a:r>
              <a:rPr lang="fr-FR" sz="1900">
                <a:solidFill>
                  <a:srgbClr val="F2F5F8"/>
                </a:solidFill>
                <a:latin typeface="Manrope Medium" pitchFamily="2" charset="0"/>
              </a:rPr>
              <a:t>Lire la documentation technique</a:t>
            </a:r>
          </a:p>
        </p:txBody>
      </p:sp>
      <p:sp>
        <p:nvSpPr>
          <p:cNvPr id="16" name="ZoneTexte 15">
            <a:hlinkClick r:id="rId3"/>
            <a:extLst>
              <a:ext uri="{FF2B5EF4-FFF2-40B4-BE49-F238E27FC236}">
                <a16:creationId xmlns:a16="http://schemas.microsoft.com/office/drawing/2014/main" id="{E5F9EAB9-59EF-1F33-F8D7-CC236FB3A39C}"/>
              </a:ext>
            </a:extLst>
          </p:cNvPr>
          <p:cNvSpPr txBox="1"/>
          <p:nvPr/>
        </p:nvSpPr>
        <p:spPr>
          <a:xfrm>
            <a:off x="1270000" y="4876800"/>
            <a:ext cx="9652000" cy="369332"/>
          </a:xfrm>
          <a:prstGeom prst="rect">
            <a:avLst/>
          </a:prstGeom>
          <a:noFill/>
        </p:spPr>
        <p:txBody>
          <a:bodyPr vert="horz" wrap="square" lIns="0" tIns="0" rIns="0" bIns="0" rtlCol="0">
            <a:noAutofit/>
          </a:bodyPr>
          <a:lstStyle/>
          <a:p>
            <a:pPr>
              <a:lnSpc>
                <a:spcPct val="115000"/>
              </a:lnSpc>
            </a:pPr>
            <a:r>
              <a:rPr lang="fr-FR" sz="1350">
                <a:solidFill>
                  <a:srgbClr val="9CA9B6"/>
                </a:solidFill>
                <a:latin typeface="Manrope" pitchFamily="2" charset="0"/>
              </a:rPr>
              <a:t>Choix techniques, contrat d'API, schéma des données : tout est écrit dans le dépôt.</a:t>
            </a:r>
          </a:p>
        </p:txBody>
      </p:sp>
      <p:sp>
        <p:nvSpPr>
          <p:cNvPr id="17" name="ZoneTexte 16">
            <a:hlinkClick r:id="rId3"/>
            <a:extLst>
              <a:ext uri="{FF2B5EF4-FFF2-40B4-BE49-F238E27FC236}">
                <a16:creationId xmlns:a16="http://schemas.microsoft.com/office/drawing/2014/main" id="{55C6E446-6170-1D22-66CE-5DC633060E71}"/>
              </a:ext>
            </a:extLst>
          </p:cNvPr>
          <p:cNvSpPr txBox="1"/>
          <p:nvPr/>
        </p:nvSpPr>
        <p:spPr>
          <a:xfrm>
            <a:off x="1270000" y="5283200"/>
            <a:ext cx="9652000" cy="369332"/>
          </a:xfrm>
          <a:prstGeom prst="rect">
            <a:avLst/>
          </a:prstGeom>
          <a:noFill/>
        </p:spPr>
        <p:txBody>
          <a:bodyPr vert="horz" wrap="square" lIns="0" tIns="0" rIns="0" bIns="0" rtlCol="0">
            <a:noAutofit/>
          </a:bodyPr>
          <a:lstStyle/>
          <a:p>
            <a:pPr>
              <a:lnSpc>
                <a:spcPct val="115000"/>
              </a:lnSpc>
            </a:pPr>
            <a:r>
              <a:rPr lang="fr-FR" sz="1050">
                <a:solidFill>
                  <a:srgbClr val="A9CCE3"/>
                </a:solidFill>
                <a:latin typeface="Manrope" pitchFamily="2" charset="0"/>
              </a:rPr>
              <a:t>https://github.com/EpitechMscProPromo2029/T-WEB-501-PAR-5-1-job_board-5/blob/main/docs/choix_techniques_front.md</a:t>
            </a:r>
          </a:p>
        </p:txBody>
      </p:sp>
    </p:spTree>
    <p:extLst>
      <p:ext uri="{BB962C8B-B14F-4D97-AF65-F5344CB8AC3E}">
        <p14:creationId xmlns:p14="http://schemas.microsoft.com/office/powerpoint/2010/main" val="664265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par>
                                <p:cTn id="17" presetID="10" presetClass="entr" presetSubtype="0" fill="hold" grpId="0" nodeType="withEffect" nodePh="1">
                                  <p:stCondLst>
                                    <p:cond delay="450"/>
                                  </p:stCondLst>
                                  <p:endCondLst>
                                    <p:cond evt="begin" delay="0">
                                      <p:tn val="17"/>
                                    </p:cond>
                                  </p:end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par>
                                <p:cTn id="20" presetID="10" presetClass="entr" presetSubtype="0" fill="hold" grpId="0" nodeType="withEffect" nodePh="1">
                                  <p:stCondLst>
                                    <p:cond delay="750"/>
                                  </p:stCondLst>
                                  <p:endCondLst>
                                    <p:cond evt="begin" delay="0">
                                      <p:tn val="20"/>
                                    </p:cond>
                                  </p:end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par>
                                <p:cTn id="23" presetID="10" presetClass="entr" presetSubtype="0" fill="hold" grpId="0" nodeType="withEffect">
                                  <p:stCondLst>
                                    <p:cond delay="7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grpId="0" nodeType="with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par>
                                <p:cTn id="29" presetID="10" presetClass="entr" presetSubtype="0" fill="hold" grpId="0" nodeType="withEffect" nodePh="1">
                                  <p:stCondLst>
                                    <p:cond delay="105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par>
                                <p:cTn id="32" presetID="10" presetClass="entr" presetSubtype="0" fill="hold" grpId="0" nodeType="withEffect">
                                  <p:stCondLst>
                                    <p:cond delay="105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105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par>
                                <p:cTn id="38" presetID="10" presetClass="entr" presetSubtype="0" fill="hold" grpId="0" nodeType="withEffect">
                                  <p:stCondLst>
                                    <p:cond delay="135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grpId="0" nodeType="withEffect">
                                  <p:stCondLst>
                                    <p:cond delay="135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par>
                                <p:cTn id="44" presetID="10" presetClass="entr" presetSubtype="0" fill="hold" grpId="0" nodeType="withEffect">
                                  <p:stCondLst>
                                    <p:cond delay="135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500"/>
                                        <p:tgtEl>
                                          <p:spTgt spid="15"/>
                                        </p:tgtEl>
                                      </p:cBhvr>
                                    </p:animEffect>
                                  </p:childTnLst>
                                </p:cTn>
                              </p:par>
                              <p:par>
                                <p:cTn id="47" presetID="10" presetClass="entr" presetSubtype="0" fill="hold" grpId="0" nodeType="withEffect">
                                  <p:stCondLst>
                                    <p:cond delay="135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grpId="0" nodeType="withEffect">
                                  <p:stCondLst>
                                    <p:cond delay="135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P spid="6" grpId="0"/>
      <p:bldP spid="7" grpId="0"/>
      <p:bldP spid="8" grpId="0"/>
      <p:bldP spid="9" grpId="0"/>
      <p:bldP spid="10" grpId="0"/>
      <p:bldP spid="11" grpId="0"/>
      <p:bldP spid="12" grpId="0"/>
      <p:bldP spid="13" grpId="0" animBg="1"/>
      <p:bldP spid="14" grpId="0" animBg="1"/>
      <p:bldP spid="15" grpId="0"/>
      <p:bldP spid="16" grpId="0"/>
      <p:bldP spid="17"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1930</Words>
  <Application>Microsoft Office PowerPoint</Application>
  <PresentationFormat>Grand écran</PresentationFormat>
  <Paragraphs>257</Paragraphs>
  <Slides>12</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Aptos</vt:lpstr>
      <vt:lpstr>Aptos Display</vt:lpstr>
      <vt:lpstr>Arial</vt:lpstr>
      <vt:lpstr>Manrope</vt:lpstr>
      <vt:lpstr>Manrope Medium</vt:lpstr>
      <vt:lpstr>Manrope SemiBold</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Axel Follet</dc:creator>
  <cp:lastModifiedBy>Axel Follet</cp:lastModifiedBy>
  <cp:revision>4</cp:revision>
  <dcterms:created xsi:type="dcterms:W3CDTF">2026-10-13T12:08:52Z</dcterms:created>
  <dcterms:modified xsi:type="dcterms:W3CDTF">2026-10-13T12:59:20Z</dcterms:modified>
</cp:coreProperties>
</file>