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4"/>
  </p:notesMasterIdLst>
  <p:sldIdLst>
    <p:sldId id="256" r:id="rId2"/>
    <p:sldId id="257" r:id="rId3"/>
    <p:sldId id="258" r:id="rId4"/>
    <p:sldId id="259" r:id="rId5"/>
    <p:sldId id="266" r:id="rId6"/>
    <p:sldId id="260" r:id="rId7"/>
    <p:sldId id="261" r:id="rId8"/>
    <p:sldId id="262" r:id="rId9"/>
    <p:sldId id="263" r:id="rId10"/>
    <p:sldId id="264" r:id="rId11"/>
    <p:sldId id="265" r:id="rId12"/>
    <p:sldId id="267" r:id="rId13"/>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4435" autoAdjust="0"/>
  </p:normalViewPr>
  <p:slideViewPr>
    <p:cSldViewPr snapToGrid="0">
      <p:cViewPr varScale="1">
        <p:scale>
          <a:sx n="40" d="100"/>
          <a:sy n="40" d="100"/>
        </p:scale>
        <p:origin x="1660" y="4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D8A6968-F8A5-4117-883A-0C39BC6E68E7}" type="datetimeFigureOut">
              <a:rPr lang="fr-FR" smtClean="0"/>
              <a:t>13/10/2026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9C38A8C-A952-4860-9F51-CDDD32759BDD}" type="slidenum">
              <a:rPr lang="fr-FR" smtClean="0"/>
              <a:t>‹N°›</a:t>
            </a:fld>
            <a:endParaRPr lang="fr-FR"/>
          </a:p>
        </p:txBody>
      </p:sp>
    </p:spTree>
    <p:extLst>
      <p:ext uri="{BB962C8B-B14F-4D97-AF65-F5344CB8AC3E}">
        <p14:creationId xmlns:p14="http://schemas.microsoft.com/office/powerpoint/2010/main" val="24301912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INTERVENANT : Axel · 20 s</a:t>
            </a:r>
          </a:p>
          <a:p>
            <a:endParaRPr lang="fr-FR"/>
          </a:p>
          <a:p>
            <a:r>
              <a:rPr lang="fr-FR"/>
              <a:t>COMPLÉMENT</a:t>
            </a:r>
          </a:p>
          <a:p>
            <a:r>
              <a:rPr lang="fr-FR"/>
              <a:t>Dire en une phrase ce que c'est : un site d'emploi où l'on postule en quelques secondes. Annoncer : sept minutes de présentation, puis la démonstration en direct. Chacun parle de son périmètre : Axel le produit et l'équipe, Yohan la plateforme, Ismail la confiance.</a:t>
            </a:r>
          </a:p>
        </p:txBody>
      </p:sp>
      <p:sp>
        <p:nvSpPr>
          <p:cNvPr id="4" name="Espace réservé du numéro de diapositive 3"/>
          <p:cNvSpPr>
            <a:spLocks noGrp="1"/>
          </p:cNvSpPr>
          <p:nvPr>
            <p:ph type="sldNum" sz="quarter" idx="5"/>
          </p:nvPr>
        </p:nvSpPr>
        <p:spPr/>
        <p:txBody>
          <a:bodyPr/>
          <a:lstStyle/>
          <a:p>
            <a:fld id="{D9C38A8C-A952-4860-9F51-CDDD32759BDD}" type="slidenum">
              <a:rPr lang="fr-FR" smtClean="0"/>
              <a:t>1</a:t>
            </a:fld>
            <a:endParaRPr lang="fr-FR"/>
          </a:p>
        </p:txBody>
      </p:sp>
    </p:spTree>
    <p:extLst>
      <p:ext uri="{BB962C8B-B14F-4D97-AF65-F5344CB8AC3E}">
        <p14:creationId xmlns:p14="http://schemas.microsoft.com/office/powerpoint/2010/main" val="28577903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INTERVENANT : Yohan · 45 s</a:t>
            </a:r>
          </a:p>
          <a:p>
            <a:endParaRPr lang="fr-FR" dirty="0"/>
          </a:p>
          <a:p>
            <a:r>
              <a:rPr lang="fr-FR" dirty="0"/>
              <a:t>COMPLÉMENT</a:t>
            </a:r>
          </a:p>
          <a:p>
            <a:r>
              <a:rPr lang="fr-FR" dirty="0"/>
              <a:t>Le premier point vient du sujet : les offres sont dispersées sur de nombreuses plateformes. Les deux autres sont le vécu de n'importe quel candidat : parler d'une expérience personnelle rend le constat concret.</a:t>
            </a:r>
          </a:p>
          <a:p>
            <a:r>
              <a:rPr lang="fr-FR" dirty="0"/>
              <a:t>La phrase du bas est la promesse ; la diapositive suivante la tient.</a:t>
            </a:r>
          </a:p>
        </p:txBody>
      </p:sp>
      <p:sp>
        <p:nvSpPr>
          <p:cNvPr id="4" name="Espace réservé du numéro de diapositive 3"/>
          <p:cNvSpPr>
            <a:spLocks noGrp="1"/>
          </p:cNvSpPr>
          <p:nvPr>
            <p:ph type="sldNum" sz="quarter" idx="5"/>
          </p:nvPr>
        </p:nvSpPr>
        <p:spPr/>
        <p:txBody>
          <a:bodyPr/>
          <a:lstStyle/>
          <a:p>
            <a:fld id="{D9C38A8C-A952-4860-9F51-CDDD32759BDD}" type="slidenum">
              <a:rPr lang="fr-FR" smtClean="0"/>
              <a:t>2</a:t>
            </a:fld>
            <a:endParaRPr lang="fr-FR"/>
          </a:p>
        </p:txBody>
      </p:sp>
    </p:spTree>
    <p:extLst>
      <p:ext uri="{BB962C8B-B14F-4D97-AF65-F5344CB8AC3E}">
        <p14:creationId xmlns:p14="http://schemas.microsoft.com/office/powerpoint/2010/main" val="37732890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INTERVENANT : Axel · 60 s</a:t>
            </a:r>
          </a:p>
          <a:p>
            <a:endParaRPr lang="fr-FR"/>
          </a:p>
          <a:p>
            <a:r>
              <a:rPr lang="fr-FR"/>
              <a:t>COMPLÉMENT</a:t>
            </a:r>
          </a:p>
          <a:p>
            <a:r>
              <a:rPr lang="fr-FR"/>
              <a:t>La maquette de droite reprend l'accueil réel du site : recherche, puis les offres les plus récentes.</a:t>
            </a:r>
          </a:p>
          <a:p>
            <a:r>
              <a:rPr lang="fr-FR"/>
              <a:t>Sans compte : nom, prénom, e-mail, téléphone facultatif, message. Si l'adresse appartient déjà à un compte, le site demande de se connecter : personne ne candidate au nom d'un autre.</a:t>
            </a:r>
          </a:p>
          <a:p>
            <a:r>
              <a:rPr lang="fr-FR"/>
              <a:t>Ne pas parler technique ici : on vend l'usage.</a:t>
            </a:r>
          </a:p>
        </p:txBody>
      </p:sp>
      <p:sp>
        <p:nvSpPr>
          <p:cNvPr id="4" name="Espace réservé du numéro de diapositive 3"/>
          <p:cNvSpPr>
            <a:spLocks noGrp="1"/>
          </p:cNvSpPr>
          <p:nvPr>
            <p:ph type="sldNum" sz="quarter" idx="5"/>
          </p:nvPr>
        </p:nvSpPr>
        <p:spPr/>
        <p:txBody>
          <a:bodyPr/>
          <a:lstStyle/>
          <a:p>
            <a:fld id="{D9C38A8C-A952-4860-9F51-CDDD32759BDD}" type="slidenum">
              <a:rPr lang="fr-FR" smtClean="0"/>
              <a:t>3</a:t>
            </a:fld>
            <a:endParaRPr lang="fr-FR"/>
          </a:p>
        </p:txBody>
      </p:sp>
    </p:spTree>
    <p:extLst>
      <p:ext uri="{BB962C8B-B14F-4D97-AF65-F5344CB8AC3E}">
        <p14:creationId xmlns:p14="http://schemas.microsoft.com/office/powerpoint/2010/main" val="31182593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INTERVENANT : Axel · 60 s</a:t>
            </a:r>
          </a:p>
          <a:p>
            <a:endParaRPr lang="fr-FR"/>
          </a:p>
          <a:p>
            <a:r>
              <a:rPr lang="fr-FR"/>
              <a:t>COMPLÉMENT</a:t>
            </a:r>
          </a:p>
          <a:p>
            <a:r>
              <a:rPr lang="fr-FR"/>
              <a:t>La carte est une annonce réelle de la base. Le titre de l'annonce ouvre le détail dans la carte ; le bouton Postuler ouvre le formulaire au même endroit.</a:t>
            </a:r>
          </a:p>
          <a:p>
            <a:r>
              <a:rPr lang="fr-FR"/>
              <a:t>La diapositive se construit dans l'ordre du geste : l'annonce, le formulaire, la confirmation. Laisser l'animation finir avant de parler du formulaire.</a:t>
            </a:r>
          </a:p>
        </p:txBody>
      </p:sp>
      <p:sp>
        <p:nvSpPr>
          <p:cNvPr id="4" name="Espace réservé du numéro de diapositive 3"/>
          <p:cNvSpPr>
            <a:spLocks noGrp="1"/>
          </p:cNvSpPr>
          <p:nvPr>
            <p:ph type="sldNum" sz="quarter" idx="5"/>
          </p:nvPr>
        </p:nvSpPr>
        <p:spPr/>
        <p:txBody>
          <a:bodyPr/>
          <a:lstStyle/>
          <a:p>
            <a:fld id="{D9C38A8C-A952-4860-9F51-CDDD32759BDD}" type="slidenum">
              <a:rPr lang="fr-FR" smtClean="0"/>
              <a:t>4</a:t>
            </a:fld>
            <a:endParaRPr lang="fr-FR"/>
          </a:p>
        </p:txBody>
      </p:sp>
    </p:spTree>
    <p:extLst>
      <p:ext uri="{BB962C8B-B14F-4D97-AF65-F5344CB8AC3E}">
        <p14:creationId xmlns:p14="http://schemas.microsoft.com/office/powerpoint/2010/main" val="320519634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INTERVENANT : Axel · 40 s</a:t>
            </a:r>
          </a:p>
          <a:p>
            <a:endParaRPr lang="fr-FR"/>
          </a:p>
          <a:p>
            <a:r>
              <a:rPr lang="fr-FR"/>
              <a:t>COMPLÉMENT</a:t>
            </a:r>
          </a:p>
          <a:p>
            <a:r>
              <a:rPr lang="fr-FR"/>
              <a:t>À dire : le CV suit la candidature. Le candidat le joint en postulant, ou le dépose une fois pour toutes dans son espace ; le recruteur l'ouvre avec le dossier, sans échange d'e-mails.</a:t>
            </a:r>
          </a:p>
          <a:p>
            <a:r>
              <a:rPr lang="fr-FR"/>
              <a:t>État réel au 13 octobre : fonctionnalité en cours de développement, livraison annoncée pour la fin de semaine (rendu du 16 octobre). Ne pas la montrer en démonstration tant qu'elle n'est pas fusionnée dans main. Si la question vient : en finition pour vendredi.</a:t>
            </a:r>
          </a:p>
          <a:p>
            <a:r>
              <a:rPr lang="fr-FR"/>
              <a:t>La diapositive l'annonce comme à venir (« bientôt »).</a:t>
            </a:r>
          </a:p>
        </p:txBody>
      </p:sp>
      <p:sp>
        <p:nvSpPr>
          <p:cNvPr id="4" name="Espace réservé du numéro de diapositive 3"/>
          <p:cNvSpPr>
            <a:spLocks noGrp="1"/>
          </p:cNvSpPr>
          <p:nvPr>
            <p:ph type="sldNum" sz="quarter" idx="5"/>
          </p:nvPr>
        </p:nvSpPr>
        <p:spPr/>
        <p:txBody>
          <a:bodyPr/>
          <a:lstStyle/>
          <a:p>
            <a:fld id="{D9C38A8C-A952-4860-9F51-CDDD32759BDD}" type="slidenum">
              <a:rPr lang="fr-FR" smtClean="0"/>
              <a:t>5</a:t>
            </a:fld>
            <a:endParaRPr lang="fr-FR"/>
          </a:p>
        </p:txBody>
      </p:sp>
    </p:spTree>
    <p:extLst>
      <p:ext uri="{BB962C8B-B14F-4D97-AF65-F5344CB8AC3E}">
        <p14:creationId xmlns:p14="http://schemas.microsoft.com/office/powerpoint/2010/main" val="180990204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INTERVENANT : Axel · 50 s</a:t>
            </a:r>
          </a:p>
          <a:p>
            <a:endParaRPr lang="fr-FR"/>
          </a:p>
          <a:p>
            <a:r>
              <a:rPr lang="fr-FR"/>
              <a:t>COMPLÉMENT</a:t>
            </a:r>
          </a:p>
          <a:p>
            <a:r>
              <a:rPr lang="fr-FR"/>
              <a:t>Un recruteur est une personne rattachée à une entreprise par l'administrateur : personne ne se déclare recruteur lui-même. Pourvoir une offre : l'annonce se ferme, une candidature est retenue, les autres refusées, en une seule opération.</a:t>
            </a:r>
          </a:p>
          <a:p>
            <a:r>
              <a:rPr lang="fr-FR"/>
              <a:t>Administration : accès réservé au rôle admin, 10, 25 ou 50 lignes par page.</a:t>
            </a:r>
          </a:p>
          <a:p>
            <a:r>
              <a:rPr lang="fr-FR"/>
              <a:t>Démonstration : montrer l'espace candidat et l'administration ; l'espace recruteur se présente depuis cette diapositive.</a:t>
            </a:r>
          </a:p>
        </p:txBody>
      </p:sp>
      <p:sp>
        <p:nvSpPr>
          <p:cNvPr id="4" name="Espace réservé du numéro de diapositive 3"/>
          <p:cNvSpPr>
            <a:spLocks noGrp="1"/>
          </p:cNvSpPr>
          <p:nvPr>
            <p:ph type="sldNum" sz="quarter" idx="5"/>
          </p:nvPr>
        </p:nvSpPr>
        <p:spPr/>
        <p:txBody>
          <a:bodyPr/>
          <a:lstStyle/>
          <a:p>
            <a:fld id="{D9C38A8C-A952-4860-9F51-CDDD32759BDD}" type="slidenum">
              <a:rPr lang="fr-FR" smtClean="0"/>
              <a:t>6</a:t>
            </a:fld>
            <a:endParaRPr lang="fr-FR"/>
          </a:p>
        </p:txBody>
      </p:sp>
    </p:spTree>
    <p:extLst>
      <p:ext uri="{BB962C8B-B14F-4D97-AF65-F5344CB8AC3E}">
        <p14:creationId xmlns:p14="http://schemas.microsoft.com/office/powerpoint/2010/main" val="223110097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INTERVENANT : Yohan · 35 s</a:t>
            </a:r>
          </a:p>
          <a:p>
            <a:endParaRPr lang="fr-FR"/>
          </a:p>
          <a:p>
            <a:r>
              <a:rPr lang="fr-FR"/>
              <a:t>COMPLÉMENT</a:t>
            </a:r>
          </a:p>
          <a:p>
            <a:r>
              <a:rPr lang="fr-FR"/>
              <a:t>Les 50 annonces : 20 CDI, 10 CDD, 8 stages, 7 alternances, 5 freelances. Dix villes, six catégories de métiers. Les annonces sont insérées par un script du back-end, qui refuse de s'exécuter deux fois.</a:t>
            </a:r>
          </a:p>
          <a:p>
            <a:r>
              <a:rPr lang="fr-FR"/>
              <a:t>Si la question vient : les données sont fictives, rédigées par l'équipe ; aucune entreprise réelle.</a:t>
            </a:r>
          </a:p>
        </p:txBody>
      </p:sp>
      <p:sp>
        <p:nvSpPr>
          <p:cNvPr id="4" name="Espace réservé du numéro de diapositive 3"/>
          <p:cNvSpPr>
            <a:spLocks noGrp="1"/>
          </p:cNvSpPr>
          <p:nvPr>
            <p:ph type="sldNum" sz="quarter" idx="5"/>
          </p:nvPr>
        </p:nvSpPr>
        <p:spPr/>
        <p:txBody>
          <a:bodyPr/>
          <a:lstStyle/>
          <a:p>
            <a:fld id="{D9C38A8C-A952-4860-9F51-CDDD32759BDD}" type="slidenum">
              <a:rPr lang="fr-FR" smtClean="0"/>
              <a:t>7</a:t>
            </a:fld>
            <a:endParaRPr lang="fr-FR"/>
          </a:p>
        </p:txBody>
      </p:sp>
    </p:spTree>
    <p:extLst>
      <p:ext uri="{BB962C8B-B14F-4D97-AF65-F5344CB8AC3E}">
        <p14:creationId xmlns:p14="http://schemas.microsoft.com/office/powerpoint/2010/main" val="205884826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INTERVENANT : Yohan · 60 s</a:t>
            </a:r>
          </a:p>
          <a:p>
            <a:endParaRPr lang="fr-FR"/>
          </a:p>
          <a:p>
            <a:r>
              <a:rPr lang="fr-FR"/>
              <a:t>COMPLÉMENT</a:t>
            </a:r>
          </a:p>
          <a:p>
            <a:r>
              <a:rPr lang="fr-FR"/>
              <a:t>Technique, si on la demande : React 19 avec Vite côté interface ; Flask 3 en Blueprints sous /api ; SQLite, six tables, clés étrangères actives, requêtes paramétrées, contraintes en base (SIREN unique, statuts contrôlés, suppressions protégées).</a:t>
            </a:r>
          </a:p>
          <a:p>
            <a:r>
              <a:rPr lang="fr-FR"/>
              <a:t>Le README à la racine décrit l'installation, le schéma, les routes et les pages ; le contrat d'API est dans docs/.</a:t>
            </a:r>
          </a:p>
          <a:p>
            <a:r>
              <a:rPr lang="fr-FR"/>
              <a:t>Investisseur : ne pas lister les technologies, dire ce qu'elles garantissent.</a:t>
            </a:r>
          </a:p>
        </p:txBody>
      </p:sp>
      <p:sp>
        <p:nvSpPr>
          <p:cNvPr id="4" name="Espace réservé du numéro de diapositive 3"/>
          <p:cNvSpPr>
            <a:spLocks noGrp="1"/>
          </p:cNvSpPr>
          <p:nvPr>
            <p:ph type="sldNum" sz="quarter" idx="5"/>
          </p:nvPr>
        </p:nvSpPr>
        <p:spPr/>
        <p:txBody>
          <a:bodyPr/>
          <a:lstStyle/>
          <a:p>
            <a:fld id="{D9C38A8C-A952-4860-9F51-CDDD32759BDD}" type="slidenum">
              <a:rPr lang="fr-FR" smtClean="0"/>
              <a:t>8</a:t>
            </a:fld>
            <a:endParaRPr lang="fr-FR"/>
          </a:p>
        </p:txBody>
      </p:sp>
    </p:spTree>
    <p:extLst>
      <p:ext uri="{BB962C8B-B14F-4D97-AF65-F5344CB8AC3E}">
        <p14:creationId xmlns:p14="http://schemas.microsoft.com/office/powerpoint/2010/main" val="405280566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INTERVENANT : Ismail · 70 s</a:t>
            </a:r>
          </a:p>
          <a:p>
            <a:endParaRPr lang="fr-FR"/>
          </a:p>
          <a:p>
            <a:r>
              <a:rPr lang="fr-FR"/>
              <a:t>COMPLÉMENT</a:t>
            </a:r>
          </a:p>
          <a:p>
            <a:r>
              <a:rPr lang="fr-FR"/>
              <a:t>Pourquoi ce parcours : une personne qui a candidaté sans compte a déjà une fiche. Sans vérification, connaître son adresse suffirait pour lire ses candidatures. Avec le lien, seul le propriétaire de la boîte mail ouvre le compte. À l'inverse, une adresse encore inconnue crée le compte tout de suite, sans lien : il n'y a aucune candidature à protéger.</a:t>
            </a:r>
          </a:p>
          <a:p>
            <a:r>
              <a:rPr lang="fr-FR"/>
              <a:t>Technique, si on la demande : jeton aléatoire stocké haché, un lien périmé, inconnu ou déjà utilisé reçoit le même refus ; cookie de session HttpOnly et SameSite=Lax ; cinq échecs en quinze minutes donnent une réponse 429 avec le délai d'attente, même avec le bon mot de passe ; clé secrète et réglages d'envoi dans un fichier .env ignoré par Git.</a:t>
            </a:r>
          </a:p>
          <a:p>
            <a:r>
              <a:rPr lang="fr-FR"/>
              <a:t>En démonstration, le lien de confirmation s'affiche dans le terminal du serveur.</a:t>
            </a:r>
          </a:p>
        </p:txBody>
      </p:sp>
      <p:sp>
        <p:nvSpPr>
          <p:cNvPr id="4" name="Espace réservé du numéro de diapositive 3"/>
          <p:cNvSpPr>
            <a:spLocks noGrp="1"/>
          </p:cNvSpPr>
          <p:nvPr>
            <p:ph type="sldNum" sz="quarter" idx="5"/>
          </p:nvPr>
        </p:nvSpPr>
        <p:spPr/>
        <p:txBody>
          <a:bodyPr/>
          <a:lstStyle/>
          <a:p>
            <a:fld id="{D9C38A8C-A952-4860-9F51-CDDD32759BDD}" type="slidenum">
              <a:rPr lang="fr-FR" smtClean="0"/>
              <a:t>9</a:t>
            </a:fld>
            <a:endParaRPr lang="fr-FR"/>
          </a:p>
        </p:txBody>
      </p:sp>
    </p:spTree>
    <p:extLst>
      <p:ext uri="{BB962C8B-B14F-4D97-AF65-F5344CB8AC3E}">
        <p14:creationId xmlns:p14="http://schemas.microsoft.com/office/powerpoint/2010/main" val="239504369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INTERVENANT : Axel · 45 s</a:t>
            </a:r>
          </a:p>
          <a:p>
            <a:endParaRPr lang="fr-FR"/>
          </a:p>
          <a:p>
            <a:r>
              <a:rPr lang="fr-FR"/>
              <a:t>COMPLÉMENT</a:t>
            </a:r>
          </a:p>
          <a:p>
            <a:r>
              <a:rPr lang="fr-FR"/>
              <a:t>C'est le rythme réel du projet : chaque matin un document de tâches par personne, chaque soir les tests et la relecture, puis la fusion dans main et la mise à jour des dépôts. Le dire comme une capacité : le client demande, l'équipe livre.</a:t>
            </a:r>
          </a:p>
          <a:p>
            <a:r>
              <a:rPr lang="fr-FR"/>
              <a:t>Pour l'encadrant : c'est ici que se montre la gestion de projet, sans raconter le chemin.</a:t>
            </a:r>
          </a:p>
        </p:txBody>
      </p:sp>
      <p:sp>
        <p:nvSpPr>
          <p:cNvPr id="4" name="Espace réservé du numéro de diapositive 3"/>
          <p:cNvSpPr>
            <a:spLocks noGrp="1"/>
          </p:cNvSpPr>
          <p:nvPr>
            <p:ph type="sldNum" sz="quarter" idx="5"/>
          </p:nvPr>
        </p:nvSpPr>
        <p:spPr/>
        <p:txBody>
          <a:bodyPr/>
          <a:lstStyle/>
          <a:p>
            <a:fld id="{D9C38A8C-A952-4860-9F51-CDDD32759BDD}" type="slidenum">
              <a:rPr lang="fr-FR" smtClean="0"/>
              <a:t>10</a:t>
            </a:fld>
            <a:endParaRPr lang="fr-FR"/>
          </a:p>
        </p:txBody>
      </p:sp>
    </p:spTree>
    <p:extLst>
      <p:ext uri="{BB962C8B-B14F-4D97-AF65-F5344CB8AC3E}">
        <p14:creationId xmlns:p14="http://schemas.microsoft.com/office/powerpoint/2010/main" val="308663544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INTERVENANT : Axel · 15 s, puis la démonstration par Axel, Yohan et Ismail</a:t>
            </a:r>
          </a:p>
          <a:p>
            <a:endParaRPr lang="fr-FR" dirty="0"/>
          </a:p>
          <a:p>
            <a:r>
              <a:rPr lang="fr-FR" dirty="0"/>
              <a:t>COMPLÉMENT</a:t>
            </a:r>
          </a:p>
          <a:p>
            <a:r>
              <a:rPr lang="fr-FR" dirty="0"/>
              <a:t>Une personne parle, une autre manipule. Serveur et site lancés avant la présentation, base remplie, terminal du serveur visible pour le lien de confirmation. Compte administrateur prêt. Aucun mot de passe affiché à l'écran. Étapes 02 et 03 : la même adresse e-mail, sinon aucun lien de confirmation n'est envoyé.</a:t>
            </a:r>
          </a:p>
        </p:txBody>
      </p:sp>
      <p:sp>
        <p:nvSpPr>
          <p:cNvPr id="4" name="Espace réservé du numéro de diapositive 3"/>
          <p:cNvSpPr>
            <a:spLocks noGrp="1"/>
          </p:cNvSpPr>
          <p:nvPr>
            <p:ph type="sldNum" sz="quarter" idx="5"/>
          </p:nvPr>
        </p:nvSpPr>
        <p:spPr/>
        <p:txBody>
          <a:bodyPr/>
          <a:lstStyle/>
          <a:p>
            <a:fld id="{D9C38A8C-A952-4860-9F51-CDDD32759BDD}" type="slidenum">
              <a:rPr lang="fr-FR" smtClean="0"/>
              <a:t>11</a:t>
            </a:fld>
            <a:endParaRPr lang="fr-FR"/>
          </a:p>
        </p:txBody>
      </p:sp>
    </p:spTree>
    <p:extLst>
      <p:ext uri="{BB962C8B-B14F-4D97-AF65-F5344CB8AC3E}">
        <p14:creationId xmlns:p14="http://schemas.microsoft.com/office/powerpoint/2010/main" val="85895781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INTERVENANT : Axel · 20 s, après la démonstration</a:t>
            </a:r>
          </a:p>
          <a:p>
            <a:endParaRPr lang="fr-FR" dirty="0"/>
          </a:p>
          <a:p>
            <a:r>
              <a:rPr lang="fr-FR"/>
              <a:t>COMPLÉMENT</a:t>
            </a:r>
          </a:p>
          <a:p>
            <a:r>
              <a:rPr lang="fr-FR" dirty="0"/>
              <a:t>Conclure sur la preuve : tout ce qui vient d'être montré est écrit et vérifiable dans le dépôt. Un clic sur le bloc ouvre docs/choix_techniques_front.md sur GitHub (dépôt </a:t>
            </a:r>
            <a:r>
              <a:rPr lang="fr-FR" dirty="0" err="1"/>
              <a:t>Epitech</a:t>
            </a:r>
            <a:r>
              <a:rPr lang="fr-FR" dirty="0"/>
              <a:t>, branche main).</a:t>
            </a:r>
          </a:p>
          <a:p>
            <a:r>
              <a:rPr lang="fr-FR" dirty="0"/>
              <a:t>Ce fichier et le contrat d'API (docs/contrat_api.md) sont sur main depuis le 13 octobre.</a:t>
            </a:r>
          </a:p>
          <a:p>
            <a:r>
              <a:rPr lang="fr-FR" dirty="0"/>
              <a:t>Les trois chiffres sont ceux des diapositives précédentes : aucun chiffre nouveau.</a:t>
            </a:r>
          </a:p>
        </p:txBody>
      </p:sp>
      <p:sp>
        <p:nvSpPr>
          <p:cNvPr id="4" name="Espace réservé du numéro de diapositive 3"/>
          <p:cNvSpPr>
            <a:spLocks noGrp="1"/>
          </p:cNvSpPr>
          <p:nvPr>
            <p:ph type="sldNum" sz="quarter" idx="5"/>
          </p:nvPr>
        </p:nvSpPr>
        <p:spPr/>
        <p:txBody>
          <a:bodyPr/>
          <a:lstStyle/>
          <a:p>
            <a:fld id="{D9C38A8C-A952-4860-9F51-CDDD32759BDD}" type="slidenum">
              <a:rPr lang="fr-FR" smtClean="0"/>
              <a:t>12</a:t>
            </a:fld>
            <a:endParaRPr lang="fr-FR"/>
          </a:p>
        </p:txBody>
      </p:sp>
    </p:spTree>
    <p:extLst>
      <p:ext uri="{BB962C8B-B14F-4D97-AF65-F5344CB8AC3E}">
        <p14:creationId xmlns:p14="http://schemas.microsoft.com/office/powerpoint/2010/main" val="53330225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3DBEF89-856E-D86A-F731-B18EBF0F8D3D}"/>
              </a:ext>
            </a:extLst>
          </p:cNvPr>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a:extLst>
              <a:ext uri="{FF2B5EF4-FFF2-40B4-BE49-F238E27FC236}">
                <a16:creationId xmlns:a16="http://schemas.microsoft.com/office/drawing/2014/main" id="{8A5A31D5-1405-8130-6827-38E68E9605A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p>
        </p:txBody>
      </p:sp>
      <p:sp>
        <p:nvSpPr>
          <p:cNvPr id="4" name="Espace réservé de la date 3">
            <a:extLst>
              <a:ext uri="{FF2B5EF4-FFF2-40B4-BE49-F238E27FC236}">
                <a16:creationId xmlns:a16="http://schemas.microsoft.com/office/drawing/2014/main" id="{A9158E5A-FB45-7C11-F776-A4A7858A2F52}"/>
              </a:ext>
            </a:extLst>
          </p:cNvPr>
          <p:cNvSpPr>
            <a:spLocks noGrp="1"/>
          </p:cNvSpPr>
          <p:nvPr>
            <p:ph type="dt" sz="half" idx="10"/>
          </p:nvPr>
        </p:nvSpPr>
        <p:spPr/>
        <p:txBody>
          <a:bodyPr/>
          <a:lstStyle/>
          <a:p>
            <a:fld id="{B25980C9-7327-4AB2-AF60-70BAAFF4AD3D}" type="datetimeFigureOut">
              <a:rPr lang="fr-FR" smtClean="0"/>
              <a:t>13/10/2026</a:t>
            </a:fld>
            <a:endParaRPr lang="fr-FR"/>
          </a:p>
        </p:txBody>
      </p:sp>
      <p:sp>
        <p:nvSpPr>
          <p:cNvPr id="5" name="Espace réservé du pied de page 4">
            <a:extLst>
              <a:ext uri="{FF2B5EF4-FFF2-40B4-BE49-F238E27FC236}">
                <a16:creationId xmlns:a16="http://schemas.microsoft.com/office/drawing/2014/main" id="{716153AF-5487-5FF4-BCDD-5B56D072EEB8}"/>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A09EFC08-2D12-2D3E-1748-5482D5E8710E}"/>
              </a:ext>
            </a:extLst>
          </p:cNvPr>
          <p:cNvSpPr>
            <a:spLocks noGrp="1"/>
          </p:cNvSpPr>
          <p:nvPr>
            <p:ph type="sldNum" sz="quarter" idx="12"/>
          </p:nvPr>
        </p:nvSpPr>
        <p:spPr/>
        <p:txBody>
          <a:bodyPr/>
          <a:lstStyle/>
          <a:p>
            <a:fld id="{19D42B5C-DFA0-4F61-93A5-06651F3E99BC}" type="slidenum">
              <a:rPr lang="fr-FR" smtClean="0"/>
              <a:t>‹N°›</a:t>
            </a:fld>
            <a:endParaRPr lang="fr-FR"/>
          </a:p>
        </p:txBody>
      </p:sp>
    </p:spTree>
    <p:extLst>
      <p:ext uri="{BB962C8B-B14F-4D97-AF65-F5344CB8AC3E}">
        <p14:creationId xmlns:p14="http://schemas.microsoft.com/office/powerpoint/2010/main" val="24220379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9D29638-EC53-34B9-B583-DB5F863FCE60}"/>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8D9E580F-6697-8301-24AB-5C5EB65D2A64}"/>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2A9B51C9-9FDC-C635-BEA6-154D01753986}"/>
              </a:ext>
            </a:extLst>
          </p:cNvPr>
          <p:cNvSpPr>
            <a:spLocks noGrp="1"/>
          </p:cNvSpPr>
          <p:nvPr>
            <p:ph type="dt" sz="half" idx="10"/>
          </p:nvPr>
        </p:nvSpPr>
        <p:spPr/>
        <p:txBody>
          <a:bodyPr/>
          <a:lstStyle/>
          <a:p>
            <a:fld id="{B25980C9-7327-4AB2-AF60-70BAAFF4AD3D}" type="datetimeFigureOut">
              <a:rPr lang="fr-FR" smtClean="0"/>
              <a:t>13/10/2026</a:t>
            </a:fld>
            <a:endParaRPr lang="fr-FR"/>
          </a:p>
        </p:txBody>
      </p:sp>
      <p:sp>
        <p:nvSpPr>
          <p:cNvPr id="5" name="Espace réservé du pied de page 4">
            <a:extLst>
              <a:ext uri="{FF2B5EF4-FFF2-40B4-BE49-F238E27FC236}">
                <a16:creationId xmlns:a16="http://schemas.microsoft.com/office/drawing/2014/main" id="{7C31D793-EA74-0611-9B2D-87BBD766F271}"/>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7645A012-797B-F034-6F0B-D4CA1FF7C8D5}"/>
              </a:ext>
            </a:extLst>
          </p:cNvPr>
          <p:cNvSpPr>
            <a:spLocks noGrp="1"/>
          </p:cNvSpPr>
          <p:nvPr>
            <p:ph type="sldNum" sz="quarter" idx="12"/>
          </p:nvPr>
        </p:nvSpPr>
        <p:spPr/>
        <p:txBody>
          <a:bodyPr/>
          <a:lstStyle/>
          <a:p>
            <a:fld id="{19D42B5C-DFA0-4F61-93A5-06651F3E99BC}" type="slidenum">
              <a:rPr lang="fr-FR" smtClean="0"/>
              <a:t>‹N°›</a:t>
            </a:fld>
            <a:endParaRPr lang="fr-FR"/>
          </a:p>
        </p:txBody>
      </p:sp>
    </p:spTree>
    <p:extLst>
      <p:ext uri="{BB962C8B-B14F-4D97-AF65-F5344CB8AC3E}">
        <p14:creationId xmlns:p14="http://schemas.microsoft.com/office/powerpoint/2010/main" val="304457833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1C9AF78-7EFB-BE4E-7C83-DA2B2B08D120}"/>
              </a:ext>
            </a:extLst>
          </p:cNvPr>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a:extLst>
              <a:ext uri="{FF2B5EF4-FFF2-40B4-BE49-F238E27FC236}">
                <a16:creationId xmlns:a16="http://schemas.microsoft.com/office/drawing/2014/main" id="{86E28DCB-342B-71CB-D8DB-B51021C5BDD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fr-FR"/>
              <a:t>Cliquez pour modifier les styles du texte du masque</a:t>
            </a:r>
          </a:p>
        </p:txBody>
      </p:sp>
      <p:sp>
        <p:nvSpPr>
          <p:cNvPr id="4" name="Espace réservé de la date 3">
            <a:extLst>
              <a:ext uri="{FF2B5EF4-FFF2-40B4-BE49-F238E27FC236}">
                <a16:creationId xmlns:a16="http://schemas.microsoft.com/office/drawing/2014/main" id="{3FED0628-9C44-22C0-99CF-F1E5A61C41E0}"/>
              </a:ext>
            </a:extLst>
          </p:cNvPr>
          <p:cNvSpPr>
            <a:spLocks noGrp="1"/>
          </p:cNvSpPr>
          <p:nvPr>
            <p:ph type="dt" sz="half" idx="10"/>
          </p:nvPr>
        </p:nvSpPr>
        <p:spPr/>
        <p:txBody>
          <a:bodyPr/>
          <a:lstStyle/>
          <a:p>
            <a:fld id="{B25980C9-7327-4AB2-AF60-70BAAFF4AD3D}" type="datetimeFigureOut">
              <a:rPr lang="fr-FR" smtClean="0"/>
              <a:t>13/10/2026</a:t>
            </a:fld>
            <a:endParaRPr lang="fr-FR"/>
          </a:p>
        </p:txBody>
      </p:sp>
      <p:sp>
        <p:nvSpPr>
          <p:cNvPr id="5" name="Espace réservé du pied de page 4">
            <a:extLst>
              <a:ext uri="{FF2B5EF4-FFF2-40B4-BE49-F238E27FC236}">
                <a16:creationId xmlns:a16="http://schemas.microsoft.com/office/drawing/2014/main" id="{8FD986D3-8E75-6356-F9F3-AD5CC9AC46EE}"/>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3E47D9CB-14C7-AE86-CF6B-B6CDE91CC93E}"/>
              </a:ext>
            </a:extLst>
          </p:cNvPr>
          <p:cNvSpPr>
            <a:spLocks noGrp="1"/>
          </p:cNvSpPr>
          <p:nvPr>
            <p:ph type="sldNum" sz="quarter" idx="12"/>
          </p:nvPr>
        </p:nvSpPr>
        <p:spPr/>
        <p:txBody>
          <a:bodyPr/>
          <a:lstStyle/>
          <a:p>
            <a:fld id="{19D42B5C-DFA0-4F61-93A5-06651F3E99BC}" type="slidenum">
              <a:rPr lang="fr-FR" smtClean="0"/>
              <a:t>‹N°›</a:t>
            </a:fld>
            <a:endParaRPr lang="fr-FR"/>
          </a:p>
        </p:txBody>
      </p:sp>
    </p:spTree>
    <p:extLst>
      <p:ext uri="{BB962C8B-B14F-4D97-AF65-F5344CB8AC3E}">
        <p14:creationId xmlns:p14="http://schemas.microsoft.com/office/powerpoint/2010/main" val="2408328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958900A-886C-E749-31BF-EA531F4DE5D6}"/>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48954034-8C93-9333-879E-2077831C41B5}"/>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AA0C1D03-DC47-49FF-4A88-95F916F21C41}"/>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5C7B993E-02FB-AF1D-3716-0EB6C0AB2DF9}"/>
              </a:ext>
            </a:extLst>
          </p:cNvPr>
          <p:cNvSpPr>
            <a:spLocks noGrp="1"/>
          </p:cNvSpPr>
          <p:nvPr>
            <p:ph type="dt" sz="half" idx="10"/>
          </p:nvPr>
        </p:nvSpPr>
        <p:spPr/>
        <p:txBody>
          <a:bodyPr/>
          <a:lstStyle/>
          <a:p>
            <a:fld id="{B25980C9-7327-4AB2-AF60-70BAAFF4AD3D}" type="datetimeFigureOut">
              <a:rPr lang="fr-FR" smtClean="0"/>
              <a:t>13/10/2026</a:t>
            </a:fld>
            <a:endParaRPr lang="fr-FR"/>
          </a:p>
        </p:txBody>
      </p:sp>
      <p:sp>
        <p:nvSpPr>
          <p:cNvPr id="6" name="Espace réservé du pied de page 5">
            <a:extLst>
              <a:ext uri="{FF2B5EF4-FFF2-40B4-BE49-F238E27FC236}">
                <a16:creationId xmlns:a16="http://schemas.microsoft.com/office/drawing/2014/main" id="{69F95481-882D-820C-CE90-0DAC17E7206B}"/>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647E3DE2-E7F3-D146-3A25-17A70D2E0092}"/>
              </a:ext>
            </a:extLst>
          </p:cNvPr>
          <p:cNvSpPr>
            <a:spLocks noGrp="1"/>
          </p:cNvSpPr>
          <p:nvPr>
            <p:ph type="sldNum" sz="quarter" idx="12"/>
          </p:nvPr>
        </p:nvSpPr>
        <p:spPr/>
        <p:txBody>
          <a:bodyPr/>
          <a:lstStyle/>
          <a:p>
            <a:fld id="{19D42B5C-DFA0-4F61-93A5-06651F3E99BC}" type="slidenum">
              <a:rPr lang="fr-FR" smtClean="0"/>
              <a:t>‹N°›</a:t>
            </a:fld>
            <a:endParaRPr lang="fr-FR"/>
          </a:p>
        </p:txBody>
      </p:sp>
    </p:spTree>
    <p:extLst>
      <p:ext uri="{BB962C8B-B14F-4D97-AF65-F5344CB8AC3E}">
        <p14:creationId xmlns:p14="http://schemas.microsoft.com/office/powerpoint/2010/main" val="13008914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F05988C-D67F-B865-9390-9508214CC8C7}"/>
              </a:ext>
            </a:extLst>
          </p:cNvPr>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a:extLst>
              <a:ext uri="{FF2B5EF4-FFF2-40B4-BE49-F238E27FC236}">
                <a16:creationId xmlns:a16="http://schemas.microsoft.com/office/drawing/2014/main" id="{10DCCB69-3C9D-B943-5CC7-4BE582CE8F2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A13B8E3A-1A2F-CF55-8AB9-C8B4342E16AC}"/>
              </a:ext>
            </a:extLst>
          </p:cNvPr>
          <p:cNvSpPr>
            <a:spLocks noGrp="1"/>
          </p:cNvSpPr>
          <p:nvPr>
            <p:ph sz="half" idx="2"/>
          </p:nvPr>
        </p:nvSpPr>
        <p:spPr>
          <a:xfrm>
            <a:off x="839788"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a:extLst>
              <a:ext uri="{FF2B5EF4-FFF2-40B4-BE49-F238E27FC236}">
                <a16:creationId xmlns:a16="http://schemas.microsoft.com/office/drawing/2014/main" id="{3F470DBA-8E74-E4BB-9D8A-207FEA37C5D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0E12CF19-38E7-B708-907B-C489C6D38D03}"/>
              </a:ext>
            </a:extLst>
          </p:cNvPr>
          <p:cNvSpPr>
            <a:spLocks noGrp="1"/>
          </p:cNvSpPr>
          <p:nvPr>
            <p:ph sz="quarter" idx="4"/>
          </p:nvPr>
        </p:nvSpPr>
        <p:spPr>
          <a:xfrm>
            <a:off x="6172200"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a:extLst>
              <a:ext uri="{FF2B5EF4-FFF2-40B4-BE49-F238E27FC236}">
                <a16:creationId xmlns:a16="http://schemas.microsoft.com/office/drawing/2014/main" id="{D47D34C6-AD7B-0818-018D-CE846BEDAC15}"/>
              </a:ext>
            </a:extLst>
          </p:cNvPr>
          <p:cNvSpPr>
            <a:spLocks noGrp="1"/>
          </p:cNvSpPr>
          <p:nvPr>
            <p:ph type="dt" sz="half" idx="10"/>
          </p:nvPr>
        </p:nvSpPr>
        <p:spPr/>
        <p:txBody>
          <a:bodyPr/>
          <a:lstStyle/>
          <a:p>
            <a:fld id="{B25980C9-7327-4AB2-AF60-70BAAFF4AD3D}" type="datetimeFigureOut">
              <a:rPr lang="fr-FR" smtClean="0"/>
              <a:t>13/10/2026</a:t>
            </a:fld>
            <a:endParaRPr lang="fr-FR"/>
          </a:p>
        </p:txBody>
      </p:sp>
      <p:sp>
        <p:nvSpPr>
          <p:cNvPr id="8" name="Espace réservé du pied de page 7">
            <a:extLst>
              <a:ext uri="{FF2B5EF4-FFF2-40B4-BE49-F238E27FC236}">
                <a16:creationId xmlns:a16="http://schemas.microsoft.com/office/drawing/2014/main" id="{045CAFC5-32E6-DAA9-F679-E62B4A5D602E}"/>
              </a:ext>
            </a:extLst>
          </p:cNvPr>
          <p:cNvSpPr>
            <a:spLocks noGrp="1"/>
          </p:cNvSpPr>
          <p:nvPr>
            <p:ph type="ftr" sz="quarter" idx="11"/>
          </p:nvPr>
        </p:nvSpPr>
        <p:spPr/>
        <p:txBody>
          <a:bodyPr/>
          <a:lstStyle/>
          <a:p>
            <a:endParaRPr lang="fr-FR"/>
          </a:p>
        </p:txBody>
      </p:sp>
      <p:sp>
        <p:nvSpPr>
          <p:cNvPr id="9" name="Espace réservé du numéro de diapositive 8">
            <a:extLst>
              <a:ext uri="{FF2B5EF4-FFF2-40B4-BE49-F238E27FC236}">
                <a16:creationId xmlns:a16="http://schemas.microsoft.com/office/drawing/2014/main" id="{ADD8BF7D-445A-CFC0-B4A7-9BA67B203CBE}"/>
              </a:ext>
            </a:extLst>
          </p:cNvPr>
          <p:cNvSpPr>
            <a:spLocks noGrp="1"/>
          </p:cNvSpPr>
          <p:nvPr>
            <p:ph type="sldNum" sz="quarter" idx="12"/>
          </p:nvPr>
        </p:nvSpPr>
        <p:spPr/>
        <p:txBody>
          <a:bodyPr/>
          <a:lstStyle/>
          <a:p>
            <a:fld id="{19D42B5C-DFA0-4F61-93A5-06651F3E99BC}" type="slidenum">
              <a:rPr lang="fr-FR" smtClean="0"/>
              <a:t>‹N°›</a:t>
            </a:fld>
            <a:endParaRPr lang="fr-FR"/>
          </a:p>
        </p:txBody>
      </p:sp>
    </p:spTree>
    <p:extLst>
      <p:ext uri="{BB962C8B-B14F-4D97-AF65-F5344CB8AC3E}">
        <p14:creationId xmlns:p14="http://schemas.microsoft.com/office/powerpoint/2010/main" val="22225036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3DCDD1D-0F93-943E-0AF0-85C205C76A87}"/>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8753FF6C-64E1-81F6-A31B-19D1624883ED}"/>
              </a:ext>
            </a:extLst>
          </p:cNvPr>
          <p:cNvSpPr>
            <a:spLocks noGrp="1"/>
          </p:cNvSpPr>
          <p:nvPr>
            <p:ph type="dt" sz="half" idx="10"/>
          </p:nvPr>
        </p:nvSpPr>
        <p:spPr/>
        <p:txBody>
          <a:bodyPr/>
          <a:lstStyle/>
          <a:p>
            <a:fld id="{B25980C9-7327-4AB2-AF60-70BAAFF4AD3D}" type="datetimeFigureOut">
              <a:rPr lang="fr-FR" smtClean="0"/>
              <a:t>13/10/2026</a:t>
            </a:fld>
            <a:endParaRPr lang="fr-FR"/>
          </a:p>
        </p:txBody>
      </p:sp>
      <p:sp>
        <p:nvSpPr>
          <p:cNvPr id="4" name="Espace réservé du pied de page 3">
            <a:extLst>
              <a:ext uri="{FF2B5EF4-FFF2-40B4-BE49-F238E27FC236}">
                <a16:creationId xmlns:a16="http://schemas.microsoft.com/office/drawing/2014/main" id="{BF335D0D-F6FD-D771-C938-8D7DC1D6724E}"/>
              </a:ext>
            </a:extLst>
          </p:cNvPr>
          <p:cNvSpPr>
            <a:spLocks noGrp="1"/>
          </p:cNvSpPr>
          <p:nvPr>
            <p:ph type="ftr" sz="quarter" idx="11"/>
          </p:nvPr>
        </p:nvSpPr>
        <p:spPr/>
        <p:txBody>
          <a:bodyPr/>
          <a:lstStyle/>
          <a:p>
            <a:endParaRPr lang="fr-FR"/>
          </a:p>
        </p:txBody>
      </p:sp>
      <p:sp>
        <p:nvSpPr>
          <p:cNvPr id="5" name="Espace réservé du numéro de diapositive 4">
            <a:extLst>
              <a:ext uri="{FF2B5EF4-FFF2-40B4-BE49-F238E27FC236}">
                <a16:creationId xmlns:a16="http://schemas.microsoft.com/office/drawing/2014/main" id="{891192B2-4F63-D864-3E00-3B97E3014C00}"/>
              </a:ext>
            </a:extLst>
          </p:cNvPr>
          <p:cNvSpPr>
            <a:spLocks noGrp="1"/>
          </p:cNvSpPr>
          <p:nvPr>
            <p:ph type="sldNum" sz="quarter" idx="12"/>
          </p:nvPr>
        </p:nvSpPr>
        <p:spPr/>
        <p:txBody>
          <a:bodyPr/>
          <a:lstStyle/>
          <a:p>
            <a:fld id="{19D42B5C-DFA0-4F61-93A5-06651F3E99BC}" type="slidenum">
              <a:rPr lang="fr-FR" smtClean="0"/>
              <a:t>‹N°›</a:t>
            </a:fld>
            <a:endParaRPr lang="fr-FR"/>
          </a:p>
        </p:txBody>
      </p:sp>
    </p:spTree>
    <p:extLst>
      <p:ext uri="{BB962C8B-B14F-4D97-AF65-F5344CB8AC3E}">
        <p14:creationId xmlns:p14="http://schemas.microsoft.com/office/powerpoint/2010/main" val="14858504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73EB12BD-9158-E32F-A1A4-B33AF6CE6732}"/>
              </a:ext>
            </a:extLst>
          </p:cNvPr>
          <p:cNvSpPr>
            <a:spLocks noGrp="1"/>
          </p:cNvSpPr>
          <p:nvPr>
            <p:ph type="dt" sz="half" idx="10"/>
          </p:nvPr>
        </p:nvSpPr>
        <p:spPr/>
        <p:txBody>
          <a:bodyPr/>
          <a:lstStyle/>
          <a:p>
            <a:fld id="{B25980C9-7327-4AB2-AF60-70BAAFF4AD3D}" type="datetimeFigureOut">
              <a:rPr lang="fr-FR" smtClean="0"/>
              <a:t>13/10/2026</a:t>
            </a:fld>
            <a:endParaRPr lang="fr-FR"/>
          </a:p>
        </p:txBody>
      </p:sp>
      <p:sp>
        <p:nvSpPr>
          <p:cNvPr id="3" name="Espace réservé du pied de page 2">
            <a:extLst>
              <a:ext uri="{FF2B5EF4-FFF2-40B4-BE49-F238E27FC236}">
                <a16:creationId xmlns:a16="http://schemas.microsoft.com/office/drawing/2014/main" id="{6818F952-9BF3-7C8D-1CD0-B521FC13467B}"/>
              </a:ext>
            </a:extLst>
          </p:cNvPr>
          <p:cNvSpPr>
            <a:spLocks noGrp="1"/>
          </p:cNvSpPr>
          <p:nvPr>
            <p:ph type="ftr" sz="quarter" idx="11"/>
          </p:nvPr>
        </p:nvSpPr>
        <p:spPr/>
        <p:txBody>
          <a:bodyPr/>
          <a:lstStyle/>
          <a:p>
            <a:endParaRPr lang="fr-FR"/>
          </a:p>
        </p:txBody>
      </p:sp>
      <p:sp>
        <p:nvSpPr>
          <p:cNvPr id="4" name="Espace réservé du numéro de diapositive 3">
            <a:extLst>
              <a:ext uri="{FF2B5EF4-FFF2-40B4-BE49-F238E27FC236}">
                <a16:creationId xmlns:a16="http://schemas.microsoft.com/office/drawing/2014/main" id="{B041CE7C-6444-AC86-BFD8-4AE232A7B7F2}"/>
              </a:ext>
            </a:extLst>
          </p:cNvPr>
          <p:cNvSpPr>
            <a:spLocks noGrp="1"/>
          </p:cNvSpPr>
          <p:nvPr>
            <p:ph type="sldNum" sz="quarter" idx="12"/>
          </p:nvPr>
        </p:nvSpPr>
        <p:spPr/>
        <p:txBody>
          <a:bodyPr/>
          <a:lstStyle/>
          <a:p>
            <a:fld id="{19D42B5C-DFA0-4F61-93A5-06651F3E99BC}" type="slidenum">
              <a:rPr lang="fr-FR" smtClean="0"/>
              <a:t>‹N°›</a:t>
            </a:fld>
            <a:endParaRPr lang="fr-FR"/>
          </a:p>
        </p:txBody>
      </p:sp>
    </p:spTree>
    <p:extLst>
      <p:ext uri="{BB962C8B-B14F-4D97-AF65-F5344CB8AC3E}">
        <p14:creationId xmlns:p14="http://schemas.microsoft.com/office/powerpoint/2010/main" val="25463254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642B6FD-FB3A-5ECD-3837-84FB942350D7}"/>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a:extLst>
              <a:ext uri="{FF2B5EF4-FFF2-40B4-BE49-F238E27FC236}">
                <a16:creationId xmlns:a16="http://schemas.microsoft.com/office/drawing/2014/main" id="{C8A3FB37-6C9F-C963-DA78-4CA64CEEAED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a:extLst>
              <a:ext uri="{FF2B5EF4-FFF2-40B4-BE49-F238E27FC236}">
                <a16:creationId xmlns:a16="http://schemas.microsoft.com/office/drawing/2014/main" id="{0CABAFA9-2543-AA10-1F20-F89D2EF7344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64F34426-274F-2FA7-56C1-D7956FAE46D7}"/>
              </a:ext>
            </a:extLst>
          </p:cNvPr>
          <p:cNvSpPr>
            <a:spLocks noGrp="1"/>
          </p:cNvSpPr>
          <p:nvPr>
            <p:ph type="dt" sz="half" idx="10"/>
          </p:nvPr>
        </p:nvSpPr>
        <p:spPr/>
        <p:txBody>
          <a:bodyPr/>
          <a:lstStyle/>
          <a:p>
            <a:fld id="{B25980C9-7327-4AB2-AF60-70BAAFF4AD3D}" type="datetimeFigureOut">
              <a:rPr lang="fr-FR" smtClean="0"/>
              <a:t>13/10/2026</a:t>
            </a:fld>
            <a:endParaRPr lang="fr-FR"/>
          </a:p>
        </p:txBody>
      </p:sp>
      <p:sp>
        <p:nvSpPr>
          <p:cNvPr id="6" name="Espace réservé du pied de page 5">
            <a:extLst>
              <a:ext uri="{FF2B5EF4-FFF2-40B4-BE49-F238E27FC236}">
                <a16:creationId xmlns:a16="http://schemas.microsoft.com/office/drawing/2014/main" id="{833CF676-1A99-0995-2B73-3F91D2D67A00}"/>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4FE6741C-5826-C355-F017-0DC58D27021D}"/>
              </a:ext>
            </a:extLst>
          </p:cNvPr>
          <p:cNvSpPr>
            <a:spLocks noGrp="1"/>
          </p:cNvSpPr>
          <p:nvPr>
            <p:ph type="sldNum" sz="quarter" idx="12"/>
          </p:nvPr>
        </p:nvSpPr>
        <p:spPr/>
        <p:txBody>
          <a:bodyPr/>
          <a:lstStyle/>
          <a:p>
            <a:fld id="{19D42B5C-DFA0-4F61-93A5-06651F3E99BC}" type="slidenum">
              <a:rPr lang="fr-FR" smtClean="0"/>
              <a:t>‹N°›</a:t>
            </a:fld>
            <a:endParaRPr lang="fr-FR"/>
          </a:p>
        </p:txBody>
      </p:sp>
    </p:spTree>
    <p:extLst>
      <p:ext uri="{BB962C8B-B14F-4D97-AF65-F5344CB8AC3E}">
        <p14:creationId xmlns:p14="http://schemas.microsoft.com/office/powerpoint/2010/main" val="420468496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C908079-B36C-F441-2861-F05FD8E1DD04}"/>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a:extLst>
              <a:ext uri="{FF2B5EF4-FFF2-40B4-BE49-F238E27FC236}">
                <a16:creationId xmlns:a16="http://schemas.microsoft.com/office/drawing/2014/main" id="{ACDFBB4D-E38C-9E1D-6C86-8E30137C03B3}"/>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a:extLst>
              <a:ext uri="{FF2B5EF4-FFF2-40B4-BE49-F238E27FC236}">
                <a16:creationId xmlns:a16="http://schemas.microsoft.com/office/drawing/2014/main" id="{A09BD4AC-2044-1BF5-15E3-0B8D8929B5B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BC74C0F3-E344-0075-EEB4-3AA16A0727CA}"/>
              </a:ext>
            </a:extLst>
          </p:cNvPr>
          <p:cNvSpPr>
            <a:spLocks noGrp="1"/>
          </p:cNvSpPr>
          <p:nvPr>
            <p:ph type="dt" sz="half" idx="10"/>
          </p:nvPr>
        </p:nvSpPr>
        <p:spPr/>
        <p:txBody>
          <a:bodyPr/>
          <a:lstStyle/>
          <a:p>
            <a:fld id="{B25980C9-7327-4AB2-AF60-70BAAFF4AD3D}" type="datetimeFigureOut">
              <a:rPr lang="fr-FR" smtClean="0"/>
              <a:t>13/10/2026</a:t>
            </a:fld>
            <a:endParaRPr lang="fr-FR"/>
          </a:p>
        </p:txBody>
      </p:sp>
      <p:sp>
        <p:nvSpPr>
          <p:cNvPr id="6" name="Espace réservé du pied de page 5">
            <a:extLst>
              <a:ext uri="{FF2B5EF4-FFF2-40B4-BE49-F238E27FC236}">
                <a16:creationId xmlns:a16="http://schemas.microsoft.com/office/drawing/2014/main" id="{8DF5D253-85F2-4D0C-9203-16E7489F80D3}"/>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DC11B5EA-33A7-8D9D-2488-3F7E50FAC2B6}"/>
              </a:ext>
            </a:extLst>
          </p:cNvPr>
          <p:cNvSpPr>
            <a:spLocks noGrp="1"/>
          </p:cNvSpPr>
          <p:nvPr>
            <p:ph type="sldNum" sz="quarter" idx="12"/>
          </p:nvPr>
        </p:nvSpPr>
        <p:spPr/>
        <p:txBody>
          <a:bodyPr/>
          <a:lstStyle/>
          <a:p>
            <a:fld id="{19D42B5C-DFA0-4F61-93A5-06651F3E99BC}" type="slidenum">
              <a:rPr lang="fr-FR" smtClean="0"/>
              <a:t>‹N°›</a:t>
            </a:fld>
            <a:endParaRPr lang="fr-FR"/>
          </a:p>
        </p:txBody>
      </p:sp>
    </p:spTree>
    <p:extLst>
      <p:ext uri="{BB962C8B-B14F-4D97-AF65-F5344CB8AC3E}">
        <p14:creationId xmlns:p14="http://schemas.microsoft.com/office/powerpoint/2010/main" val="86376729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323349F-8E5D-158A-E13C-C8AE0B3AD38B}"/>
              </a:ext>
            </a:extLst>
          </p:cNvPr>
          <p:cNvSpPr>
            <a:spLocks noGrp="1"/>
          </p:cNvSpPr>
          <p:nvPr>
            <p:ph type="title"/>
          </p:nvPr>
        </p:nvSpPr>
        <p:spPr/>
        <p:txBody>
          <a:bodyPr/>
          <a:lstStyle/>
          <a:p>
            <a:r>
              <a:rPr lang="fr-FR"/>
              <a:t>Modifiez le style du titre</a:t>
            </a:r>
          </a:p>
        </p:txBody>
      </p:sp>
      <p:sp>
        <p:nvSpPr>
          <p:cNvPr id="3" name="Espace réservé du texte vertical 2">
            <a:extLst>
              <a:ext uri="{FF2B5EF4-FFF2-40B4-BE49-F238E27FC236}">
                <a16:creationId xmlns:a16="http://schemas.microsoft.com/office/drawing/2014/main" id="{7E40E0B6-245C-3F6A-9B45-71710B958C35}"/>
              </a:ext>
            </a:extLst>
          </p:cNvPr>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F8D529F8-1C67-DB14-3458-FCC5C9BFB259}"/>
              </a:ext>
            </a:extLst>
          </p:cNvPr>
          <p:cNvSpPr>
            <a:spLocks noGrp="1"/>
          </p:cNvSpPr>
          <p:nvPr>
            <p:ph type="dt" sz="half" idx="10"/>
          </p:nvPr>
        </p:nvSpPr>
        <p:spPr/>
        <p:txBody>
          <a:bodyPr/>
          <a:lstStyle/>
          <a:p>
            <a:fld id="{B25980C9-7327-4AB2-AF60-70BAAFF4AD3D}" type="datetimeFigureOut">
              <a:rPr lang="fr-FR" smtClean="0"/>
              <a:t>13/10/2026</a:t>
            </a:fld>
            <a:endParaRPr lang="fr-FR"/>
          </a:p>
        </p:txBody>
      </p:sp>
      <p:sp>
        <p:nvSpPr>
          <p:cNvPr id="5" name="Espace réservé du pied de page 4">
            <a:extLst>
              <a:ext uri="{FF2B5EF4-FFF2-40B4-BE49-F238E27FC236}">
                <a16:creationId xmlns:a16="http://schemas.microsoft.com/office/drawing/2014/main" id="{59F2B689-9BFA-3091-A0A9-DB25A619B2CC}"/>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1AC92901-CD21-5AC8-8B72-C32882D832B2}"/>
              </a:ext>
            </a:extLst>
          </p:cNvPr>
          <p:cNvSpPr>
            <a:spLocks noGrp="1"/>
          </p:cNvSpPr>
          <p:nvPr>
            <p:ph type="sldNum" sz="quarter" idx="12"/>
          </p:nvPr>
        </p:nvSpPr>
        <p:spPr/>
        <p:txBody>
          <a:bodyPr/>
          <a:lstStyle/>
          <a:p>
            <a:fld id="{19D42B5C-DFA0-4F61-93A5-06651F3E99BC}" type="slidenum">
              <a:rPr lang="fr-FR" smtClean="0"/>
              <a:t>‹N°›</a:t>
            </a:fld>
            <a:endParaRPr lang="fr-FR"/>
          </a:p>
        </p:txBody>
      </p:sp>
    </p:spTree>
    <p:extLst>
      <p:ext uri="{BB962C8B-B14F-4D97-AF65-F5344CB8AC3E}">
        <p14:creationId xmlns:p14="http://schemas.microsoft.com/office/powerpoint/2010/main" val="233961473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60A207FE-7E19-391D-3ED5-301BD5F4CD14}"/>
              </a:ext>
            </a:extLst>
          </p:cNvPr>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a:extLst>
              <a:ext uri="{FF2B5EF4-FFF2-40B4-BE49-F238E27FC236}">
                <a16:creationId xmlns:a16="http://schemas.microsoft.com/office/drawing/2014/main" id="{94C52670-31CB-5E40-420A-06E0294753A3}"/>
              </a:ext>
            </a:extLst>
          </p:cNvPr>
          <p:cNvSpPr>
            <a:spLocks noGrp="1"/>
          </p:cNvSpPr>
          <p:nvPr>
            <p:ph type="body" orient="vert" idx="1"/>
          </p:nvPr>
        </p:nvSpPr>
        <p:spPr>
          <a:xfrm>
            <a:off x="838200"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C661A050-F626-C8DB-ECD2-DF687C45EA93}"/>
              </a:ext>
            </a:extLst>
          </p:cNvPr>
          <p:cNvSpPr>
            <a:spLocks noGrp="1"/>
          </p:cNvSpPr>
          <p:nvPr>
            <p:ph type="dt" sz="half" idx="10"/>
          </p:nvPr>
        </p:nvSpPr>
        <p:spPr/>
        <p:txBody>
          <a:bodyPr/>
          <a:lstStyle/>
          <a:p>
            <a:fld id="{B25980C9-7327-4AB2-AF60-70BAAFF4AD3D}" type="datetimeFigureOut">
              <a:rPr lang="fr-FR" smtClean="0"/>
              <a:t>13/10/2026</a:t>
            </a:fld>
            <a:endParaRPr lang="fr-FR"/>
          </a:p>
        </p:txBody>
      </p:sp>
      <p:sp>
        <p:nvSpPr>
          <p:cNvPr id="5" name="Espace réservé du pied de page 4">
            <a:extLst>
              <a:ext uri="{FF2B5EF4-FFF2-40B4-BE49-F238E27FC236}">
                <a16:creationId xmlns:a16="http://schemas.microsoft.com/office/drawing/2014/main" id="{681D4CA5-193B-7791-9238-3762087A2A35}"/>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E37959FA-9ACD-1483-4B11-0ED08FFE7F8E}"/>
              </a:ext>
            </a:extLst>
          </p:cNvPr>
          <p:cNvSpPr>
            <a:spLocks noGrp="1"/>
          </p:cNvSpPr>
          <p:nvPr>
            <p:ph type="sldNum" sz="quarter" idx="12"/>
          </p:nvPr>
        </p:nvSpPr>
        <p:spPr/>
        <p:txBody>
          <a:bodyPr/>
          <a:lstStyle/>
          <a:p>
            <a:fld id="{19D42B5C-DFA0-4F61-93A5-06651F3E99BC}" type="slidenum">
              <a:rPr lang="fr-FR" smtClean="0"/>
              <a:t>‹N°›</a:t>
            </a:fld>
            <a:endParaRPr lang="fr-FR"/>
          </a:p>
        </p:txBody>
      </p:sp>
    </p:spTree>
    <p:extLst>
      <p:ext uri="{BB962C8B-B14F-4D97-AF65-F5344CB8AC3E}">
        <p14:creationId xmlns:p14="http://schemas.microsoft.com/office/powerpoint/2010/main" val="252806886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D0B3F5F2-BA05-DCCC-510E-659406FC004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a:extLst>
              <a:ext uri="{FF2B5EF4-FFF2-40B4-BE49-F238E27FC236}">
                <a16:creationId xmlns:a16="http://schemas.microsoft.com/office/drawing/2014/main" id="{E519AC08-A5AF-3992-A79E-C4C6242498D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1DE1C1FB-2D4C-C4C8-6CC4-C80A5D27B89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25980C9-7327-4AB2-AF60-70BAAFF4AD3D}" type="datetimeFigureOut">
              <a:rPr lang="fr-FR" smtClean="0"/>
              <a:t>13/10/2026</a:t>
            </a:fld>
            <a:endParaRPr lang="fr-FR"/>
          </a:p>
        </p:txBody>
      </p:sp>
      <p:sp>
        <p:nvSpPr>
          <p:cNvPr id="5" name="Espace réservé du pied de page 4">
            <a:extLst>
              <a:ext uri="{FF2B5EF4-FFF2-40B4-BE49-F238E27FC236}">
                <a16:creationId xmlns:a16="http://schemas.microsoft.com/office/drawing/2014/main" id="{954686B7-A23E-1244-B395-E861B459899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FR"/>
          </a:p>
        </p:txBody>
      </p:sp>
      <p:sp>
        <p:nvSpPr>
          <p:cNvPr id="6" name="Espace réservé du numéro de diapositive 5">
            <a:extLst>
              <a:ext uri="{FF2B5EF4-FFF2-40B4-BE49-F238E27FC236}">
                <a16:creationId xmlns:a16="http://schemas.microsoft.com/office/drawing/2014/main" id="{0100ED5F-A504-F208-5E9E-8E8F38B2351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9D42B5C-DFA0-4F61-93A5-06651F3E99BC}" type="slidenum">
              <a:rPr lang="fr-FR" smtClean="0"/>
              <a:t>‹N°›</a:t>
            </a:fld>
            <a:endParaRPr lang="fr-FR"/>
          </a:p>
        </p:txBody>
      </p:sp>
    </p:spTree>
    <p:extLst>
      <p:ext uri="{BB962C8B-B14F-4D97-AF65-F5344CB8AC3E}">
        <p14:creationId xmlns:p14="http://schemas.microsoft.com/office/powerpoint/2010/main" val="380560142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EpitechMscProPromo2029/T-WEB-501-PAR-5-1-job_board-5/blob/main/docs/choix_techniques_front.md" TargetMode="External"/><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1016"/>
        </a:solidFill>
        <a:effectLst/>
      </p:bgPr>
    </p:bg>
    <p:spTree>
      <p:nvGrpSpPr>
        <p:cNvPr id="1" name=""/>
        <p:cNvGrpSpPr/>
        <p:nvPr/>
      </p:nvGrpSpPr>
      <p:grpSpPr>
        <a:xfrm>
          <a:off x="0" y="0"/>
          <a:ext cx="0" cy="0"/>
          <a:chOff x="0" y="0"/>
          <a:chExt cx="0" cy="0"/>
        </a:xfrm>
      </p:grpSpPr>
      <p:sp>
        <p:nvSpPr>
          <p:cNvPr id="2" name="ZoneTexte 1">
            <a:extLst>
              <a:ext uri="{FF2B5EF4-FFF2-40B4-BE49-F238E27FC236}">
                <a16:creationId xmlns:a16="http://schemas.microsoft.com/office/drawing/2014/main" id="{6134A688-3A2E-E875-4DC8-63A7A9008D41}"/>
              </a:ext>
            </a:extLst>
          </p:cNvPr>
          <p:cNvSpPr txBox="1"/>
          <p:nvPr/>
        </p:nvSpPr>
        <p:spPr>
          <a:xfrm>
            <a:off x="914400" y="914400"/>
            <a:ext cx="2032000" cy="369332"/>
          </a:xfrm>
          <a:prstGeom prst="rect">
            <a:avLst/>
          </a:prstGeom>
          <a:noFill/>
        </p:spPr>
        <p:txBody>
          <a:bodyPr vert="horz" wrap="square" lIns="0" tIns="0" rIns="0" bIns="0" rtlCol="0">
            <a:noAutofit/>
          </a:bodyPr>
          <a:lstStyle/>
          <a:p>
            <a:pPr>
              <a:lnSpc>
                <a:spcPct val="115000"/>
              </a:lnSpc>
            </a:pPr>
            <a:r>
              <a:rPr lang="fr-FR" sz="2000">
                <a:solidFill>
                  <a:srgbClr val="F2F5F8"/>
                </a:solidFill>
                <a:latin typeface="Manrope SemiBold" pitchFamily="2" charset="0"/>
              </a:rPr>
              <a:t>Y.I.A J</a:t>
            </a:r>
            <a:r>
              <a:rPr lang="fr-FR" sz="2000">
                <a:solidFill>
                  <a:srgbClr val="A9CCE3"/>
                </a:solidFill>
                <a:latin typeface="Manrope SemiBold" pitchFamily="2" charset="0"/>
              </a:rPr>
              <a:t>o</a:t>
            </a:r>
            <a:r>
              <a:rPr lang="fr-FR" sz="2000">
                <a:solidFill>
                  <a:srgbClr val="F2F5F8"/>
                </a:solidFill>
                <a:latin typeface="Manrope SemiBold" pitchFamily="2" charset="0"/>
              </a:rPr>
              <a:t>bs</a:t>
            </a:r>
          </a:p>
        </p:txBody>
      </p:sp>
      <p:sp>
        <p:nvSpPr>
          <p:cNvPr id="3" name="ZoneTexte 2">
            <a:extLst>
              <a:ext uri="{FF2B5EF4-FFF2-40B4-BE49-F238E27FC236}">
                <a16:creationId xmlns:a16="http://schemas.microsoft.com/office/drawing/2014/main" id="{A3249261-F637-F619-4D43-B4D35DAAA271}"/>
              </a:ext>
            </a:extLst>
          </p:cNvPr>
          <p:cNvSpPr txBox="1"/>
          <p:nvPr/>
        </p:nvSpPr>
        <p:spPr>
          <a:xfrm>
            <a:off x="914400" y="2235200"/>
            <a:ext cx="10160000" cy="369332"/>
          </a:xfrm>
          <a:prstGeom prst="rect">
            <a:avLst/>
          </a:prstGeom>
          <a:noFill/>
        </p:spPr>
        <p:txBody>
          <a:bodyPr vert="horz" wrap="square" lIns="0" tIns="0" rIns="0" bIns="0" rtlCol="0">
            <a:noAutofit/>
          </a:bodyPr>
          <a:lstStyle/>
          <a:p>
            <a:r>
              <a:rPr lang="fr-FR" sz="5800" spc="-100">
                <a:solidFill>
                  <a:srgbClr val="F2F5F8"/>
                </a:solidFill>
                <a:latin typeface="Manrope SemiBold" pitchFamily="2" charset="0"/>
              </a:rPr>
              <a:t>Votre carrière,</a:t>
            </a:r>
          </a:p>
          <a:p>
            <a:r>
              <a:rPr lang="fr-FR" sz="5800" spc="-100">
                <a:solidFill>
                  <a:srgbClr val="F2F5F8"/>
                </a:solidFill>
                <a:latin typeface="Manrope SemiBold" pitchFamily="2" charset="0"/>
              </a:rPr>
              <a:t>traitée avec </a:t>
            </a:r>
            <a:r>
              <a:rPr lang="fr-FR" sz="5800" spc="-100">
                <a:gradFill flip="none" rotWithShape="1">
                  <a:gsLst>
                    <a:gs pos="0">
                      <a:srgbClr val="5A93BF"/>
                    </a:gs>
                    <a:gs pos="100000">
                      <a:srgbClr val="A9CCE3"/>
                    </a:gs>
                  </a:gsLst>
                  <a:lin ang="0" scaled="1"/>
                  <a:tileRect/>
                </a:gradFill>
                <a:latin typeface="Manrope SemiBold" pitchFamily="2" charset="0"/>
              </a:rPr>
              <a:t>soin</a:t>
            </a:r>
            <a:r>
              <a:rPr lang="fr-FR" sz="5800" spc="-100">
                <a:solidFill>
                  <a:srgbClr val="F2F5F8"/>
                </a:solidFill>
                <a:latin typeface="Manrope SemiBold" pitchFamily="2" charset="0"/>
              </a:rPr>
              <a:t>.</a:t>
            </a:r>
          </a:p>
        </p:txBody>
      </p:sp>
      <p:sp>
        <p:nvSpPr>
          <p:cNvPr id="4" name="ZoneTexte 3">
            <a:extLst>
              <a:ext uri="{FF2B5EF4-FFF2-40B4-BE49-F238E27FC236}">
                <a16:creationId xmlns:a16="http://schemas.microsoft.com/office/drawing/2014/main" id="{1FDBBDFB-B9FC-4F52-3749-F2175201014A}"/>
              </a:ext>
            </a:extLst>
          </p:cNvPr>
          <p:cNvSpPr txBox="1"/>
          <p:nvPr/>
        </p:nvSpPr>
        <p:spPr>
          <a:xfrm>
            <a:off x="914400" y="5308600"/>
            <a:ext cx="7620000" cy="369332"/>
          </a:xfrm>
          <a:prstGeom prst="rect">
            <a:avLst/>
          </a:prstGeom>
          <a:noFill/>
        </p:spPr>
        <p:txBody>
          <a:bodyPr vert="horz" wrap="square" lIns="0" tIns="0" rIns="0" bIns="0" rtlCol="0">
            <a:noAutofit/>
          </a:bodyPr>
          <a:lstStyle/>
          <a:p>
            <a:pPr>
              <a:lnSpc>
                <a:spcPct val="115000"/>
              </a:lnSpc>
            </a:pPr>
            <a:r>
              <a:rPr lang="fr-FR" sz="1400">
                <a:solidFill>
                  <a:srgbClr val="9CA9B6"/>
                </a:solidFill>
                <a:latin typeface="Manrope" pitchFamily="2" charset="0"/>
              </a:rPr>
              <a:t>Soutenance du 14 octobre 2026</a:t>
            </a:r>
          </a:p>
        </p:txBody>
      </p:sp>
      <p:sp>
        <p:nvSpPr>
          <p:cNvPr id="5" name="ZoneTexte 4">
            <a:extLst>
              <a:ext uri="{FF2B5EF4-FFF2-40B4-BE49-F238E27FC236}">
                <a16:creationId xmlns:a16="http://schemas.microsoft.com/office/drawing/2014/main" id="{8617EC45-1874-0B4E-2784-26E7435B3B5A}"/>
              </a:ext>
            </a:extLst>
          </p:cNvPr>
          <p:cNvSpPr txBox="1"/>
          <p:nvPr/>
        </p:nvSpPr>
        <p:spPr>
          <a:xfrm>
            <a:off x="914400" y="5638800"/>
            <a:ext cx="8890000" cy="369332"/>
          </a:xfrm>
          <a:prstGeom prst="rect">
            <a:avLst/>
          </a:prstGeom>
          <a:noFill/>
        </p:spPr>
        <p:txBody>
          <a:bodyPr vert="horz" wrap="square" lIns="0" tIns="0" rIns="0" bIns="0" rtlCol="0">
            <a:noAutofit/>
          </a:bodyPr>
          <a:lstStyle/>
          <a:p>
            <a:pPr>
              <a:lnSpc>
                <a:spcPct val="115000"/>
              </a:lnSpc>
            </a:pPr>
            <a:r>
              <a:rPr lang="fr-FR" sz="1400">
                <a:solidFill>
                  <a:srgbClr val="F2F5F8"/>
                </a:solidFill>
                <a:latin typeface="Manrope Medium" pitchFamily="2" charset="0"/>
              </a:rPr>
              <a:t>Axel FOLLET · Yohan AVRONSART · Ismail BASSIT</a:t>
            </a:r>
          </a:p>
        </p:txBody>
      </p:sp>
    </p:spTree>
    <p:extLst>
      <p:ext uri="{BB962C8B-B14F-4D97-AF65-F5344CB8AC3E}">
        <p14:creationId xmlns:p14="http://schemas.microsoft.com/office/powerpoint/2010/main" val="16709734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50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par>
                                <p:cTn id="11" presetID="10" presetClass="entr" presetSubtype="0" fill="hold" grpId="0" nodeType="withEffect">
                                  <p:stCondLst>
                                    <p:cond delay="85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childTnLst>
                                </p:cTn>
                              </p:par>
                              <p:par>
                                <p:cTn id="14" presetID="10" presetClass="entr" presetSubtype="0" fill="hold" grpId="0" nodeType="withEffect">
                                  <p:stCondLst>
                                    <p:cond delay="85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P spid="5" grpId="0"/>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1016"/>
        </a:solidFill>
        <a:effectLst/>
      </p:bgPr>
    </p:bg>
    <p:spTree>
      <p:nvGrpSpPr>
        <p:cNvPr id="1" name=""/>
        <p:cNvGrpSpPr/>
        <p:nvPr/>
      </p:nvGrpSpPr>
      <p:grpSpPr>
        <a:xfrm>
          <a:off x="0" y="0"/>
          <a:ext cx="0" cy="0"/>
          <a:chOff x="0" y="0"/>
          <a:chExt cx="0" cy="0"/>
        </a:xfrm>
      </p:grpSpPr>
      <p:sp>
        <p:nvSpPr>
          <p:cNvPr id="2" name="ZoneTexte 1">
            <a:extLst>
              <a:ext uri="{FF2B5EF4-FFF2-40B4-BE49-F238E27FC236}">
                <a16:creationId xmlns:a16="http://schemas.microsoft.com/office/drawing/2014/main" id="{A174AA58-2FA2-9B40-E869-92BCC6508318}"/>
              </a:ext>
            </a:extLst>
          </p:cNvPr>
          <p:cNvSpPr txBox="1"/>
          <p:nvPr/>
        </p:nvSpPr>
        <p:spPr>
          <a:xfrm>
            <a:off x="914400" y="711200"/>
            <a:ext cx="10363200" cy="369332"/>
          </a:xfrm>
          <a:prstGeom prst="rect">
            <a:avLst/>
          </a:prstGeom>
          <a:noFill/>
        </p:spPr>
        <p:txBody>
          <a:bodyPr vert="horz" wrap="square" lIns="0" tIns="0" rIns="0" bIns="0" rtlCol="0">
            <a:noAutofit/>
          </a:bodyPr>
          <a:lstStyle/>
          <a:p>
            <a:pPr>
              <a:lnSpc>
                <a:spcPct val="115000"/>
              </a:lnSpc>
            </a:pPr>
            <a:r>
              <a:rPr lang="fr-FR" sz="1100" spc="260">
                <a:solidFill>
                  <a:srgbClr val="A9CCE3"/>
                </a:solidFill>
                <a:latin typeface="Manrope SemiBold" pitchFamily="2" charset="0"/>
              </a:rPr>
              <a:t>LE CONSTAT</a:t>
            </a:r>
          </a:p>
        </p:txBody>
      </p:sp>
      <p:sp>
        <p:nvSpPr>
          <p:cNvPr id="3" name="ZoneTexte 2">
            <a:extLst>
              <a:ext uri="{FF2B5EF4-FFF2-40B4-BE49-F238E27FC236}">
                <a16:creationId xmlns:a16="http://schemas.microsoft.com/office/drawing/2014/main" id="{5E92A121-080E-EF03-8468-184C330CF866}"/>
              </a:ext>
            </a:extLst>
          </p:cNvPr>
          <p:cNvSpPr txBox="1"/>
          <p:nvPr/>
        </p:nvSpPr>
        <p:spPr>
          <a:xfrm>
            <a:off x="914400" y="990600"/>
            <a:ext cx="10363200" cy="369332"/>
          </a:xfrm>
          <a:prstGeom prst="rect">
            <a:avLst/>
          </a:prstGeom>
          <a:noFill/>
        </p:spPr>
        <p:txBody>
          <a:bodyPr vert="horz" wrap="square" lIns="0" tIns="0" rIns="0" bIns="0" rtlCol="0">
            <a:noAutofit/>
          </a:bodyPr>
          <a:lstStyle/>
          <a:p>
            <a:r>
              <a:rPr lang="fr-FR" sz="3600" spc="-50">
                <a:solidFill>
                  <a:srgbClr val="F2F5F8"/>
                </a:solidFill>
                <a:latin typeface="Manrope SemiBold" pitchFamily="2" charset="0"/>
              </a:rPr>
              <a:t>Postuler est devenu un parcours d'</a:t>
            </a:r>
            <a:r>
              <a:rPr lang="fr-FR" sz="3600" spc="-50">
                <a:gradFill flip="none" rotWithShape="1">
                  <a:gsLst>
                    <a:gs pos="0">
                      <a:srgbClr val="5A93BF"/>
                    </a:gs>
                    <a:gs pos="100000">
                      <a:srgbClr val="A9CCE3"/>
                    </a:gs>
                  </a:gsLst>
                  <a:lin ang="0" scaled="1"/>
                  <a:tileRect/>
                </a:gradFill>
                <a:latin typeface="Manrope SemiBold" pitchFamily="2" charset="0"/>
              </a:rPr>
              <a:t>obstacles</a:t>
            </a:r>
            <a:r>
              <a:rPr lang="fr-FR" sz="3600" spc="-50">
                <a:solidFill>
                  <a:srgbClr val="F2F5F8"/>
                </a:solidFill>
                <a:latin typeface="Manrope SemiBold" pitchFamily="2" charset="0"/>
              </a:rPr>
              <a:t>.</a:t>
            </a:r>
          </a:p>
        </p:txBody>
      </p:sp>
      <p:sp>
        <p:nvSpPr>
          <p:cNvPr id="4" name="Rectangle 3">
            <a:extLst>
              <a:ext uri="{FF2B5EF4-FFF2-40B4-BE49-F238E27FC236}">
                <a16:creationId xmlns:a16="http://schemas.microsoft.com/office/drawing/2014/main" id="{E72AD5B0-F11B-9227-EEBF-B989A6FDC2C4}"/>
              </a:ext>
            </a:extLst>
          </p:cNvPr>
          <p:cNvSpPr/>
          <p:nvPr/>
        </p:nvSpPr>
        <p:spPr>
          <a:xfrm>
            <a:off x="914400" y="2235200"/>
            <a:ext cx="508000" cy="38100"/>
          </a:xfrm>
          <a:prstGeom prst="rect">
            <a:avLst/>
          </a:prstGeom>
          <a:solidFill>
            <a:srgbClr val="A9CC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 name="ZoneTexte 4">
            <a:extLst>
              <a:ext uri="{FF2B5EF4-FFF2-40B4-BE49-F238E27FC236}">
                <a16:creationId xmlns:a16="http://schemas.microsoft.com/office/drawing/2014/main" id="{674EE2A7-5636-B272-DC5F-01536F704782}"/>
              </a:ext>
            </a:extLst>
          </p:cNvPr>
          <p:cNvSpPr txBox="1"/>
          <p:nvPr/>
        </p:nvSpPr>
        <p:spPr>
          <a:xfrm>
            <a:off x="914400" y="2489200"/>
            <a:ext cx="3200400" cy="369332"/>
          </a:xfrm>
          <a:prstGeom prst="rect">
            <a:avLst/>
          </a:prstGeom>
          <a:noFill/>
        </p:spPr>
        <p:txBody>
          <a:bodyPr vert="horz" wrap="square" lIns="0" tIns="0" rIns="0" bIns="0" rtlCol="0">
            <a:noAutofit/>
          </a:bodyPr>
          <a:lstStyle/>
          <a:p>
            <a:pPr>
              <a:lnSpc>
                <a:spcPct val="105000"/>
              </a:lnSpc>
            </a:pPr>
            <a:r>
              <a:rPr lang="fr-FR" sz="2400">
                <a:solidFill>
                  <a:srgbClr val="F2F5F8"/>
                </a:solidFill>
                <a:latin typeface="Manrope SemiBold" pitchFamily="2" charset="0"/>
              </a:rPr>
              <a:t>Des offres dispersées.</a:t>
            </a:r>
          </a:p>
        </p:txBody>
      </p:sp>
      <p:sp>
        <p:nvSpPr>
          <p:cNvPr id="6" name="ZoneTexte 5">
            <a:extLst>
              <a:ext uri="{FF2B5EF4-FFF2-40B4-BE49-F238E27FC236}">
                <a16:creationId xmlns:a16="http://schemas.microsoft.com/office/drawing/2014/main" id="{CB782D92-A0A6-3ADE-E480-2F5243F0AC01}"/>
              </a:ext>
            </a:extLst>
          </p:cNvPr>
          <p:cNvSpPr txBox="1"/>
          <p:nvPr/>
        </p:nvSpPr>
        <p:spPr>
          <a:xfrm>
            <a:off x="914400" y="3403600"/>
            <a:ext cx="2997200" cy="369332"/>
          </a:xfrm>
          <a:prstGeom prst="rect">
            <a:avLst/>
          </a:prstGeom>
          <a:noFill/>
        </p:spPr>
        <p:txBody>
          <a:bodyPr vert="horz" wrap="square" lIns="0" tIns="0" rIns="0" bIns="0" rtlCol="0">
            <a:noAutofit/>
          </a:bodyPr>
          <a:lstStyle/>
          <a:p>
            <a:pPr>
              <a:lnSpc>
                <a:spcPct val="115000"/>
              </a:lnSpc>
            </a:pPr>
            <a:r>
              <a:rPr lang="fr-FR" sz="1400">
                <a:solidFill>
                  <a:srgbClr val="9CA9B6"/>
                </a:solidFill>
                <a:latin typeface="Manrope" pitchFamily="2" charset="0"/>
              </a:rPr>
              <a:t>Les annonces sont réparties sur de nombreuses plateformes, chacune avec ses règles.</a:t>
            </a:r>
          </a:p>
        </p:txBody>
      </p:sp>
      <p:sp>
        <p:nvSpPr>
          <p:cNvPr id="7" name="Rectangle 6">
            <a:extLst>
              <a:ext uri="{FF2B5EF4-FFF2-40B4-BE49-F238E27FC236}">
                <a16:creationId xmlns:a16="http://schemas.microsoft.com/office/drawing/2014/main" id="{E3FA01C3-3B49-4FC1-35E1-62E5C5241335}"/>
              </a:ext>
            </a:extLst>
          </p:cNvPr>
          <p:cNvSpPr/>
          <p:nvPr/>
        </p:nvSpPr>
        <p:spPr>
          <a:xfrm>
            <a:off x="4495800" y="2235200"/>
            <a:ext cx="508000" cy="38100"/>
          </a:xfrm>
          <a:prstGeom prst="rect">
            <a:avLst/>
          </a:prstGeom>
          <a:solidFill>
            <a:srgbClr val="A9CC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ZoneTexte 7">
            <a:extLst>
              <a:ext uri="{FF2B5EF4-FFF2-40B4-BE49-F238E27FC236}">
                <a16:creationId xmlns:a16="http://schemas.microsoft.com/office/drawing/2014/main" id="{53D6F8C2-A20F-CADB-95FE-8CA6D0626F3D}"/>
              </a:ext>
            </a:extLst>
          </p:cNvPr>
          <p:cNvSpPr txBox="1"/>
          <p:nvPr/>
        </p:nvSpPr>
        <p:spPr>
          <a:xfrm>
            <a:off x="4495800" y="2489200"/>
            <a:ext cx="3200400" cy="369332"/>
          </a:xfrm>
          <a:prstGeom prst="rect">
            <a:avLst/>
          </a:prstGeom>
          <a:noFill/>
        </p:spPr>
        <p:txBody>
          <a:bodyPr vert="horz" wrap="square" lIns="0" tIns="0" rIns="0" bIns="0" rtlCol="0">
            <a:noAutofit/>
          </a:bodyPr>
          <a:lstStyle/>
          <a:p>
            <a:pPr>
              <a:lnSpc>
                <a:spcPct val="105000"/>
              </a:lnSpc>
            </a:pPr>
            <a:r>
              <a:rPr lang="fr-FR" sz="2400">
                <a:solidFill>
                  <a:srgbClr val="F2F5F8"/>
                </a:solidFill>
                <a:latin typeface="Manrope SemiBold" pitchFamily="2" charset="0"/>
              </a:rPr>
              <a:t>Un compte avant tout.</a:t>
            </a:r>
          </a:p>
        </p:txBody>
      </p:sp>
      <p:sp>
        <p:nvSpPr>
          <p:cNvPr id="9" name="ZoneTexte 8">
            <a:extLst>
              <a:ext uri="{FF2B5EF4-FFF2-40B4-BE49-F238E27FC236}">
                <a16:creationId xmlns:a16="http://schemas.microsoft.com/office/drawing/2014/main" id="{B7DC25EF-CDD2-C65A-092C-854A35A8E57A}"/>
              </a:ext>
            </a:extLst>
          </p:cNvPr>
          <p:cNvSpPr txBox="1"/>
          <p:nvPr/>
        </p:nvSpPr>
        <p:spPr>
          <a:xfrm>
            <a:off x="4495800" y="3403600"/>
            <a:ext cx="2997200" cy="369332"/>
          </a:xfrm>
          <a:prstGeom prst="rect">
            <a:avLst/>
          </a:prstGeom>
          <a:noFill/>
        </p:spPr>
        <p:txBody>
          <a:bodyPr vert="horz" wrap="square" lIns="0" tIns="0" rIns="0" bIns="0" rtlCol="0">
            <a:noAutofit/>
          </a:bodyPr>
          <a:lstStyle/>
          <a:p>
            <a:pPr>
              <a:lnSpc>
                <a:spcPct val="115000"/>
              </a:lnSpc>
            </a:pPr>
            <a:r>
              <a:rPr lang="fr-FR" sz="1400">
                <a:solidFill>
                  <a:srgbClr val="9CA9B6"/>
                </a:solidFill>
                <a:latin typeface="Manrope" pitchFamily="2" charset="0"/>
              </a:rPr>
              <a:t>Il faut s'inscrire, confirmer, se connecter, avant même de lire une offre.</a:t>
            </a:r>
          </a:p>
        </p:txBody>
      </p:sp>
      <p:sp>
        <p:nvSpPr>
          <p:cNvPr id="10" name="Rectangle 9">
            <a:extLst>
              <a:ext uri="{FF2B5EF4-FFF2-40B4-BE49-F238E27FC236}">
                <a16:creationId xmlns:a16="http://schemas.microsoft.com/office/drawing/2014/main" id="{7DC547B4-1750-604A-D557-AFDDFCDDA06D}"/>
              </a:ext>
            </a:extLst>
          </p:cNvPr>
          <p:cNvSpPr/>
          <p:nvPr/>
        </p:nvSpPr>
        <p:spPr>
          <a:xfrm>
            <a:off x="8077200" y="2235200"/>
            <a:ext cx="508000" cy="38100"/>
          </a:xfrm>
          <a:prstGeom prst="rect">
            <a:avLst/>
          </a:prstGeom>
          <a:solidFill>
            <a:srgbClr val="A9CC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ZoneTexte 10">
            <a:extLst>
              <a:ext uri="{FF2B5EF4-FFF2-40B4-BE49-F238E27FC236}">
                <a16:creationId xmlns:a16="http://schemas.microsoft.com/office/drawing/2014/main" id="{8AA1A1C3-E17B-EE9D-D151-A3C431A19449}"/>
              </a:ext>
            </a:extLst>
          </p:cNvPr>
          <p:cNvSpPr txBox="1"/>
          <p:nvPr/>
        </p:nvSpPr>
        <p:spPr>
          <a:xfrm>
            <a:off x="8077200" y="2489200"/>
            <a:ext cx="3200400" cy="369332"/>
          </a:xfrm>
          <a:prstGeom prst="rect">
            <a:avLst/>
          </a:prstGeom>
          <a:noFill/>
        </p:spPr>
        <p:txBody>
          <a:bodyPr vert="horz" wrap="square" lIns="0" tIns="0" rIns="0" bIns="0" rtlCol="0">
            <a:noAutofit/>
          </a:bodyPr>
          <a:lstStyle/>
          <a:p>
            <a:pPr>
              <a:lnSpc>
                <a:spcPct val="105000"/>
              </a:lnSpc>
            </a:pPr>
            <a:r>
              <a:rPr lang="fr-FR" sz="2400">
                <a:solidFill>
                  <a:srgbClr val="F2F5F8"/>
                </a:solidFill>
                <a:latin typeface="Manrope SemiBold" pitchFamily="2" charset="0"/>
              </a:rPr>
              <a:t>Puis le silence.</a:t>
            </a:r>
          </a:p>
        </p:txBody>
      </p:sp>
      <p:sp>
        <p:nvSpPr>
          <p:cNvPr id="12" name="ZoneTexte 11">
            <a:extLst>
              <a:ext uri="{FF2B5EF4-FFF2-40B4-BE49-F238E27FC236}">
                <a16:creationId xmlns:a16="http://schemas.microsoft.com/office/drawing/2014/main" id="{4598C50F-ED7A-B3EF-07E1-A8A8F4DF36DA}"/>
              </a:ext>
            </a:extLst>
          </p:cNvPr>
          <p:cNvSpPr txBox="1"/>
          <p:nvPr/>
        </p:nvSpPr>
        <p:spPr>
          <a:xfrm>
            <a:off x="8077200" y="3403600"/>
            <a:ext cx="2997200" cy="369332"/>
          </a:xfrm>
          <a:prstGeom prst="rect">
            <a:avLst/>
          </a:prstGeom>
          <a:noFill/>
        </p:spPr>
        <p:txBody>
          <a:bodyPr vert="horz" wrap="square" lIns="0" tIns="0" rIns="0" bIns="0" rtlCol="0">
            <a:noAutofit/>
          </a:bodyPr>
          <a:lstStyle/>
          <a:p>
            <a:pPr>
              <a:lnSpc>
                <a:spcPct val="115000"/>
              </a:lnSpc>
            </a:pPr>
            <a:r>
              <a:rPr lang="fr-FR" sz="1400">
                <a:solidFill>
                  <a:srgbClr val="9CA9B6"/>
                </a:solidFill>
                <a:latin typeface="Manrope" pitchFamily="2" charset="0"/>
              </a:rPr>
              <a:t>Une fois la candidature envoyée, aucune réponse, aucun état, aucun suivi.</a:t>
            </a:r>
          </a:p>
        </p:txBody>
      </p:sp>
      <p:sp>
        <p:nvSpPr>
          <p:cNvPr id="13" name="ZoneTexte 12">
            <a:extLst>
              <a:ext uri="{FF2B5EF4-FFF2-40B4-BE49-F238E27FC236}">
                <a16:creationId xmlns:a16="http://schemas.microsoft.com/office/drawing/2014/main" id="{D6F44757-92A3-2FE1-47E8-68C7A0D6C2D9}"/>
              </a:ext>
            </a:extLst>
          </p:cNvPr>
          <p:cNvSpPr txBox="1"/>
          <p:nvPr/>
        </p:nvSpPr>
        <p:spPr>
          <a:xfrm>
            <a:off x="914400" y="5334000"/>
            <a:ext cx="10363200" cy="381000"/>
          </a:xfrm>
          <a:prstGeom prst="rect">
            <a:avLst/>
          </a:prstGeom>
          <a:noFill/>
        </p:spPr>
        <p:txBody>
          <a:bodyPr vert="horz" wrap="square" lIns="0" tIns="0" rIns="0" bIns="0" rtlCol="0">
            <a:noAutofit/>
          </a:bodyPr>
          <a:lstStyle/>
          <a:p>
            <a:pPr>
              <a:lnSpc>
                <a:spcPct val="115000"/>
              </a:lnSpc>
            </a:pPr>
            <a:r>
              <a:rPr lang="fr-FR" sz="2000">
                <a:solidFill>
                  <a:srgbClr val="A9CCE3"/>
                </a:solidFill>
                <a:latin typeface="Manrope Medium" pitchFamily="2" charset="0"/>
              </a:rPr>
              <a:t>Candidater devrait prendre quelques secondes.</a:t>
            </a:r>
          </a:p>
        </p:txBody>
      </p:sp>
    </p:spTree>
    <p:extLst>
      <p:ext uri="{BB962C8B-B14F-4D97-AF65-F5344CB8AC3E}">
        <p14:creationId xmlns:p14="http://schemas.microsoft.com/office/powerpoint/2010/main" val="17159522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15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par>
                                <p:cTn id="11" presetID="10" presetClass="entr" presetSubtype="0" fill="hold" grpId="0" nodeType="withEffect">
                                  <p:stCondLst>
                                    <p:cond delay="45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childTnLst>
                                </p:cTn>
                              </p:par>
                              <p:par>
                                <p:cTn id="14" presetID="10" presetClass="entr" presetSubtype="0" fill="hold" grpId="0" nodeType="withEffect">
                                  <p:stCondLst>
                                    <p:cond delay="45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childTnLst>
                                </p:cTn>
                              </p:par>
                              <p:par>
                                <p:cTn id="17" presetID="10" presetClass="entr" presetSubtype="0" fill="hold" grpId="0" nodeType="withEffect">
                                  <p:stCondLst>
                                    <p:cond delay="45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childTnLst>
                                </p:cTn>
                              </p:par>
                              <p:par>
                                <p:cTn id="20" presetID="10" presetClass="entr" presetSubtype="0" fill="hold" grpId="0" nodeType="withEffect">
                                  <p:stCondLst>
                                    <p:cond delay="75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par>
                                <p:cTn id="23" presetID="10" presetClass="entr" presetSubtype="0" fill="hold" grpId="0" nodeType="withEffect">
                                  <p:stCondLst>
                                    <p:cond delay="75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childTnLst>
                                </p:cTn>
                              </p:par>
                              <p:par>
                                <p:cTn id="26" presetID="10" presetClass="entr" presetSubtype="0" fill="hold" grpId="0" nodeType="withEffect">
                                  <p:stCondLst>
                                    <p:cond delay="75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500"/>
                                        <p:tgtEl>
                                          <p:spTgt spid="9"/>
                                        </p:tgtEl>
                                      </p:cBhvr>
                                    </p:animEffect>
                                  </p:childTnLst>
                                </p:cTn>
                              </p:par>
                              <p:par>
                                <p:cTn id="29" presetID="10" presetClass="entr" presetSubtype="0" fill="hold" grpId="0" nodeType="withEffect">
                                  <p:stCondLst>
                                    <p:cond delay="105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500"/>
                                        <p:tgtEl>
                                          <p:spTgt spid="10"/>
                                        </p:tgtEl>
                                      </p:cBhvr>
                                    </p:animEffect>
                                  </p:childTnLst>
                                </p:cTn>
                              </p:par>
                              <p:par>
                                <p:cTn id="32" presetID="10" presetClass="entr" presetSubtype="0" fill="hold" grpId="0" nodeType="withEffect">
                                  <p:stCondLst>
                                    <p:cond delay="105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500"/>
                                        <p:tgtEl>
                                          <p:spTgt spid="11"/>
                                        </p:tgtEl>
                                      </p:cBhvr>
                                    </p:animEffect>
                                  </p:childTnLst>
                                </p:cTn>
                              </p:par>
                              <p:par>
                                <p:cTn id="35" presetID="10" presetClass="entr" presetSubtype="0" fill="hold" grpId="0" nodeType="withEffect">
                                  <p:stCondLst>
                                    <p:cond delay="105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500"/>
                                        <p:tgtEl>
                                          <p:spTgt spid="12"/>
                                        </p:tgtEl>
                                      </p:cBhvr>
                                    </p:animEffect>
                                  </p:childTnLst>
                                </p:cTn>
                              </p:par>
                              <p:par>
                                <p:cTn id="38" presetID="10" presetClass="entr" presetSubtype="0" fill="hold" grpId="0" nodeType="withEffect">
                                  <p:stCondLst>
                                    <p:cond delay="135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animBg="1"/>
      <p:bldP spid="5" grpId="0"/>
      <p:bldP spid="6" grpId="0"/>
      <p:bldP spid="7" grpId="0" animBg="1"/>
      <p:bldP spid="8" grpId="0"/>
      <p:bldP spid="9" grpId="0"/>
      <p:bldP spid="10" grpId="0" animBg="1"/>
      <p:bldP spid="11" grpId="0"/>
      <p:bldP spid="12" grpId="0"/>
      <p:bldP spid="13"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1016"/>
        </a:solidFill>
        <a:effectLst/>
      </p:bgPr>
    </p:bg>
    <p:spTree>
      <p:nvGrpSpPr>
        <p:cNvPr id="1" name=""/>
        <p:cNvGrpSpPr/>
        <p:nvPr/>
      </p:nvGrpSpPr>
      <p:grpSpPr>
        <a:xfrm>
          <a:off x="0" y="0"/>
          <a:ext cx="0" cy="0"/>
          <a:chOff x="0" y="0"/>
          <a:chExt cx="0" cy="0"/>
        </a:xfrm>
      </p:grpSpPr>
      <p:sp>
        <p:nvSpPr>
          <p:cNvPr id="2" name="ZoneTexte 1">
            <a:extLst>
              <a:ext uri="{FF2B5EF4-FFF2-40B4-BE49-F238E27FC236}">
                <a16:creationId xmlns:a16="http://schemas.microsoft.com/office/drawing/2014/main" id="{A5BE10AB-A882-C6F9-B0B9-A73ADE313325}"/>
              </a:ext>
            </a:extLst>
          </p:cNvPr>
          <p:cNvSpPr txBox="1"/>
          <p:nvPr/>
        </p:nvSpPr>
        <p:spPr>
          <a:xfrm>
            <a:off x="914400" y="711200"/>
            <a:ext cx="10363200" cy="369332"/>
          </a:xfrm>
          <a:prstGeom prst="rect">
            <a:avLst/>
          </a:prstGeom>
          <a:noFill/>
        </p:spPr>
        <p:txBody>
          <a:bodyPr vert="horz" wrap="square" lIns="0" tIns="0" rIns="0" bIns="0" rtlCol="0">
            <a:noAutofit/>
          </a:bodyPr>
          <a:lstStyle/>
          <a:p>
            <a:pPr>
              <a:lnSpc>
                <a:spcPct val="115000"/>
              </a:lnSpc>
            </a:pPr>
            <a:r>
              <a:rPr lang="fr-FR" sz="1100" spc="260">
                <a:solidFill>
                  <a:srgbClr val="A9CCE3"/>
                </a:solidFill>
                <a:latin typeface="Manrope SemiBold" pitchFamily="2" charset="0"/>
              </a:rPr>
              <a:t>LA RÉPONSE</a:t>
            </a:r>
          </a:p>
        </p:txBody>
      </p:sp>
      <p:sp>
        <p:nvSpPr>
          <p:cNvPr id="3" name="ZoneTexte 2">
            <a:extLst>
              <a:ext uri="{FF2B5EF4-FFF2-40B4-BE49-F238E27FC236}">
                <a16:creationId xmlns:a16="http://schemas.microsoft.com/office/drawing/2014/main" id="{350DB812-290C-E2CF-31D5-73BECFF8E0EB}"/>
              </a:ext>
            </a:extLst>
          </p:cNvPr>
          <p:cNvSpPr txBox="1"/>
          <p:nvPr/>
        </p:nvSpPr>
        <p:spPr>
          <a:xfrm>
            <a:off x="914400" y="990600"/>
            <a:ext cx="10363200" cy="369332"/>
          </a:xfrm>
          <a:prstGeom prst="rect">
            <a:avLst/>
          </a:prstGeom>
          <a:noFill/>
        </p:spPr>
        <p:txBody>
          <a:bodyPr vert="horz" wrap="square" lIns="0" tIns="0" rIns="0" bIns="0" rtlCol="0">
            <a:noAutofit/>
          </a:bodyPr>
          <a:lstStyle/>
          <a:p>
            <a:r>
              <a:rPr lang="fr-FR" sz="3600" spc="-50">
                <a:solidFill>
                  <a:srgbClr val="F2F5F8"/>
                </a:solidFill>
                <a:latin typeface="Manrope SemiBold" pitchFamily="2" charset="0"/>
              </a:rPr>
              <a:t>Trouver, lire, </a:t>
            </a:r>
            <a:r>
              <a:rPr lang="fr-FR" sz="3600" spc="-50">
                <a:gradFill flip="none" rotWithShape="1">
                  <a:gsLst>
                    <a:gs pos="0">
                      <a:srgbClr val="5A93BF"/>
                    </a:gs>
                    <a:gs pos="100000">
                      <a:srgbClr val="A9CCE3"/>
                    </a:gs>
                  </a:gsLst>
                  <a:lin ang="0" scaled="1"/>
                  <a:tileRect/>
                </a:gradFill>
                <a:latin typeface="Manrope SemiBold" pitchFamily="2" charset="0"/>
              </a:rPr>
              <a:t>postuler</a:t>
            </a:r>
            <a:r>
              <a:rPr lang="fr-FR" sz="3600" spc="-50">
                <a:solidFill>
                  <a:srgbClr val="F2F5F8"/>
                </a:solidFill>
                <a:latin typeface="Manrope SemiBold" pitchFamily="2" charset="0"/>
              </a:rPr>
              <a:t>. Sans détour.</a:t>
            </a:r>
          </a:p>
        </p:txBody>
      </p:sp>
      <p:sp>
        <p:nvSpPr>
          <p:cNvPr id="4" name="Rectangle 3">
            <a:extLst>
              <a:ext uri="{FF2B5EF4-FFF2-40B4-BE49-F238E27FC236}">
                <a16:creationId xmlns:a16="http://schemas.microsoft.com/office/drawing/2014/main" id="{2BD0080F-E3C5-50FD-1D15-7C8681FACCFC}"/>
              </a:ext>
            </a:extLst>
          </p:cNvPr>
          <p:cNvSpPr/>
          <p:nvPr/>
        </p:nvSpPr>
        <p:spPr>
          <a:xfrm>
            <a:off x="914400" y="2159000"/>
            <a:ext cx="38100" cy="558800"/>
          </a:xfrm>
          <a:prstGeom prst="rect">
            <a:avLst/>
          </a:prstGeom>
          <a:solidFill>
            <a:srgbClr val="A9CC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 name="ZoneTexte 4">
            <a:extLst>
              <a:ext uri="{FF2B5EF4-FFF2-40B4-BE49-F238E27FC236}">
                <a16:creationId xmlns:a16="http://schemas.microsoft.com/office/drawing/2014/main" id="{B650D61D-C91E-04F7-7306-CC85CF748AA2}"/>
              </a:ext>
            </a:extLst>
          </p:cNvPr>
          <p:cNvSpPr txBox="1"/>
          <p:nvPr/>
        </p:nvSpPr>
        <p:spPr>
          <a:xfrm>
            <a:off x="1143000" y="2108200"/>
            <a:ext cx="4826000" cy="369332"/>
          </a:xfrm>
          <a:prstGeom prst="rect">
            <a:avLst/>
          </a:prstGeom>
          <a:noFill/>
        </p:spPr>
        <p:txBody>
          <a:bodyPr vert="horz" wrap="square" lIns="0" tIns="0" rIns="0" bIns="0" rtlCol="0">
            <a:noAutofit/>
          </a:bodyPr>
          <a:lstStyle/>
          <a:p>
            <a:pPr>
              <a:lnSpc>
                <a:spcPct val="115000"/>
              </a:lnSpc>
            </a:pPr>
            <a:r>
              <a:rPr lang="fr-FR" sz="1900">
                <a:solidFill>
                  <a:srgbClr val="F2F5F8"/>
                </a:solidFill>
                <a:latin typeface="Manrope Medium" pitchFamily="2" charset="0"/>
              </a:rPr>
              <a:t>Quelques secondes</a:t>
            </a:r>
          </a:p>
        </p:txBody>
      </p:sp>
      <p:sp>
        <p:nvSpPr>
          <p:cNvPr id="6" name="ZoneTexte 5">
            <a:extLst>
              <a:ext uri="{FF2B5EF4-FFF2-40B4-BE49-F238E27FC236}">
                <a16:creationId xmlns:a16="http://schemas.microsoft.com/office/drawing/2014/main" id="{59A67ACA-7C26-342E-2A82-311142B9DFB9}"/>
              </a:ext>
            </a:extLst>
          </p:cNvPr>
          <p:cNvSpPr txBox="1"/>
          <p:nvPr/>
        </p:nvSpPr>
        <p:spPr>
          <a:xfrm>
            <a:off x="1143000" y="2489200"/>
            <a:ext cx="4826000" cy="369332"/>
          </a:xfrm>
          <a:prstGeom prst="rect">
            <a:avLst/>
          </a:prstGeom>
          <a:noFill/>
        </p:spPr>
        <p:txBody>
          <a:bodyPr vert="horz" wrap="square" lIns="0" tIns="0" rIns="0" bIns="0" rtlCol="0">
            <a:noAutofit/>
          </a:bodyPr>
          <a:lstStyle/>
          <a:p>
            <a:pPr>
              <a:lnSpc>
                <a:spcPct val="115000"/>
              </a:lnSpc>
            </a:pPr>
            <a:r>
              <a:rPr lang="fr-FR" sz="1350">
                <a:solidFill>
                  <a:srgbClr val="9CA9B6"/>
                </a:solidFill>
                <a:latin typeface="Manrope" pitchFamily="2" charset="0"/>
              </a:rPr>
              <a:t>Nom, e-mail, message : la candidature est enregistrée.</a:t>
            </a:r>
          </a:p>
        </p:txBody>
      </p:sp>
      <p:sp>
        <p:nvSpPr>
          <p:cNvPr id="7" name="Rectangle 6">
            <a:extLst>
              <a:ext uri="{FF2B5EF4-FFF2-40B4-BE49-F238E27FC236}">
                <a16:creationId xmlns:a16="http://schemas.microsoft.com/office/drawing/2014/main" id="{D9326F2F-5601-B5BC-8F23-5BBC19B719DE}"/>
              </a:ext>
            </a:extLst>
          </p:cNvPr>
          <p:cNvSpPr/>
          <p:nvPr/>
        </p:nvSpPr>
        <p:spPr>
          <a:xfrm>
            <a:off x="914400" y="3378200"/>
            <a:ext cx="38100" cy="558800"/>
          </a:xfrm>
          <a:prstGeom prst="rect">
            <a:avLst/>
          </a:prstGeom>
          <a:solidFill>
            <a:srgbClr val="A9CC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ZoneTexte 7">
            <a:extLst>
              <a:ext uri="{FF2B5EF4-FFF2-40B4-BE49-F238E27FC236}">
                <a16:creationId xmlns:a16="http://schemas.microsoft.com/office/drawing/2014/main" id="{1AA5EF58-CCBD-9EE9-59B7-A68241CE4FD2}"/>
              </a:ext>
            </a:extLst>
          </p:cNvPr>
          <p:cNvSpPr txBox="1"/>
          <p:nvPr/>
        </p:nvSpPr>
        <p:spPr>
          <a:xfrm>
            <a:off x="1143000" y="3327400"/>
            <a:ext cx="4826000" cy="369332"/>
          </a:xfrm>
          <a:prstGeom prst="rect">
            <a:avLst/>
          </a:prstGeom>
          <a:noFill/>
        </p:spPr>
        <p:txBody>
          <a:bodyPr vert="horz" wrap="square" lIns="0" tIns="0" rIns="0" bIns="0" rtlCol="0">
            <a:noAutofit/>
          </a:bodyPr>
          <a:lstStyle/>
          <a:p>
            <a:pPr>
              <a:lnSpc>
                <a:spcPct val="115000"/>
              </a:lnSpc>
            </a:pPr>
            <a:r>
              <a:rPr lang="fr-FR" sz="1900">
                <a:solidFill>
                  <a:srgbClr val="F2F5F8"/>
                </a:solidFill>
                <a:latin typeface="Manrope Medium" pitchFamily="2" charset="0"/>
              </a:rPr>
              <a:t>Avec ou sans compte</a:t>
            </a:r>
          </a:p>
        </p:txBody>
      </p:sp>
      <p:sp>
        <p:nvSpPr>
          <p:cNvPr id="9" name="ZoneTexte 8">
            <a:extLst>
              <a:ext uri="{FF2B5EF4-FFF2-40B4-BE49-F238E27FC236}">
                <a16:creationId xmlns:a16="http://schemas.microsoft.com/office/drawing/2014/main" id="{43C4E452-E33C-E5DD-65C3-E1547C8CBDE9}"/>
              </a:ext>
            </a:extLst>
          </p:cNvPr>
          <p:cNvSpPr txBox="1"/>
          <p:nvPr/>
        </p:nvSpPr>
        <p:spPr>
          <a:xfrm>
            <a:off x="1143000" y="3708400"/>
            <a:ext cx="4826000" cy="369332"/>
          </a:xfrm>
          <a:prstGeom prst="rect">
            <a:avLst/>
          </a:prstGeom>
          <a:noFill/>
        </p:spPr>
        <p:txBody>
          <a:bodyPr vert="horz" wrap="square" lIns="0" tIns="0" rIns="0" bIns="0" rtlCol="0">
            <a:noAutofit/>
          </a:bodyPr>
          <a:lstStyle/>
          <a:p>
            <a:pPr>
              <a:lnSpc>
                <a:spcPct val="115000"/>
              </a:lnSpc>
            </a:pPr>
            <a:r>
              <a:rPr lang="fr-FR" sz="1350">
                <a:solidFill>
                  <a:srgbClr val="9CA9B6"/>
                </a:solidFill>
                <a:latin typeface="Manrope" pitchFamily="2" charset="0"/>
              </a:rPr>
              <a:t>Le compte est une option, jamais une barrière.</a:t>
            </a:r>
          </a:p>
        </p:txBody>
      </p:sp>
      <p:sp>
        <p:nvSpPr>
          <p:cNvPr id="10" name="Rectangle 9">
            <a:extLst>
              <a:ext uri="{FF2B5EF4-FFF2-40B4-BE49-F238E27FC236}">
                <a16:creationId xmlns:a16="http://schemas.microsoft.com/office/drawing/2014/main" id="{6F1342EA-3FBC-25E9-413E-B04190BC647C}"/>
              </a:ext>
            </a:extLst>
          </p:cNvPr>
          <p:cNvSpPr/>
          <p:nvPr/>
        </p:nvSpPr>
        <p:spPr>
          <a:xfrm>
            <a:off x="914400" y="4597400"/>
            <a:ext cx="38100" cy="558800"/>
          </a:xfrm>
          <a:prstGeom prst="rect">
            <a:avLst/>
          </a:prstGeom>
          <a:solidFill>
            <a:srgbClr val="A9CC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ZoneTexte 10">
            <a:extLst>
              <a:ext uri="{FF2B5EF4-FFF2-40B4-BE49-F238E27FC236}">
                <a16:creationId xmlns:a16="http://schemas.microsoft.com/office/drawing/2014/main" id="{C13EDDBF-5555-E2F0-46C8-D26C5C224801}"/>
              </a:ext>
            </a:extLst>
          </p:cNvPr>
          <p:cNvSpPr txBox="1"/>
          <p:nvPr/>
        </p:nvSpPr>
        <p:spPr>
          <a:xfrm>
            <a:off x="1143000" y="4546600"/>
            <a:ext cx="4826000" cy="369332"/>
          </a:xfrm>
          <a:prstGeom prst="rect">
            <a:avLst/>
          </a:prstGeom>
          <a:noFill/>
        </p:spPr>
        <p:txBody>
          <a:bodyPr vert="horz" wrap="square" lIns="0" tIns="0" rIns="0" bIns="0" rtlCol="0">
            <a:noAutofit/>
          </a:bodyPr>
          <a:lstStyle/>
          <a:p>
            <a:pPr>
              <a:lnSpc>
                <a:spcPct val="115000"/>
              </a:lnSpc>
            </a:pPr>
            <a:r>
              <a:rPr lang="fr-FR" sz="1900">
                <a:solidFill>
                  <a:srgbClr val="F2F5F8"/>
                </a:solidFill>
                <a:latin typeface="Manrope Medium" pitchFamily="2" charset="0"/>
              </a:rPr>
              <a:t>Un suivi lisible</a:t>
            </a:r>
          </a:p>
        </p:txBody>
      </p:sp>
      <p:sp>
        <p:nvSpPr>
          <p:cNvPr id="12" name="ZoneTexte 11">
            <a:extLst>
              <a:ext uri="{FF2B5EF4-FFF2-40B4-BE49-F238E27FC236}">
                <a16:creationId xmlns:a16="http://schemas.microsoft.com/office/drawing/2014/main" id="{51A87B3D-DC66-7F16-DBAC-66AC8C026FD6}"/>
              </a:ext>
            </a:extLst>
          </p:cNvPr>
          <p:cNvSpPr txBox="1"/>
          <p:nvPr/>
        </p:nvSpPr>
        <p:spPr>
          <a:xfrm>
            <a:off x="1143000" y="4927600"/>
            <a:ext cx="4826000" cy="369332"/>
          </a:xfrm>
          <a:prstGeom prst="rect">
            <a:avLst/>
          </a:prstGeom>
          <a:noFill/>
        </p:spPr>
        <p:txBody>
          <a:bodyPr vert="horz" wrap="square" lIns="0" tIns="0" rIns="0" bIns="0" rtlCol="0">
            <a:noAutofit/>
          </a:bodyPr>
          <a:lstStyle/>
          <a:p>
            <a:pPr>
              <a:lnSpc>
                <a:spcPct val="115000"/>
              </a:lnSpc>
            </a:pPr>
            <a:r>
              <a:rPr lang="fr-FR" sz="1350">
                <a:solidFill>
                  <a:srgbClr val="9CA9B6"/>
                </a:solidFill>
                <a:latin typeface="Manrope" pitchFamily="2" charset="0"/>
              </a:rPr>
              <a:t>Chaque candidature a un état : en attente, retenue, refusée.</a:t>
            </a:r>
          </a:p>
        </p:txBody>
      </p:sp>
      <p:sp>
        <p:nvSpPr>
          <p:cNvPr id="13" name="Rectangle : coins arrondis 12">
            <a:extLst>
              <a:ext uri="{FF2B5EF4-FFF2-40B4-BE49-F238E27FC236}">
                <a16:creationId xmlns:a16="http://schemas.microsoft.com/office/drawing/2014/main" id="{FB5798E4-C2B7-D471-DC14-4A8E121D97EA}"/>
              </a:ext>
            </a:extLst>
          </p:cNvPr>
          <p:cNvSpPr/>
          <p:nvPr/>
        </p:nvSpPr>
        <p:spPr>
          <a:xfrm>
            <a:off x="6350000" y="1854200"/>
            <a:ext cx="4927600" cy="4191000"/>
          </a:xfrm>
          <a:prstGeom prst="roundRect">
            <a:avLst>
              <a:gd name="adj" fmla="val 4242"/>
            </a:avLst>
          </a:prstGeom>
          <a:solidFill>
            <a:srgbClr val="F7F9FB"/>
          </a:solidFill>
          <a:ln w="9525">
            <a:solidFill>
              <a:srgbClr val="E2E8E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ZoneTexte 13">
            <a:extLst>
              <a:ext uri="{FF2B5EF4-FFF2-40B4-BE49-F238E27FC236}">
                <a16:creationId xmlns:a16="http://schemas.microsoft.com/office/drawing/2014/main" id="{FB812D4E-2D12-E3F5-D8E5-5429D3EA07DC}"/>
              </a:ext>
            </a:extLst>
          </p:cNvPr>
          <p:cNvSpPr txBox="1"/>
          <p:nvPr/>
        </p:nvSpPr>
        <p:spPr>
          <a:xfrm>
            <a:off x="6629400" y="2082800"/>
            <a:ext cx="1016000" cy="369332"/>
          </a:xfrm>
          <a:prstGeom prst="rect">
            <a:avLst/>
          </a:prstGeom>
          <a:noFill/>
        </p:spPr>
        <p:txBody>
          <a:bodyPr vert="horz" wrap="square" lIns="0" tIns="0" rIns="0" bIns="0" rtlCol="0">
            <a:noAutofit/>
          </a:bodyPr>
          <a:lstStyle/>
          <a:p>
            <a:pPr>
              <a:lnSpc>
                <a:spcPct val="115000"/>
              </a:lnSpc>
            </a:pPr>
            <a:r>
              <a:rPr lang="fr-FR" sz="1000">
                <a:solidFill>
                  <a:srgbClr val="1D1D1F"/>
                </a:solidFill>
                <a:latin typeface="Manrope SemiBold" pitchFamily="2" charset="0"/>
              </a:rPr>
              <a:t>Y.I.A J</a:t>
            </a:r>
            <a:r>
              <a:rPr lang="fr-FR" sz="1000">
                <a:solidFill>
                  <a:srgbClr val="A9CCE3"/>
                </a:solidFill>
                <a:latin typeface="Manrope SemiBold" pitchFamily="2" charset="0"/>
              </a:rPr>
              <a:t>o</a:t>
            </a:r>
            <a:r>
              <a:rPr lang="fr-FR" sz="1000">
                <a:solidFill>
                  <a:srgbClr val="1D1D1F"/>
                </a:solidFill>
                <a:latin typeface="Manrope SemiBold" pitchFamily="2" charset="0"/>
              </a:rPr>
              <a:t>bs</a:t>
            </a:r>
          </a:p>
        </p:txBody>
      </p:sp>
      <p:sp>
        <p:nvSpPr>
          <p:cNvPr id="15" name="ZoneTexte 14">
            <a:extLst>
              <a:ext uri="{FF2B5EF4-FFF2-40B4-BE49-F238E27FC236}">
                <a16:creationId xmlns:a16="http://schemas.microsoft.com/office/drawing/2014/main" id="{D920CC29-7180-CF1E-30F5-6934EDB48E20}"/>
              </a:ext>
            </a:extLst>
          </p:cNvPr>
          <p:cNvSpPr txBox="1"/>
          <p:nvPr/>
        </p:nvSpPr>
        <p:spPr>
          <a:xfrm>
            <a:off x="8128000" y="2108200"/>
            <a:ext cx="2895600" cy="369332"/>
          </a:xfrm>
          <a:prstGeom prst="rect">
            <a:avLst/>
          </a:prstGeom>
          <a:noFill/>
        </p:spPr>
        <p:txBody>
          <a:bodyPr vert="horz" wrap="square" lIns="0" tIns="0" rIns="0" bIns="0" rtlCol="0">
            <a:noAutofit/>
          </a:bodyPr>
          <a:lstStyle/>
          <a:p>
            <a:pPr algn="r">
              <a:lnSpc>
                <a:spcPct val="115000"/>
              </a:lnSpc>
            </a:pPr>
            <a:r>
              <a:rPr lang="fr-FR" sz="750">
                <a:solidFill>
                  <a:srgbClr val="5F6B76"/>
                </a:solidFill>
                <a:latin typeface="Manrope" pitchFamily="2" charset="0"/>
              </a:rPr>
              <a:t>Offres d'emploi     Espace recruteur     Connexion</a:t>
            </a:r>
          </a:p>
        </p:txBody>
      </p:sp>
      <p:sp>
        <p:nvSpPr>
          <p:cNvPr id="16" name="ZoneTexte 15">
            <a:extLst>
              <a:ext uri="{FF2B5EF4-FFF2-40B4-BE49-F238E27FC236}">
                <a16:creationId xmlns:a16="http://schemas.microsoft.com/office/drawing/2014/main" id="{8337809E-B16B-4132-BF34-9F36327CB863}"/>
              </a:ext>
            </a:extLst>
          </p:cNvPr>
          <p:cNvSpPr txBox="1"/>
          <p:nvPr/>
        </p:nvSpPr>
        <p:spPr>
          <a:xfrm>
            <a:off x="6629400" y="2590800"/>
            <a:ext cx="4318000" cy="369332"/>
          </a:xfrm>
          <a:prstGeom prst="rect">
            <a:avLst/>
          </a:prstGeom>
          <a:noFill/>
        </p:spPr>
        <p:txBody>
          <a:bodyPr vert="horz" wrap="square" lIns="0" tIns="0" rIns="0" bIns="0" rtlCol="0">
            <a:noAutofit/>
          </a:bodyPr>
          <a:lstStyle/>
          <a:p>
            <a:pPr>
              <a:lnSpc>
                <a:spcPct val="105000"/>
              </a:lnSpc>
            </a:pPr>
            <a:r>
              <a:rPr lang="fr-FR" sz="2100">
                <a:solidFill>
                  <a:srgbClr val="1D1D1F"/>
                </a:solidFill>
                <a:latin typeface="Manrope SemiBold" pitchFamily="2" charset="0"/>
              </a:rPr>
              <a:t>Votre carrière,</a:t>
            </a:r>
          </a:p>
          <a:p>
            <a:pPr>
              <a:lnSpc>
                <a:spcPct val="105000"/>
              </a:lnSpc>
            </a:pPr>
            <a:r>
              <a:rPr lang="fr-FR" sz="2100">
                <a:solidFill>
                  <a:srgbClr val="1D1D1F"/>
                </a:solidFill>
                <a:latin typeface="Manrope SemiBold" pitchFamily="2" charset="0"/>
              </a:rPr>
              <a:t>traitée avec soin.</a:t>
            </a:r>
          </a:p>
        </p:txBody>
      </p:sp>
      <p:sp>
        <p:nvSpPr>
          <p:cNvPr id="17" name="Rectangle : coins arrondis 16">
            <a:extLst>
              <a:ext uri="{FF2B5EF4-FFF2-40B4-BE49-F238E27FC236}">
                <a16:creationId xmlns:a16="http://schemas.microsoft.com/office/drawing/2014/main" id="{84AC904C-A41F-1435-62BB-243416126B36}"/>
              </a:ext>
            </a:extLst>
          </p:cNvPr>
          <p:cNvSpPr/>
          <p:nvPr/>
        </p:nvSpPr>
        <p:spPr>
          <a:xfrm>
            <a:off x="6629400" y="3479800"/>
            <a:ext cx="4368800" cy="431800"/>
          </a:xfrm>
          <a:prstGeom prst="roundRect">
            <a:avLst>
              <a:gd name="adj" fmla="val 23529"/>
            </a:avLst>
          </a:prstGeom>
          <a:solidFill>
            <a:srgbClr val="FFFFFF"/>
          </a:solidFill>
          <a:ln w="9525">
            <a:solidFill>
              <a:srgbClr val="7C89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ZoneTexte 17">
            <a:extLst>
              <a:ext uri="{FF2B5EF4-FFF2-40B4-BE49-F238E27FC236}">
                <a16:creationId xmlns:a16="http://schemas.microsoft.com/office/drawing/2014/main" id="{F900AFCA-C7DA-3447-2BF4-079ECB17FA9C}"/>
              </a:ext>
            </a:extLst>
          </p:cNvPr>
          <p:cNvSpPr txBox="1"/>
          <p:nvPr/>
        </p:nvSpPr>
        <p:spPr>
          <a:xfrm>
            <a:off x="6781800" y="3619500"/>
            <a:ext cx="3048000" cy="369332"/>
          </a:xfrm>
          <a:prstGeom prst="rect">
            <a:avLst/>
          </a:prstGeom>
          <a:noFill/>
        </p:spPr>
        <p:txBody>
          <a:bodyPr vert="horz" wrap="square" lIns="0" tIns="0" rIns="0" bIns="0" rtlCol="0">
            <a:noAutofit/>
          </a:bodyPr>
          <a:lstStyle/>
          <a:p>
            <a:pPr>
              <a:lnSpc>
                <a:spcPct val="115000"/>
              </a:lnSpc>
            </a:pPr>
            <a:r>
              <a:rPr lang="fr-FR" sz="950">
                <a:solidFill>
                  <a:srgbClr val="5F6B76"/>
                </a:solidFill>
                <a:latin typeface="Manrope" pitchFamily="2" charset="0"/>
              </a:rPr>
              <a:t>Développeur, data, alternance…</a:t>
            </a:r>
          </a:p>
        </p:txBody>
      </p:sp>
      <p:sp>
        <p:nvSpPr>
          <p:cNvPr id="19" name="Rectangle : coins arrondis 18">
            <a:extLst>
              <a:ext uri="{FF2B5EF4-FFF2-40B4-BE49-F238E27FC236}">
                <a16:creationId xmlns:a16="http://schemas.microsoft.com/office/drawing/2014/main" id="{978D08E7-8502-F76F-6398-D0B47D6CBAD4}"/>
              </a:ext>
            </a:extLst>
          </p:cNvPr>
          <p:cNvSpPr/>
          <p:nvPr/>
        </p:nvSpPr>
        <p:spPr>
          <a:xfrm>
            <a:off x="10591800" y="3517900"/>
            <a:ext cx="355600" cy="355600"/>
          </a:xfrm>
          <a:prstGeom prst="roundRect">
            <a:avLst>
              <a:gd name="adj" fmla="val 21429"/>
            </a:avLst>
          </a:prstGeom>
          <a:solidFill>
            <a:srgbClr val="245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100">
                <a:solidFill>
                  <a:srgbClr val="FFFFFF"/>
                </a:solidFill>
                <a:latin typeface="Manrope Medium" pitchFamily="2" charset="0"/>
              </a:rPr>
              <a:t>→</a:t>
            </a:r>
          </a:p>
        </p:txBody>
      </p:sp>
      <p:sp>
        <p:nvSpPr>
          <p:cNvPr id="20" name="ZoneTexte 19">
            <a:extLst>
              <a:ext uri="{FF2B5EF4-FFF2-40B4-BE49-F238E27FC236}">
                <a16:creationId xmlns:a16="http://schemas.microsoft.com/office/drawing/2014/main" id="{59436A74-FA00-54A5-7C3F-50A2A6AC8FDE}"/>
              </a:ext>
            </a:extLst>
          </p:cNvPr>
          <p:cNvSpPr txBox="1"/>
          <p:nvPr/>
        </p:nvSpPr>
        <p:spPr>
          <a:xfrm>
            <a:off x="6629400" y="4165600"/>
            <a:ext cx="2540000" cy="369332"/>
          </a:xfrm>
          <a:prstGeom prst="rect">
            <a:avLst/>
          </a:prstGeom>
          <a:noFill/>
        </p:spPr>
        <p:txBody>
          <a:bodyPr vert="horz" wrap="square" lIns="0" tIns="0" rIns="0" bIns="0" rtlCol="0">
            <a:noAutofit/>
          </a:bodyPr>
          <a:lstStyle/>
          <a:p>
            <a:pPr>
              <a:lnSpc>
                <a:spcPct val="115000"/>
              </a:lnSpc>
            </a:pPr>
            <a:r>
              <a:rPr lang="fr-FR" sz="800">
                <a:solidFill>
                  <a:srgbClr val="5F6B76"/>
                </a:solidFill>
                <a:latin typeface="Manrope Medium" pitchFamily="2" charset="0"/>
              </a:rPr>
              <a:t>Offres récentes</a:t>
            </a:r>
          </a:p>
        </p:txBody>
      </p:sp>
      <p:sp>
        <p:nvSpPr>
          <p:cNvPr id="21" name="ZoneTexte 20">
            <a:extLst>
              <a:ext uri="{FF2B5EF4-FFF2-40B4-BE49-F238E27FC236}">
                <a16:creationId xmlns:a16="http://schemas.microsoft.com/office/drawing/2014/main" id="{B6451B68-CA8E-BBF8-66A3-FB47A7CA8646}"/>
              </a:ext>
            </a:extLst>
          </p:cNvPr>
          <p:cNvSpPr txBox="1"/>
          <p:nvPr/>
        </p:nvSpPr>
        <p:spPr>
          <a:xfrm>
            <a:off x="6629400" y="4394200"/>
            <a:ext cx="4191000" cy="369332"/>
          </a:xfrm>
          <a:prstGeom prst="rect">
            <a:avLst/>
          </a:prstGeom>
          <a:noFill/>
        </p:spPr>
        <p:txBody>
          <a:bodyPr vert="horz" wrap="square" lIns="0" tIns="0" rIns="0" bIns="0" rtlCol="0">
            <a:noAutofit/>
          </a:bodyPr>
          <a:lstStyle/>
          <a:p>
            <a:pPr>
              <a:lnSpc>
                <a:spcPct val="115000"/>
              </a:lnSpc>
            </a:pPr>
            <a:r>
              <a:rPr lang="fr-FR" sz="1000">
                <a:solidFill>
                  <a:srgbClr val="1D1D1F"/>
                </a:solidFill>
                <a:latin typeface="Manrope Medium" pitchFamily="2" charset="0"/>
              </a:rPr>
              <a:t>Développeur React — Orvelune</a:t>
            </a:r>
          </a:p>
        </p:txBody>
      </p:sp>
      <p:sp>
        <p:nvSpPr>
          <p:cNvPr id="22" name="ZoneTexte 21">
            <a:extLst>
              <a:ext uri="{FF2B5EF4-FFF2-40B4-BE49-F238E27FC236}">
                <a16:creationId xmlns:a16="http://schemas.microsoft.com/office/drawing/2014/main" id="{28497474-C10F-651D-7DD8-EF34FB6BEF08}"/>
              </a:ext>
            </a:extLst>
          </p:cNvPr>
          <p:cNvSpPr txBox="1"/>
          <p:nvPr/>
        </p:nvSpPr>
        <p:spPr>
          <a:xfrm>
            <a:off x="6629400" y="4572000"/>
            <a:ext cx="4191000" cy="369332"/>
          </a:xfrm>
          <a:prstGeom prst="rect">
            <a:avLst/>
          </a:prstGeom>
          <a:noFill/>
        </p:spPr>
        <p:txBody>
          <a:bodyPr vert="horz" wrap="square" lIns="0" tIns="0" rIns="0" bIns="0" rtlCol="0">
            <a:noAutofit/>
          </a:bodyPr>
          <a:lstStyle/>
          <a:p>
            <a:pPr>
              <a:lnSpc>
                <a:spcPct val="115000"/>
              </a:lnSpc>
            </a:pPr>
            <a:r>
              <a:rPr lang="fr-FR" sz="850">
                <a:solidFill>
                  <a:srgbClr val="5F6B76"/>
                </a:solidFill>
                <a:latin typeface="Manrope" pitchFamily="2" charset="0"/>
              </a:rPr>
              <a:t>75009 Paris · CDI</a:t>
            </a:r>
          </a:p>
        </p:txBody>
      </p:sp>
      <p:sp>
        <p:nvSpPr>
          <p:cNvPr id="23" name="ZoneTexte 22">
            <a:extLst>
              <a:ext uri="{FF2B5EF4-FFF2-40B4-BE49-F238E27FC236}">
                <a16:creationId xmlns:a16="http://schemas.microsoft.com/office/drawing/2014/main" id="{3FE50740-225A-0B06-50B8-102E9D4EBF20}"/>
              </a:ext>
            </a:extLst>
          </p:cNvPr>
          <p:cNvSpPr txBox="1"/>
          <p:nvPr/>
        </p:nvSpPr>
        <p:spPr>
          <a:xfrm>
            <a:off x="6629400" y="4876800"/>
            <a:ext cx="4191000" cy="369332"/>
          </a:xfrm>
          <a:prstGeom prst="rect">
            <a:avLst/>
          </a:prstGeom>
          <a:noFill/>
        </p:spPr>
        <p:txBody>
          <a:bodyPr vert="horz" wrap="square" lIns="0" tIns="0" rIns="0" bIns="0" rtlCol="0">
            <a:noAutofit/>
          </a:bodyPr>
          <a:lstStyle/>
          <a:p>
            <a:pPr>
              <a:lnSpc>
                <a:spcPct val="115000"/>
              </a:lnSpc>
            </a:pPr>
            <a:r>
              <a:rPr lang="fr-FR" sz="1000">
                <a:solidFill>
                  <a:srgbClr val="1D1D1F"/>
                </a:solidFill>
                <a:latin typeface="Manrope Medium" pitchFamily="2" charset="0"/>
              </a:rPr>
              <a:t>Technicien support informatique — Talvoria</a:t>
            </a:r>
          </a:p>
        </p:txBody>
      </p:sp>
      <p:sp>
        <p:nvSpPr>
          <p:cNvPr id="24" name="ZoneTexte 23">
            <a:extLst>
              <a:ext uri="{FF2B5EF4-FFF2-40B4-BE49-F238E27FC236}">
                <a16:creationId xmlns:a16="http://schemas.microsoft.com/office/drawing/2014/main" id="{4A28C44E-8C6C-5479-77C7-C77A8E42D952}"/>
              </a:ext>
            </a:extLst>
          </p:cNvPr>
          <p:cNvSpPr txBox="1"/>
          <p:nvPr/>
        </p:nvSpPr>
        <p:spPr>
          <a:xfrm>
            <a:off x="6629400" y="5054600"/>
            <a:ext cx="4191000" cy="369332"/>
          </a:xfrm>
          <a:prstGeom prst="rect">
            <a:avLst/>
          </a:prstGeom>
          <a:noFill/>
        </p:spPr>
        <p:txBody>
          <a:bodyPr vert="horz" wrap="square" lIns="0" tIns="0" rIns="0" bIns="0" rtlCol="0">
            <a:noAutofit/>
          </a:bodyPr>
          <a:lstStyle/>
          <a:p>
            <a:pPr>
              <a:lnSpc>
                <a:spcPct val="115000"/>
              </a:lnSpc>
            </a:pPr>
            <a:r>
              <a:rPr lang="fr-FR" sz="850">
                <a:solidFill>
                  <a:srgbClr val="5F6B76"/>
                </a:solidFill>
                <a:latin typeface="Manrope" pitchFamily="2" charset="0"/>
              </a:rPr>
              <a:t>69003 Lyon · CDI</a:t>
            </a:r>
          </a:p>
        </p:txBody>
      </p:sp>
      <p:sp>
        <p:nvSpPr>
          <p:cNvPr id="25" name="Rectangle 24">
            <a:extLst>
              <a:ext uri="{FF2B5EF4-FFF2-40B4-BE49-F238E27FC236}">
                <a16:creationId xmlns:a16="http://schemas.microsoft.com/office/drawing/2014/main" id="{707E62F2-6CDB-E63A-EF43-668A78D28E0D}"/>
              </a:ext>
            </a:extLst>
          </p:cNvPr>
          <p:cNvSpPr/>
          <p:nvPr/>
        </p:nvSpPr>
        <p:spPr>
          <a:xfrm>
            <a:off x="6629400" y="5410200"/>
            <a:ext cx="4368800" cy="9525"/>
          </a:xfrm>
          <a:prstGeom prst="rect">
            <a:avLst/>
          </a:prstGeom>
          <a:solidFill>
            <a:srgbClr val="E2E8E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6" name="ZoneTexte 25">
            <a:extLst>
              <a:ext uri="{FF2B5EF4-FFF2-40B4-BE49-F238E27FC236}">
                <a16:creationId xmlns:a16="http://schemas.microsoft.com/office/drawing/2014/main" id="{75153BFE-7F94-0106-C651-57E00052D025}"/>
              </a:ext>
            </a:extLst>
          </p:cNvPr>
          <p:cNvSpPr txBox="1"/>
          <p:nvPr/>
        </p:nvSpPr>
        <p:spPr>
          <a:xfrm>
            <a:off x="6629400" y="5562600"/>
            <a:ext cx="4191000" cy="369332"/>
          </a:xfrm>
          <a:prstGeom prst="rect">
            <a:avLst/>
          </a:prstGeom>
          <a:noFill/>
        </p:spPr>
        <p:txBody>
          <a:bodyPr vert="horz" wrap="square" lIns="0" tIns="0" rIns="0" bIns="0" rtlCol="0">
            <a:noAutofit/>
          </a:bodyPr>
          <a:lstStyle/>
          <a:p>
            <a:pPr>
              <a:lnSpc>
                <a:spcPct val="115000"/>
              </a:lnSpc>
            </a:pPr>
            <a:r>
              <a:rPr lang="fr-FR" sz="850">
                <a:solidFill>
                  <a:srgbClr val="5F6B76"/>
                </a:solidFill>
                <a:latin typeface="Manrope" pitchFamily="2" charset="0"/>
              </a:rPr>
              <a:t>Filtres : contrat, lieu, catégorie</a:t>
            </a:r>
          </a:p>
        </p:txBody>
      </p:sp>
    </p:spTree>
    <p:extLst>
      <p:ext uri="{BB962C8B-B14F-4D97-AF65-F5344CB8AC3E}">
        <p14:creationId xmlns:p14="http://schemas.microsoft.com/office/powerpoint/2010/main" val="3398773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15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par>
                                <p:cTn id="11" presetID="10" presetClass="entr" presetSubtype="0" fill="hold" grpId="0" nodeType="withEffect">
                                  <p:stCondLst>
                                    <p:cond delay="45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childTnLst>
                                </p:cTn>
                              </p:par>
                              <p:par>
                                <p:cTn id="14" presetID="10" presetClass="entr" presetSubtype="0" fill="hold" grpId="0" nodeType="withEffect">
                                  <p:stCondLst>
                                    <p:cond delay="45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childTnLst>
                                </p:cTn>
                              </p:par>
                              <p:par>
                                <p:cTn id="17" presetID="10" presetClass="entr" presetSubtype="0" fill="hold" grpId="0" nodeType="withEffect">
                                  <p:stCondLst>
                                    <p:cond delay="45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childTnLst>
                                </p:cTn>
                              </p:par>
                              <p:par>
                                <p:cTn id="20" presetID="10" presetClass="entr" presetSubtype="0" fill="hold" grpId="0" nodeType="withEffect">
                                  <p:stCondLst>
                                    <p:cond delay="75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par>
                                <p:cTn id="23" presetID="10" presetClass="entr" presetSubtype="0" fill="hold" grpId="0" nodeType="withEffect">
                                  <p:stCondLst>
                                    <p:cond delay="75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childTnLst>
                                </p:cTn>
                              </p:par>
                              <p:par>
                                <p:cTn id="26" presetID="10" presetClass="entr" presetSubtype="0" fill="hold" grpId="0" nodeType="withEffect">
                                  <p:stCondLst>
                                    <p:cond delay="75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500"/>
                                        <p:tgtEl>
                                          <p:spTgt spid="9"/>
                                        </p:tgtEl>
                                      </p:cBhvr>
                                    </p:animEffect>
                                  </p:childTnLst>
                                </p:cTn>
                              </p:par>
                              <p:par>
                                <p:cTn id="29" presetID="10" presetClass="entr" presetSubtype="0" fill="hold" grpId="0" nodeType="withEffect">
                                  <p:stCondLst>
                                    <p:cond delay="105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500"/>
                                        <p:tgtEl>
                                          <p:spTgt spid="10"/>
                                        </p:tgtEl>
                                      </p:cBhvr>
                                    </p:animEffect>
                                  </p:childTnLst>
                                </p:cTn>
                              </p:par>
                              <p:par>
                                <p:cTn id="32" presetID="10" presetClass="entr" presetSubtype="0" fill="hold" grpId="0" nodeType="withEffect">
                                  <p:stCondLst>
                                    <p:cond delay="105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500"/>
                                        <p:tgtEl>
                                          <p:spTgt spid="11"/>
                                        </p:tgtEl>
                                      </p:cBhvr>
                                    </p:animEffect>
                                  </p:childTnLst>
                                </p:cTn>
                              </p:par>
                              <p:par>
                                <p:cTn id="35" presetID="10" presetClass="entr" presetSubtype="0" fill="hold" grpId="0" nodeType="withEffect">
                                  <p:stCondLst>
                                    <p:cond delay="105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500"/>
                                        <p:tgtEl>
                                          <p:spTgt spid="12"/>
                                        </p:tgtEl>
                                      </p:cBhvr>
                                    </p:animEffect>
                                  </p:childTnLst>
                                </p:cTn>
                              </p:par>
                              <p:par>
                                <p:cTn id="38" presetID="10" presetClass="entr" presetSubtype="0" fill="hold" grpId="0" nodeType="withEffect">
                                  <p:stCondLst>
                                    <p:cond delay="135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00"/>
                                        <p:tgtEl>
                                          <p:spTgt spid="13"/>
                                        </p:tgtEl>
                                      </p:cBhvr>
                                    </p:animEffect>
                                  </p:childTnLst>
                                </p:cTn>
                              </p:par>
                              <p:par>
                                <p:cTn id="41" presetID="10" presetClass="entr" presetSubtype="0" fill="hold" grpId="0" nodeType="withEffect">
                                  <p:stCondLst>
                                    <p:cond delay="135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500"/>
                                        <p:tgtEl>
                                          <p:spTgt spid="14"/>
                                        </p:tgtEl>
                                      </p:cBhvr>
                                    </p:animEffect>
                                  </p:childTnLst>
                                </p:cTn>
                              </p:par>
                              <p:par>
                                <p:cTn id="44" presetID="10" presetClass="entr" presetSubtype="0" fill="hold" grpId="0" nodeType="withEffect">
                                  <p:stCondLst>
                                    <p:cond delay="135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00"/>
                                        <p:tgtEl>
                                          <p:spTgt spid="15"/>
                                        </p:tgtEl>
                                      </p:cBhvr>
                                    </p:animEffect>
                                  </p:childTnLst>
                                </p:cTn>
                              </p:par>
                              <p:par>
                                <p:cTn id="47" presetID="10" presetClass="entr" presetSubtype="0" fill="hold" grpId="0" nodeType="withEffect">
                                  <p:stCondLst>
                                    <p:cond delay="135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500"/>
                                        <p:tgtEl>
                                          <p:spTgt spid="16"/>
                                        </p:tgtEl>
                                      </p:cBhvr>
                                    </p:animEffect>
                                  </p:childTnLst>
                                </p:cTn>
                              </p:par>
                              <p:par>
                                <p:cTn id="50" presetID="10" presetClass="entr" presetSubtype="0" fill="hold" grpId="0" nodeType="withEffect">
                                  <p:stCondLst>
                                    <p:cond delay="135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00"/>
                                        <p:tgtEl>
                                          <p:spTgt spid="17"/>
                                        </p:tgtEl>
                                      </p:cBhvr>
                                    </p:animEffect>
                                  </p:childTnLst>
                                </p:cTn>
                              </p:par>
                              <p:par>
                                <p:cTn id="53" presetID="10" presetClass="entr" presetSubtype="0" fill="hold" grpId="0" nodeType="withEffect">
                                  <p:stCondLst>
                                    <p:cond delay="135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500"/>
                                        <p:tgtEl>
                                          <p:spTgt spid="18"/>
                                        </p:tgtEl>
                                      </p:cBhvr>
                                    </p:animEffect>
                                  </p:childTnLst>
                                </p:cTn>
                              </p:par>
                              <p:par>
                                <p:cTn id="56" presetID="10" presetClass="entr" presetSubtype="0" fill="hold" grpId="0" nodeType="withEffect">
                                  <p:stCondLst>
                                    <p:cond delay="135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500"/>
                                        <p:tgtEl>
                                          <p:spTgt spid="19"/>
                                        </p:tgtEl>
                                      </p:cBhvr>
                                    </p:animEffect>
                                  </p:childTnLst>
                                </p:cTn>
                              </p:par>
                              <p:par>
                                <p:cTn id="59" presetID="10" presetClass="entr" presetSubtype="0" fill="hold" grpId="0" nodeType="withEffect">
                                  <p:stCondLst>
                                    <p:cond delay="135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500"/>
                                        <p:tgtEl>
                                          <p:spTgt spid="20"/>
                                        </p:tgtEl>
                                      </p:cBhvr>
                                    </p:animEffect>
                                  </p:childTnLst>
                                </p:cTn>
                              </p:par>
                              <p:par>
                                <p:cTn id="62" presetID="10" presetClass="entr" presetSubtype="0" fill="hold" grpId="0" nodeType="withEffect">
                                  <p:stCondLst>
                                    <p:cond delay="1350"/>
                                  </p:stCondLst>
                                  <p:childTnLst>
                                    <p:set>
                                      <p:cBhvr>
                                        <p:cTn id="63" dur="1" fill="hold">
                                          <p:stCondLst>
                                            <p:cond delay="0"/>
                                          </p:stCondLst>
                                        </p:cTn>
                                        <p:tgtEl>
                                          <p:spTgt spid="21"/>
                                        </p:tgtEl>
                                        <p:attrNameLst>
                                          <p:attrName>style.visibility</p:attrName>
                                        </p:attrNameLst>
                                      </p:cBhvr>
                                      <p:to>
                                        <p:strVal val="visible"/>
                                      </p:to>
                                    </p:set>
                                    <p:animEffect transition="in" filter="fade">
                                      <p:cBhvr>
                                        <p:cTn id="64" dur="500"/>
                                        <p:tgtEl>
                                          <p:spTgt spid="21"/>
                                        </p:tgtEl>
                                      </p:cBhvr>
                                    </p:animEffect>
                                  </p:childTnLst>
                                </p:cTn>
                              </p:par>
                              <p:par>
                                <p:cTn id="65" presetID="10" presetClass="entr" presetSubtype="0" fill="hold" grpId="0" nodeType="withEffect">
                                  <p:stCondLst>
                                    <p:cond delay="135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500"/>
                                        <p:tgtEl>
                                          <p:spTgt spid="22"/>
                                        </p:tgtEl>
                                      </p:cBhvr>
                                    </p:animEffect>
                                  </p:childTnLst>
                                </p:cTn>
                              </p:par>
                              <p:par>
                                <p:cTn id="68" presetID="10" presetClass="entr" presetSubtype="0" fill="hold" grpId="0" nodeType="withEffect">
                                  <p:stCondLst>
                                    <p:cond delay="1350"/>
                                  </p:stCondLst>
                                  <p:childTnLst>
                                    <p:set>
                                      <p:cBhvr>
                                        <p:cTn id="69" dur="1" fill="hold">
                                          <p:stCondLst>
                                            <p:cond delay="0"/>
                                          </p:stCondLst>
                                        </p:cTn>
                                        <p:tgtEl>
                                          <p:spTgt spid="23"/>
                                        </p:tgtEl>
                                        <p:attrNameLst>
                                          <p:attrName>style.visibility</p:attrName>
                                        </p:attrNameLst>
                                      </p:cBhvr>
                                      <p:to>
                                        <p:strVal val="visible"/>
                                      </p:to>
                                    </p:set>
                                    <p:animEffect transition="in" filter="fade">
                                      <p:cBhvr>
                                        <p:cTn id="70" dur="500"/>
                                        <p:tgtEl>
                                          <p:spTgt spid="23"/>
                                        </p:tgtEl>
                                      </p:cBhvr>
                                    </p:animEffect>
                                  </p:childTnLst>
                                </p:cTn>
                              </p:par>
                              <p:par>
                                <p:cTn id="71" presetID="10" presetClass="entr" presetSubtype="0" fill="hold" grpId="0" nodeType="withEffect">
                                  <p:stCondLst>
                                    <p:cond delay="1350"/>
                                  </p:stCondLst>
                                  <p:childTnLst>
                                    <p:set>
                                      <p:cBhvr>
                                        <p:cTn id="72" dur="1" fill="hold">
                                          <p:stCondLst>
                                            <p:cond delay="0"/>
                                          </p:stCondLst>
                                        </p:cTn>
                                        <p:tgtEl>
                                          <p:spTgt spid="24"/>
                                        </p:tgtEl>
                                        <p:attrNameLst>
                                          <p:attrName>style.visibility</p:attrName>
                                        </p:attrNameLst>
                                      </p:cBhvr>
                                      <p:to>
                                        <p:strVal val="visible"/>
                                      </p:to>
                                    </p:set>
                                    <p:animEffect transition="in" filter="fade">
                                      <p:cBhvr>
                                        <p:cTn id="73" dur="500"/>
                                        <p:tgtEl>
                                          <p:spTgt spid="24"/>
                                        </p:tgtEl>
                                      </p:cBhvr>
                                    </p:animEffect>
                                  </p:childTnLst>
                                </p:cTn>
                              </p:par>
                              <p:par>
                                <p:cTn id="74" presetID="10" presetClass="entr" presetSubtype="0" fill="hold" grpId="0" nodeType="withEffect">
                                  <p:stCondLst>
                                    <p:cond delay="1350"/>
                                  </p:stCondLst>
                                  <p:childTnLst>
                                    <p:set>
                                      <p:cBhvr>
                                        <p:cTn id="75" dur="1" fill="hold">
                                          <p:stCondLst>
                                            <p:cond delay="0"/>
                                          </p:stCondLst>
                                        </p:cTn>
                                        <p:tgtEl>
                                          <p:spTgt spid="25"/>
                                        </p:tgtEl>
                                        <p:attrNameLst>
                                          <p:attrName>style.visibility</p:attrName>
                                        </p:attrNameLst>
                                      </p:cBhvr>
                                      <p:to>
                                        <p:strVal val="visible"/>
                                      </p:to>
                                    </p:set>
                                    <p:animEffect transition="in" filter="fade">
                                      <p:cBhvr>
                                        <p:cTn id="76" dur="500"/>
                                        <p:tgtEl>
                                          <p:spTgt spid="25"/>
                                        </p:tgtEl>
                                      </p:cBhvr>
                                    </p:animEffect>
                                  </p:childTnLst>
                                </p:cTn>
                              </p:par>
                              <p:par>
                                <p:cTn id="77" presetID="10" presetClass="entr" presetSubtype="0" fill="hold" grpId="0" nodeType="withEffect">
                                  <p:stCondLst>
                                    <p:cond delay="1350"/>
                                  </p:stCondLst>
                                  <p:childTnLst>
                                    <p:set>
                                      <p:cBhvr>
                                        <p:cTn id="78" dur="1" fill="hold">
                                          <p:stCondLst>
                                            <p:cond delay="0"/>
                                          </p:stCondLst>
                                        </p:cTn>
                                        <p:tgtEl>
                                          <p:spTgt spid="26"/>
                                        </p:tgtEl>
                                        <p:attrNameLst>
                                          <p:attrName>style.visibility</p:attrName>
                                        </p:attrNameLst>
                                      </p:cBhvr>
                                      <p:to>
                                        <p:strVal val="visible"/>
                                      </p:to>
                                    </p:set>
                                    <p:animEffect transition="in" filter="fade">
                                      <p:cBhvr>
                                        <p:cTn id="79"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animBg="1"/>
      <p:bldP spid="5" grpId="0"/>
      <p:bldP spid="6" grpId="0"/>
      <p:bldP spid="7" grpId="0" animBg="1"/>
      <p:bldP spid="8" grpId="0"/>
      <p:bldP spid="9" grpId="0"/>
      <p:bldP spid="10" grpId="0" animBg="1"/>
      <p:bldP spid="11" grpId="0"/>
      <p:bldP spid="12" grpId="0"/>
      <p:bldP spid="13" grpId="0" animBg="1"/>
      <p:bldP spid="14" grpId="0"/>
      <p:bldP spid="15" grpId="0"/>
      <p:bldP spid="16" grpId="0"/>
      <p:bldP spid="17" grpId="0" animBg="1"/>
      <p:bldP spid="18" grpId="0"/>
      <p:bldP spid="19" grpId="0" animBg="1"/>
      <p:bldP spid="20" grpId="0"/>
      <p:bldP spid="21" grpId="0"/>
      <p:bldP spid="22" grpId="0"/>
      <p:bldP spid="23" grpId="0"/>
      <p:bldP spid="24" grpId="0"/>
      <p:bldP spid="25" grpId="0" animBg="1"/>
      <p:bldP spid="26"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1016"/>
        </a:solidFill>
        <a:effectLst/>
      </p:bgPr>
    </p:bg>
    <p:spTree>
      <p:nvGrpSpPr>
        <p:cNvPr id="1" name=""/>
        <p:cNvGrpSpPr/>
        <p:nvPr/>
      </p:nvGrpSpPr>
      <p:grpSpPr>
        <a:xfrm>
          <a:off x="0" y="0"/>
          <a:ext cx="0" cy="0"/>
          <a:chOff x="0" y="0"/>
          <a:chExt cx="0" cy="0"/>
        </a:xfrm>
      </p:grpSpPr>
      <p:sp>
        <p:nvSpPr>
          <p:cNvPr id="2" name="ZoneTexte 1">
            <a:extLst>
              <a:ext uri="{FF2B5EF4-FFF2-40B4-BE49-F238E27FC236}">
                <a16:creationId xmlns:a16="http://schemas.microsoft.com/office/drawing/2014/main" id="{F57FB4BB-36D0-5444-5839-DB1A8B9FE59B}"/>
              </a:ext>
            </a:extLst>
          </p:cNvPr>
          <p:cNvSpPr txBox="1"/>
          <p:nvPr/>
        </p:nvSpPr>
        <p:spPr>
          <a:xfrm>
            <a:off x="914400" y="711200"/>
            <a:ext cx="10363200" cy="369332"/>
          </a:xfrm>
          <a:prstGeom prst="rect">
            <a:avLst/>
          </a:prstGeom>
          <a:noFill/>
        </p:spPr>
        <p:txBody>
          <a:bodyPr vert="horz" wrap="square" lIns="0" tIns="0" rIns="0" bIns="0" rtlCol="0">
            <a:noAutofit/>
          </a:bodyPr>
          <a:lstStyle/>
          <a:p>
            <a:pPr>
              <a:lnSpc>
                <a:spcPct val="115000"/>
              </a:lnSpc>
            </a:pPr>
            <a:r>
              <a:rPr lang="fr-FR" sz="1100" spc="260">
                <a:solidFill>
                  <a:srgbClr val="A9CCE3"/>
                </a:solidFill>
                <a:latin typeface="Manrope SemiBold" pitchFamily="2" charset="0"/>
              </a:rPr>
              <a:t>LE PRODUIT</a:t>
            </a:r>
          </a:p>
        </p:txBody>
      </p:sp>
      <p:sp>
        <p:nvSpPr>
          <p:cNvPr id="3" name="ZoneTexte 2">
            <a:extLst>
              <a:ext uri="{FF2B5EF4-FFF2-40B4-BE49-F238E27FC236}">
                <a16:creationId xmlns:a16="http://schemas.microsoft.com/office/drawing/2014/main" id="{E72E5CBE-2C2C-1F06-3BDF-B09236F3B056}"/>
              </a:ext>
            </a:extLst>
          </p:cNvPr>
          <p:cNvSpPr txBox="1"/>
          <p:nvPr/>
        </p:nvSpPr>
        <p:spPr>
          <a:xfrm>
            <a:off x="914400" y="990600"/>
            <a:ext cx="10363200" cy="369332"/>
          </a:xfrm>
          <a:prstGeom prst="rect">
            <a:avLst/>
          </a:prstGeom>
          <a:noFill/>
        </p:spPr>
        <p:txBody>
          <a:bodyPr vert="horz" wrap="square" lIns="0" tIns="0" rIns="0" bIns="0" rtlCol="0">
            <a:noAutofit/>
          </a:bodyPr>
          <a:lstStyle/>
          <a:p>
            <a:r>
              <a:rPr lang="fr-FR" sz="3600" spc="-50">
                <a:solidFill>
                  <a:srgbClr val="F2F5F8"/>
                </a:solidFill>
                <a:latin typeface="Manrope SemiBold" pitchFamily="2" charset="0"/>
              </a:rPr>
              <a:t>Une annonce, un bouton, une </a:t>
            </a:r>
            <a:r>
              <a:rPr lang="fr-FR" sz="3600" spc="-50">
                <a:gradFill flip="none" rotWithShape="1">
                  <a:gsLst>
                    <a:gs pos="0">
                      <a:srgbClr val="5A93BF"/>
                    </a:gs>
                    <a:gs pos="100000">
                      <a:srgbClr val="A9CCE3"/>
                    </a:gs>
                  </a:gsLst>
                  <a:lin ang="0" scaled="1"/>
                  <a:tileRect/>
                </a:gradFill>
                <a:latin typeface="Manrope SemiBold" pitchFamily="2" charset="0"/>
              </a:rPr>
              <a:t>candidature</a:t>
            </a:r>
            <a:r>
              <a:rPr lang="fr-FR" sz="3600" spc="-50">
                <a:solidFill>
                  <a:srgbClr val="F2F5F8"/>
                </a:solidFill>
                <a:latin typeface="Manrope SemiBold" pitchFamily="2" charset="0"/>
              </a:rPr>
              <a:t>.</a:t>
            </a:r>
          </a:p>
        </p:txBody>
      </p:sp>
      <p:sp>
        <p:nvSpPr>
          <p:cNvPr id="4" name="Rectangle : coins arrondis 3">
            <a:extLst>
              <a:ext uri="{FF2B5EF4-FFF2-40B4-BE49-F238E27FC236}">
                <a16:creationId xmlns:a16="http://schemas.microsoft.com/office/drawing/2014/main" id="{5C080E9F-F1A6-E9ED-A7CC-BBF09D32C5A6}"/>
              </a:ext>
            </a:extLst>
          </p:cNvPr>
          <p:cNvSpPr/>
          <p:nvPr/>
        </p:nvSpPr>
        <p:spPr>
          <a:xfrm>
            <a:off x="914400" y="1854200"/>
            <a:ext cx="5181600" cy="4241800"/>
          </a:xfrm>
          <a:prstGeom prst="roundRect">
            <a:avLst>
              <a:gd name="adj" fmla="val 4192"/>
            </a:avLst>
          </a:prstGeom>
          <a:solidFill>
            <a:srgbClr val="F7F9FB"/>
          </a:solidFill>
          <a:ln w="9525">
            <a:solidFill>
              <a:srgbClr val="E2E8E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 name="ZoneTexte 4">
            <a:extLst>
              <a:ext uri="{FF2B5EF4-FFF2-40B4-BE49-F238E27FC236}">
                <a16:creationId xmlns:a16="http://schemas.microsoft.com/office/drawing/2014/main" id="{A678F253-7E6A-115B-10A2-BA74B4DD978D}"/>
              </a:ext>
            </a:extLst>
          </p:cNvPr>
          <p:cNvSpPr txBox="1"/>
          <p:nvPr/>
        </p:nvSpPr>
        <p:spPr>
          <a:xfrm>
            <a:off x="1168400" y="2057400"/>
            <a:ext cx="3810000" cy="369332"/>
          </a:xfrm>
          <a:prstGeom prst="rect">
            <a:avLst/>
          </a:prstGeom>
          <a:noFill/>
        </p:spPr>
        <p:txBody>
          <a:bodyPr vert="horz" wrap="square" lIns="0" tIns="0" rIns="0" bIns="0" rtlCol="0">
            <a:noAutofit/>
          </a:bodyPr>
          <a:lstStyle/>
          <a:p>
            <a:pPr>
              <a:lnSpc>
                <a:spcPct val="115000"/>
              </a:lnSpc>
            </a:pPr>
            <a:r>
              <a:rPr lang="fr-FR" sz="900">
                <a:solidFill>
                  <a:srgbClr val="5F6B76"/>
                </a:solidFill>
                <a:latin typeface="Manrope" pitchFamily="2" charset="0"/>
              </a:rPr>
              <a:t>Orvelune</a:t>
            </a:r>
          </a:p>
        </p:txBody>
      </p:sp>
      <p:sp>
        <p:nvSpPr>
          <p:cNvPr id="6" name="ZoneTexte 5">
            <a:extLst>
              <a:ext uri="{FF2B5EF4-FFF2-40B4-BE49-F238E27FC236}">
                <a16:creationId xmlns:a16="http://schemas.microsoft.com/office/drawing/2014/main" id="{699492B9-B6F1-A4BC-2548-4E51A4DCAAE8}"/>
              </a:ext>
            </a:extLst>
          </p:cNvPr>
          <p:cNvSpPr txBox="1"/>
          <p:nvPr/>
        </p:nvSpPr>
        <p:spPr>
          <a:xfrm>
            <a:off x="1168400" y="2235200"/>
            <a:ext cx="4572000" cy="369332"/>
          </a:xfrm>
          <a:prstGeom prst="rect">
            <a:avLst/>
          </a:prstGeom>
          <a:noFill/>
        </p:spPr>
        <p:txBody>
          <a:bodyPr vert="horz" wrap="square" lIns="0" tIns="0" rIns="0" bIns="0" rtlCol="0">
            <a:noAutofit/>
          </a:bodyPr>
          <a:lstStyle/>
          <a:p>
            <a:pPr>
              <a:lnSpc>
                <a:spcPct val="115000"/>
              </a:lnSpc>
            </a:pPr>
            <a:r>
              <a:rPr lang="fr-FR" sz="1600">
                <a:solidFill>
                  <a:srgbClr val="1D1D1F"/>
                </a:solidFill>
                <a:latin typeface="Manrope SemiBold" pitchFamily="2" charset="0"/>
              </a:rPr>
              <a:t>Développeur React</a:t>
            </a:r>
          </a:p>
        </p:txBody>
      </p:sp>
      <p:sp>
        <p:nvSpPr>
          <p:cNvPr id="7" name="ZoneTexte 6">
            <a:extLst>
              <a:ext uri="{FF2B5EF4-FFF2-40B4-BE49-F238E27FC236}">
                <a16:creationId xmlns:a16="http://schemas.microsoft.com/office/drawing/2014/main" id="{CEF3B1A6-35B7-0B9A-EA80-17CAE892057D}"/>
              </a:ext>
            </a:extLst>
          </p:cNvPr>
          <p:cNvSpPr txBox="1"/>
          <p:nvPr/>
        </p:nvSpPr>
        <p:spPr>
          <a:xfrm>
            <a:off x="1168400" y="2540000"/>
            <a:ext cx="4673600" cy="381000"/>
          </a:xfrm>
          <a:prstGeom prst="rect">
            <a:avLst/>
          </a:prstGeom>
          <a:noFill/>
        </p:spPr>
        <p:txBody>
          <a:bodyPr vert="horz" wrap="square" lIns="0" tIns="0" rIns="0" bIns="0" rtlCol="0">
            <a:noAutofit/>
          </a:bodyPr>
          <a:lstStyle/>
          <a:p>
            <a:pPr>
              <a:lnSpc>
                <a:spcPct val="115000"/>
              </a:lnSpc>
            </a:pPr>
            <a:r>
              <a:rPr lang="fr-FR" sz="950">
                <a:solidFill>
                  <a:srgbClr val="1D1D1F"/>
                </a:solidFill>
                <a:latin typeface="Manrope" pitchFamily="2" charset="0"/>
              </a:rPr>
              <a:t>Donnez aux artisans des écrans qui rendent leurs devis plus simples à préparer.</a:t>
            </a:r>
          </a:p>
        </p:txBody>
      </p:sp>
      <p:sp>
        <p:nvSpPr>
          <p:cNvPr id="8" name="ZoneTexte 7">
            <a:extLst>
              <a:ext uri="{FF2B5EF4-FFF2-40B4-BE49-F238E27FC236}">
                <a16:creationId xmlns:a16="http://schemas.microsoft.com/office/drawing/2014/main" id="{8BDE3288-AFA4-AC7C-5011-D1DDFE9A7128}"/>
              </a:ext>
            </a:extLst>
          </p:cNvPr>
          <p:cNvSpPr txBox="1"/>
          <p:nvPr/>
        </p:nvSpPr>
        <p:spPr>
          <a:xfrm>
            <a:off x="1168400" y="2946400"/>
            <a:ext cx="3810000" cy="369332"/>
          </a:xfrm>
          <a:prstGeom prst="rect">
            <a:avLst/>
          </a:prstGeom>
          <a:noFill/>
        </p:spPr>
        <p:txBody>
          <a:bodyPr vert="horz" wrap="square" lIns="0" tIns="0" rIns="0" bIns="0" rtlCol="0">
            <a:noAutofit/>
          </a:bodyPr>
          <a:lstStyle/>
          <a:p>
            <a:pPr>
              <a:lnSpc>
                <a:spcPct val="115000"/>
              </a:lnSpc>
            </a:pPr>
            <a:r>
              <a:rPr lang="fr-FR" sz="850">
                <a:solidFill>
                  <a:srgbClr val="5F6B76"/>
                </a:solidFill>
                <a:latin typeface="Manrope" pitchFamily="2" charset="0"/>
              </a:rPr>
              <a:t>75009 Paris · CDI · 42 000 € brut par an</a:t>
            </a:r>
          </a:p>
        </p:txBody>
      </p:sp>
      <p:sp>
        <p:nvSpPr>
          <p:cNvPr id="9" name="Rectangle : coins arrondis 8">
            <a:extLst>
              <a:ext uri="{FF2B5EF4-FFF2-40B4-BE49-F238E27FC236}">
                <a16:creationId xmlns:a16="http://schemas.microsoft.com/office/drawing/2014/main" id="{F0BBF8BE-64F8-A3A9-D33F-6DD4AA2CDEA6}"/>
              </a:ext>
            </a:extLst>
          </p:cNvPr>
          <p:cNvSpPr/>
          <p:nvPr/>
        </p:nvSpPr>
        <p:spPr>
          <a:xfrm>
            <a:off x="1168400" y="3175000"/>
            <a:ext cx="965200" cy="304800"/>
          </a:xfrm>
          <a:prstGeom prst="roundRect">
            <a:avLst>
              <a:gd name="adj" fmla="val 25000"/>
            </a:avLst>
          </a:prstGeom>
          <a:solidFill>
            <a:srgbClr val="245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900">
                <a:solidFill>
                  <a:srgbClr val="FFFFFF"/>
                </a:solidFill>
                <a:latin typeface="Manrope Medium" pitchFamily="2" charset="0"/>
              </a:rPr>
              <a:t>Postuler</a:t>
            </a:r>
          </a:p>
        </p:txBody>
      </p:sp>
      <p:sp>
        <p:nvSpPr>
          <p:cNvPr id="10" name="ZoneTexte 9">
            <a:extLst>
              <a:ext uri="{FF2B5EF4-FFF2-40B4-BE49-F238E27FC236}">
                <a16:creationId xmlns:a16="http://schemas.microsoft.com/office/drawing/2014/main" id="{FF8BD4BD-53D8-B6CD-8E77-73B109EBEAC1}"/>
              </a:ext>
            </a:extLst>
          </p:cNvPr>
          <p:cNvSpPr txBox="1"/>
          <p:nvPr/>
        </p:nvSpPr>
        <p:spPr>
          <a:xfrm>
            <a:off x="2286000" y="3251200"/>
            <a:ext cx="2540000" cy="369332"/>
          </a:xfrm>
          <a:prstGeom prst="rect">
            <a:avLst/>
          </a:prstGeom>
          <a:noFill/>
        </p:spPr>
        <p:txBody>
          <a:bodyPr vert="horz" wrap="square" lIns="0" tIns="0" rIns="0" bIns="0" rtlCol="0">
            <a:noAutofit/>
          </a:bodyPr>
          <a:lstStyle/>
          <a:p>
            <a:pPr>
              <a:lnSpc>
                <a:spcPct val="115000"/>
              </a:lnSpc>
            </a:pPr>
            <a:r>
              <a:rPr lang="fr-FR" sz="800">
                <a:solidFill>
                  <a:srgbClr val="5F6B76"/>
                </a:solidFill>
                <a:latin typeface="Manrope" pitchFamily="2" charset="0"/>
              </a:rPr>
              <a:t>Vous candidatez en tant que visiteur</a:t>
            </a:r>
          </a:p>
        </p:txBody>
      </p:sp>
      <p:sp>
        <p:nvSpPr>
          <p:cNvPr id="11" name="Rectangle : coins arrondis 10">
            <a:extLst>
              <a:ext uri="{FF2B5EF4-FFF2-40B4-BE49-F238E27FC236}">
                <a16:creationId xmlns:a16="http://schemas.microsoft.com/office/drawing/2014/main" id="{36B10220-D574-90E8-9269-F40CEFD481E8}"/>
              </a:ext>
            </a:extLst>
          </p:cNvPr>
          <p:cNvSpPr/>
          <p:nvPr/>
        </p:nvSpPr>
        <p:spPr>
          <a:xfrm>
            <a:off x="1168400" y="3632200"/>
            <a:ext cx="2235200" cy="304800"/>
          </a:xfrm>
          <a:prstGeom prst="roundRect">
            <a:avLst>
              <a:gd name="adj" fmla="val 25000"/>
            </a:avLst>
          </a:prstGeom>
          <a:solidFill>
            <a:srgbClr val="FFFFFF"/>
          </a:solidFill>
          <a:ln w="9525">
            <a:solidFill>
              <a:srgbClr val="E2E8ED"/>
            </a:solidFill>
          </a:ln>
        </p:spPr>
        <p:style>
          <a:lnRef idx="2">
            <a:schemeClr val="accent1">
              <a:shade val="15000"/>
            </a:schemeClr>
          </a:lnRef>
          <a:fillRef idx="1">
            <a:schemeClr val="accent1"/>
          </a:fillRef>
          <a:effectRef idx="0">
            <a:schemeClr val="accent1"/>
          </a:effectRef>
          <a:fontRef idx="minor">
            <a:schemeClr val="lt1"/>
          </a:fontRef>
        </p:style>
        <p:txBody>
          <a:bodyPr wrap="none" lIns="101600" tIns="0" rIns="76200" bIns="0" rtlCol="0" anchor="t"/>
          <a:lstStyle/>
          <a:p>
            <a:r>
              <a:rPr lang="fr-FR" sz="850">
                <a:solidFill>
                  <a:srgbClr val="5F6B76"/>
                </a:solidFill>
                <a:latin typeface="Manrope" pitchFamily="2" charset="0"/>
              </a:rPr>
              <a:t>Nom</a:t>
            </a:r>
          </a:p>
        </p:txBody>
      </p:sp>
      <p:sp>
        <p:nvSpPr>
          <p:cNvPr id="12" name="Rectangle : coins arrondis 11">
            <a:extLst>
              <a:ext uri="{FF2B5EF4-FFF2-40B4-BE49-F238E27FC236}">
                <a16:creationId xmlns:a16="http://schemas.microsoft.com/office/drawing/2014/main" id="{74A17669-1938-9B12-86D1-CB2FFF4375FA}"/>
              </a:ext>
            </a:extLst>
          </p:cNvPr>
          <p:cNvSpPr/>
          <p:nvPr/>
        </p:nvSpPr>
        <p:spPr>
          <a:xfrm>
            <a:off x="3505200" y="3632200"/>
            <a:ext cx="2336800" cy="304800"/>
          </a:xfrm>
          <a:prstGeom prst="roundRect">
            <a:avLst>
              <a:gd name="adj" fmla="val 25000"/>
            </a:avLst>
          </a:prstGeom>
          <a:solidFill>
            <a:srgbClr val="FFFFFF"/>
          </a:solidFill>
          <a:ln w="9525">
            <a:solidFill>
              <a:srgbClr val="E2E8ED"/>
            </a:solidFill>
          </a:ln>
        </p:spPr>
        <p:style>
          <a:lnRef idx="2">
            <a:schemeClr val="accent1">
              <a:shade val="15000"/>
            </a:schemeClr>
          </a:lnRef>
          <a:fillRef idx="1">
            <a:schemeClr val="accent1"/>
          </a:fillRef>
          <a:effectRef idx="0">
            <a:schemeClr val="accent1"/>
          </a:effectRef>
          <a:fontRef idx="minor">
            <a:schemeClr val="lt1"/>
          </a:fontRef>
        </p:style>
        <p:txBody>
          <a:bodyPr wrap="none" lIns="101600" tIns="0" rIns="76200" bIns="0" rtlCol="0" anchor="t"/>
          <a:lstStyle/>
          <a:p>
            <a:r>
              <a:rPr lang="fr-FR" sz="850">
                <a:solidFill>
                  <a:srgbClr val="5F6B76"/>
                </a:solidFill>
                <a:latin typeface="Manrope" pitchFamily="2" charset="0"/>
              </a:rPr>
              <a:t>Prénom</a:t>
            </a:r>
          </a:p>
        </p:txBody>
      </p:sp>
      <p:sp>
        <p:nvSpPr>
          <p:cNvPr id="13" name="Rectangle : coins arrondis 12">
            <a:extLst>
              <a:ext uri="{FF2B5EF4-FFF2-40B4-BE49-F238E27FC236}">
                <a16:creationId xmlns:a16="http://schemas.microsoft.com/office/drawing/2014/main" id="{8518EB17-7A32-8CEE-35AA-CEB9310D6064}"/>
              </a:ext>
            </a:extLst>
          </p:cNvPr>
          <p:cNvSpPr/>
          <p:nvPr/>
        </p:nvSpPr>
        <p:spPr>
          <a:xfrm>
            <a:off x="1168400" y="4038600"/>
            <a:ext cx="2235200" cy="304800"/>
          </a:xfrm>
          <a:prstGeom prst="roundRect">
            <a:avLst>
              <a:gd name="adj" fmla="val 25000"/>
            </a:avLst>
          </a:prstGeom>
          <a:solidFill>
            <a:srgbClr val="FFFFFF"/>
          </a:solidFill>
          <a:ln w="9525">
            <a:solidFill>
              <a:srgbClr val="E2E8ED"/>
            </a:solidFill>
          </a:ln>
        </p:spPr>
        <p:style>
          <a:lnRef idx="2">
            <a:schemeClr val="accent1">
              <a:shade val="15000"/>
            </a:schemeClr>
          </a:lnRef>
          <a:fillRef idx="1">
            <a:schemeClr val="accent1"/>
          </a:fillRef>
          <a:effectRef idx="0">
            <a:schemeClr val="accent1"/>
          </a:effectRef>
          <a:fontRef idx="minor">
            <a:schemeClr val="lt1"/>
          </a:fontRef>
        </p:style>
        <p:txBody>
          <a:bodyPr wrap="none" lIns="101600" tIns="0" rIns="76200" bIns="0" rtlCol="0" anchor="t"/>
          <a:lstStyle/>
          <a:p>
            <a:r>
              <a:rPr lang="fr-FR" sz="850">
                <a:solidFill>
                  <a:srgbClr val="5F6B76"/>
                </a:solidFill>
                <a:latin typeface="Manrope" pitchFamily="2" charset="0"/>
              </a:rPr>
              <a:t>Téléphone (facultatif)</a:t>
            </a:r>
          </a:p>
        </p:txBody>
      </p:sp>
      <p:sp>
        <p:nvSpPr>
          <p:cNvPr id="14" name="Rectangle : coins arrondis 13">
            <a:extLst>
              <a:ext uri="{FF2B5EF4-FFF2-40B4-BE49-F238E27FC236}">
                <a16:creationId xmlns:a16="http://schemas.microsoft.com/office/drawing/2014/main" id="{22304B49-775A-7EFC-7659-B3908F7124DB}"/>
              </a:ext>
            </a:extLst>
          </p:cNvPr>
          <p:cNvSpPr/>
          <p:nvPr/>
        </p:nvSpPr>
        <p:spPr>
          <a:xfrm>
            <a:off x="3505200" y="4038600"/>
            <a:ext cx="2336800" cy="304800"/>
          </a:xfrm>
          <a:prstGeom prst="roundRect">
            <a:avLst>
              <a:gd name="adj" fmla="val 25000"/>
            </a:avLst>
          </a:prstGeom>
          <a:solidFill>
            <a:srgbClr val="FFFFFF"/>
          </a:solidFill>
          <a:ln w="9525">
            <a:solidFill>
              <a:srgbClr val="E2E8ED"/>
            </a:solidFill>
          </a:ln>
        </p:spPr>
        <p:style>
          <a:lnRef idx="2">
            <a:schemeClr val="accent1">
              <a:shade val="15000"/>
            </a:schemeClr>
          </a:lnRef>
          <a:fillRef idx="1">
            <a:schemeClr val="accent1"/>
          </a:fillRef>
          <a:effectRef idx="0">
            <a:schemeClr val="accent1"/>
          </a:effectRef>
          <a:fontRef idx="minor">
            <a:schemeClr val="lt1"/>
          </a:fontRef>
        </p:style>
        <p:txBody>
          <a:bodyPr wrap="none" lIns="101600" tIns="0" rIns="76200" bIns="0" rtlCol="0" anchor="t"/>
          <a:lstStyle/>
          <a:p>
            <a:r>
              <a:rPr lang="fr-FR" sz="850">
                <a:solidFill>
                  <a:srgbClr val="5F6B76"/>
                </a:solidFill>
                <a:latin typeface="Manrope" pitchFamily="2" charset="0"/>
              </a:rPr>
              <a:t>E-mail</a:t>
            </a:r>
          </a:p>
        </p:txBody>
      </p:sp>
      <p:sp>
        <p:nvSpPr>
          <p:cNvPr id="15" name="Rectangle : coins arrondis 14">
            <a:extLst>
              <a:ext uri="{FF2B5EF4-FFF2-40B4-BE49-F238E27FC236}">
                <a16:creationId xmlns:a16="http://schemas.microsoft.com/office/drawing/2014/main" id="{924E507C-8263-7C29-6DA4-5EED6DB3317D}"/>
              </a:ext>
            </a:extLst>
          </p:cNvPr>
          <p:cNvSpPr/>
          <p:nvPr/>
        </p:nvSpPr>
        <p:spPr>
          <a:xfrm>
            <a:off x="1168400" y="4445000"/>
            <a:ext cx="4673600" cy="711200"/>
          </a:xfrm>
          <a:prstGeom prst="roundRect">
            <a:avLst>
              <a:gd name="adj" fmla="val 10714"/>
            </a:avLst>
          </a:prstGeom>
          <a:solidFill>
            <a:srgbClr val="FFFFFF"/>
          </a:solidFill>
          <a:ln w="9525">
            <a:solidFill>
              <a:srgbClr val="E2E8ED"/>
            </a:solidFill>
          </a:ln>
        </p:spPr>
        <p:style>
          <a:lnRef idx="2">
            <a:schemeClr val="accent1">
              <a:shade val="15000"/>
            </a:schemeClr>
          </a:lnRef>
          <a:fillRef idx="1">
            <a:schemeClr val="accent1"/>
          </a:fillRef>
          <a:effectRef idx="0">
            <a:schemeClr val="accent1"/>
          </a:effectRef>
          <a:fontRef idx="minor">
            <a:schemeClr val="lt1"/>
          </a:fontRef>
        </p:style>
        <p:txBody>
          <a:bodyPr wrap="none" lIns="101600" tIns="0" rIns="76200" bIns="0" rtlCol="0" anchor="t"/>
          <a:lstStyle/>
          <a:p>
            <a:r>
              <a:rPr lang="fr-FR" sz="850">
                <a:solidFill>
                  <a:srgbClr val="5F6B76"/>
                </a:solidFill>
                <a:latin typeface="Manrope" pitchFamily="2" charset="0"/>
              </a:rPr>
              <a:t>Votre message au recruteur…</a:t>
            </a:r>
          </a:p>
        </p:txBody>
      </p:sp>
      <p:sp>
        <p:nvSpPr>
          <p:cNvPr id="16" name="Rectangle : coins arrondis 15">
            <a:extLst>
              <a:ext uri="{FF2B5EF4-FFF2-40B4-BE49-F238E27FC236}">
                <a16:creationId xmlns:a16="http://schemas.microsoft.com/office/drawing/2014/main" id="{984A7CF3-1D2F-1F62-C6F1-567A797E0877}"/>
              </a:ext>
            </a:extLst>
          </p:cNvPr>
          <p:cNvSpPr/>
          <p:nvPr/>
        </p:nvSpPr>
        <p:spPr>
          <a:xfrm>
            <a:off x="1168400" y="5308600"/>
            <a:ext cx="1905000" cy="330200"/>
          </a:xfrm>
          <a:prstGeom prst="roundRect">
            <a:avLst>
              <a:gd name="adj" fmla="val 23077"/>
            </a:avLst>
          </a:prstGeom>
          <a:solidFill>
            <a:srgbClr val="245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900">
                <a:solidFill>
                  <a:srgbClr val="FFFFFF"/>
                </a:solidFill>
                <a:latin typeface="Manrope Medium" pitchFamily="2" charset="0"/>
              </a:rPr>
              <a:t>Envoyer ma candidature</a:t>
            </a:r>
          </a:p>
        </p:txBody>
      </p:sp>
      <p:sp>
        <p:nvSpPr>
          <p:cNvPr id="17" name="ZoneTexte 16">
            <a:extLst>
              <a:ext uri="{FF2B5EF4-FFF2-40B4-BE49-F238E27FC236}">
                <a16:creationId xmlns:a16="http://schemas.microsoft.com/office/drawing/2014/main" id="{AEDEE40A-F52B-5DCC-6658-98A225044F87}"/>
              </a:ext>
            </a:extLst>
          </p:cNvPr>
          <p:cNvSpPr txBox="1"/>
          <p:nvPr/>
        </p:nvSpPr>
        <p:spPr>
          <a:xfrm>
            <a:off x="3225800" y="5397500"/>
            <a:ext cx="2540000" cy="369332"/>
          </a:xfrm>
          <a:prstGeom prst="rect">
            <a:avLst/>
          </a:prstGeom>
          <a:noFill/>
        </p:spPr>
        <p:txBody>
          <a:bodyPr vert="horz" wrap="square" lIns="0" tIns="0" rIns="0" bIns="0" rtlCol="0">
            <a:noAutofit/>
          </a:bodyPr>
          <a:lstStyle/>
          <a:p>
            <a:pPr>
              <a:lnSpc>
                <a:spcPct val="115000"/>
              </a:lnSpc>
            </a:pPr>
            <a:r>
              <a:rPr lang="fr-FR" sz="900">
                <a:solidFill>
                  <a:srgbClr val="246044"/>
                </a:solidFill>
                <a:latin typeface="Manrope Medium" pitchFamily="2" charset="0"/>
              </a:rPr>
              <a:t>✓ Envoyée</a:t>
            </a:r>
          </a:p>
        </p:txBody>
      </p:sp>
      <p:sp>
        <p:nvSpPr>
          <p:cNvPr id="18" name="ZoneTexte 17">
            <a:extLst>
              <a:ext uri="{FF2B5EF4-FFF2-40B4-BE49-F238E27FC236}">
                <a16:creationId xmlns:a16="http://schemas.microsoft.com/office/drawing/2014/main" id="{BF01E1EB-C59A-0731-F82E-563B8F358179}"/>
              </a:ext>
            </a:extLst>
          </p:cNvPr>
          <p:cNvSpPr txBox="1"/>
          <p:nvPr/>
        </p:nvSpPr>
        <p:spPr>
          <a:xfrm>
            <a:off x="6604000" y="2057400"/>
            <a:ext cx="4673600" cy="369332"/>
          </a:xfrm>
          <a:prstGeom prst="rect">
            <a:avLst/>
          </a:prstGeom>
          <a:noFill/>
        </p:spPr>
        <p:txBody>
          <a:bodyPr vert="horz" wrap="square" lIns="0" tIns="0" rIns="0" bIns="0" rtlCol="0">
            <a:noAutofit/>
          </a:bodyPr>
          <a:lstStyle/>
          <a:p>
            <a:pPr>
              <a:lnSpc>
                <a:spcPct val="115000"/>
              </a:lnSpc>
            </a:pPr>
            <a:r>
              <a:rPr lang="fr-FR" sz="1900">
                <a:solidFill>
                  <a:srgbClr val="F2F5F8"/>
                </a:solidFill>
                <a:latin typeface="Manrope Medium" pitchFamily="2" charset="0"/>
              </a:rPr>
              <a:t>Le détail dans la carte</a:t>
            </a:r>
          </a:p>
        </p:txBody>
      </p:sp>
      <p:sp>
        <p:nvSpPr>
          <p:cNvPr id="19" name="ZoneTexte 18">
            <a:extLst>
              <a:ext uri="{FF2B5EF4-FFF2-40B4-BE49-F238E27FC236}">
                <a16:creationId xmlns:a16="http://schemas.microsoft.com/office/drawing/2014/main" id="{7098A0AB-0F85-A7E8-8E4C-C3FFF57D1883}"/>
              </a:ext>
            </a:extLst>
          </p:cNvPr>
          <p:cNvSpPr txBox="1"/>
          <p:nvPr/>
        </p:nvSpPr>
        <p:spPr>
          <a:xfrm>
            <a:off x="6604000" y="2438400"/>
            <a:ext cx="4673600" cy="369332"/>
          </a:xfrm>
          <a:prstGeom prst="rect">
            <a:avLst/>
          </a:prstGeom>
          <a:noFill/>
        </p:spPr>
        <p:txBody>
          <a:bodyPr vert="horz" wrap="square" lIns="0" tIns="0" rIns="0" bIns="0" rtlCol="0">
            <a:noAutofit/>
          </a:bodyPr>
          <a:lstStyle/>
          <a:p>
            <a:pPr>
              <a:lnSpc>
                <a:spcPct val="115000"/>
              </a:lnSpc>
            </a:pPr>
            <a:r>
              <a:rPr lang="fr-FR" sz="1350">
                <a:solidFill>
                  <a:srgbClr val="9CA9B6"/>
                </a:solidFill>
                <a:latin typeface="Manrope" pitchFamily="2" charset="0"/>
              </a:rPr>
              <a:t>Description, salaire, temps de travail : sans rechargement, sans fenêtre.</a:t>
            </a:r>
          </a:p>
        </p:txBody>
      </p:sp>
      <p:sp>
        <p:nvSpPr>
          <p:cNvPr id="20" name="Rectangle 19">
            <a:extLst>
              <a:ext uri="{FF2B5EF4-FFF2-40B4-BE49-F238E27FC236}">
                <a16:creationId xmlns:a16="http://schemas.microsoft.com/office/drawing/2014/main" id="{7D6B5F5C-543D-10AB-D399-186988F5FC9C}"/>
              </a:ext>
            </a:extLst>
          </p:cNvPr>
          <p:cNvSpPr/>
          <p:nvPr/>
        </p:nvSpPr>
        <p:spPr>
          <a:xfrm>
            <a:off x="6604000" y="3073400"/>
            <a:ext cx="4673600" cy="9525"/>
          </a:xfrm>
          <a:prstGeom prst="rect">
            <a:avLst/>
          </a:prstGeom>
          <a:solidFill>
            <a:srgbClr val="24304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ZoneTexte 20">
            <a:extLst>
              <a:ext uri="{FF2B5EF4-FFF2-40B4-BE49-F238E27FC236}">
                <a16:creationId xmlns:a16="http://schemas.microsoft.com/office/drawing/2014/main" id="{36BEFB37-4FD0-AB2A-A898-FD0BFCABB63C}"/>
              </a:ext>
            </a:extLst>
          </p:cNvPr>
          <p:cNvSpPr txBox="1"/>
          <p:nvPr/>
        </p:nvSpPr>
        <p:spPr>
          <a:xfrm>
            <a:off x="6604000" y="3403600"/>
            <a:ext cx="4673600" cy="369332"/>
          </a:xfrm>
          <a:prstGeom prst="rect">
            <a:avLst/>
          </a:prstGeom>
          <a:noFill/>
        </p:spPr>
        <p:txBody>
          <a:bodyPr vert="horz" wrap="square" lIns="0" tIns="0" rIns="0" bIns="0" rtlCol="0">
            <a:noAutofit/>
          </a:bodyPr>
          <a:lstStyle/>
          <a:p>
            <a:pPr>
              <a:lnSpc>
                <a:spcPct val="115000"/>
              </a:lnSpc>
            </a:pPr>
            <a:r>
              <a:rPr lang="fr-FR" sz="1900">
                <a:solidFill>
                  <a:srgbClr val="F2F5F8"/>
                </a:solidFill>
                <a:latin typeface="Manrope Medium" pitchFamily="2" charset="0"/>
              </a:rPr>
              <a:t>Un formulaire, cinq champs</a:t>
            </a:r>
          </a:p>
        </p:txBody>
      </p:sp>
      <p:sp>
        <p:nvSpPr>
          <p:cNvPr id="22" name="ZoneTexte 21">
            <a:extLst>
              <a:ext uri="{FF2B5EF4-FFF2-40B4-BE49-F238E27FC236}">
                <a16:creationId xmlns:a16="http://schemas.microsoft.com/office/drawing/2014/main" id="{FD36417B-0261-89CC-7724-058FAF629150}"/>
              </a:ext>
            </a:extLst>
          </p:cNvPr>
          <p:cNvSpPr txBox="1"/>
          <p:nvPr/>
        </p:nvSpPr>
        <p:spPr>
          <a:xfrm>
            <a:off x="6604000" y="3784600"/>
            <a:ext cx="4673600" cy="369332"/>
          </a:xfrm>
          <a:prstGeom prst="rect">
            <a:avLst/>
          </a:prstGeom>
          <a:noFill/>
        </p:spPr>
        <p:txBody>
          <a:bodyPr vert="horz" wrap="square" lIns="0" tIns="0" rIns="0" bIns="0" rtlCol="0">
            <a:noAutofit/>
          </a:bodyPr>
          <a:lstStyle/>
          <a:p>
            <a:pPr>
              <a:lnSpc>
                <a:spcPct val="115000"/>
              </a:lnSpc>
            </a:pPr>
            <a:r>
              <a:rPr lang="fr-FR" sz="1350">
                <a:solidFill>
                  <a:srgbClr val="9CA9B6"/>
                </a:solidFill>
                <a:latin typeface="Manrope" pitchFamily="2" charset="0"/>
              </a:rPr>
              <a:t>Rien de plus que ce dont le recruteur a besoin.</a:t>
            </a:r>
          </a:p>
        </p:txBody>
      </p:sp>
      <p:sp>
        <p:nvSpPr>
          <p:cNvPr id="23" name="Rectangle 22">
            <a:extLst>
              <a:ext uri="{FF2B5EF4-FFF2-40B4-BE49-F238E27FC236}">
                <a16:creationId xmlns:a16="http://schemas.microsoft.com/office/drawing/2014/main" id="{AB1285DF-2037-2D4E-E271-11B0B0840F77}"/>
              </a:ext>
            </a:extLst>
          </p:cNvPr>
          <p:cNvSpPr/>
          <p:nvPr/>
        </p:nvSpPr>
        <p:spPr>
          <a:xfrm>
            <a:off x="6604000" y="4419600"/>
            <a:ext cx="4673600" cy="9525"/>
          </a:xfrm>
          <a:prstGeom prst="rect">
            <a:avLst/>
          </a:prstGeom>
          <a:solidFill>
            <a:srgbClr val="24304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ZoneTexte 23">
            <a:extLst>
              <a:ext uri="{FF2B5EF4-FFF2-40B4-BE49-F238E27FC236}">
                <a16:creationId xmlns:a16="http://schemas.microsoft.com/office/drawing/2014/main" id="{28021325-BD94-5B2C-6D22-9725706F463E}"/>
              </a:ext>
            </a:extLst>
          </p:cNvPr>
          <p:cNvSpPr txBox="1"/>
          <p:nvPr/>
        </p:nvSpPr>
        <p:spPr>
          <a:xfrm>
            <a:off x="6604000" y="4749800"/>
            <a:ext cx="4673600" cy="369332"/>
          </a:xfrm>
          <a:prstGeom prst="rect">
            <a:avLst/>
          </a:prstGeom>
          <a:noFill/>
        </p:spPr>
        <p:txBody>
          <a:bodyPr vert="horz" wrap="square" lIns="0" tIns="0" rIns="0" bIns="0" rtlCol="0">
            <a:noAutofit/>
          </a:bodyPr>
          <a:lstStyle/>
          <a:p>
            <a:pPr>
              <a:lnSpc>
                <a:spcPct val="115000"/>
              </a:lnSpc>
            </a:pPr>
            <a:r>
              <a:rPr lang="fr-FR" sz="1900">
                <a:solidFill>
                  <a:srgbClr val="F2F5F8"/>
                </a:solidFill>
                <a:latin typeface="Manrope Medium" pitchFamily="2" charset="0"/>
              </a:rPr>
              <a:t>Confirmation immédiate</a:t>
            </a:r>
          </a:p>
        </p:txBody>
      </p:sp>
      <p:sp>
        <p:nvSpPr>
          <p:cNvPr id="25" name="ZoneTexte 24">
            <a:extLst>
              <a:ext uri="{FF2B5EF4-FFF2-40B4-BE49-F238E27FC236}">
                <a16:creationId xmlns:a16="http://schemas.microsoft.com/office/drawing/2014/main" id="{7A4EE74C-024B-0562-E4A0-807E8CFA8B46}"/>
              </a:ext>
            </a:extLst>
          </p:cNvPr>
          <p:cNvSpPr txBox="1"/>
          <p:nvPr/>
        </p:nvSpPr>
        <p:spPr>
          <a:xfrm>
            <a:off x="6604000" y="5130800"/>
            <a:ext cx="4673600" cy="369332"/>
          </a:xfrm>
          <a:prstGeom prst="rect">
            <a:avLst/>
          </a:prstGeom>
          <a:noFill/>
        </p:spPr>
        <p:txBody>
          <a:bodyPr vert="horz" wrap="square" lIns="0" tIns="0" rIns="0" bIns="0" rtlCol="0">
            <a:noAutofit/>
          </a:bodyPr>
          <a:lstStyle/>
          <a:p>
            <a:pPr>
              <a:lnSpc>
                <a:spcPct val="115000"/>
              </a:lnSpc>
            </a:pPr>
            <a:r>
              <a:rPr lang="fr-FR" sz="1350">
                <a:solidFill>
                  <a:srgbClr val="9CA9B6"/>
                </a:solidFill>
                <a:latin typeface="Manrope" pitchFamily="2" charset="0"/>
              </a:rPr>
              <a:t>Le candidat sait tout de suite que sa demande est partie.</a:t>
            </a:r>
          </a:p>
        </p:txBody>
      </p:sp>
      <p:sp>
        <p:nvSpPr>
          <p:cNvPr id="26" name="Rectangle 25">
            <a:extLst>
              <a:ext uri="{FF2B5EF4-FFF2-40B4-BE49-F238E27FC236}">
                <a16:creationId xmlns:a16="http://schemas.microsoft.com/office/drawing/2014/main" id="{FF04F62C-47D0-F1EC-872D-DC30A78E8E04}"/>
              </a:ext>
            </a:extLst>
          </p:cNvPr>
          <p:cNvSpPr/>
          <p:nvPr/>
        </p:nvSpPr>
        <p:spPr>
          <a:xfrm>
            <a:off x="6604000" y="5765800"/>
            <a:ext cx="4673600" cy="9525"/>
          </a:xfrm>
          <a:prstGeom prst="rect">
            <a:avLst/>
          </a:prstGeom>
          <a:solidFill>
            <a:srgbClr val="24304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096713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15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par>
                                <p:cTn id="11" presetID="10" presetClass="entr" presetSubtype="0" fill="hold" grpId="0" nodeType="withEffect">
                                  <p:stCondLst>
                                    <p:cond delay="45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childTnLst>
                                </p:cTn>
                              </p:par>
                              <p:par>
                                <p:cTn id="14" presetID="10" presetClass="entr" presetSubtype="0" fill="hold" grpId="0" nodeType="withEffect">
                                  <p:stCondLst>
                                    <p:cond delay="45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childTnLst>
                                </p:cTn>
                              </p:par>
                              <p:par>
                                <p:cTn id="17" presetID="10" presetClass="entr" presetSubtype="0" fill="hold" grpId="0" nodeType="withEffect">
                                  <p:stCondLst>
                                    <p:cond delay="45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childTnLst>
                                </p:cTn>
                              </p:par>
                              <p:par>
                                <p:cTn id="20" presetID="10" presetClass="entr" presetSubtype="0" fill="hold" grpId="0" nodeType="withEffect">
                                  <p:stCondLst>
                                    <p:cond delay="45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par>
                                <p:cTn id="23" presetID="10" presetClass="entr" presetSubtype="0" fill="hold" grpId="0" nodeType="withEffect">
                                  <p:stCondLst>
                                    <p:cond delay="45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childTnLst>
                                </p:cTn>
                              </p:par>
                              <p:par>
                                <p:cTn id="26" presetID="10" presetClass="entr" presetSubtype="0" fill="hold" grpId="0" nodeType="withEffect">
                                  <p:stCondLst>
                                    <p:cond delay="45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500"/>
                                        <p:tgtEl>
                                          <p:spTgt spid="9"/>
                                        </p:tgtEl>
                                      </p:cBhvr>
                                    </p:animEffect>
                                  </p:childTnLst>
                                </p:cTn>
                              </p:par>
                              <p:par>
                                <p:cTn id="29" presetID="10" presetClass="entr" presetSubtype="0" fill="hold" grpId="0" nodeType="withEffect">
                                  <p:stCondLst>
                                    <p:cond delay="45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500"/>
                                        <p:tgtEl>
                                          <p:spTgt spid="10"/>
                                        </p:tgtEl>
                                      </p:cBhvr>
                                    </p:animEffect>
                                  </p:childTnLst>
                                </p:cTn>
                              </p:par>
                              <p:par>
                                <p:cTn id="32" presetID="10" presetClass="entr" presetSubtype="0" fill="hold" grpId="0" nodeType="withEffect">
                                  <p:stCondLst>
                                    <p:cond delay="75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500"/>
                                        <p:tgtEl>
                                          <p:spTgt spid="11"/>
                                        </p:tgtEl>
                                      </p:cBhvr>
                                    </p:animEffect>
                                  </p:childTnLst>
                                </p:cTn>
                              </p:par>
                              <p:par>
                                <p:cTn id="35" presetID="10" presetClass="entr" presetSubtype="0" fill="hold" grpId="0" nodeType="withEffect">
                                  <p:stCondLst>
                                    <p:cond delay="75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500"/>
                                        <p:tgtEl>
                                          <p:spTgt spid="12"/>
                                        </p:tgtEl>
                                      </p:cBhvr>
                                    </p:animEffect>
                                  </p:childTnLst>
                                </p:cTn>
                              </p:par>
                              <p:par>
                                <p:cTn id="38" presetID="10" presetClass="entr" presetSubtype="0" fill="hold" grpId="0" nodeType="withEffect">
                                  <p:stCondLst>
                                    <p:cond delay="75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00"/>
                                        <p:tgtEl>
                                          <p:spTgt spid="13"/>
                                        </p:tgtEl>
                                      </p:cBhvr>
                                    </p:animEffect>
                                  </p:childTnLst>
                                </p:cTn>
                              </p:par>
                              <p:par>
                                <p:cTn id="41" presetID="10" presetClass="entr" presetSubtype="0" fill="hold" grpId="0" nodeType="withEffect">
                                  <p:stCondLst>
                                    <p:cond delay="75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500"/>
                                        <p:tgtEl>
                                          <p:spTgt spid="14"/>
                                        </p:tgtEl>
                                      </p:cBhvr>
                                    </p:animEffect>
                                  </p:childTnLst>
                                </p:cTn>
                              </p:par>
                              <p:par>
                                <p:cTn id="44" presetID="10" presetClass="entr" presetSubtype="0" fill="hold" grpId="0" nodeType="withEffect">
                                  <p:stCondLst>
                                    <p:cond delay="75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00"/>
                                        <p:tgtEl>
                                          <p:spTgt spid="15"/>
                                        </p:tgtEl>
                                      </p:cBhvr>
                                    </p:animEffect>
                                  </p:childTnLst>
                                </p:cTn>
                              </p:par>
                              <p:par>
                                <p:cTn id="47" presetID="10" presetClass="entr" presetSubtype="0" fill="hold" grpId="0" nodeType="withEffect">
                                  <p:stCondLst>
                                    <p:cond delay="75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500"/>
                                        <p:tgtEl>
                                          <p:spTgt spid="16"/>
                                        </p:tgtEl>
                                      </p:cBhvr>
                                    </p:animEffect>
                                  </p:childTnLst>
                                </p:cTn>
                              </p:par>
                              <p:par>
                                <p:cTn id="50" presetID="10" presetClass="entr" presetSubtype="0" fill="hold" grpId="0" nodeType="withEffect">
                                  <p:stCondLst>
                                    <p:cond delay="105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00"/>
                                        <p:tgtEl>
                                          <p:spTgt spid="17"/>
                                        </p:tgtEl>
                                      </p:cBhvr>
                                    </p:animEffect>
                                  </p:childTnLst>
                                </p:cTn>
                              </p:par>
                              <p:par>
                                <p:cTn id="53" presetID="10" presetClass="entr" presetSubtype="0" fill="hold" grpId="0" nodeType="withEffect">
                                  <p:stCondLst>
                                    <p:cond delay="135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500"/>
                                        <p:tgtEl>
                                          <p:spTgt spid="18"/>
                                        </p:tgtEl>
                                      </p:cBhvr>
                                    </p:animEffect>
                                  </p:childTnLst>
                                </p:cTn>
                              </p:par>
                              <p:par>
                                <p:cTn id="56" presetID="10" presetClass="entr" presetSubtype="0" fill="hold" grpId="0" nodeType="withEffect">
                                  <p:stCondLst>
                                    <p:cond delay="135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500"/>
                                        <p:tgtEl>
                                          <p:spTgt spid="19"/>
                                        </p:tgtEl>
                                      </p:cBhvr>
                                    </p:animEffect>
                                  </p:childTnLst>
                                </p:cTn>
                              </p:par>
                              <p:par>
                                <p:cTn id="59" presetID="10" presetClass="entr" presetSubtype="0" fill="hold" grpId="0" nodeType="withEffect">
                                  <p:stCondLst>
                                    <p:cond delay="135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500"/>
                                        <p:tgtEl>
                                          <p:spTgt spid="20"/>
                                        </p:tgtEl>
                                      </p:cBhvr>
                                    </p:animEffect>
                                  </p:childTnLst>
                                </p:cTn>
                              </p:par>
                              <p:par>
                                <p:cTn id="62" presetID="10" presetClass="entr" presetSubtype="0" fill="hold" grpId="0" nodeType="withEffect">
                                  <p:stCondLst>
                                    <p:cond delay="1650"/>
                                  </p:stCondLst>
                                  <p:childTnLst>
                                    <p:set>
                                      <p:cBhvr>
                                        <p:cTn id="63" dur="1" fill="hold">
                                          <p:stCondLst>
                                            <p:cond delay="0"/>
                                          </p:stCondLst>
                                        </p:cTn>
                                        <p:tgtEl>
                                          <p:spTgt spid="21"/>
                                        </p:tgtEl>
                                        <p:attrNameLst>
                                          <p:attrName>style.visibility</p:attrName>
                                        </p:attrNameLst>
                                      </p:cBhvr>
                                      <p:to>
                                        <p:strVal val="visible"/>
                                      </p:to>
                                    </p:set>
                                    <p:animEffect transition="in" filter="fade">
                                      <p:cBhvr>
                                        <p:cTn id="64" dur="500"/>
                                        <p:tgtEl>
                                          <p:spTgt spid="21"/>
                                        </p:tgtEl>
                                      </p:cBhvr>
                                    </p:animEffect>
                                  </p:childTnLst>
                                </p:cTn>
                              </p:par>
                              <p:par>
                                <p:cTn id="65" presetID="10" presetClass="entr" presetSubtype="0" fill="hold" grpId="0" nodeType="withEffect">
                                  <p:stCondLst>
                                    <p:cond delay="165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500"/>
                                        <p:tgtEl>
                                          <p:spTgt spid="22"/>
                                        </p:tgtEl>
                                      </p:cBhvr>
                                    </p:animEffect>
                                  </p:childTnLst>
                                </p:cTn>
                              </p:par>
                              <p:par>
                                <p:cTn id="68" presetID="10" presetClass="entr" presetSubtype="0" fill="hold" grpId="0" nodeType="withEffect">
                                  <p:stCondLst>
                                    <p:cond delay="1650"/>
                                  </p:stCondLst>
                                  <p:childTnLst>
                                    <p:set>
                                      <p:cBhvr>
                                        <p:cTn id="69" dur="1" fill="hold">
                                          <p:stCondLst>
                                            <p:cond delay="0"/>
                                          </p:stCondLst>
                                        </p:cTn>
                                        <p:tgtEl>
                                          <p:spTgt spid="23"/>
                                        </p:tgtEl>
                                        <p:attrNameLst>
                                          <p:attrName>style.visibility</p:attrName>
                                        </p:attrNameLst>
                                      </p:cBhvr>
                                      <p:to>
                                        <p:strVal val="visible"/>
                                      </p:to>
                                    </p:set>
                                    <p:animEffect transition="in" filter="fade">
                                      <p:cBhvr>
                                        <p:cTn id="70" dur="500"/>
                                        <p:tgtEl>
                                          <p:spTgt spid="23"/>
                                        </p:tgtEl>
                                      </p:cBhvr>
                                    </p:animEffect>
                                  </p:childTnLst>
                                </p:cTn>
                              </p:par>
                              <p:par>
                                <p:cTn id="71" presetID="10" presetClass="entr" presetSubtype="0" fill="hold" grpId="0" nodeType="withEffect">
                                  <p:stCondLst>
                                    <p:cond delay="1950"/>
                                  </p:stCondLst>
                                  <p:childTnLst>
                                    <p:set>
                                      <p:cBhvr>
                                        <p:cTn id="72" dur="1" fill="hold">
                                          <p:stCondLst>
                                            <p:cond delay="0"/>
                                          </p:stCondLst>
                                        </p:cTn>
                                        <p:tgtEl>
                                          <p:spTgt spid="24"/>
                                        </p:tgtEl>
                                        <p:attrNameLst>
                                          <p:attrName>style.visibility</p:attrName>
                                        </p:attrNameLst>
                                      </p:cBhvr>
                                      <p:to>
                                        <p:strVal val="visible"/>
                                      </p:to>
                                    </p:set>
                                    <p:animEffect transition="in" filter="fade">
                                      <p:cBhvr>
                                        <p:cTn id="73" dur="500"/>
                                        <p:tgtEl>
                                          <p:spTgt spid="24"/>
                                        </p:tgtEl>
                                      </p:cBhvr>
                                    </p:animEffect>
                                  </p:childTnLst>
                                </p:cTn>
                              </p:par>
                              <p:par>
                                <p:cTn id="74" presetID="10" presetClass="entr" presetSubtype="0" fill="hold" grpId="0" nodeType="withEffect">
                                  <p:stCondLst>
                                    <p:cond delay="1950"/>
                                  </p:stCondLst>
                                  <p:childTnLst>
                                    <p:set>
                                      <p:cBhvr>
                                        <p:cTn id="75" dur="1" fill="hold">
                                          <p:stCondLst>
                                            <p:cond delay="0"/>
                                          </p:stCondLst>
                                        </p:cTn>
                                        <p:tgtEl>
                                          <p:spTgt spid="25"/>
                                        </p:tgtEl>
                                        <p:attrNameLst>
                                          <p:attrName>style.visibility</p:attrName>
                                        </p:attrNameLst>
                                      </p:cBhvr>
                                      <p:to>
                                        <p:strVal val="visible"/>
                                      </p:to>
                                    </p:set>
                                    <p:animEffect transition="in" filter="fade">
                                      <p:cBhvr>
                                        <p:cTn id="76" dur="500"/>
                                        <p:tgtEl>
                                          <p:spTgt spid="25"/>
                                        </p:tgtEl>
                                      </p:cBhvr>
                                    </p:animEffect>
                                  </p:childTnLst>
                                </p:cTn>
                              </p:par>
                              <p:par>
                                <p:cTn id="77" presetID="10" presetClass="entr" presetSubtype="0" fill="hold" grpId="0" nodeType="withEffect">
                                  <p:stCondLst>
                                    <p:cond delay="1950"/>
                                  </p:stCondLst>
                                  <p:childTnLst>
                                    <p:set>
                                      <p:cBhvr>
                                        <p:cTn id="78" dur="1" fill="hold">
                                          <p:stCondLst>
                                            <p:cond delay="0"/>
                                          </p:stCondLst>
                                        </p:cTn>
                                        <p:tgtEl>
                                          <p:spTgt spid="26"/>
                                        </p:tgtEl>
                                        <p:attrNameLst>
                                          <p:attrName>style.visibility</p:attrName>
                                        </p:attrNameLst>
                                      </p:cBhvr>
                                      <p:to>
                                        <p:strVal val="visible"/>
                                      </p:to>
                                    </p:set>
                                    <p:animEffect transition="in" filter="fade">
                                      <p:cBhvr>
                                        <p:cTn id="79"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animBg="1"/>
      <p:bldP spid="5" grpId="0"/>
      <p:bldP spid="6" grpId="0"/>
      <p:bldP spid="7" grpId="0"/>
      <p:bldP spid="8" grpId="0"/>
      <p:bldP spid="9" grpId="0" animBg="1"/>
      <p:bldP spid="10" grpId="0"/>
      <p:bldP spid="11" grpId="0" animBg="1"/>
      <p:bldP spid="12" grpId="0" animBg="1"/>
      <p:bldP spid="13" grpId="0" animBg="1"/>
      <p:bldP spid="14" grpId="0" animBg="1"/>
      <p:bldP spid="15" grpId="0" animBg="1"/>
      <p:bldP spid="16" grpId="0" animBg="1"/>
      <p:bldP spid="17" grpId="0"/>
      <p:bldP spid="18" grpId="0"/>
      <p:bldP spid="19" grpId="0"/>
      <p:bldP spid="20" grpId="0" animBg="1"/>
      <p:bldP spid="21" grpId="0"/>
      <p:bldP spid="22" grpId="0"/>
      <p:bldP spid="23" grpId="0" animBg="1"/>
      <p:bldP spid="24" grpId="0"/>
      <p:bldP spid="25" grpId="0"/>
      <p:bldP spid="26"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1016"/>
        </a:solidFill>
        <a:effectLst/>
      </p:bgPr>
    </p:bg>
    <p:spTree>
      <p:nvGrpSpPr>
        <p:cNvPr id="1" name=""/>
        <p:cNvGrpSpPr/>
        <p:nvPr/>
      </p:nvGrpSpPr>
      <p:grpSpPr>
        <a:xfrm>
          <a:off x="0" y="0"/>
          <a:ext cx="0" cy="0"/>
          <a:chOff x="0" y="0"/>
          <a:chExt cx="0" cy="0"/>
        </a:xfrm>
      </p:grpSpPr>
      <p:sp>
        <p:nvSpPr>
          <p:cNvPr id="2" name="ZoneTexte 1">
            <a:extLst>
              <a:ext uri="{FF2B5EF4-FFF2-40B4-BE49-F238E27FC236}">
                <a16:creationId xmlns:a16="http://schemas.microsoft.com/office/drawing/2014/main" id="{5C1F2E0F-8471-C8C6-58D0-5F7E472AC696}"/>
              </a:ext>
            </a:extLst>
          </p:cNvPr>
          <p:cNvSpPr txBox="1"/>
          <p:nvPr/>
        </p:nvSpPr>
        <p:spPr>
          <a:xfrm>
            <a:off x="914400" y="711200"/>
            <a:ext cx="10363200" cy="369332"/>
          </a:xfrm>
          <a:prstGeom prst="rect">
            <a:avLst/>
          </a:prstGeom>
          <a:noFill/>
        </p:spPr>
        <p:txBody>
          <a:bodyPr vert="horz" wrap="square" lIns="0" tIns="0" rIns="0" bIns="0" rtlCol="0">
            <a:noAutofit/>
          </a:bodyPr>
          <a:lstStyle/>
          <a:p>
            <a:pPr>
              <a:lnSpc>
                <a:spcPct val="115000"/>
              </a:lnSpc>
            </a:pPr>
            <a:r>
              <a:rPr lang="fr-FR" sz="1100" spc="260">
                <a:solidFill>
                  <a:srgbClr val="A9CCE3"/>
                </a:solidFill>
                <a:latin typeface="Manrope SemiBold" pitchFamily="2" charset="0"/>
              </a:rPr>
              <a:t>LA CANDIDATURE</a:t>
            </a:r>
          </a:p>
        </p:txBody>
      </p:sp>
      <p:sp>
        <p:nvSpPr>
          <p:cNvPr id="3" name="ZoneTexte 2">
            <a:extLst>
              <a:ext uri="{FF2B5EF4-FFF2-40B4-BE49-F238E27FC236}">
                <a16:creationId xmlns:a16="http://schemas.microsoft.com/office/drawing/2014/main" id="{A621EC4E-9CD6-947E-4004-9E966B4EB0EF}"/>
              </a:ext>
            </a:extLst>
          </p:cNvPr>
          <p:cNvSpPr txBox="1"/>
          <p:nvPr/>
        </p:nvSpPr>
        <p:spPr>
          <a:xfrm>
            <a:off x="914400" y="990600"/>
            <a:ext cx="10363200" cy="369332"/>
          </a:xfrm>
          <a:prstGeom prst="rect">
            <a:avLst/>
          </a:prstGeom>
          <a:noFill/>
        </p:spPr>
        <p:txBody>
          <a:bodyPr vert="horz" wrap="square" lIns="0" tIns="0" rIns="0" bIns="0" rtlCol="0">
            <a:noAutofit/>
          </a:bodyPr>
          <a:lstStyle/>
          <a:p>
            <a:r>
              <a:rPr lang="fr-FR" sz="3600" spc="-50">
                <a:solidFill>
                  <a:srgbClr val="F2F5F8"/>
                </a:solidFill>
                <a:latin typeface="Manrope SemiBold" pitchFamily="2" charset="0"/>
              </a:rPr>
              <a:t>Votre </a:t>
            </a:r>
            <a:r>
              <a:rPr lang="fr-FR" sz="3600" spc="-50">
                <a:gradFill flip="none" rotWithShape="1">
                  <a:gsLst>
                    <a:gs pos="0">
                      <a:srgbClr val="5A93BF"/>
                    </a:gs>
                    <a:gs pos="100000">
                      <a:srgbClr val="A9CCE3"/>
                    </a:gs>
                  </a:gsLst>
                  <a:lin ang="0" scaled="1"/>
                  <a:tileRect/>
                </a:gradFill>
                <a:latin typeface="Manrope SemiBold" pitchFamily="2" charset="0"/>
              </a:rPr>
              <a:t>CV</a:t>
            </a:r>
            <a:r>
              <a:rPr lang="fr-FR" sz="3600" spc="-50">
                <a:solidFill>
                  <a:srgbClr val="F2F5F8"/>
                </a:solidFill>
                <a:latin typeface="Manrope SemiBold" pitchFamily="2" charset="0"/>
              </a:rPr>
              <a:t>, bientôt joint en un geste.</a:t>
            </a:r>
          </a:p>
        </p:txBody>
      </p:sp>
      <p:sp>
        <p:nvSpPr>
          <p:cNvPr id="4" name="Rectangle 3">
            <a:extLst>
              <a:ext uri="{FF2B5EF4-FFF2-40B4-BE49-F238E27FC236}">
                <a16:creationId xmlns:a16="http://schemas.microsoft.com/office/drawing/2014/main" id="{0FDAC14C-011D-BFA5-306C-F63068CA3FE0}"/>
              </a:ext>
            </a:extLst>
          </p:cNvPr>
          <p:cNvSpPr/>
          <p:nvPr/>
        </p:nvSpPr>
        <p:spPr>
          <a:xfrm>
            <a:off x="914400" y="2108200"/>
            <a:ext cx="38100" cy="736600"/>
          </a:xfrm>
          <a:prstGeom prst="rect">
            <a:avLst/>
          </a:prstGeom>
          <a:solidFill>
            <a:srgbClr val="A9CC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 name="ZoneTexte 4">
            <a:extLst>
              <a:ext uri="{FF2B5EF4-FFF2-40B4-BE49-F238E27FC236}">
                <a16:creationId xmlns:a16="http://schemas.microsoft.com/office/drawing/2014/main" id="{B7B9ACAD-AAC4-3FA3-13C1-A01BB9A325AE}"/>
              </a:ext>
            </a:extLst>
          </p:cNvPr>
          <p:cNvSpPr txBox="1"/>
          <p:nvPr/>
        </p:nvSpPr>
        <p:spPr>
          <a:xfrm>
            <a:off x="1143000" y="2082800"/>
            <a:ext cx="4826000" cy="369332"/>
          </a:xfrm>
          <a:prstGeom prst="rect">
            <a:avLst/>
          </a:prstGeom>
          <a:noFill/>
        </p:spPr>
        <p:txBody>
          <a:bodyPr vert="horz" wrap="square" lIns="0" tIns="0" rIns="0" bIns="0" rtlCol="0">
            <a:noAutofit/>
          </a:bodyPr>
          <a:lstStyle/>
          <a:p>
            <a:pPr>
              <a:lnSpc>
                <a:spcPct val="115000"/>
              </a:lnSpc>
            </a:pPr>
            <a:r>
              <a:rPr lang="fr-FR" sz="1900">
                <a:solidFill>
                  <a:srgbClr val="F2F5F8"/>
                </a:solidFill>
                <a:latin typeface="Manrope Medium" pitchFamily="2" charset="0"/>
              </a:rPr>
              <a:t>En candidatant</a:t>
            </a:r>
          </a:p>
        </p:txBody>
      </p:sp>
      <p:sp>
        <p:nvSpPr>
          <p:cNvPr id="6" name="ZoneTexte 5">
            <a:extLst>
              <a:ext uri="{FF2B5EF4-FFF2-40B4-BE49-F238E27FC236}">
                <a16:creationId xmlns:a16="http://schemas.microsoft.com/office/drawing/2014/main" id="{66002102-2B4D-1A5C-C388-E81CEF910B54}"/>
              </a:ext>
            </a:extLst>
          </p:cNvPr>
          <p:cNvSpPr txBox="1"/>
          <p:nvPr/>
        </p:nvSpPr>
        <p:spPr>
          <a:xfrm>
            <a:off x="1143000" y="2463800"/>
            <a:ext cx="4826000" cy="369332"/>
          </a:xfrm>
          <a:prstGeom prst="rect">
            <a:avLst/>
          </a:prstGeom>
          <a:noFill/>
        </p:spPr>
        <p:txBody>
          <a:bodyPr vert="horz" wrap="square" lIns="0" tIns="0" rIns="0" bIns="0" rtlCol="0">
            <a:noAutofit/>
          </a:bodyPr>
          <a:lstStyle/>
          <a:p>
            <a:pPr>
              <a:lnSpc>
                <a:spcPct val="115000"/>
              </a:lnSpc>
            </a:pPr>
            <a:r>
              <a:rPr lang="fr-FR" sz="1350">
                <a:solidFill>
                  <a:srgbClr val="9CA9B6"/>
                </a:solidFill>
                <a:latin typeface="Manrope" pitchFamily="2" charset="0"/>
              </a:rPr>
              <a:t>Le CV se joint au formulaire, avec le message.</a:t>
            </a:r>
          </a:p>
        </p:txBody>
      </p:sp>
      <p:sp>
        <p:nvSpPr>
          <p:cNvPr id="7" name="Rectangle 6">
            <a:extLst>
              <a:ext uri="{FF2B5EF4-FFF2-40B4-BE49-F238E27FC236}">
                <a16:creationId xmlns:a16="http://schemas.microsoft.com/office/drawing/2014/main" id="{1347DFB2-2E5B-7D49-77C3-21CA2554FC6D}"/>
              </a:ext>
            </a:extLst>
          </p:cNvPr>
          <p:cNvSpPr/>
          <p:nvPr/>
        </p:nvSpPr>
        <p:spPr>
          <a:xfrm>
            <a:off x="914400" y="3429000"/>
            <a:ext cx="38100" cy="736600"/>
          </a:xfrm>
          <a:prstGeom prst="rect">
            <a:avLst/>
          </a:prstGeom>
          <a:solidFill>
            <a:srgbClr val="A9CC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ZoneTexte 7">
            <a:extLst>
              <a:ext uri="{FF2B5EF4-FFF2-40B4-BE49-F238E27FC236}">
                <a16:creationId xmlns:a16="http://schemas.microsoft.com/office/drawing/2014/main" id="{47354C88-CF5F-AC02-8B16-174892141D8B}"/>
              </a:ext>
            </a:extLst>
          </p:cNvPr>
          <p:cNvSpPr txBox="1"/>
          <p:nvPr/>
        </p:nvSpPr>
        <p:spPr>
          <a:xfrm>
            <a:off x="1143000" y="3403600"/>
            <a:ext cx="4826000" cy="369332"/>
          </a:xfrm>
          <a:prstGeom prst="rect">
            <a:avLst/>
          </a:prstGeom>
          <a:noFill/>
        </p:spPr>
        <p:txBody>
          <a:bodyPr vert="horz" wrap="square" lIns="0" tIns="0" rIns="0" bIns="0" rtlCol="0">
            <a:noAutofit/>
          </a:bodyPr>
          <a:lstStyle/>
          <a:p>
            <a:pPr>
              <a:lnSpc>
                <a:spcPct val="115000"/>
              </a:lnSpc>
            </a:pPr>
            <a:r>
              <a:rPr lang="fr-FR" sz="1900">
                <a:solidFill>
                  <a:srgbClr val="F2F5F8"/>
                </a:solidFill>
                <a:latin typeface="Manrope Medium" pitchFamily="2" charset="0"/>
              </a:rPr>
              <a:t>Depuis son espace</a:t>
            </a:r>
          </a:p>
        </p:txBody>
      </p:sp>
      <p:sp>
        <p:nvSpPr>
          <p:cNvPr id="9" name="ZoneTexte 8">
            <a:extLst>
              <a:ext uri="{FF2B5EF4-FFF2-40B4-BE49-F238E27FC236}">
                <a16:creationId xmlns:a16="http://schemas.microsoft.com/office/drawing/2014/main" id="{FE4B7432-2ED7-587C-2CB1-A0428111D3A4}"/>
              </a:ext>
            </a:extLst>
          </p:cNvPr>
          <p:cNvSpPr txBox="1"/>
          <p:nvPr/>
        </p:nvSpPr>
        <p:spPr>
          <a:xfrm>
            <a:off x="1143000" y="3784600"/>
            <a:ext cx="4826000" cy="369332"/>
          </a:xfrm>
          <a:prstGeom prst="rect">
            <a:avLst/>
          </a:prstGeom>
          <a:noFill/>
        </p:spPr>
        <p:txBody>
          <a:bodyPr vert="horz" wrap="square" lIns="0" tIns="0" rIns="0" bIns="0" rtlCol="0">
            <a:noAutofit/>
          </a:bodyPr>
          <a:lstStyle/>
          <a:p>
            <a:pPr>
              <a:lnSpc>
                <a:spcPct val="115000"/>
              </a:lnSpc>
            </a:pPr>
            <a:r>
              <a:rPr lang="fr-FR" sz="1350">
                <a:solidFill>
                  <a:srgbClr val="9CA9B6"/>
                </a:solidFill>
                <a:latin typeface="Manrope" pitchFamily="2" charset="0"/>
              </a:rPr>
              <a:t>Déposé une fois, proposé à chaque candidature.</a:t>
            </a:r>
          </a:p>
        </p:txBody>
      </p:sp>
      <p:sp>
        <p:nvSpPr>
          <p:cNvPr id="10" name="Rectangle 9">
            <a:extLst>
              <a:ext uri="{FF2B5EF4-FFF2-40B4-BE49-F238E27FC236}">
                <a16:creationId xmlns:a16="http://schemas.microsoft.com/office/drawing/2014/main" id="{D86C10FF-A104-B051-DCB5-82A02682381D}"/>
              </a:ext>
            </a:extLst>
          </p:cNvPr>
          <p:cNvSpPr/>
          <p:nvPr/>
        </p:nvSpPr>
        <p:spPr>
          <a:xfrm>
            <a:off x="914400" y="4749800"/>
            <a:ext cx="38100" cy="736600"/>
          </a:xfrm>
          <a:prstGeom prst="rect">
            <a:avLst/>
          </a:prstGeom>
          <a:solidFill>
            <a:srgbClr val="A9CC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ZoneTexte 10">
            <a:extLst>
              <a:ext uri="{FF2B5EF4-FFF2-40B4-BE49-F238E27FC236}">
                <a16:creationId xmlns:a16="http://schemas.microsoft.com/office/drawing/2014/main" id="{D076345A-7FA0-8878-D3A8-342F288EDE1B}"/>
              </a:ext>
            </a:extLst>
          </p:cNvPr>
          <p:cNvSpPr txBox="1"/>
          <p:nvPr/>
        </p:nvSpPr>
        <p:spPr>
          <a:xfrm>
            <a:off x="1143000" y="4724400"/>
            <a:ext cx="4826000" cy="369332"/>
          </a:xfrm>
          <a:prstGeom prst="rect">
            <a:avLst/>
          </a:prstGeom>
          <a:noFill/>
        </p:spPr>
        <p:txBody>
          <a:bodyPr vert="horz" wrap="square" lIns="0" tIns="0" rIns="0" bIns="0" rtlCol="0">
            <a:noAutofit/>
          </a:bodyPr>
          <a:lstStyle/>
          <a:p>
            <a:pPr>
              <a:lnSpc>
                <a:spcPct val="115000"/>
              </a:lnSpc>
            </a:pPr>
            <a:r>
              <a:rPr lang="fr-FR" sz="1900">
                <a:solidFill>
                  <a:srgbClr val="F2F5F8"/>
                </a:solidFill>
                <a:latin typeface="Manrope Medium" pitchFamily="2" charset="0"/>
              </a:rPr>
              <a:t>Côté recruteur</a:t>
            </a:r>
          </a:p>
        </p:txBody>
      </p:sp>
      <p:sp>
        <p:nvSpPr>
          <p:cNvPr id="12" name="ZoneTexte 11">
            <a:extLst>
              <a:ext uri="{FF2B5EF4-FFF2-40B4-BE49-F238E27FC236}">
                <a16:creationId xmlns:a16="http://schemas.microsoft.com/office/drawing/2014/main" id="{CA781281-21B0-2345-A007-1CEFDE2A80BB}"/>
              </a:ext>
            </a:extLst>
          </p:cNvPr>
          <p:cNvSpPr txBox="1"/>
          <p:nvPr/>
        </p:nvSpPr>
        <p:spPr>
          <a:xfrm>
            <a:off x="1143000" y="5105400"/>
            <a:ext cx="4826000" cy="369332"/>
          </a:xfrm>
          <a:prstGeom prst="rect">
            <a:avLst/>
          </a:prstGeom>
          <a:noFill/>
        </p:spPr>
        <p:txBody>
          <a:bodyPr vert="horz" wrap="square" lIns="0" tIns="0" rIns="0" bIns="0" rtlCol="0">
            <a:noAutofit/>
          </a:bodyPr>
          <a:lstStyle/>
          <a:p>
            <a:pPr>
              <a:lnSpc>
                <a:spcPct val="115000"/>
              </a:lnSpc>
            </a:pPr>
            <a:r>
              <a:rPr lang="fr-FR" sz="1350">
                <a:solidFill>
                  <a:srgbClr val="9CA9B6"/>
                </a:solidFill>
                <a:latin typeface="Manrope" pitchFamily="2" charset="0"/>
              </a:rPr>
              <a:t>Le CV s'ouvre avec la candidature, sans échange d'e-mails.</a:t>
            </a:r>
          </a:p>
        </p:txBody>
      </p:sp>
      <p:sp>
        <p:nvSpPr>
          <p:cNvPr id="13" name="Rectangle : coins arrondis 12">
            <a:extLst>
              <a:ext uri="{FF2B5EF4-FFF2-40B4-BE49-F238E27FC236}">
                <a16:creationId xmlns:a16="http://schemas.microsoft.com/office/drawing/2014/main" id="{679522F9-0ED0-5D2F-C5BA-66ADEA4CD5DD}"/>
              </a:ext>
            </a:extLst>
          </p:cNvPr>
          <p:cNvSpPr/>
          <p:nvPr/>
        </p:nvSpPr>
        <p:spPr>
          <a:xfrm>
            <a:off x="6350000" y="1854200"/>
            <a:ext cx="4927600" cy="4241800"/>
          </a:xfrm>
          <a:prstGeom prst="roundRect">
            <a:avLst>
              <a:gd name="adj" fmla="val 4192"/>
            </a:avLst>
          </a:prstGeom>
          <a:solidFill>
            <a:srgbClr val="F7F9FB"/>
          </a:solidFill>
          <a:ln w="9525">
            <a:solidFill>
              <a:srgbClr val="E2E8E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ZoneTexte 13">
            <a:extLst>
              <a:ext uri="{FF2B5EF4-FFF2-40B4-BE49-F238E27FC236}">
                <a16:creationId xmlns:a16="http://schemas.microsoft.com/office/drawing/2014/main" id="{582D09F8-061E-C10F-7EF0-A3977D85B755}"/>
              </a:ext>
            </a:extLst>
          </p:cNvPr>
          <p:cNvSpPr txBox="1"/>
          <p:nvPr/>
        </p:nvSpPr>
        <p:spPr>
          <a:xfrm>
            <a:off x="6604000" y="2082800"/>
            <a:ext cx="2540000" cy="369332"/>
          </a:xfrm>
          <a:prstGeom prst="rect">
            <a:avLst/>
          </a:prstGeom>
          <a:noFill/>
        </p:spPr>
        <p:txBody>
          <a:bodyPr vert="horz" wrap="square" lIns="0" tIns="0" rIns="0" bIns="0" rtlCol="0">
            <a:noAutofit/>
          </a:bodyPr>
          <a:lstStyle/>
          <a:p>
            <a:pPr>
              <a:lnSpc>
                <a:spcPct val="115000"/>
              </a:lnSpc>
            </a:pPr>
            <a:r>
              <a:rPr lang="fr-FR" sz="1400">
                <a:solidFill>
                  <a:srgbClr val="1D1D1F"/>
                </a:solidFill>
                <a:latin typeface="Manrope SemiBold" pitchFamily="2" charset="0"/>
              </a:rPr>
              <a:t>Mon espace</a:t>
            </a:r>
          </a:p>
        </p:txBody>
      </p:sp>
      <p:sp>
        <p:nvSpPr>
          <p:cNvPr id="15" name="ZoneTexte 14">
            <a:extLst>
              <a:ext uri="{FF2B5EF4-FFF2-40B4-BE49-F238E27FC236}">
                <a16:creationId xmlns:a16="http://schemas.microsoft.com/office/drawing/2014/main" id="{4C27F41F-ADF3-DB36-7993-9D688AF9B926}"/>
              </a:ext>
            </a:extLst>
          </p:cNvPr>
          <p:cNvSpPr txBox="1"/>
          <p:nvPr/>
        </p:nvSpPr>
        <p:spPr>
          <a:xfrm>
            <a:off x="6604000" y="2463800"/>
            <a:ext cx="1143000" cy="369332"/>
          </a:xfrm>
          <a:prstGeom prst="rect">
            <a:avLst/>
          </a:prstGeom>
          <a:noFill/>
        </p:spPr>
        <p:txBody>
          <a:bodyPr vert="horz" wrap="square" lIns="0" tIns="0" rIns="0" bIns="0" rtlCol="0">
            <a:noAutofit/>
          </a:bodyPr>
          <a:lstStyle/>
          <a:p>
            <a:pPr>
              <a:lnSpc>
                <a:spcPct val="115000"/>
              </a:lnSpc>
            </a:pPr>
            <a:r>
              <a:rPr lang="fr-FR" sz="900">
                <a:solidFill>
                  <a:srgbClr val="5F6B76"/>
                </a:solidFill>
                <a:latin typeface="Manrope" pitchFamily="2" charset="0"/>
              </a:rPr>
              <a:t>Candidatures</a:t>
            </a:r>
          </a:p>
        </p:txBody>
      </p:sp>
      <p:sp>
        <p:nvSpPr>
          <p:cNvPr id="16" name="ZoneTexte 15">
            <a:extLst>
              <a:ext uri="{FF2B5EF4-FFF2-40B4-BE49-F238E27FC236}">
                <a16:creationId xmlns:a16="http://schemas.microsoft.com/office/drawing/2014/main" id="{C673316C-0EEC-CEC5-EAE7-A355624FBE11}"/>
              </a:ext>
            </a:extLst>
          </p:cNvPr>
          <p:cNvSpPr txBox="1"/>
          <p:nvPr/>
        </p:nvSpPr>
        <p:spPr>
          <a:xfrm>
            <a:off x="7620000" y="2463800"/>
            <a:ext cx="1143000" cy="369332"/>
          </a:xfrm>
          <a:prstGeom prst="rect">
            <a:avLst/>
          </a:prstGeom>
          <a:noFill/>
        </p:spPr>
        <p:txBody>
          <a:bodyPr vert="horz" wrap="square" lIns="0" tIns="0" rIns="0" bIns="0" rtlCol="0">
            <a:noAutofit/>
          </a:bodyPr>
          <a:lstStyle/>
          <a:p>
            <a:pPr>
              <a:lnSpc>
                <a:spcPct val="115000"/>
              </a:lnSpc>
            </a:pPr>
            <a:r>
              <a:rPr lang="fr-FR" sz="900">
                <a:solidFill>
                  <a:srgbClr val="5F6B76"/>
                </a:solidFill>
                <a:latin typeface="Manrope" pitchFamily="2" charset="0"/>
              </a:rPr>
              <a:t>Informations</a:t>
            </a:r>
          </a:p>
        </p:txBody>
      </p:sp>
      <p:sp>
        <p:nvSpPr>
          <p:cNvPr id="17" name="ZoneTexte 16">
            <a:extLst>
              <a:ext uri="{FF2B5EF4-FFF2-40B4-BE49-F238E27FC236}">
                <a16:creationId xmlns:a16="http://schemas.microsoft.com/office/drawing/2014/main" id="{C511F35F-E73F-38D4-B754-2D0398B36BED}"/>
              </a:ext>
            </a:extLst>
          </p:cNvPr>
          <p:cNvSpPr txBox="1"/>
          <p:nvPr/>
        </p:nvSpPr>
        <p:spPr>
          <a:xfrm>
            <a:off x="8636000" y="2463800"/>
            <a:ext cx="762000" cy="369332"/>
          </a:xfrm>
          <a:prstGeom prst="rect">
            <a:avLst/>
          </a:prstGeom>
          <a:noFill/>
        </p:spPr>
        <p:txBody>
          <a:bodyPr vert="horz" wrap="square" lIns="0" tIns="0" rIns="0" bIns="0" rtlCol="0">
            <a:noAutofit/>
          </a:bodyPr>
          <a:lstStyle/>
          <a:p>
            <a:pPr>
              <a:lnSpc>
                <a:spcPct val="115000"/>
              </a:lnSpc>
            </a:pPr>
            <a:r>
              <a:rPr lang="fr-FR" sz="900">
                <a:solidFill>
                  <a:srgbClr val="24577A"/>
                </a:solidFill>
                <a:latin typeface="Manrope Medium" pitchFamily="2" charset="0"/>
              </a:rPr>
              <a:t>Mon CV</a:t>
            </a:r>
          </a:p>
        </p:txBody>
      </p:sp>
      <p:sp>
        <p:nvSpPr>
          <p:cNvPr id="18" name="Rectangle 17">
            <a:extLst>
              <a:ext uri="{FF2B5EF4-FFF2-40B4-BE49-F238E27FC236}">
                <a16:creationId xmlns:a16="http://schemas.microsoft.com/office/drawing/2014/main" id="{8F20348D-E478-15BA-1F42-ED0114084B32}"/>
              </a:ext>
            </a:extLst>
          </p:cNvPr>
          <p:cNvSpPr/>
          <p:nvPr/>
        </p:nvSpPr>
        <p:spPr>
          <a:xfrm>
            <a:off x="8636000" y="2654300"/>
            <a:ext cx="431800" cy="19050"/>
          </a:xfrm>
          <a:prstGeom prst="rect">
            <a:avLst/>
          </a:prstGeom>
          <a:solidFill>
            <a:srgbClr val="245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Rectangle 18">
            <a:extLst>
              <a:ext uri="{FF2B5EF4-FFF2-40B4-BE49-F238E27FC236}">
                <a16:creationId xmlns:a16="http://schemas.microsoft.com/office/drawing/2014/main" id="{F0388844-1CA1-7E90-0F8A-3B89D207E667}"/>
              </a:ext>
            </a:extLst>
          </p:cNvPr>
          <p:cNvSpPr/>
          <p:nvPr/>
        </p:nvSpPr>
        <p:spPr>
          <a:xfrm>
            <a:off x="6604000" y="2692400"/>
            <a:ext cx="4419600" cy="9525"/>
          </a:xfrm>
          <a:prstGeom prst="rect">
            <a:avLst/>
          </a:prstGeom>
          <a:solidFill>
            <a:srgbClr val="E2E8E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Rectangle : coins arrondis 19">
            <a:extLst>
              <a:ext uri="{FF2B5EF4-FFF2-40B4-BE49-F238E27FC236}">
                <a16:creationId xmlns:a16="http://schemas.microsoft.com/office/drawing/2014/main" id="{90048AA6-8E55-0B6A-CDCB-FBEBDD6CA3AA}"/>
              </a:ext>
            </a:extLst>
          </p:cNvPr>
          <p:cNvSpPr/>
          <p:nvPr/>
        </p:nvSpPr>
        <p:spPr>
          <a:xfrm>
            <a:off x="6604000" y="2895600"/>
            <a:ext cx="4419600" cy="1168400"/>
          </a:xfrm>
          <a:prstGeom prst="roundRect">
            <a:avLst>
              <a:gd name="adj" fmla="val 8696"/>
            </a:avLst>
          </a:prstGeom>
          <a:solidFill>
            <a:srgbClr val="FFFFFF"/>
          </a:solidFill>
          <a:ln w="9525">
            <a:solidFill>
              <a:srgbClr val="7C8995"/>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ZoneTexte 20">
            <a:extLst>
              <a:ext uri="{FF2B5EF4-FFF2-40B4-BE49-F238E27FC236}">
                <a16:creationId xmlns:a16="http://schemas.microsoft.com/office/drawing/2014/main" id="{0D0809B4-F428-B527-031D-1B2D792C43DA}"/>
              </a:ext>
            </a:extLst>
          </p:cNvPr>
          <p:cNvSpPr txBox="1"/>
          <p:nvPr/>
        </p:nvSpPr>
        <p:spPr>
          <a:xfrm>
            <a:off x="6858000" y="3124200"/>
            <a:ext cx="3911600" cy="369332"/>
          </a:xfrm>
          <a:prstGeom prst="rect">
            <a:avLst/>
          </a:prstGeom>
          <a:noFill/>
        </p:spPr>
        <p:txBody>
          <a:bodyPr vert="horz" wrap="square" lIns="0" tIns="0" rIns="0" bIns="0" rtlCol="0">
            <a:noAutofit/>
          </a:bodyPr>
          <a:lstStyle/>
          <a:p>
            <a:pPr algn="ctr">
              <a:lnSpc>
                <a:spcPct val="115000"/>
              </a:lnSpc>
            </a:pPr>
            <a:r>
              <a:rPr lang="fr-FR" sz="900">
                <a:solidFill>
                  <a:srgbClr val="5F6B76"/>
                </a:solidFill>
                <a:latin typeface="Manrope" pitchFamily="2" charset="0"/>
              </a:rPr>
              <a:t>Déposez votre CV au format PDF</a:t>
            </a:r>
          </a:p>
        </p:txBody>
      </p:sp>
      <p:sp>
        <p:nvSpPr>
          <p:cNvPr id="22" name="Rectangle : coins arrondis 21">
            <a:extLst>
              <a:ext uri="{FF2B5EF4-FFF2-40B4-BE49-F238E27FC236}">
                <a16:creationId xmlns:a16="http://schemas.microsoft.com/office/drawing/2014/main" id="{C0C81447-96A1-151A-A47C-5C1B9DB6A84E}"/>
              </a:ext>
            </a:extLst>
          </p:cNvPr>
          <p:cNvSpPr/>
          <p:nvPr/>
        </p:nvSpPr>
        <p:spPr>
          <a:xfrm>
            <a:off x="8128000" y="3429000"/>
            <a:ext cx="1371600" cy="304800"/>
          </a:xfrm>
          <a:prstGeom prst="roundRect">
            <a:avLst>
              <a:gd name="adj" fmla="val 25000"/>
            </a:avLst>
          </a:prstGeom>
          <a:solidFill>
            <a:srgbClr val="245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900">
                <a:solidFill>
                  <a:srgbClr val="FFFFFF"/>
                </a:solidFill>
                <a:latin typeface="Manrope Medium" pitchFamily="2" charset="0"/>
              </a:rPr>
              <a:t>Choisir un fichier</a:t>
            </a:r>
          </a:p>
        </p:txBody>
      </p:sp>
      <p:sp>
        <p:nvSpPr>
          <p:cNvPr id="23" name="Rectangle : coins arrondis 22">
            <a:extLst>
              <a:ext uri="{FF2B5EF4-FFF2-40B4-BE49-F238E27FC236}">
                <a16:creationId xmlns:a16="http://schemas.microsoft.com/office/drawing/2014/main" id="{92E62B35-338B-D1C9-7723-C379032B9970}"/>
              </a:ext>
            </a:extLst>
          </p:cNvPr>
          <p:cNvSpPr/>
          <p:nvPr/>
        </p:nvSpPr>
        <p:spPr>
          <a:xfrm>
            <a:off x="6604000" y="4267200"/>
            <a:ext cx="4419600" cy="558800"/>
          </a:xfrm>
          <a:prstGeom prst="roundRect">
            <a:avLst>
              <a:gd name="adj" fmla="val 13636"/>
            </a:avLst>
          </a:prstGeom>
          <a:solidFill>
            <a:srgbClr val="FFFFFF"/>
          </a:solidFill>
          <a:ln w="9525">
            <a:solidFill>
              <a:srgbClr val="E2E8E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ZoneTexte 23">
            <a:extLst>
              <a:ext uri="{FF2B5EF4-FFF2-40B4-BE49-F238E27FC236}">
                <a16:creationId xmlns:a16="http://schemas.microsoft.com/office/drawing/2014/main" id="{B5488FD7-59C0-F50C-FCAA-2568E39FDF05}"/>
              </a:ext>
            </a:extLst>
          </p:cNvPr>
          <p:cNvSpPr txBox="1"/>
          <p:nvPr/>
        </p:nvSpPr>
        <p:spPr>
          <a:xfrm>
            <a:off x="6781800" y="4394200"/>
            <a:ext cx="2540000" cy="369332"/>
          </a:xfrm>
          <a:prstGeom prst="rect">
            <a:avLst/>
          </a:prstGeom>
          <a:noFill/>
        </p:spPr>
        <p:txBody>
          <a:bodyPr vert="horz" wrap="square" lIns="0" tIns="0" rIns="0" bIns="0" rtlCol="0">
            <a:noAutofit/>
          </a:bodyPr>
          <a:lstStyle/>
          <a:p>
            <a:pPr>
              <a:lnSpc>
                <a:spcPct val="115000"/>
              </a:lnSpc>
            </a:pPr>
            <a:r>
              <a:rPr lang="fr-FR" sz="950">
                <a:solidFill>
                  <a:srgbClr val="1D1D1F"/>
                </a:solidFill>
                <a:latin typeface="Manrope Medium" pitchFamily="2" charset="0"/>
              </a:rPr>
              <a:t>Mon_CV.pdf</a:t>
            </a:r>
          </a:p>
        </p:txBody>
      </p:sp>
      <p:sp>
        <p:nvSpPr>
          <p:cNvPr id="25" name="ZoneTexte 24">
            <a:extLst>
              <a:ext uri="{FF2B5EF4-FFF2-40B4-BE49-F238E27FC236}">
                <a16:creationId xmlns:a16="http://schemas.microsoft.com/office/drawing/2014/main" id="{5C6991B2-3C66-C4F6-7CBC-46327359A542}"/>
              </a:ext>
            </a:extLst>
          </p:cNvPr>
          <p:cNvSpPr txBox="1"/>
          <p:nvPr/>
        </p:nvSpPr>
        <p:spPr>
          <a:xfrm>
            <a:off x="6781800" y="4584700"/>
            <a:ext cx="2540000" cy="369332"/>
          </a:xfrm>
          <a:prstGeom prst="rect">
            <a:avLst/>
          </a:prstGeom>
          <a:noFill/>
        </p:spPr>
        <p:txBody>
          <a:bodyPr vert="horz" wrap="square" lIns="0" tIns="0" rIns="0" bIns="0" rtlCol="0">
            <a:noAutofit/>
          </a:bodyPr>
          <a:lstStyle/>
          <a:p>
            <a:pPr>
              <a:lnSpc>
                <a:spcPct val="115000"/>
              </a:lnSpc>
            </a:pPr>
            <a:r>
              <a:rPr lang="fr-FR" sz="800">
                <a:solidFill>
                  <a:srgbClr val="5F6B76"/>
                </a:solidFill>
                <a:latin typeface="Manrope" pitchFamily="2" charset="0"/>
              </a:rPr>
              <a:t>184 Ko · PDF</a:t>
            </a:r>
          </a:p>
        </p:txBody>
      </p:sp>
      <p:sp>
        <p:nvSpPr>
          <p:cNvPr id="26" name="ZoneTexte 25">
            <a:extLst>
              <a:ext uri="{FF2B5EF4-FFF2-40B4-BE49-F238E27FC236}">
                <a16:creationId xmlns:a16="http://schemas.microsoft.com/office/drawing/2014/main" id="{F844434F-4F46-2980-FA05-1CFA6DB7B575}"/>
              </a:ext>
            </a:extLst>
          </p:cNvPr>
          <p:cNvSpPr txBox="1"/>
          <p:nvPr/>
        </p:nvSpPr>
        <p:spPr>
          <a:xfrm>
            <a:off x="9906000" y="4470400"/>
            <a:ext cx="1016000" cy="369332"/>
          </a:xfrm>
          <a:prstGeom prst="rect">
            <a:avLst/>
          </a:prstGeom>
          <a:noFill/>
        </p:spPr>
        <p:txBody>
          <a:bodyPr vert="horz" wrap="square" lIns="0" tIns="0" rIns="0" bIns="0" rtlCol="0">
            <a:noAutofit/>
          </a:bodyPr>
          <a:lstStyle/>
          <a:p>
            <a:pPr>
              <a:lnSpc>
                <a:spcPct val="115000"/>
              </a:lnSpc>
            </a:pPr>
            <a:r>
              <a:rPr lang="fr-FR" sz="900">
                <a:solidFill>
                  <a:srgbClr val="246044"/>
                </a:solidFill>
                <a:latin typeface="Manrope Medium" pitchFamily="2" charset="0"/>
              </a:rPr>
              <a:t>✓ Déposé</a:t>
            </a:r>
          </a:p>
        </p:txBody>
      </p:sp>
      <p:sp>
        <p:nvSpPr>
          <p:cNvPr id="27" name="ZoneTexte 26">
            <a:extLst>
              <a:ext uri="{FF2B5EF4-FFF2-40B4-BE49-F238E27FC236}">
                <a16:creationId xmlns:a16="http://schemas.microsoft.com/office/drawing/2014/main" id="{E2833DE4-AFBE-9848-245E-7561CA816CE6}"/>
              </a:ext>
            </a:extLst>
          </p:cNvPr>
          <p:cNvSpPr txBox="1"/>
          <p:nvPr/>
        </p:nvSpPr>
        <p:spPr>
          <a:xfrm>
            <a:off x="6604000" y="5029200"/>
            <a:ext cx="4419600" cy="369332"/>
          </a:xfrm>
          <a:prstGeom prst="rect">
            <a:avLst/>
          </a:prstGeom>
          <a:noFill/>
        </p:spPr>
        <p:txBody>
          <a:bodyPr vert="horz" wrap="square" lIns="0" tIns="0" rIns="0" bIns="0" rtlCol="0">
            <a:noAutofit/>
          </a:bodyPr>
          <a:lstStyle/>
          <a:p>
            <a:pPr>
              <a:lnSpc>
                <a:spcPct val="115000"/>
              </a:lnSpc>
            </a:pPr>
            <a:r>
              <a:rPr lang="fr-FR" sz="850">
                <a:solidFill>
                  <a:srgbClr val="5F6B76"/>
                </a:solidFill>
                <a:latin typeface="Manrope" pitchFamily="2" charset="0"/>
              </a:rPr>
              <a:t>Proposé automatiquement à chaque candidature. Le recruteur le lit avec votre dossier.</a:t>
            </a:r>
          </a:p>
        </p:txBody>
      </p:sp>
    </p:spTree>
    <p:extLst>
      <p:ext uri="{BB962C8B-B14F-4D97-AF65-F5344CB8AC3E}">
        <p14:creationId xmlns:p14="http://schemas.microsoft.com/office/powerpoint/2010/main" val="34186095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15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par>
                                <p:cTn id="11" presetID="10" presetClass="entr" presetSubtype="0" fill="hold" grpId="0" nodeType="withEffect">
                                  <p:stCondLst>
                                    <p:cond delay="45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childTnLst>
                                </p:cTn>
                              </p:par>
                              <p:par>
                                <p:cTn id="14" presetID="10" presetClass="entr" presetSubtype="0" fill="hold" grpId="0" nodeType="withEffect">
                                  <p:stCondLst>
                                    <p:cond delay="45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childTnLst>
                                </p:cTn>
                              </p:par>
                              <p:par>
                                <p:cTn id="17" presetID="10" presetClass="entr" presetSubtype="0" fill="hold" grpId="0" nodeType="withEffect">
                                  <p:stCondLst>
                                    <p:cond delay="45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childTnLst>
                                </p:cTn>
                              </p:par>
                              <p:par>
                                <p:cTn id="20" presetID="10" presetClass="entr" presetSubtype="0" fill="hold" grpId="0" nodeType="withEffect">
                                  <p:stCondLst>
                                    <p:cond delay="75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par>
                                <p:cTn id="23" presetID="10" presetClass="entr" presetSubtype="0" fill="hold" grpId="0" nodeType="withEffect">
                                  <p:stCondLst>
                                    <p:cond delay="75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childTnLst>
                                </p:cTn>
                              </p:par>
                              <p:par>
                                <p:cTn id="26" presetID="10" presetClass="entr" presetSubtype="0" fill="hold" grpId="0" nodeType="withEffect">
                                  <p:stCondLst>
                                    <p:cond delay="75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500"/>
                                        <p:tgtEl>
                                          <p:spTgt spid="9"/>
                                        </p:tgtEl>
                                      </p:cBhvr>
                                    </p:animEffect>
                                  </p:childTnLst>
                                </p:cTn>
                              </p:par>
                              <p:par>
                                <p:cTn id="29" presetID="10" presetClass="entr" presetSubtype="0" fill="hold" grpId="0" nodeType="withEffect">
                                  <p:stCondLst>
                                    <p:cond delay="105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500"/>
                                        <p:tgtEl>
                                          <p:spTgt spid="10"/>
                                        </p:tgtEl>
                                      </p:cBhvr>
                                    </p:animEffect>
                                  </p:childTnLst>
                                </p:cTn>
                              </p:par>
                              <p:par>
                                <p:cTn id="32" presetID="10" presetClass="entr" presetSubtype="0" fill="hold" grpId="0" nodeType="withEffect">
                                  <p:stCondLst>
                                    <p:cond delay="105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500"/>
                                        <p:tgtEl>
                                          <p:spTgt spid="11"/>
                                        </p:tgtEl>
                                      </p:cBhvr>
                                    </p:animEffect>
                                  </p:childTnLst>
                                </p:cTn>
                              </p:par>
                              <p:par>
                                <p:cTn id="35" presetID="10" presetClass="entr" presetSubtype="0" fill="hold" grpId="0" nodeType="withEffect">
                                  <p:stCondLst>
                                    <p:cond delay="105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500"/>
                                        <p:tgtEl>
                                          <p:spTgt spid="12"/>
                                        </p:tgtEl>
                                      </p:cBhvr>
                                    </p:animEffect>
                                  </p:childTnLst>
                                </p:cTn>
                              </p:par>
                              <p:par>
                                <p:cTn id="38" presetID="10" presetClass="entr" presetSubtype="0" fill="hold" grpId="0" nodeType="withEffect">
                                  <p:stCondLst>
                                    <p:cond delay="135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00"/>
                                        <p:tgtEl>
                                          <p:spTgt spid="13"/>
                                        </p:tgtEl>
                                      </p:cBhvr>
                                    </p:animEffect>
                                  </p:childTnLst>
                                </p:cTn>
                              </p:par>
                              <p:par>
                                <p:cTn id="41" presetID="10" presetClass="entr" presetSubtype="0" fill="hold" grpId="0" nodeType="withEffect">
                                  <p:stCondLst>
                                    <p:cond delay="135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500"/>
                                        <p:tgtEl>
                                          <p:spTgt spid="14"/>
                                        </p:tgtEl>
                                      </p:cBhvr>
                                    </p:animEffect>
                                  </p:childTnLst>
                                </p:cTn>
                              </p:par>
                              <p:par>
                                <p:cTn id="44" presetID="10" presetClass="entr" presetSubtype="0" fill="hold" grpId="0" nodeType="withEffect">
                                  <p:stCondLst>
                                    <p:cond delay="135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00"/>
                                        <p:tgtEl>
                                          <p:spTgt spid="15"/>
                                        </p:tgtEl>
                                      </p:cBhvr>
                                    </p:animEffect>
                                  </p:childTnLst>
                                </p:cTn>
                              </p:par>
                              <p:par>
                                <p:cTn id="47" presetID="10" presetClass="entr" presetSubtype="0" fill="hold" grpId="0" nodeType="withEffect">
                                  <p:stCondLst>
                                    <p:cond delay="135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500"/>
                                        <p:tgtEl>
                                          <p:spTgt spid="16"/>
                                        </p:tgtEl>
                                      </p:cBhvr>
                                    </p:animEffect>
                                  </p:childTnLst>
                                </p:cTn>
                              </p:par>
                              <p:par>
                                <p:cTn id="50" presetID="10" presetClass="entr" presetSubtype="0" fill="hold" grpId="0" nodeType="withEffect">
                                  <p:stCondLst>
                                    <p:cond delay="135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00"/>
                                        <p:tgtEl>
                                          <p:spTgt spid="17"/>
                                        </p:tgtEl>
                                      </p:cBhvr>
                                    </p:animEffect>
                                  </p:childTnLst>
                                </p:cTn>
                              </p:par>
                              <p:par>
                                <p:cTn id="53" presetID="10" presetClass="entr" presetSubtype="0" fill="hold" grpId="0" nodeType="withEffect">
                                  <p:stCondLst>
                                    <p:cond delay="135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500"/>
                                        <p:tgtEl>
                                          <p:spTgt spid="18"/>
                                        </p:tgtEl>
                                      </p:cBhvr>
                                    </p:animEffect>
                                  </p:childTnLst>
                                </p:cTn>
                              </p:par>
                              <p:par>
                                <p:cTn id="56" presetID="10" presetClass="entr" presetSubtype="0" fill="hold" grpId="0" nodeType="withEffect">
                                  <p:stCondLst>
                                    <p:cond delay="135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500"/>
                                        <p:tgtEl>
                                          <p:spTgt spid="19"/>
                                        </p:tgtEl>
                                      </p:cBhvr>
                                    </p:animEffect>
                                  </p:childTnLst>
                                </p:cTn>
                              </p:par>
                              <p:par>
                                <p:cTn id="59" presetID="10" presetClass="entr" presetSubtype="0" fill="hold" grpId="0" nodeType="withEffect">
                                  <p:stCondLst>
                                    <p:cond delay="165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500"/>
                                        <p:tgtEl>
                                          <p:spTgt spid="20"/>
                                        </p:tgtEl>
                                      </p:cBhvr>
                                    </p:animEffect>
                                  </p:childTnLst>
                                </p:cTn>
                              </p:par>
                              <p:par>
                                <p:cTn id="62" presetID="10" presetClass="entr" presetSubtype="0" fill="hold" grpId="0" nodeType="withEffect">
                                  <p:stCondLst>
                                    <p:cond delay="1650"/>
                                  </p:stCondLst>
                                  <p:childTnLst>
                                    <p:set>
                                      <p:cBhvr>
                                        <p:cTn id="63" dur="1" fill="hold">
                                          <p:stCondLst>
                                            <p:cond delay="0"/>
                                          </p:stCondLst>
                                        </p:cTn>
                                        <p:tgtEl>
                                          <p:spTgt spid="21"/>
                                        </p:tgtEl>
                                        <p:attrNameLst>
                                          <p:attrName>style.visibility</p:attrName>
                                        </p:attrNameLst>
                                      </p:cBhvr>
                                      <p:to>
                                        <p:strVal val="visible"/>
                                      </p:to>
                                    </p:set>
                                    <p:animEffect transition="in" filter="fade">
                                      <p:cBhvr>
                                        <p:cTn id="64" dur="500"/>
                                        <p:tgtEl>
                                          <p:spTgt spid="21"/>
                                        </p:tgtEl>
                                      </p:cBhvr>
                                    </p:animEffect>
                                  </p:childTnLst>
                                </p:cTn>
                              </p:par>
                              <p:par>
                                <p:cTn id="65" presetID="10" presetClass="entr" presetSubtype="0" fill="hold" grpId="0" nodeType="withEffect">
                                  <p:stCondLst>
                                    <p:cond delay="165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500"/>
                                        <p:tgtEl>
                                          <p:spTgt spid="22"/>
                                        </p:tgtEl>
                                      </p:cBhvr>
                                    </p:animEffect>
                                  </p:childTnLst>
                                </p:cTn>
                              </p:par>
                              <p:par>
                                <p:cTn id="68" presetID="10" presetClass="entr" presetSubtype="0" fill="hold" grpId="0" nodeType="withEffect">
                                  <p:stCondLst>
                                    <p:cond delay="1950"/>
                                  </p:stCondLst>
                                  <p:childTnLst>
                                    <p:set>
                                      <p:cBhvr>
                                        <p:cTn id="69" dur="1" fill="hold">
                                          <p:stCondLst>
                                            <p:cond delay="0"/>
                                          </p:stCondLst>
                                        </p:cTn>
                                        <p:tgtEl>
                                          <p:spTgt spid="23"/>
                                        </p:tgtEl>
                                        <p:attrNameLst>
                                          <p:attrName>style.visibility</p:attrName>
                                        </p:attrNameLst>
                                      </p:cBhvr>
                                      <p:to>
                                        <p:strVal val="visible"/>
                                      </p:to>
                                    </p:set>
                                    <p:animEffect transition="in" filter="fade">
                                      <p:cBhvr>
                                        <p:cTn id="70" dur="500"/>
                                        <p:tgtEl>
                                          <p:spTgt spid="23"/>
                                        </p:tgtEl>
                                      </p:cBhvr>
                                    </p:animEffect>
                                  </p:childTnLst>
                                </p:cTn>
                              </p:par>
                              <p:par>
                                <p:cTn id="71" presetID="10" presetClass="entr" presetSubtype="0" fill="hold" grpId="0" nodeType="withEffect">
                                  <p:stCondLst>
                                    <p:cond delay="1950"/>
                                  </p:stCondLst>
                                  <p:childTnLst>
                                    <p:set>
                                      <p:cBhvr>
                                        <p:cTn id="72" dur="1" fill="hold">
                                          <p:stCondLst>
                                            <p:cond delay="0"/>
                                          </p:stCondLst>
                                        </p:cTn>
                                        <p:tgtEl>
                                          <p:spTgt spid="24"/>
                                        </p:tgtEl>
                                        <p:attrNameLst>
                                          <p:attrName>style.visibility</p:attrName>
                                        </p:attrNameLst>
                                      </p:cBhvr>
                                      <p:to>
                                        <p:strVal val="visible"/>
                                      </p:to>
                                    </p:set>
                                    <p:animEffect transition="in" filter="fade">
                                      <p:cBhvr>
                                        <p:cTn id="73" dur="500"/>
                                        <p:tgtEl>
                                          <p:spTgt spid="24"/>
                                        </p:tgtEl>
                                      </p:cBhvr>
                                    </p:animEffect>
                                  </p:childTnLst>
                                </p:cTn>
                              </p:par>
                              <p:par>
                                <p:cTn id="74" presetID="10" presetClass="entr" presetSubtype="0" fill="hold" grpId="0" nodeType="withEffect">
                                  <p:stCondLst>
                                    <p:cond delay="1950"/>
                                  </p:stCondLst>
                                  <p:childTnLst>
                                    <p:set>
                                      <p:cBhvr>
                                        <p:cTn id="75" dur="1" fill="hold">
                                          <p:stCondLst>
                                            <p:cond delay="0"/>
                                          </p:stCondLst>
                                        </p:cTn>
                                        <p:tgtEl>
                                          <p:spTgt spid="25"/>
                                        </p:tgtEl>
                                        <p:attrNameLst>
                                          <p:attrName>style.visibility</p:attrName>
                                        </p:attrNameLst>
                                      </p:cBhvr>
                                      <p:to>
                                        <p:strVal val="visible"/>
                                      </p:to>
                                    </p:set>
                                    <p:animEffect transition="in" filter="fade">
                                      <p:cBhvr>
                                        <p:cTn id="76" dur="500"/>
                                        <p:tgtEl>
                                          <p:spTgt spid="25"/>
                                        </p:tgtEl>
                                      </p:cBhvr>
                                    </p:animEffect>
                                  </p:childTnLst>
                                </p:cTn>
                              </p:par>
                              <p:par>
                                <p:cTn id="77" presetID="10" presetClass="entr" presetSubtype="0" fill="hold" grpId="0" nodeType="withEffect">
                                  <p:stCondLst>
                                    <p:cond delay="1950"/>
                                  </p:stCondLst>
                                  <p:childTnLst>
                                    <p:set>
                                      <p:cBhvr>
                                        <p:cTn id="78" dur="1" fill="hold">
                                          <p:stCondLst>
                                            <p:cond delay="0"/>
                                          </p:stCondLst>
                                        </p:cTn>
                                        <p:tgtEl>
                                          <p:spTgt spid="26"/>
                                        </p:tgtEl>
                                        <p:attrNameLst>
                                          <p:attrName>style.visibility</p:attrName>
                                        </p:attrNameLst>
                                      </p:cBhvr>
                                      <p:to>
                                        <p:strVal val="visible"/>
                                      </p:to>
                                    </p:set>
                                    <p:animEffect transition="in" filter="fade">
                                      <p:cBhvr>
                                        <p:cTn id="79" dur="500"/>
                                        <p:tgtEl>
                                          <p:spTgt spid="26"/>
                                        </p:tgtEl>
                                      </p:cBhvr>
                                    </p:animEffect>
                                  </p:childTnLst>
                                </p:cTn>
                              </p:par>
                              <p:par>
                                <p:cTn id="80" presetID="10" presetClass="entr" presetSubtype="0" fill="hold" grpId="0" nodeType="withEffect">
                                  <p:stCondLst>
                                    <p:cond delay="2250"/>
                                  </p:stCondLst>
                                  <p:childTnLst>
                                    <p:set>
                                      <p:cBhvr>
                                        <p:cTn id="81" dur="1" fill="hold">
                                          <p:stCondLst>
                                            <p:cond delay="0"/>
                                          </p:stCondLst>
                                        </p:cTn>
                                        <p:tgtEl>
                                          <p:spTgt spid="27"/>
                                        </p:tgtEl>
                                        <p:attrNameLst>
                                          <p:attrName>style.visibility</p:attrName>
                                        </p:attrNameLst>
                                      </p:cBhvr>
                                      <p:to>
                                        <p:strVal val="visible"/>
                                      </p:to>
                                    </p:set>
                                    <p:animEffect transition="in" filter="fade">
                                      <p:cBhvr>
                                        <p:cTn id="82"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animBg="1"/>
      <p:bldP spid="5" grpId="0"/>
      <p:bldP spid="6" grpId="0"/>
      <p:bldP spid="7" grpId="0" animBg="1"/>
      <p:bldP spid="8" grpId="0"/>
      <p:bldP spid="9" grpId="0"/>
      <p:bldP spid="10" grpId="0" animBg="1"/>
      <p:bldP spid="11" grpId="0"/>
      <p:bldP spid="12" grpId="0"/>
      <p:bldP spid="13" grpId="0" animBg="1"/>
      <p:bldP spid="14" grpId="0"/>
      <p:bldP spid="15" grpId="0"/>
      <p:bldP spid="16" grpId="0"/>
      <p:bldP spid="17" grpId="0"/>
      <p:bldP spid="18" grpId="0" animBg="1"/>
      <p:bldP spid="19" grpId="0" animBg="1"/>
      <p:bldP spid="20" grpId="0" animBg="1"/>
      <p:bldP spid="21" grpId="0"/>
      <p:bldP spid="22" grpId="0" animBg="1"/>
      <p:bldP spid="23" grpId="0" animBg="1"/>
      <p:bldP spid="24" grpId="0"/>
      <p:bldP spid="25" grpId="0"/>
      <p:bldP spid="26" grpId="0"/>
      <p:bldP spid="27"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1016"/>
        </a:solidFill>
        <a:effectLst/>
      </p:bgPr>
    </p:bg>
    <p:spTree>
      <p:nvGrpSpPr>
        <p:cNvPr id="1" name=""/>
        <p:cNvGrpSpPr/>
        <p:nvPr/>
      </p:nvGrpSpPr>
      <p:grpSpPr>
        <a:xfrm>
          <a:off x="0" y="0"/>
          <a:ext cx="0" cy="0"/>
          <a:chOff x="0" y="0"/>
          <a:chExt cx="0" cy="0"/>
        </a:xfrm>
      </p:grpSpPr>
      <p:sp>
        <p:nvSpPr>
          <p:cNvPr id="2" name="ZoneTexte 1">
            <a:extLst>
              <a:ext uri="{FF2B5EF4-FFF2-40B4-BE49-F238E27FC236}">
                <a16:creationId xmlns:a16="http://schemas.microsoft.com/office/drawing/2014/main" id="{26E096FB-E2AE-4177-AFDD-A77691727D5B}"/>
              </a:ext>
            </a:extLst>
          </p:cNvPr>
          <p:cNvSpPr txBox="1"/>
          <p:nvPr/>
        </p:nvSpPr>
        <p:spPr>
          <a:xfrm>
            <a:off x="914400" y="711200"/>
            <a:ext cx="10363200" cy="369332"/>
          </a:xfrm>
          <a:prstGeom prst="rect">
            <a:avLst/>
          </a:prstGeom>
          <a:noFill/>
        </p:spPr>
        <p:txBody>
          <a:bodyPr vert="horz" wrap="square" lIns="0" tIns="0" rIns="0" bIns="0" rtlCol="0">
            <a:noAutofit/>
          </a:bodyPr>
          <a:lstStyle/>
          <a:p>
            <a:pPr>
              <a:lnSpc>
                <a:spcPct val="115000"/>
              </a:lnSpc>
            </a:pPr>
            <a:r>
              <a:rPr lang="fr-FR" sz="1100" spc="260">
                <a:solidFill>
                  <a:srgbClr val="A9CCE3"/>
                </a:solidFill>
                <a:latin typeface="Manrope SemiBold" pitchFamily="2" charset="0"/>
              </a:rPr>
              <a:t>UNE PLATEFORME, TROIS ESPACES</a:t>
            </a:r>
          </a:p>
        </p:txBody>
      </p:sp>
      <p:sp>
        <p:nvSpPr>
          <p:cNvPr id="3" name="ZoneTexte 2">
            <a:extLst>
              <a:ext uri="{FF2B5EF4-FFF2-40B4-BE49-F238E27FC236}">
                <a16:creationId xmlns:a16="http://schemas.microsoft.com/office/drawing/2014/main" id="{1C2CDBFC-FD1A-2CD4-65C0-570A0AF08E8F}"/>
              </a:ext>
            </a:extLst>
          </p:cNvPr>
          <p:cNvSpPr txBox="1"/>
          <p:nvPr/>
        </p:nvSpPr>
        <p:spPr>
          <a:xfrm>
            <a:off x="914400" y="990600"/>
            <a:ext cx="10363200" cy="369332"/>
          </a:xfrm>
          <a:prstGeom prst="rect">
            <a:avLst/>
          </a:prstGeom>
          <a:noFill/>
        </p:spPr>
        <p:txBody>
          <a:bodyPr vert="horz" wrap="square" lIns="0" tIns="0" rIns="0" bIns="0" rtlCol="0">
            <a:noAutofit/>
          </a:bodyPr>
          <a:lstStyle/>
          <a:p>
            <a:r>
              <a:rPr lang="fr-FR" sz="3600" spc="-50">
                <a:solidFill>
                  <a:srgbClr val="F2F5F8"/>
                </a:solidFill>
                <a:latin typeface="Manrope SemiBold" pitchFamily="2" charset="0"/>
              </a:rPr>
              <a:t>Chacun son espace, la même </a:t>
            </a:r>
            <a:r>
              <a:rPr lang="fr-FR" sz="3600" spc="-50">
                <a:gradFill flip="none" rotWithShape="1">
                  <a:gsLst>
                    <a:gs pos="0">
                      <a:srgbClr val="5A93BF"/>
                    </a:gs>
                    <a:gs pos="100000">
                      <a:srgbClr val="A9CCE3"/>
                    </a:gs>
                  </a:gsLst>
                  <a:lin ang="0" scaled="1"/>
                  <a:tileRect/>
                </a:gradFill>
                <a:latin typeface="Manrope SemiBold" pitchFamily="2" charset="0"/>
              </a:rPr>
              <a:t>simplicité</a:t>
            </a:r>
            <a:r>
              <a:rPr lang="fr-FR" sz="3600" spc="-50">
                <a:solidFill>
                  <a:srgbClr val="F2F5F8"/>
                </a:solidFill>
                <a:latin typeface="Manrope SemiBold" pitchFamily="2" charset="0"/>
              </a:rPr>
              <a:t>.</a:t>
            </a:r>
          </a:p>
        </p:txBody>
      </p:sp>
      <p:sp>
        <p:nvSpPr>
          <p:cNvPr id="4" name="Rectangle : coins arrondis 3">
            <a:extLst>
              <a:ext uri="{FF2B5EF4-FFF2-40B4-BE49-F238E27FC236}">
                <a16:creationId xmlns:a16="http://schemas.microsoft.com/office/drawing/2014/main" id="{524618D0-493C-E0EB-5D01-6CACBFEB37DA}"/>
              </a:ext>
            </a:extLst>
          </p:cNvPr>
          <p:cNvSpPr/>
          <p:nvPr/>
        </p:nvSpPr>
        <p:spPr>
          <a:xfrm>
            <a:off x="914400" y="2032000"/>
            <a:ext cx="3200400" cy="3683000"/>
          </a:xfrm>
          <a:prstGeom prst="roundRect">
            <a:avLst>
              <a:gd name="adj" fmla="val 4762"/>
            </a:avLst>
          </a:prstGeom>
          <a:solidFill>
            <a:srgbClr val="121A23"/>
          </a:solidFill>
          <a:ln w="9525">
            <a:solidFill>
              <a:srgbClr val="2430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 name="ZoneTexte 4">
            <a:extLst>
              <a:ext uri="{FF2B5EF4-FFF2-40B4-BE49-F238E27FC236}">
                <a16:creationId xmlns:a16="http://schemas.microsoft.com/office/drawing/2014/main" id="{1C209EA4-7895-7DE1-FBD4-EF2E1EEDBA5F}"/>
              </a:ext>
            </a:extLst>
          </p:cNvPr>
          <p:cNvSpPr txBox="1"/>
          <p:nvPr/>
        </p:nvSpPr>
        <p:spPr>
          <a:xfrm>
            <a:off x="1219200" y="2336800"/>
            <a:ext cx="2540000" cy="369332"/>
          </a:xfrm>
          <a:prstGeom prst="rect">
            <a:avLst/>
          </a:prstGeom>
          <a:noFill/>
        </p:spPr>
        <p:txBody>
          <a:bodyPr vert="horz" wrap="square" lIns="0" tIns="0" rIns="0" bIns="0" rtlCol="0">
            <a:noAutofit/>
          </a:bodyPr>
          <a:lstStyle/>
          <a:p>
            <a:pPr>
              <a:lnSpc>
                <a:spcPct val="115000"/>
              </a:lnSpc>
            </a:pPr>
            <a:r>
              <a:rPr lang="fr-FR" sz="1000" spc="220">
                <a:solidFill>
                  <a:srgbClr val="A9CCE3"/>
                </a:solidFill>
                <a:latin typeface="Manrope SemiBold" pitchFamily="2" charset="0"/>
              </a:rPr>
              <a:t>CANDIDAT</a:t>
            </a:r>
          </a:p>
        </p:txBody>
      </p:sp>
      <p:sp>
        <p:nvSpPr>
          <p:cNvPr id="6" name="ZoneTexte 5">
            <a:extLst>
              <a:ext uri="{FF2B5EF4-FFF2-40B4-BE49-F238E27FC236}">
                <a16:creationId xmlns:a16="http://schemas.microsoft.com/office/drawing/2014/main" id="{F779EE69-15DC-DF40-0E18-C77BC3EC9E47}"/>
              </a:ext>
            </a:extLst>
          </p:cNvPr>
          <p:cNvSpPr txBox="1"/>
          <p:nvPr/>
        </p:nvSpPr>
        <p:spPr>
          <a:xfrm>
            <a:off x="1219200" y="2616200"/>
            <a:ext cx="2667000" cy="369332"/>
          </a:xfrm>
          <a:prstGeom prst="rect">
            <a:avLst/>
          </a:prstGeom>
          <a:noFill/>
        </p:spPr>
        <p:txBody>
          <a:bodyPr vert="horz" wrap="square" lIns="0" tIns="0" rIns="0" bIns="0" rtlCol="0">
            <a:noAutofit/>
          </a:bodyPr>
          <a:lstStyle/>
          <a:p>
            <a:pPr>
              <a:lnSpc>
                <a:spcPct val="115000"/>
              </a:lnSpc>
            </a:pPr>
            <a:r>
              <a:rPr lang="fr-FR" sz="2100">
                <a:solidFill>
                  <a:srgbClr val="F2F5F8"/>
                </a:solidFill>
                <a:latin typeface="Manrope SemiBold" pitchFamily="2" charset="0"/>
              </a:rPr>
              <a:t>Postuler et suivre</a:t>
            </a:r>
          </a:p>
        </p:txBody>
      </p:sp>
      <p:sp>
        <p:nvSpPr>
          <p:cNvPr id="7" name="Rectangle 6">
            <a:extLst>
              <a:ext uri="{FF2B5EF4-FFF2-40B4-BE49-F238E27FC236}">
                <a16:creationId xmlns:a16="http://schemas.microsoft.com/office/drawing/2014/main" id="{D184367D-BDC6-887B-67FF-9C5AD7EEE6BD}"/>
              </a:ext>
            </a:extLst>
          </p:cNvPr>
          <p:cNvSpPr/>
          <p:nvPr/>
        </p:nvSpPr>
        <p:spPr>
          <a:xfrm>
            <a:off x="1219200" y="3327400"/>
            <a:ext cx="127000" cy="19050"/>
          </a:xfrm>
          <a:prstGeom prst="rect">
            <a:avLst/>
          </a:prstGeom>
          <a:solidFill>
            <a:srgbClr val="A9CC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ZoneTexte 7">
            <a:extLst>
              <a:ext uri="{FF2B5EF4-FFF2-40B4-BE49-F238E27FC236}">
                <a16:creationId xmlns:a16="http://schemas.microsoft.com/office/drawing/2014/main" id="{1364B561-1A2A-48BD-BDAF-C7A5B11C2423}"/>
              </a:ext>
            </a:extLst>
          </p:cNvPr>
          <p:cNvSpPr txBox="1"/>
          <p:nvPr/>
        </p:nvSpPr>
        <p:spPr>
          <a:xfrm>
            <a:off x="1447800" y="3225800"/>
            <a:ext cx="2413000" cy="369332"/>
          </a:xfrm>
          <a:prstGeom prst="rect">
            <a:avLst/>
          </a:prstGeom>
          <a:noFill/>
        </p:spPr>
        <p:txBody>
          <a:bodyPr vert="horz" wrap="square" lIns="0" tIns="0" rIns="0" bIns="0" rtlCol="0">
            <a:noAutofit/>
          </a:bodyPr>
          <a:lstStyle/>
          <a:p>
            <a:pPr>
              <a:lnSpc>
                <a:spcPct val="115000"/>
              </a:lnSpc>
            </a:pPr>
            <a:r>
              <a:rPr lang="fr-FR" sz="1250">
                <a:solidFill>
                  <a:srgbClr val="9CA9B6"/>
                </a:solidFill>
                <a:latin typeface="Manrope" pitchFamily="2" charset="0"/>
              </a:rPr>
              <a:t>Ses candidatures et leur état</a:t>
            </a:r>
          </a:p>
        </p:txBody>
      </p:sp>
      <p:sp>
        <p:nvSpPr>
          <p:cNvPr id="9" name="Rectangle 8">
            <a:extLst>
              <a:ext uri="{FF2B5EF4-FFF2-40B4-BE49-F238E27FC236}">
                <a16:creationId xmlns:a16="http://schemas.microsoft.com/office/drawing/2014/main" id="{BDE0D620-2BE3-A957-8337-1831DB8CC823}"/>
              </a:ext>
            </a:extLst>
          </p:cNvPr>
          <p:cNvSpPr/>
          <p:nvPr/>
        </p:nvSpPr>
        <p:spPr>
          <a:xfrm>
            <a:off x="1219200" y="3987800"/>
            <a:ext cx="127000" cy="19050"/>
          </a:xfrm>
          <a:prstGeom prst="rect">
            <a:avLst/>
          </a:prstGeom>
          <a:solidFill>
            <a:srgbClr val="A9CC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ZoneTexte 9">
            <a:extLst>
              <a:ext uri="{FF2B5EF4-FFF2-40B4-BE49-F238E27FC236}">
                <a16:creationId xmlns:a16="http://schemas.microsoft.com/office/drawing/2014/main" id="{EF10F86E-595A-0106-918E-ACF88CCE49E0}"/>
              </a:ext>
            </a:extLst>
          </p:cNvPr>
          <p:cNvSpPr txBox="1"/>
          <p:nvPr/>
        </p:nvSpPr>
        <p:spPr>
          <a:xfrm>
            <a:off x="1447800" y="3886200"/>
            <a:ext cx="2413000" cy="369332"/>
          </a:xfrm>
          <a:prstGeom prst="rect">
            <a:avLst/>
          </a:prstGeom>
          <a:noFill/>
        </p:spPr>
        <p:txBody>
          <a:bodyPr vert="horz" wrap="square" lIns="0" tIns="0" rIns="0" bIns="0" rtlCol="0">
            <a:noAutofit/>
          </a:bodyPr>
          <a:lstStyle/>
          <a:p>
            <a:pPr>
              <a:lnSpc>
                <a:spcPct val="115000"/>
              </a:lnSpc>
            </a:pPr>
            <a:r>
              <a:rPr lang="fr-FR" sz="1250">
                <a:solidFill>
                  <a:srgbClr val="9CA9B6"/>
                </a:solidFill>
                <a:latin typeface="Manrope" pitchFamily="2" charset="0"/>
              </a:rPr>
              <a:t>Ses informations, modifiables</a:t>
            </a:r>
          </a:p>
        </p:txBody>
      </p:sp>
      <p:sp>
        <p:nvSpPr>
          <p:cNvPr id="11" name="Rectangle 10">
            <a:extLst>
              <a:ext uri="{FF2B5EF4-FFF2-40B4-BE49-F238E27FC236}">
                <a16:creationId xmlns:a16="http://schemas.microsoft.com/office/drawing/2014/main" id="{965360DA-E702-D315-A9AF-F4866004D192}"/>
              </a:ext>
            </a:extLst>
          </p:cNvPr>
          <p:cNvSpPr/>
          <p:nvPr/>
        </p:nvSpPr>
        <p:spPr>
          <a:xfrm>
            <a:off x="1219200" y="4648200"/>
            <a:ext cx="127000" cy="19050"/>
          </a:xfrm>
          <a:prstGeom prst="rect">
            <a:avLst/>
          </a:prstGeom>
          <a:solidFill>
            <a:srgbClr val="A9CC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ZoneTexte 11">
            <a:extLst>
              <a:ext uri="{FF2B5EF4-FFF2-40B4-BE49-F238E27FC236}">
                <a16:creationId xmlns:a16="http://schemas.microsoft.com/office/drawing/2014/main" id="{8D2CA590-79F6-5AF2-521F-A2B160B35EB4}"/>
              </a:ext>
            </a:extLst>
          </p:cNvPr>
          <p:cNvSpPr txBox="1"/>
          <p:nvPr/>
        </p:nvSpPr>
        <p:spPr>
          <a:xfrm>
            <a:off x="1447800" y="4546600"/>
            <a:ext cx="2413000" cy="369332"/>
          </a:xfrm>
          <a:prstGeom prst="rect">
            <a:avLst/>
          </a:prstGeom>
          <a:noFill/>
        </p:spPr>
        <p:txBody>
          <a:bodyPr vert="horz" wrap="square" lIns="0" tIns="0" rIns="0" bIns="0" rtlCol="0">
            <a:noAutofit/>
          </a:bodyPr>
          <a:lstStyle/>
          <a:p>
            <a:pPr>
              <a:lnSpc>
                <a:spcPct val="115000"/>
              </a:lnSpc>
            </a:pPr>
            <a:r>
              <a:rPr lang="fr-FR" sz="1250">
                <a:solidFill>
                  <a:srgbClr val="9CA9B6"/>
                </a:solidFill>
                <a:latin typeface="Manrope" pitchFamily="2" charset="0"/>
              </a:rPr>
              <a:t>Une adresse e-mail confirmée</a:t>
            </a:r>
          </a:p>
        </p:txBody>
      </p:sp>
      <p:sp>
        <p:nvSpPr>
          <p:cNvPr id="13" name="Rectangle : coins arrondis 12">
            <a:extLst>
              <a:ext uri="{FF2B5EF4-FFF2-40B4-BE49-F238E27FC236}">
                <a16:creationId xmlns:a16="http://schemas.microsoft.com/office/drawing/2014/main" id="{66B0CBFE-9064-7192-CBFF-20D1F7BB3EA7}"/>
              </a:ext>
            </a:extLst>
          </p:cNvPr>
          <p:cNvSpPr/>
          <p:nvPr/>
        </p:nvSpPr>
        <p:spPr>
          <a:xfrm>
            <a:off x="4495800" y="2032000"/>
            <a:ext cx="3200400" cy="3683000"/>
          </a:xfrm>
          <a:prstGeom prst="roundRect">
            <a:avLst>
              <a:gd name="adj" fmla="val 4762"/>
            </a:avLst>
          </a:prstGeom>
          <a:solidFill>
            <a:srgbClr val="121A23"/>
          </a:solidFill>
          <a:ln w="9525">
            <a:solidFill>
              <a:srgbClr val="2430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ZoneTexte 13">
            <a:extLst>
              <a:ext uri="{FF2B5EF4-FFF2-40B4-BE49-F238E27FC236}">
                <a16:creationId xmlns:a16="http://schemas.microsoft.com/office/drawing/2014/main" id="{EE7537E5-5ACC-5C9D-0A3F-6B9419183A85}"/>
              </a:ext>
            </a:extLst>
          </p:cNvPr>
          <p:cNvSpPr txBox="1"/>
          <p:nvPr/>
        </p:nvSpPr>
        <p:spPr>
          <a:xfrm>
            <a:off x="4800600" y="2336800"/>
            <a:ext cx="2540000" cy="369332"/>
          </a:xfrm>
          <a:prstGeom prst="rect">
            <a:avLst/>
          </a:prstGeom>
          <a:noFill/>
        </p:spPr>
        <p:txBody>
          <a:bodyPr vert="horz" wrap="square" lIns="0" tIns="0" rIns="0" bIns="0" rtlCol="0">
            <a:noAutofit/>
          </a:bodyPr>
          <a:lstStyle/>
          <a:p>
            <a:pPr>
              <a:lnSpc>
                <a:spcPct val="115000"/>
              </a:lnSpc>
            </a:pPr>
            <a:r>
              <a:rPr lang="fr-FR" sz="1000" spc="220">
                <a:solidFill>
                  <a:srgbClr val="A9CCE3"/>
                </a:solidFill>
                <a:latin typeface="Manrope SemiBold" pitchFamily="2" charset="0"/>
              </a:rPr>
              <a:t>RECRUTEUR</a:t>
            </a:r>
          </a:p>
        </p:txBody>
      </p:sp>
      <p:sp>
        <p:nvSpPr>
          <p:cNvPr id="15" name="ZoneTexte 14">
            <a:extLst>
              <a:ext uri="{FF2B5EF4-FFF2-40B4-BE49-F238E27FC236}">
                <a16:creationId xmlns:a16="http://schemas.microsoft.com/office/drawing/2014/main" id="{1F2AA4DE-F439-23F8-2AE4-E8784A5AD1FC}"/>
              </a:ext>
            </a:extLst>
          </p:cNvPr>
          <p:cNvSpPr txBox="1"/>
          <p:nvPr/>
        </p:nvSpPr>
        <p:spPr>
          <a:xfrm>
            <a:off x="4800600" y="2616200"/>
            <a:ext cx="2667000" cy="369332"/>
          </a:xfrm>
          <a:prstGeom prst="rect">
            <a:avLst/>
          </a:prstGeom>
          <a:noFill/>
        </p:spPr>
        <p:txBody>
          <a:bodyPr vert="horz" wrap="square" lIns="0" tIns="0" rIns="0" bIns="0" rtlCol="0">
            <a:noAutofit/>
          </a:bodyPr>
          <a:lstStyle/>
          <a:p>
            <a:pPr>
              <a:lnSpc>
                <a:spcPct val="115000"/>
              </a:lnSpc>
            </a:pPr>
            <a:r>
              <a:rPr lang="fr-FR" sz="2100">
                <a:solidFill>
                  <a:srgbClr val="F2F5F8"/>
                </a:solidFill>
                <a:latin typeface="Manrope SemiBold" pitchFamily="2" charset="0"/>
              </a:rPr>
              <a:t>Publier et choisir</a:t>
            </a:r>
          </a:p>
        </p:txBody>
      </p:sp>
      <p:sp>
        <p:nvSpPr>
          <p:cNvPr id="16" name="Rectangle 15">
            <a:extLst>
              <a:ext uri="{FF2B5EF4-FFF2-40B4-BE49-F238E27FC236}">
                <a16:creationId xmlns:a16="http://schemas.microsoft.com/office/drawing/2014/main" id="{5871862B-B232-A6B0-0914-EF7EA5305A54}"/>
              </a:ext>
            </a:extLst>
          </p:cNvPr>
          <p:cNvSpPr/>
          <p:nvPr/>
        </p:nvSpPr>
        <p:spPr>
          <a:xfrm>
            <a:off x="4800600" y="3327400"/>
            <a:ext cx="127000" cy="19050"/>
          </a:xfrm>
          <a:prstGeom prst="rect">
            <a:avLst/>
          </a:prstGeom>
          <a:solidFill>
            <a:srgbClr val="A9CC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ZoneTexte 16">
            <a:extLst>
              <a:ext uri="{FF2B5EF4-FFF2-40B4-BE49-F238E27FC236}">
                <a16:creationId xmlns:a16="http://schemas.microsoft.com/office/drawing/2014/main" id="{E47D10C2-900D-7734-0B41-C32C11748C3A}"/>
              </a:ext>
            </a:extLst>
          </p:cNvPr>
          <p:cNvSpPr txBox="1"/>
          <p:nvPr/>
        </p:nvSpPr>
        <p:spPr>
          <a:xfrm>
            <a:off x="5029200" y="3225800"/>
            <a:ext cx="2413000" cy="369332"/>
          </a:xfrm>
          <a:prstGeom prst="rect">
            <a:avLst/>
          </a:prstGeom>
          <a:noFill/>
        </p:spPr>
        <p:txBody>
          <a:bodyPr vert="horz" wrap="square" lIns="0" tIns="0" rIns="0" bIns="0" rtlCol="0">
            <a:noAutofit/>
          </a:bodyPr>
          <a:lstStyle/>
          <a:p>
            <a:pPr>
              <a:lnSpc>
                <a:spcPct val="115000"/>
              </a:lnSpc>
            </a:pPr>
            <a:r>
              <a:rPr lang="fr-FR" sz="1250">
                <a:solidFill>
                  <a:srgbClr val="9CA9B6"/>
                </a:solidFill>
                <a:latin typeface="Manrope" pitchFamily="2" charset="0"/>
              </a:rPr>
              <a:t>Son entreprise, identifiée par son SIREN</a:t>
            </a:r>
          </a:p>
        </p:txBody>
      </p:sp>
      <p:sp>
        <p:nvSpPr>
          <p:cNvPr id="18" name="Rectangle 17">
            <a:extLst>
              <a:ext uri="{FF2B5EF4-FFF2-40B4-BE49-F238E27FC236}">
                <a16:creationId xmlns:a16="http://schemas.microsoft.com/office/drawing/2014/main" id="{E764B17E-FECC-D285-C0A5-41E7D15E31DA}"/>
              </a:ext>
            </a:extLst>
          </p:cNvPr>
          <p:cNvSpPr/>
          <p:nvPr/>
        </p:nvSpPr>
        <p:spPr>
          <a:xfrm>
            <a:off x="4800600" y="3987800"/>
            <a:ext cx="127000" cy="19050"/>
          </a:xfrm>
          <a:prstGeom prst="rect">
            <a:avLst/>
          </a:prstGeom>
          <a:solidFill>
            <a:srgbClr val="A9CC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ZoneTexte 18">
            <a:extLst>
              <a:ext uri="{FF2B5EF4-FFF2-40B4-BE49-F238E27FC236}">
                <a16:creationId xmlns:a16="http://schemas.microsoft.com/office/drawing/2014/main" id="{2F9766DE-99D8-FAAB-613C-617F13617BD7}"/>
              </a:ext>
            </a:extLst>
          </p:cNvPr>
          <p:cNvSpPr txBox="1"/>
          <p:nvPr/>
        </p:nvSpPr>
        <p:spPr>
          <a:xfrm>
            <a:off x="5029200" y="3886200"/>
            <a:ext cx="2413000" cy="369332"/>
          </a:xfrm>
          <a:prstGeom prst="rect">
            <a:avLst/>
          </a:prstGeom>
          <a:noFill/>
        </p:spPr>
        <p:txBody>
          <a:bodyPr vert="horz" wrap="square" lIns="0" tIns="0" rIns="0" bIns="0" rtlCol="0">
            <a:noAutofit/>
          </a:bodyPr>
          <a:lstStyle/>
          <a:p>
            <a:pPr>
              <a:lnSpc>
                <a:spcPct val="115000"/>
              </a:lnSpc>
            </a:pPr>
            <a:r>
              <a:rPr lang="fr-FR" sz="1250">
                <a:solidFill>
                  <a:srgbClr val="9CA9B6"/>
                </a:solidFill>
                <a:latin typeface="Manrope" pitchFamily="2" charset="0"/>
              </a:rPr>
              <a:t>Ses offres et leurs candidatures</a:t>
            </a:r>
          </a:p>
        </p:txBody>
      </p:sp>
      <p:sp>
        <p:nvSpPr>
          <p:cNvPr id="20" name="Rectangle 19">
            <a:extLst>
              <a:ext uri="{FF2B5EF4-FFF2-40B4-BE49-F238E27FC236}">
                <a16:creationId xmlns:a16="http://schemas.microsoft.com/office/drawing/2014/main" id="{54332A1C-EAEE-C209-F1B2-C45F7A987EC7}"/>
              </a:ext>
            </a:extLst>
          </p:cNvPr>
          <p:cNvSpPr/>
          <p:nvPr/>
        </p:nvSpPr>
        <p:spPr>
          <a:xfrm>
            <a:off x="4800600" y="4648200"/>
            <a:ext cx="127000" cy="19050"/>
          </a:xfrm>
          <a:prstGeom prst="rect">
            <a:avLst/>
          </a:prstGeom>
          <a:solidFill>
            <a:srgbClr val="A9CC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ZoneTexte 20">
            <a:extLst>
              <a:ext uri="{FF2B5EF4-FFF2-40B4-BE49-F238E27FC236}">
                <a16:creationId xmlns:a16="http://schemas.microsoft.com/office/drawing/2014/main" id="{BEBA637E-CE1F-0BDC-748F-CF0A8082D305}"/>
              </a:ext>
            </a:extLst>
          </p:cNvPr>
          <p:cNvSpPr txBox="1"/>
          <p:nvPr/>
        </p:nvSpPr>
        <p:spPr>
          <a:xfrm>
            <a:off x="5029200" y="4546600"/>
            <a:ext cx="2413000" cy="369332"/>
          </a:xfrm>
          <a:prstGeom prst="rect">
            <a:avLst/>
          </a:prstGeom>
          <a:noFill/>
        </p:spPr>
        <p:txBody>
          <a:bodyPr vert="horz" wrap="square" lIns="0" tIns="0" rIns="0" bIns="0" rtlCol="0">
            <a:noAutofit/>
          </a:bodyPr>
          <a:lstStyle/>
          <a:p>
            <a:pPr>
              <a:lnSpc>
                <a:spcPct val="115000"/>
              </a:lnSpc>
            </a:pPr>
            <a:r>
              <a:rPr lang="fr-FR" sz="1250">
                <a:solidFill>
                  <a:srgbClr val="9CA9B6"/>
                </a:solidFill>
                <a:latin typeface="Manrope" pitchFamily="2" charset="0"/>
              </a:rPr>
              <a:t>Une offre pourvue en un geste</a:t>
            </a:r>
          </a:p>
        </p:txBody>
      </p:sp>
      <p:sp>
        <p:nvSpPr>
          <p:cNvPr id="22" name="Rectangle : coins arrondis 21">
            <a:extLst>
              <a:ext uri="{FF2B5EF4-FFF2-40B4-BE49-F238E27FC236}">
                <a16:creationId xmlns:a16="http://schemas.microsoft.com/office/drawing/2014/main" id="{4EB0A40E-1022-BBCF-EC99-EA3455B9D546}"/>
              </a:ext>
            </a:extLst>
          </p:cNvPr>
          <p:cNvSpPr/>
          <p:nvPr/>
        </p:nvSpPr>
        <p:spPr>
          <a:xfrm>
            <a:off x="8077200" y="2032000"/>
            <a:ext cx="3200400" cy="3683000"/>
          </a:xfrm>
          <a:prstGeom prst="roundRect">
            <a:avLst>
              <a:gd name="adj" fmla="val 4762"/>
            </a:avLst>
          </a:prstGeom>
          <a:solidFill>
            <a:srgbClr val="121A23"/>
          </a:solidFill>
          <a:ln w="9525">
            <a:solidFill>
              <a:srgbClr val="2430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3" name="ZoneTexte 22">
            <a:extLst>
              <a:ext uri="{FF2B5EF4-FFF2-40B4-BE49-F238E27FC236}">
                <a16:creationId xmlns:a16="http://schemas.microsoft.com/office/drawing/2014/main" id="{DD3C453E-BAF5-B029-9666-E99F4BF77EE4}"/>
              </a:ext>
            </a:extLst>
          </p:cNvPr>
          <p:cNvSpPr txBox="1"/>
          <p:nvPr/>
        </p:nvSpPr>
        <p:spPr>
          <a:xfrm>
            <a:off x="8382000" y="2336800"/>
            <a:ext cx="2540000" cy="369332"/>
          </a:xfrm>
          <a:prstGeom prst="rect">
            <a:avLst/>
          </a:prstGeom>
          <a:noFill/>
        </p:spPr>
        <p:txBody>
          <a:bodyPr vert="horz" wrap="square" lIns="0" tIns="0" rIns="0" bIns="0" rtlCol="0">
            <a:noAutofit/>
          </a:bodyPr>
          <a:lstStyle/>
          <a:p>
            <a:pPr>
              <a:lnSpc>
                <a:spcPct val="115000"/>
              </a:lnSpc>
            </a:pPr>
            <a:r>
              <a:rPr lang="fr-FR" sz="1000" spc="220">
                <a:solidFill>
                  <a:srgbClr val="A9CCE3"/>
                </a:solidFill>
                <a:latin typeface="Manrope SemiBold" pitchFamily="2" charset="0"/>
              </a:rPr>
              <a:t>ADMINISTRATION</a:t>
            </a:r>
          </a:p>
        </p:txBody>
      </p:sp>
      <p:sp>
        <p:nvSpPr>
          <p:cNvPr id="24" name="ZoneTexte 23">
            <a:extLst>
              <a:ext uri="{FF2B5EF4-FFF2-40B4-BE49-F238E27FC236}">
                <a16:creationId xmlns:a16="http://schemas.microsoft.com/office/drawing/2014/main" id="{72F11AF5-4DA7-45BB-9ABB-E4C6A7934F8D}"/>
              </a:ext>
            </a:extLst>
          </p:cNvPr>
          <p:cNvSpPr txBox="1"/>
          <p:nvPr/>
        </p:nvSpPr>
        <p:spPr>
          <a:xfrm>
            <a:off x="8382000" y="2616200"/>
            <a:ext cx="2667000" cy="369332"/>
          </a:xfrm>
          <a:prstGeom prst="rect">
            <a:avLst/>
          </a:prstGeom>
          <a:noFill/>
        </p:spPr>
        <p:txBody>
          <a:bodyPr vert="horz" wrap="square" lIns="0" tIns="0" rIns="0" bIns="0" rtlCol="0">
            <a:noAutofit/>
          </a:bodyPr>
          <a:lstStyle/>
          <a:p>
            <a:pPr>
              <a:lnSpc>
                <a:spcPct val="115000"/>
              </a:lnSpc>
            </a:pPr>
            <a:r>
              <a:rPr lang="fr-FR" sz="2100">
                <a:solidFill>
                  <a:srgbClr val="F2F5F8"/>
                </a:solidFill>
                <a:latin typeface="Manrope SemiBold" pitchFamily="2" charset="0"/>
              </a:rPr>
              <a:t>Tout piloter</a:t>
            </a:r>
          </a:p>
        </p:txBody>
      </p:sp>
      <p:sp>
        <p:nvSpPr>
          <p:cNvPr id="25" name="Rectangle 24">
            <a:extLst>
              <a:ext uri="{FF2B5EF4-FFF2-40B4-BE49-F238E27FC236}">
                <a16:creationId xmlns:a16="http://schemas.microsoft.com/office/drawing/2014/main" id="{A1DE2B60-1CD8-7795-AFFE-4B4130FFF2ED}"/>
              </a:ext>
            </a:extLst>
          </p:cNvPr>
          <p:cNvSpPr/>
          <p:nvPr/>
        </p:nvSpPr>
        <p:spPr>
          <a:xfrm>
            <a:off x="8382000" y="3327400"/>
            <a:ext cx="127000" cy="19050"/>
          </a:xfrm>
          <a:prstGeom prst="rect">
            <a:avLst/>
          </a:prstGeom>
          <a:solidFill>
            <a:srgbClr val="A9CC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6" name="ZoneTexte 25">
            <a:extLst>
              <a:ext uri="{FF2B5EF4-FFF2-40B4-BE49-F238E27FC236}">
                <a16:creationId xmlns:a16="http://schemas.microsoft.com/office/drawing/2014/main" id="{91360E5C-EC35-6AAB-211D-C9787970E53C}"/>
              </a:ext>
            </a:extLst>
          </p:cNvPr>
          <p:cNvSpPr txBox="1"/>
          <p:nvPr/>
        </p:nvSpPr>
        <p:spPr>
          <a:xfrm>
            <a:off x="8610600" y="3225800"/>
            <a:ext cx="2413000" cy="369332"/>
          </a:xfrm>
          <a:prstGeom prst="rect">
            <a:avLst/>
          </a:prstGeom>
          <a:noFill/>
        </p:spPr>
        <p:txBody>
          <a:bodyPr vert="horz" wrap="square" lIns="0" tIns="0" rIns="0" bIns="0" rtlCol="0">
            <a:noAutofit/>
          </a:bodyPr>
          <a:lstStyle/>
          <a:p>
            <a:pPr>
              <a:lnSpc>
                <a:spcPct val="115000"/>
              </a:lnSpc>
            </a:pPr>
            <a:r>
              <a:rPr lang="fr-FR" sz="1250">
                <a:solidFill>
                  <a:srgbClr val="9CA9B6"/>
                </a:solidFill>
                <a:latin typeface="Manrope" pitchFamily="2" charset="0"/>
              </a:rPr>
              <a:t>Entreprises, offres, personnes, candidatures</a:t>
            </a:r>
          </a:p>
        </p:txBody>
      </p:sp>
      <p:sp>
        <p:nvSpPr>
          <p:cNvPr id="27" name="Rectangle 26">
            <a:extLst>
              <a:ext uri="{FF2B5EF4-FFF2-40B4-BE49-F238E27FC236}">
                <a16:creationId xmlns:a16="http://schemas.microsoft.com/office/drawing/2014/main" id="{7911B624-968C-B6D3-0543-7B39C28B74F4}"/>
              </a:ext>
            </a:extLst>
          </p:cNvPr>
          <p:cNvSpPr/>
          <p:nvPr/>
        </p:nvSpPr>
        <p:spPr>
          <a:xfrm>
            <a:off x="8382000" y="3987800"/>
            <a:ext cx="127000" cy="19050"/>
          </a:xfrm>
          <a:prstGeom prst="rect">
            <a:avLst/>
          </a:prstGeom>
          <a:solidFill>
            <a:srgbClr val="A9CC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8" name="ZoneTexte 27">
            <a:extLst>
              <a:ext uri="{FF2B5EF4-FFF2-40B4-BE49-F238E27FC236}">
                <a16:creationId xmlns:a16="http://schemas.microsoft.com/office/drawing/2014/main" id="{7DDC65F4-34FD-BC18-817D-3F2EA4DD897E}"/>
              </a:ext>
            </a:extLst>
          </p:cNvPr>
          <p:cNvSpPr txBox="1"/>
          <p:nvPr/>
        </p:nvSpPr>
        <p:spPr>
          <a:xfrm>
            <a:off x="8610600" y="3886200"/>
            <a:ext cx="2413000" cy="369332"/>
          </a:xfrm>
          <a:prstGeom prst="rect">
            <a:avLst/>
          </a:prstGeom>
          <a:noFill/>
        </p:spPr>
        <p:txBody>
          <a:bodyPr vert="horz" wrap="square" lIns="0" tIns="0" rIns="0" bIns="0" rtlCol="0">
            <a:noAutofit/>
          </a:bodyPr>
          <a:lstStyle/>
          <a:p>
            <a:pPr>
              <a:lnSpc>
                <a:spcPct val="115000"/>
              </a:lnSpc>
            </a:pPr>
            <a:r>
              <a:rPr lang="fr-FR" sz="1250">
                <a:solidFill>
                  <a:srgbClr val="9CA9B6"/>
                </a:solidFill>
                <a:latin typeface="Manrope" pitchFamily="2" charset="0"/>
              </a:rPr>
              <a:t>Lister, créer, modifier, supprimer</a:t>
            </a:r>
          </a:p>
        </p:txBody>
      </p:sp>
      <p:sp>
        <p:nvSpPr>
          <p:cNvPr id="29" name="Rectangle 28">
            <a:extLst>
              <a:ext uri="{FF2B5EF4-FFF2-40B4-BE49-F238E27FC236}">
                <a16:creationId xmlns:a16="http://schemas.microsoft.com/office/drawing/2014/main" id="{F1156688-A992-71EB-DE94-EEFEF397DF23}"/>
              </a:ext>
            </a:extLst>
          </p:cNvPr>
          <p:cNvSpPr/>
          <p:nvPr/>
        </p:nvSpPr>
        <p:spPr>
          <a:xfrm>
            <a:off x="8382000" y="4648200"/>
            <a:ext cx="127000" cy="19050"/>
          </a:xfrm>
          <a:prstGeom prst="rect">
            <a:avLst/>
          </a:prstGeom>
          <a:solidFill>
            <a:srgbClr val="A9CC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0" name="ZoneTexte 29">
            <a:extLst>
              <a:ext uri="{FF2B5EF4-FFF2-40B4-BE49-F238E27FC236}">
                <a16:creationId xmlns:a16="http://schemas.microsoft.com/office/drawing/2014/main" id="{EF104B02-9BF0-9743-4EE6-8F68F06064FF}"/>
              </a:ext>
            </a:extLst>
          </p:cNvPr>
          <p:cNvSpPr txBox="1"/>
          <p:nvPr/>
        </p:nvSpPr>
        <p:spPr>
          <a:xfrm>
            <a:off x="8610600" y="4546600"/>
            <a:ext cx="2413000" cy="369332"/>
          </a:xfrm>
          <a:prstGeom prst="rect">
            <a:avLst/>
          </a:prstGeom>
          <a:noFill/>
        </p:spPr>
        <p:txBody>
          <a:bodyPr vert="horz" wrap="square" lIns="0" tIns="0" rIns="0" bIns="0" rtlCol="0">
            <a:noAutofit/>
          </a:bodyPr>
          <a:lstStyle/>
          <a:p>
            <a:pPr>
              <a:lnSpc>
                <a:spcPct val="115000"/>
              </a:lnSpc>
            </a:pPr>
            <a:r>
              <a:rPr lang="fr-FR" sz="1250">
                <a:solidFill>
                  <a:srgbClr val="9CA9B6"/>
                </a:solidFill>
                <a:latin typeface="Manrope" pitchFamily="2" charset="0"/>
              </a:rPr>
              <a:t>Accès réservé, pages paginées</a:t>
            </a:r>
          </a:p>
        </p:txBody>
      </p:sp>
    </p:spTree>
    <p:extLst>
      <p:ext uri="{BB962C8B-B14F-4D97-AF65-F5344CB8AC3E}">
        <p14:creationId xmlns:p14="http://schemas.microsoft.com/office/powerpoint/2010/main" val="335191002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15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par>
                                <p:cTn id="11" presetID="10" presetClass="entr" presetSubtype="0" fill="hold" grpId="0" nodeType="withEffect">
                                  <p:stCondLst>
                                    <p:cond delay="45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childTnLst>
                                </p:cTn>
                              </p:par>
                              <p:par>
                                <p:cTn id="14" presetID="10" presetClass="entr" presetSubtype="0" fill="hold" grpId="0" nodeType="withEffect">
                                  <p:stCondLst>
                                    <p:cond delay="45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childTnLst>
                                </p:cTn>
                              </p:par>
                              <p:par>
                                <p:cTn id="17" presetID="10" presetClass="entr" presetSubtype="0" fill="hold" grpId="0" nodeType="withEffect">
                                  <p:stCondLst>
                                    <p:cond delay="45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childTnLst>
                                </p:cTn>
                              </p:par>
                              <p:par>
                                <p:cTn id="20" presetID="10" presetClass="entr" presetSubtype="0" fill="hold" grpId="0" nodeType="withEffect">
                                  <p:stCondLst>
                                    <p:cond delay="45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par>
                                <p:cTn id="23" presetID="10" presetClass="entr" presetSubtype="0" fill="hold" grpId="0" nodeType="withEffect">
                                  <p:stCondLst>
                                    <p:cond delay="45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childTnLst>
                                </p:cTn>
                              </p:par>
                              <p:par>
                                <p:cTn id="26" presetID="10" presetClass="entr" presetSubtype="0" fill="hold" grpId="0" nodeType="withEffect">
                                  <p:stCondLst>
                                    <p:cond delay="45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500"/>
                                        <p:tgtEl>
                                          <p:spTgt spid="9"/>
                                        </p:tgtEl>
                                      </p:cBhvr>
                                    </p:animEffect>
                                  </p:childTnLst>
                                </p:cTn>
                              </p:par>
                              <p:par>
                                <p:cTn id="29" presetID="10" presetClass="entr" presetSubtype="0" fill="hold" grpId="0" nodeType="withEffect">
                                  <p:stCondLst>
                                    <p:cond delay="45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500"/>
                                        <p:tgtEl>
                                          <p:spTgt spid="10"/>
                                        </p:tgtEl>
                                      </p:cBhvr>
                                    </p:animEffect>
                                  </p:childTnLst>
                                </p:cTn>
                              </p:par>
                              <p:par>
                                <p:cTn id="32" presetID="10" presetClass="entr" presetSubtype="0" fill="hold" grpId="0" nodeType="withEffect">
                                  <p:stCondLst>
                                    <p:cond delay="45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500"/>
                                        <p:tgtEl>
                                          <p:spTgt spid="11"/>
                                        </p:tgtEl>
                                      </p:cBhvr>
                                    </p:animEffect>
                                  </p:childTnLst>
                                </p:cTn>
                              </p:par>
                              <p:par>
                                <p:cTn id="35" presetID="10" presetClass="entr" presetSubtype="0" fill="hold" grpId="0" nodeType="withEffect">
                                  <p:stCondLst>
                                    <p:cond delay="45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500"/>
                                        <p:tgtEl>
                                          <p:spTgt spid="12"/>
                                        </p:tgtEl>
                                      </p:cBhvr>
                                    </p:animEffect>
                                  </p:childTnLst>
                                </p:cTn>
                              </p:par>
                              <p:par>
                                <p:cTn id="38" presetID="10" presetClass="entr" presetSubtype="0" fill="hold" grpId="0" nodeType="withEffect">
                                  <p:stCondLst>
                                    <p:cond delay="75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00"/>
                                        <p:tgtEl>
                                          <p:spTgt spid="13"/>
                                        </p:tgtEl>
                                      </p:cBhvr>
                                    </p:animEffect>
                                  </p:childTnLst>
                                </p:cTn>
                              </p:par>
                              <p:par>
                                <p:cTn id="41" presetID="10" presetClass="entr" presetSubtype="0" fill="hold" grpId="0" nodeType="withEffect">
                                  <p:stCondLst>
                                    <p:cond delay="75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500"/>
                                        <p:tgtEl>
                                          <p:spTgt spid="14"/>
                                        </p:tgtEl>
                                      </p:cBhvr>
                                    </p:animEffect>
                                  </p:childTnLst>
                                </p:cTn>
                              </p:par>
                              <p:par>
                                <p:cTn id="44" presetID="10" presetClass="entr" presetSubtype="0" fill="hold" grpId="0" nodeType="withEffect">
                                  <p:stCondLst>
                                    <p:cond delay="75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00"/>
                                        <p:tgtEl>
                                          <p:spTgt spid="15"/>
                                        </p:tgtEl>
                                      </p:cBhvr>
                                    </p:animEffect>
                                  </p:childTnLst>
                                </p:cTn>
                              </p:par>
                              <p:par>
                                <p:cTn id="47" presetID="10" presetClass="entr" presetSubtype="0" fill="hold" grpId="0" nodeType="withEffect">
                                  <p:stCondLst>
                                    <p:cond delay="75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500"/>
                                        <p:tgtEl>
                                          <p:spTgt spid="16"/>
                                        </p:tgtEl>
                                      </p:cBhvr>
                                    </p:animEffect>
                                  </p:childTnLst>
                                </p:cTn>
                              </p:par>
                              <p:par>
                                <p:cTn id="50" presetID="10" presetClass="entr" presetSubtype="0" fill="hold" grpId="0" nodeType="withEffect">
                                  <p:stCondLst>
                                    <p:cond delay="75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00"/>
                                        <p:tgtEl>
                                          <p:spTgt spid="17"/>
                                        </p:tgtEl>
                                      </p:cBhvr>
                                    </p:animEffect>
                                  </p:childTnLst>
                                </p:cTn>
                              </p:par>
                              <p:par>
                                <p:cTn id="53" presetID="10" presetClass="entr" presetSubtype="0" fill="hold" grpId="0" nodeType="withEffect">
                                  <p:stCondLst>
                                    <p:cond delay="75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500"/>
                                        <p:tgtEl>
                                          <p:spTgt spid="18"/>
                                        </p:tgtEl>
                                      </p:cBhvr>
                                    </p:animEffect>
                                  </p:childTnLst>
                                </p:cTn>
                              </p:par>
                              <p:par>
                                <p:cTn id="56" presetID="10" presetClass="entr" presetSubtype="0" fill="hold" grpId="0" nodeType="withEffect">
                                  <p:stCondLst>
                                    <p:cond delay="75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500"/>
                                        <p:tgtEl>
                                          <p:spTgt spid="19"/>
                                        </p:tgtEl>
                                      </p:cBhvr>
                                    </p:animEffect>
                                  </p:childTnLst>
                                </p:cTn>
                              </p:par>
                              <p:par>
                                <p:cTn id="59" presetID="10" presetClass="entr" presetSubtype="0" fill="hold" grpId="0" nodeType="withEffect">
                                  <p:stCondLst>
                                    <p:cond delay="75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500"/>
                                        <p:tgtEl>
                                          <p:spTgt spid="20"/>
                                        </p:tgtEl>
                                      </p:cBhvr>
                                    </p:animEffect>
                                  </p:childTnLst>
                                </p:cTn>
                              </p:par>
                              <p:par>
                                <p:cTn id="62" presetID="10" presetClass="entr" presetSubtype="0" fill="hold" grpId="0" nodeType="withEffect">
                                  <p:stCondLst>
                                    <p:cond delay="750"/>
                                  </p:stCondLst>
                                  <p:childTnLst>
                                    <p:set>
                                      <p:cBhvr>
                                        <p:cTn id="63" dur="1" fill="hold">
                                          <p:stCondLst>
                                            <p:cond delay="0"/>
                                          </p:stCondLst>
                                        </p:cTn>
                                        <p:tgtEl>
                                          <p:spTgt spid="21"/>
                                        </p:tgtEl>
                                        <p:attrNameLst>
                                          <p:attrName>style.visibility</p:attrName>
                                        </p:attrNameLst>
                                      </p:cBhvr>
                                      <p:to>
                                        <p:strVal val="visible"/>
                                      </p:to>
                                    </p:set>
                                    <p:animEffect transition="in" filter="fade">
                                      <p:cBhvr>
                                        <p:cTn id="64" dur="500"/>
                                        <p:tgtEl>
                                          <p:spTgt spid="21"/>
                                        </p:tgtEl>
                                      </p:cBhvr>
                                    </p:animEffect>
                                  </p:childTnLst>
                                </p:cTn>
                              </p:par>
                              <p:par>
                                <p:cTn id="65" presetID="10" presetClass="entr" presetSubtype="0" fill="hold" grpId="0" nodeType="withEffect">
                                  <p:stCondLst>
                                    <p:cond delay="105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500"/>
                                        <p:tgtEl>
                                          <p:spTgt spid="22"/>
                                        </p:tgtEl>
                                      </p:cBhvr>
                                    </p:animEffect>
                                  </p:childTnLst>
                                </p:cTn>
                              </p:par>
                              <p:par>
                                <p:cTn id="68" presetID="10" presetClass="entr" presetSubtype="0" fill="hold" grpId="0" nodeType="withEffect">
                                  <p:stCondLst>
                                    <p:cond delay="1050"/>
                                  </p:stCondLst>
                                  <p:childTnLst>
                                    <p:set>
                                      <p:cBhvr>
                                        <p:cTn id="69" dur="1" fill="hold">
                                          <p:stCondLst>
                                            <p:cond delay="0"/>
                                          </p:stCondLst>
                                        </p:cTn>
                                        <p:tgtEl>
                                          <p:spTgt spid="23"/>
                                        </p:tgtEl>
                                        <p:attrNameLst>
                                          <p:attrName>style.visibility</p:attrName>
                                        </p:attrNameLst>
                                      </p:cBhvr>
                                      <p:to>
                                        <p:strVal val="visible"/>
                                      </p:to>
                                    </p:set>
                                    <p:animEffect transition="in" filter="fade">
                                      <p:cBhvr>
                                        <p:cTn id="70" dur="500"/>
                                        <p:tgtEl>
                                          <p:spTgt spid="23"/>
                                        </p:tgtEl>
                                      </p:cBhvr>
                                    </p:animEffect>
                                  </p:childTnLst>
                                </p:cTn>
                              </p:par>
                              <p:par>
                                <p:cTn id="71" presetID="10" presetClass="entr" presetSubtype="0" fill="hold" grpId="0" nodeType="withEffect">
                                  <p:stCondLst>
                                    <p:cond delay="1050"/>
                                  </p:stCondLst>
                                  <p:childTnLst>
                                    <p:set>
                                      <p:cBhvr>
                                        <p:cTn id="72" dur="1" fill="hold">
                                          <p:stCondLst>
                                            <p:cond delay="0"/>
                                          </p:stCondLst>
                                        </p:cTn>
                                        <p:tgtEl>
                                          <p:spTgt spid="24"/>
                                        </p:tgtEl>
                                        <p:attrNameLst>
                                          <p:attrName>style.visibility</p:attrName>
                                        </p:attrNameLst>
                                      </p:cBhvr>
                                      <p:to>
                                        <p:strVal val="visible"/>
                                      </p:to>
                                    </p:set>
                                    <p:animEffect transition="in" filter="fade">
                                      <p:cBhvr>
                                        <p:cTn id="73" dur="500"/>
                                        <p:tgtEl>
                                          <p:spTgt spid="24"/>
                                        </p:tgtEl>
                                      </p:cBhvr>
                                    </p:animEffect>
                                  </p:childTnLst>
                                </p:cTn>
                              </p:par>
                              <p:par>
                                <p:cTn id="74" presetID="10" presetClass="entr" presetSubtype="0" fill="hold" grpId="0" nodeType="withEffect">
                                  <p:stCondLst>
                                    <p:cond delay="1050"/>
                                  </p:stCondLst>
                                  <p:childTnLst>
                                    <p:set>
                                      <p:cBhvr>
                                        <p:cTn id="75" dur="1" fill="hold">
                                          <p:stCondLst>
                                            <p:cond delay="0"/>
                                          </p:stCondLst>
                                        </p:cTn>
                                        <p:tgtEl>
                                          <p:spTgt spid="25"/>
                                        </p:tgtEl>
                                        <p:attrNameLst>
                                          <p:attrName>style.visibility</p:attrName>
                                        </p:attrNameLst>
                                      </p:cBhvr>
                                      <p:to>
                                        <p:strVal val="visible"/>
                                      </p:to>
                                    </p:set>
                                    <p:animEffect transition="in" filter="fade">
                                      <p:cBhvr>
                                        <p:cTn id="76" dur="500"/>
                                        <p:tgtEl>
                                          <p:spTgt spid="25"/>
                                        </p:tgtEl>
                                      </p:cBhvr>
                                    </p:animEffect>
                                  </p:childTnLst>
                                </p:cTn>
                              </p:par>
                              <p:par>
                                <p:cTn id="77" presetID="10" presetClass="entr" presetSubtype="0" fill="hold" grpId="0" nodeType="withEffect">
                                  <p:stCondLst>
                                    <p:cond delay="1050"/>
                                  </p:stCondLst>
                                  <p:childTnLst>
                                    <p:set>
                                      <p:cBhvr>
                                        <p:cTn id="78" dur="1" fill="hold">
                                          <p:stCondLst>
                                            <p:cond delay="0"/>
                                          </p:stCondLst>
                                        </p:cTn>
                                        <p:tgtEl>
                                          <p:spTgt spid="26"/>
                                        </p:tgtEl>
                                        <p:attrNameLst>
                                          <p:attrName>style.visibility</p:attrName>
                                        </p:attrNameLst>
                                      </p:cBhvr>
                                      <p:to>
                                        <p:strVal val="visible"/>
                                      </p:to>
                                    </p:set>
                                    <p:animEffect transition="in" filter="fade">
                                      <p:cBhvr>
                                        <p:cTn id="79" dur="500"/>
                                        <p:tgtEl>
                                          <p:spTgt spid="26"/>
                                        </p:tgtEl>
                                      </p:cBhvr>
                                    </p:animEffect>
                                  </p:childTnLst>
                                </p:cTn>
                              </p:par>
                              <p:par>
                                <p:cTn id="80" presetID="10" presetClass="entr" presetSubtype="0" fill="hold" grpId="0" nodeType="withEffect">
                                  <p:stCondLst>
                                    <p:cond delay="1050"/>
                                  </p:stCondLst>
                                  <p:childTnLst>
                                    <p:set>
                                      <p:cBhvr>
                                        <p:cTn id="81" dur="1" fill="hold">
                                          <p:stCondLst>
                                            <p:cond delay="0"/>
                                          </p:stCondLst>
                                        </p:cTn>
                                        <p:tgtEl>
                                          <p:spTgt spid="27"/>
                                        </p:tgtEl>
                                        <p:attrNameLst>
                                          <p:attrName>style.visibility</p:attrName>
                                        </p:attrNameLst>
                                      </p:cBhvr>
                                      <p:to>
                                        <p:strVal val="visible"/>
                                      </p:to>
                                    </p:set>
                                    <p:animEffect transition="in" filter="fade">
                                      <p:cBhvr>
                                        <p:cTn id="82" dur="500"/>
                                        <p:tgtEl>
                                          <p:spTgt spid="27"/>
                                        </p:tgtEl>
                                      </p:cBhvr>
                                    </p:animEffect>
                                  </p:childTnLst>
                                </p:cTn>
                              </p:par>
                              <p:par>
                                <p:cTn id="83" presetID="10" presetClass="entr" presetSubtype="0" fill="hold" grpId="0" nodeType="withEffect">
                                  <p:stCondLst>
                                    <p:cond delay="1050"/>
                                  </p:stCondLst>
                                  <p:childTnLst>
                                    <p:set>
                                      <p:cBhvr>
                                        <p:cTn id="84" dur="1" fill="hold">
                                          <p:stCondLst>
                                            <p:cond delay="0"/>
                                          </p:stCondLst>
                                        </p:cTn>
                                        <p:tgtEl>
                                          <p:spTgt spid="28"/>
                                        </p:tgtEl>
                                        <p:attrNameLst>
                                          <p:attrName>style.visibility</p:attrName>
                                        </p:attrNameLst>
                                      </p:cBhvr>
                                      <p:to>
                                        <p:strVal val="visible"/>
                                      </p:to>
                                    </p:set>
                                    <p:animEffect transition="in" filter="fade">
                                      <p:cBhvr>
                                        <p:cTn id="85" dur="500"/>
                                        <p:tgtEl>
                                          <p:spTgt spid="28"/>
                                        </p:tgtEl>
                                      </p:cBhvr>
                                    </p:animEffect>
                                  </p:childTnLst>
                                </p:cTn>
                              </p:par>
                              <p:par>
                                <p:cTn id="86" presetID="10" presetClass="entr" presetSubtype="0" fill="hold" grpId="0" nodeType="withEffect">
                                  <p:stCondLst>
                                    <p:cond delay="1050"/>
                                  </p:stCondLst>
                                  <p:childTnLst>
                                    <p:set>
                                      <p:cBhvr>
                                        <p:cTn id="87" dur="1" fill="hold">
                                          <p:stCondLst>
                                            <p:cond delay="0"/>
                                          </p:stCondLst>
                                        </p:cTn>
                                        <p:tgtEl>
                                          <p:spTgt spid="29"/>
                                        </p:tgtEl>
                                        <p:attrNameLst>
                                          <p:attrName>style.visibility</p:attrName>
                                        </p:attrNameLst>
                                      </p:cBhvr>
                                      <p:to>
                                        <p:strVal val="visible"/>
                                      </p:to>
                                    </p:set>
                                    <p:animEffect transition="in" filter="fade">
                                      <p:cBhvr>
                                        <p:cTn id="88" dur="500"/>
                                        <p:tgtEl>
                                          <p:spTgt spid="29"/>
                                        </p:tgtEl>
                                      </p:cBhvr>
                                    </p:animEffect>
                                  </p:childTnLst>
                                </p:cTn>
                              </p:par>
                              <p:par>
                                <p:cTn id="89" presetID="10" presetClass="entr" presetSubtype="0" fill="hold" grpId="0" nodeType="withEffect">
                                  <p:stCondLst>
                                    <p:cond delay="1050"/>
                                  </p:stCondLst>
                                  <p:childTnLst>
                                    <p:set>
                                      <p:cBhvr>
                                        <p:cTn id="90" dur="1" fill="hold">
                                          <p:stCondLst>
                                            <p:cond delay="0"/>
                                          </p:stCondLst>
                                        </p:cTn>
                                        <p:tgtEl>
                                          <p:spTgt spid="30"/>
                                        </p:tgtEl>
                                        <p:attrNameLst>
                                          <p:attrName>style.visibility</p:attrName>
                                        </p:attrNameLst>
                                      </p:cBhvr>
                                      <p:to>
                                        <p:strVal val="visible"/>
                                      </p:to>
                                    </p:set>
                                    <p:animEffect transition="in" filter="fade">
                                      <p:cBhvr>
                                        <p:cTn id="91"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animBg="1"/>
      <p:bldP spid="5" grpId="0"/>
      <p:bldP spid="6" grpId="0"/>
      <p:bldP spid="7" grpId="0" animBg="1"/>
      <p:bldP spid="8" grpId="0"/>
      <p:bldP spid="9" grpId="0" animBg="1"/>
      <p:bldP spid="10" grpId="0"/>
      <p:bldP spid="11" grpId="0" animBg="1"/>
      <p:bldP spid="12" grpId="0"/>
      <p:bldP spid="13" grpId="0" animBg="1"/>
      <p:bldP spid="14" grpId="0"/>
      <p:bldP spid="15" grpId="0"/>
      <p:bldP spid="16" grpId="0" animBg="1"/>
      <p:bldP spid="17" grpId="0"/>
      <p:bldP spid="18" grpId="0" animBg="1"/>
      <p:bldP spid="19" grpId="0"/>
      <p:bldP spid="20" grpId="0" animBg="1"/>
      <p:bldP spid="21" grpId="0"/>
      <p:bldP spid="22" grpId="0" animBg="1"/>
      <p:bldP spid="23" grpId="0"/>
      <p:bldP spid="24" grpId="0"/>
      <p:bldP spid="25" grpId="0" animBg="1"/>
      <p:bldP spid="26" grpId="0"/>
      <p:bldP spid="27" grpId="0" animBg="1"/>
      <p:bldP spid="28" grpId="0"/>
      <p:bldP spid="29" grpId="0" animBg="1"/>
      <p:bldP spid="30" grpId="0"/>
    </p:bld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1016"/>
        </a:solidFill>
        <a:effectLst/>
      </p:bgPr>
    </p:bg>
    <p:spTree>
      <p:nvGrpSpPr>
        <p:cNvPr id="1" name=""/>
        <p:cNvGrpSpPr/>
        <p:nvPr/>
      </p:nvGrpSpPr>
      <p:grpSpPr>
        <a:xfrm>
          <a:off x="0" y="0"/>
          <a:ext cx="0" cy="0"/>
          <a:chOff x="0" y="0"/>
          <a:chExt cx="0" cy="0"/>
        </a:xfrm>
      </p:grpSpPr>
      <p:sp>
        <p:nvSpPr>
          <p:cNvPr id="2" name="ZoneTexte 1">
            <a:extLst>
              <a:ext uri="{FF2B5EF4-FFF2-40B4-BE49-F238E27FC236}">
                <a16:creationId xmlns:a16="http://schemas.microsoft.com/office/drawing/2014/main" id="{A5FF9A63-C840-00D2-A4BA-A3245E4FAF8A}"/>
              </a:ext>
            </a:extLst>
          </p:cNvPr>
          <p:cNvSpPr txBox="1"/>
          <p:nvPr/>
        </p:nvSpPr>
        <p:spPr>
          <a:xfrm>
            <a:off x="914400" y="711200"/>
            <a:ext cx="10363200" cy="369332"/>
          </a:xfrm>
          <a:prstGeom prst="rect">
            <a:avLst/>
          </a:prstGeom>
          <a:noFill/>
        </p:spPr>
        <p:txBody>
          <a:bodyPr vert="horz" wrap="square" lIns="0" tIns="0" rIns="0" bIns="0" rtlCol="0">
            <a:noAutofit/>
          </a:bodyPr>
          <a:lstStyle/>
          <a:p>
            <a:pPr>
              <a:lnSpc>
                <a:spcPct val="115000"/>
              </a:lnSpc>
            </a:pPr>
            <a:r>
              <a:rPr lang="fr-FR" sz="1100" spc="260">
                <a:solidFill>
                  <a:srgbClr val="A9CCE3"/>
                </a:solidFill>
                <a:latin typeface="Manrope SemiBold" pitchFamily="2" charset="0"/>
              </a:rPr>
              <a:t>DÉJÀ EN PLACE</a:t>
            </a:r>
          </a:p>
        </p:txBody>
      </p:sp>
      <p:sp>
        <p:nvSpPr>
          <p:cNvPr id="3" name="ZoneTexte 2">
            <a:extLst>
              <a:ext uri="{FF2B5EF4-FFF2-40B4-BE49-F238E27FC236}">
                <a16:creationId xmlns:a16="http://schemas.microsoft.com/office/drawing/2014/main" id="{F7FFE4B2-A5F6-13F5-036F-7F9959EC31FF}"/>
              </a:ext>
            </a:extLst>
          </p:cNvPr>
          <p:cNvSpPr txBox="1"/>
          <p:nvPr/>
        </p:nvSpPr>
        <p:spPr>
          <a:xfrm>
            <a:off x="914400" y="990600"/>
            <a:ext cx="10363200" cy="369332"/>
          </a:xfrm>
          <a:prstGeom prst="rect">
            <a:avLst/>
          </a:prstGeom>
          <a:noFill/>
        </p:spPr>
        <p:txBody>
          <a:bodyPr vert="horz" wrap="square" lIns="0" tIns="0" rIns="0" bIns="0" rtlCol="0">
            <a:noAutofit/>
          </a:bodyPr>
          <a:lstStyle/>
          <a:p>
            <a:r>
              <a:rPr lang="fr-FR" sz="3600" spc="-50">
                <a:solidFill>
                  <a:srgbClr val="F2F5F8"/>
                </a:solidFill>
                <a:latin typeface="Manrope SemiBold" pitchFamily="2" charset="0"/>
              </a:rPr>
              <a:t>Un catalogue </a:t>
            </a:r>
            <a:r>
              <a:rPr lang="fr-FR" sz="3600" spc="-50">
                <a:gradFill flip="none" rotWithShape="1">
                  <a:gsLst>
                    <a:gs pos="0">
                      <a:srgbClr val="5A93BF"/>
                    </a:gs>
                    <a:gs pos="100000">
                      <a:srgbClr val="A9CCE3"/>
                    </a:gs>
                  </a:gsLst>
                  <a:lin ang="0" scaled="1"/>
                  <a:tileRect/>
                </a:gradFill>
                <a:latin typeface="Manrope SemiBold" pitchFamily="2" charset="0"/>
              </a:rPr>
              <a:t>réel</a:t>
            </a:r>
            <a:r>
              <a:rPr lang="fr-FR" sz="3600" spc="-50">
                <a:solidFill>
                  <a:srgbClr val="F2F5F8"/>
                </a:solidFill>
                <a:latin typeface="Manrope SemiBold" pitchFamily="2" charset="0"/>
              </a:rPr>
              <a:t>, pas une maquette.</a:t>
            </a:r>
          </a:p>
        </p:txBody>
      </p:sp>
      <p:sp>
        <p:nvSpPr>
          <p:cNvPr id="4" name="ZoneTexte 3">
            <a:extLst>
              <a:ext uri="{FF2B5EF4-FFF2-40B4-BE49-F238E27FC236}">
                <a16:creationId xmlns:a16="http://schemas.microsoft.com/office/drawing/2014/main" id="{7666DF5E-FB67-3C6C-4F9E-0B555FB6F28B}"/>
              </a:ext>
            </a:extLst>
          </p:cNvPr>
          <p:cNvSpPr txBox="1"/>
          <p:nvPr/>
        </p:nvSpPr>
        <p:spPr>
          <a:xfrm>
            <a:off x="914400" y="2260600"/>
            <a:ext cx="2540000" cy="369332"/>
          </a:xfrm>
          <a:prstGeom prst="rect">
            <a:avLst/>
          </a:prstGeom>
          <a:noFill/>
        </p:spPr>
        <p:txBody>
          <a:bodyPr vert="horz" wrap="square" lIns="0" tIns="0" rIns="0" bIns="0" rtlCol="0">
            <a:noAutofit/>
          </a:bodyPr>
          <a:lstStyle/>
          <a:p>
            <a:r>
              <a:rPr lang="fr-FR" sz="7600" spc="-200">
                <a:solidFill>
                  <a:srgbClr val="F2F5F8"/>
                </a:solidFill>
                <a:latin typeface="Manrope SemiBold" pitchFamily="2" charset="0"/>
              </a:rPr>
              <a:t>50</a:t>
            </a:r>
          </a:p>
        </p:txBody>
      </p:sp>
      <p:sp>
        <p:nvSpPr>
          <p:cNvPr id="5" name="ZoneTexte 4">
            <a:extLst>
              <a:ext uri="{FF2B5EF4-FFF2-40B4-BE49-F238E27FC236}">
                <a16:creationId xmlns:a16="http://schemas.microsoft.com/office/drawing/2014/main" id="{2787A40E-908D-6E75-B03F-7181C76651A7}"/>
              </a:ext>
            </a:extLst>
          </p:cNvPr>
          <p:cNvSpPr txBox="1"/>
          <p:nvPr/>
        </p:nvSpPr>
        <p:spPr>
          <a:xfrm>
            <a:off x="914400" y="3454400"/>
            <a:ext cx="2540000" cy="369332"/>
          </a:xfrm>
          <a:prstGeom prst="rect">
            <a:avLst/>
          </a:prstGeom>
          <a:noFill/>
        </p:spPr>
        <p:txBody>
          <a:bodyPr vert="horz" wrap="square" lIns="0" tIns="0" rIns="0" bIns="0" rtlCol="0">
            <a:noAutofit/>
          </a:bodyPr>
          <a:lstStyle/>
          <a:p>
            <a:pPr>
              <a:lnSpc>
                <a:spcPct val="115000"/>
              </a:lnSpc>
            </a:pPr>
            <a:r>
              <a:rPr lang="fr-FR">
                <a:solidFill>
                  <a:srgbClr val="A9CCE3"/>
                </a:solidFill>
                <a:latin typeface="Manrope Medium" pitchFamily="2" charset="0"/>
              </a:rPr>
              <a:t>annonces</a:t>
            </a:r>
          </a:p>
        </p:txBody>
      </p:sp>
      <p:sp>
        <p:nvSpPr>
          <p:cNvPr id="6" name="ZoneTexte 5">
            <a:extLst>
              <a:ext uri="{FF2B5EF4-FFF2-40B4-BE49-F238E27FC236}">
                <a16:creationId xmlns:a16="http://schemas.microsoft.com/office/drawing/2014/main" id="{DA0EA17D-D87B-77C3-A571-0A950FE235CC}"/>
              </a:ext>
            </a:extLst>
          </p:cNvPr>
          <p:cNvSpPr txBox="1"/>
          <p:nvPr/>
        </p:nvSpPr>
        <p:spPr>
          <a:xfrm>
            <a:off x="914400" y="3810000"/>
            <a:ext cx="2413000" cy="369332"/>
          </a:xfrm>
          <a:prstGeom prst="rect">
            <a:avLst/>
          </a:prstGeom>
          <a:noFill/>
        </p:spPr>
        <p:txBody>
          <a:bodyPr vert="horz" wrap="square" lIns="0" tIns="0" rIns="0" bIns="0" rtlCol="0">
            <a:noAutofit/>
          </a:bodyPr>
          <a:lstStyle/>
          <a:p>
            <a:pPr>
              <a:lnSpc>
                <a:spcPct val="115000"/>
              </a:lnSpc>
            </a:pPr>
            <a:r>
              <a:rPr lang="en-US" sz="1250">
                <a:solidFill>
                  <a:srgbClr val="9CA9B6"/>
                </a:solidFill>
                <a:latin typeface="Manrope" pitchFamily="2" charset="0"/>
              </a:rPr>
              <a:t>CDI, CDD, stage, alternance, freelance</a:t>
            </a:r>
            <a:endParaRPr lang="fr-FR" sz="1250">
              <a:solidFill>
                <a:srgbClr val="9CA9B6"/>
              </a:solidFill>
              <a:latin typeface="Manrope" pitchFamily="2" charset="0"/>
            </a:endParaRPr>
          </a:p>
        </p:txBody>
      </p:sp>
      <p:sp>
        <p:nvSpPr>
          <p:cNvPr id="7" name="ZoneTexte 6">
            <a:extLst>
              <a:ext uri="{FF2B5EF4-FFF2-40B4-BE49-F238E27FC236}">
                <a16:creationId xmlns:a16="http://schemas.microsoft.com/office/drawing/2014/main" id="{5D519F46-893B-37C2-AA9D-CE59986BAB12}"/>
              </a:ext>
            </a:extLst>
          </p:cNvPr>
          <p:cNvSpPr txBox="1"/>
          <p:nvPr/>
        </p:nvSpPr>
        <p:spPr>
          <a:xfrm>
            <a:off x="3683000" y="2260600"/>
            <a:ext cx="2540000" cy="369332"/>
          </a:xfrm>
          <a:prstGeom prst="rect">
            <a:avLst/>
          </a:prstGeom>
          <a:noFill/>
        </p:spPr>
        <p:txBody>
          <a:bodyPr vert="horz" wrap="square" lIns="0" tIns="0" rIns="0" bIns="0" rtlCol="0">
            <a:noAutofit/>
          </a:bodyPr>
          <a:lstStyle/>
          <a:p>
            <a:r>
              <a:rPr lang="fr-FR" sz="7600" spc="-200">
                <a:solidFill>
                  <a:srgbClr val="F2F5F8"/>
                </a:solidFill>
                <a:latin typeface="Manrope SemiBold" pitchFamily="2" charset="0"/>
              </a:rPr>
              <a:t>10</a:t>
            </a:r>
          </a:p>
        </p:txBody>
      </p:sp>
      <p:sp>
        <p:nvSpPr>
          <p:cNvPr id="8" name="ZoneTexte 7">
            <a:extLst>
              <a:ext uri="{FF2B5EF4-FFF2-40B4-BE49-F238E27FC236}">
                <a16:creationId xmlns:a16="http://schemas.microsoft.com/office/drawing/2014/main" id="{98CC6840-CC20-196D-C410-5AA9CD2ABB34}"/>
              </a:ext>
            </a:extLst>
          </p:cNvPr>
          <p:cNvSpPr txBox="1"/>
          <p:nvPr/>
        </p:nvSpPr>
        <p:spPr>
          <a:xfrm>
            <a:off x="3683000" y="3454400"/>
            <a:ext cx="2540000" cy="369332"/>
          </a:xfrm>
          <a:prstGeom prst="rect">
            <a:avLst/>
          </a:prstGeom>
          <a:noFill/>
        </p:spPr>
        <p:txBody>
          <a:bodyPr vert="horz" wrap="square" lIns="0" tIns="0" rIns="0" bIns="0" rtlCol="0">
            <a:noAutofit/>
          </a:bodyPr>
          <a:lstStyle/>
          <a:p>
            <a:pPr>
              <a:lnSpc>
                <a:spcPct val="115000"/>
              </a:lnSpc>
            </a:pPr>
            <a:r>
              <a:rPr lang="fr-FR">
                <a:solidFill>
                  <a:srgbClr val="A9CCE3"/>
                </a:solidFill>
                <a:latin typeface="Manrope Medium" pitchFamily="2" charset="0"/>
              </a:rPr>
              <a:t>entreprises</a:t>
            </a:r>
          </a:p>
        </p:txBody>
      </p:sp>
      <p:sp>
        <p:nvSpPr>
          <p:cNvPr id="9" name="ZoneTexte 8">
            <a:extLst>
              <a:ext uri="{FF2B5EF4-FFF2-40B4-BE49-F238E27FC236}">
                <a16:creationId xmlns:a16="http://schemas.microsoft.com/office/drawing/2014/main" id="{E360179E-47B6-2232-7A3B-528F2007E9E6}"/>
              </a:ext>
            </a:extLst>
          </p:cNvPr>
          <p:cNvSpPr txBox="1"/>
          <p:nvPr/>
        </p:nvSpPr>
        <p:spPr>
          <a:xfrm>
            <a:off x="3683000" y="3810000"/>
            <a:ext cx="2413000" cy="369332"/>
          </a:xfrm>
          <a:prstGeom prst="rect">
            <a:avLst/>
          </a:prstGeom>
          <a:noFill/>
        </p:spPr>
        <p:txBody>
          <a:bodyPr vert="horz" wrap="square" lIns="0" tIns="0" rIns="0" bIns="0" rtlCol="0">
            <a:noAutofit/>
          </a:bodyPr>
          <a:lstStyle/>
          <a:p>
            <a:pPr>
              <a:lnSpc>
                <a:spcPct val="115000"/>
              </a:lnSpc>
            </a:pPr>
            <a:r>
              <a:rPr lang="fr-FR" sz="1250">
                <a:solidFill>
                  <a:srgbClr val="9CA9B6"/>
                </a:solidFill>
                <a:latin typeface="Manrope" pitchFamily="2" charset="0"/>
              </a:rPr>
              <a:t>chacune identifiée par son SIREN</a:t>
            </a:r>
          </a:p>
        </p:txBody>
      </p:sp>
      <p:sp>
        <p:nvSpPr>
          <p:cNvPr id="10" name="ZoneTexte 9">
            <a:extLst>
              <a:ext uri="{FF2B5EF4-FFF2-40B4-BE49-F238E27FC236}">
                <a16:creationId xmlns:a16="http://schemas.microsoft.com/office/drawing/2014/main" id="{A40F122C-A46E-B3BD-52E3-919D715DEA2C}"/>
              </a:ext>
            </a:extLst>
          </p:cNvPr>
          <p:cNvSpPr txBox="1"/>
          <p:nvPr/>
        </p:nvSpPr>
        <p:spPr>
          <a:xfrm>
            <a:off x="6451600" y="2260600"/>
            <a:ext cx="2540000" cy="369332"/>
          </a:xfrm>
          <a:prstGeom prst="rect">
            <a:avLst/>
          </a:prstGeom>
          <a:noFill/>
        </p:spPr>
        <p:txBody>
          <a:bodyPr vert="horz" wrap="square" lIns="0" tIns="0" rIns="0" bIns="0" rtlCol="0">
            <a:noAutofit/>
          </a:bodyPr>
          <a:lstStyle/>
          <a:p>
            <a:r>
              <a:rPr lang="fr-FR" sz="7600" spc="-200">
                <a:solidFill>
                  <a:srgbClr val="F2F5F8"/>
                </a:solidFill>
                <a:latin typeface="Manrope SemiBold" pitchFamily="2" charset="0"/>
              </a:rPr>
              <a:t>10</a:t>
            </a:r>
          </a:p>
        </p:txBody>
      </p:sp>
      <p:sp>
        <p:nvSpPr>
          <p:cNvPr id="11" name="ZoneTexte 10">
            <a:extLst>
              <a:ext uri="{FF2B5EF4-FFF2-40B4-BE49-F238E27FC236}">
                <a16:creationId xmlns:a16="http://schemas.microsoft.com/office/drawing/2014/main" id="{15213E4B-21D9-749A-8715-2B7B46EA847B}"/>
              </a:ext>
            </a:extLst>
          </p:cNvPr>
          <p:cNvSpPr txBox="1"/>
          <p:nvPr/>
        </p:nvSpPr>
        <p:spPr>
          <a:xfrm>
            <a:off x="6451600" y="3454400"/>
            <a:ext cx="2540000" cy="369332"/>
          </a:xfrm>
          <a:prstGeom prst="rect">
            <a:avLst/>
          </a:prstGeom>
          <a:noFill/>
        </p:spPr>
        <p:txBody>
          <a:bodyPr vert="horz" wrap="square" lIns="0" tIns="0" rIns="0" bIns="0" rtlCol="0">
            <a:noAutofit/>
          </a:bodyPr>
          <a:lstStyle/>
          <a:p>
            <a:pPr>
              <a:lnSpc>
                <a:spcPct val="115000"/>
              </a:lnSpc>
            </a:pPr>
            <a:r>
              <a:rPr lang="fr-FR">
                <a:solidFill>
                  <a:srgbClr val="A9CCE3"/>
                </a:solidFill>
                <a:latin typeface="Manrope Medium" pitchFamily="2" charset="0"/>
              </a:rPr>
              <a:t>villes</a:t>
            </a:r>
          </a:p>
        </p:txBody>
      </p:sp>
      <p:sp>
        <p:nvSpPr>
          <p:cNvPr id="12" name="ZoneTexte 11">
            <a:extLst>
              <a:ext uri="{FF2B5EF4-FFF2-40B4-BE49-F238E27FC236}">
                <a16:creationId xmlns:a16="http://schemas.microsoft.com/office/drawing/2014/main" id="{0C3744CF-3213-206D-C93C-9DED8818B62F}"/>
              </a:ext>
            </a:extLst>
          </p:cNvPr>
          <p:cNvSpPr txBox="1"/>
          <p:nvPr/>
        </p:nvSpPr>
        <p:spPr>
          <a:xfrm>
            <a:off x="6451600" y="3810000"/>
            <a:ext cx="2413000" cy="369332"/>
          </a:xfrm>
          <a:prstGeom prst="rect">
            <a:avLst/>
          </a:prstGeom>
          <a:noFill/>
        </p:spPr>
        <p:txBody>
          <a:bodyPr vert="horz" wrap="square" lIns="0" tIns="0" rIns="0" bIns="0" rtlCol="0">
            <a:noAutofit/>
          </a:bodyPr>
          <a:lstStyle/>
          <a:p>
            <a:pPr>
              <a:lnSpc>
                <a:spcPct val="115000"/>
              </a:lnSpc>
            </a:pPr>
            <a:r>
              <a:rPr lang="fr-FR" sz="1250">
                <a:solidFill>
                  <a:srgbClr val="9CA9B6"/>
                </a:solidFill>
                <a:latin typeface="Manrope" pitchFamily="2" charset="0"/>
              </a:rPr>
              <a:t>de Lille à Marseille</a:t>
            </a:r>
          </a:p>
        </p:txBody>
      </p:sp>
      <p:sp>
        <p:nvSpPr>
          <p:cNvPr id="13" name="ZoneTexte 12">
            <a:extLst>
              <a:ext uri="{FF2B5EF4-FFF2-40B4-BE49-F238E27FC236}">
                <a16:creationId xmlns:a16="http://schemas.microsoft.com/office/drawing/2014/main" id="{2DE608DD-C730-6E04-0A97-B4638A6EA06A}"/>
              </a:ext>
            </a:extLst>
          </p:cNvPr>
          <p:cNvSpPr txBox="1"/>
          <p:nvPr/>
        </p:nvSpPr>
        <p:spPr>
          <a:xfrm>
            <a:off x="9220200" y="2260600"/>
            <a:ext cx="2540000" cy="369332"/>
          </a:xfrm>
          <a:prstGeom prst="rect">
            <a:avLst/>
          </a:prstGeom>
          <a:noFill/>
        </p:spPr>
        <p:txBody>
          <a:bodyPr vert="horz" wrap="square" lIns="0" tIns="0" rIns="0" bIns="0" rtlCol="0">
            <a:noAutofit/>
          </a:bodyPr>
          <a:lstStyle/>
          <a:p>
            <a:r>
              <a:rPr lang="fr-FR" sz="7600" spc="-200">
                <a:solidFill>
                  <a:srgbClr val="F2F5F8"/>
                </a:solidFill>
                <a:latin typeface="Manrope SemiBold" pitchFamily="2" charset="0"/>
              </a:rPr>
              <a:t>6</a:t>
            </a:r>
          </a:p>
        </p:txBody>
      </p:sp>
      <p:sp>
        <p:nvSpPr>
          <p:cNvPr id="14" name="ZoneTexte 13">
            <a:extLst>
              <a:ext uri="{FF2B5EF4-FFF2-40B4-BE49-F238E27FC236}">
                <a16:creationId xmlns:a16="http://schemas.microsoft.com/office/drawing/2014/main" id="{36098E9B-106B-606D-DC8A-6F6430B48EFE}"/>
              </a:ext>
            </a:extLst>
          </p:cNvPr>
          <p:cNvSpPr txBox="1"/>
          <p:nvPr/>
        </p:nvSpPr>
        <p:spPr>
          <a:xfrm>
            <a:off x="9220200" y="3454400"/>
            <a:ext cx="2540000" cy="369332"/>
          </a:xfrm>
          <a:prstGeom prst="rect">
            <a:avLst/>
          </a:prstGeom>
          <a:noFill/>
        </p:spPr>
        <p:txBody>
          <a:bodyPr vert="horz" wrap="square" lIns="0" tIns="0" rIns="0" bIns="0" rtlCol="0">
            <a:noAutofit/>
          </a:bodyPr>
          <a:lstStyle/>
          <a:p>
            <a:pPr>
              <a:lnSpc>
                <a:spcPct val="115000"/>
              </a:lnSpc>
            </a:pPr>
            <a:r>
              <a:rPr lang="fr-FR">
                <a:solidFill>
                  <a:srgbClr val="A9CCE3"/>
                </a:solidFill>
                <a:latin typeface="Manrope Medium" pitchFamily="2" charset="0"/>
              </a:rPr>
              <a:t>métiers</a:t>
            </a:r>
          </a:p>
        </p:txBody>
      </p:sp>
      <p:sp>
        <p:nvSpPr>
          <p:cNvPr id="15" name="ZoneTexte 14">
            <a:extLst>
              <a:ext uri="{FF2B5EF4-FFF2-40B4-BE49-F238E27FC236}">
                <a16:creationId xmlns:a16="http://schemas.microsoft.com/office/drawing/2014/main" id="{CC2EBC0F-19B9-38EF-6515-E3EBA273DE62}"/>
              </a:ext>
            </a:extLst>
          </p:cNvPr>
          <p:cNvSpPr txBox="1"/>
          <p:nvPr/>
        </p:nvSpPr>
        <p:spPr>
          <a:xfrm>
            <a:off x="9220200" y="3810000"/>
            <a:ext cx="2413000" cy="369332"/>
          </a:xfrm>
          <a:prstGeom prst="rect">
            <a:avLst/>
          </a:prstGeom>
          <a:noFill/>
        </p:spPr>
        <p:txBody>
          <a:bodyPr vert="horz" wrap="square" lIns="0" tIns="0" rIns="0" bIns="0" rtlCol="0">
            <a:noAutofit/>
          </a:bodyPr>
          <a:lstStyle/>
          <a:p>
            <a:pPr>
              <a:lnSpc>
                <a:spcPct val="115000"/>
              </a:lnSpc>
            </a:pPr>
            <a:r>
              <a:rPr lang="fr-FR" sz="1250">
                <a:solidFill>
                  <a:srgbClr val="9CA9B6"/>
                </a:solidFill>
                <a:latin typeface="Manrope" pitchFamily="2" charset="0"/>
              </a:rPr>
              <a:t>du développement au support</a:t>
            </a:r>
          </a:p>
        </p:txBody>
      </p:sp>
      <p:sp>
        <p:nvSpPr>
          <p:cNvPr id="16" name="Rectangle 15">
            <a:extLst>
              <a:ext uri="{FF2B5EF4-FFF2-40B4-BE49-F238E27FC236}">
                <a16:creationId xmlns:a16="http://schemas.microsoft.com/office/drawing/2014/main" id="{1AD1BFFF-F33C-BFA2-214F-7F0E562356C3}"/>
              </a:ext>
            </a:extLst>
          </p:cNvPr>
          <p:cNvSpPr/>
          <p:nvPr/>
        </p:nvSpPr>
        <p:spPr>
          <a:xfrm>
            <a:off x="914400" y="4902200"/>
            <a:ext cx="10363200" cy="9525"/>
          </a:xfrm>
          <a:prstGeom prst="rect">
            <a:avLst/>
          </a:prstGeom>
          <a:solidFill>
            <a:srgbClr val="24304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ZoneTexte 16">
            <a:extLst>
              <a:ext uri="{FF2B5EF4-FFF2-40B4-BE49-F238E27FC236}">
                <a16:creationId xmlns:a16="http://schemas.microsoft.com/office/drawing/2014/main" id="{489CA362-85A1-4995-4FA7-141A29C37D0E}"/>
              </a:ext>
            </a:extLst>
          </p:cNvPr>
          <p:cNvSpPr txBox="1"/>
          <p:nvPr/>
        </p:nvSpPr>
        <p:spPr>
          <a:xfrm>
            <a:off x="914400" y="5130800"/>
            <a:ext cx="10363200" cy="369332"/>
          </a:xfrm>
          <a:prstGeom prst="rect">
            <a:avLst/>
          </a:prstGeom>
          <a:noFill/>
        </p:spPr>
        <p:txBody>
          <a:bodyPr vert="horz" wrap="square" lIns="0" tIns="0" rIns="0" bIns="0" rtlCol="0">
            <a:noAutofit/>
          </a:bodyPr>
          <a:lstStyle/>
          <a:p>
            <a:pPr>
              <a:lnSpc>
                <a:spcPct val="115000"/>
              </a:lnSpc>
            </a:pPr>
            <a:r>
              <a:rPr lang="fr-FR" sz="1400">
                <a:solidFill>
                  <a:srgbClr val="9CA9B6"/>
                </a:solidFill>
                <a:latin typeface="Manrope" pitchFamily="2" charset="0"/>
              </a:rPr>
              <a:t>Des données rédigées par l'équipe et insérées par la plateforme elle-même : ce que vous verrez en démonstration est ce que verrait un candidat.</a:t>
            </a:r>
          </a:p>
        </p:txBody>
      </p:sp>
    </p:spTree>
    <p:extLst>
      <p:ext uri="{BB962C8B-B14F-4D97-AF65-F5344CB8AC3E}">
        <p14:creationId xmlns:p14="http://schemas.microsoft.com/office/powerpoint/2010/main" val="2109293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15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par>
                                <p:cTn id="11" presetID="10" presetClass="entr" presetSubtype="0" fill="hold" grpId="0" nodeType="withEffect">
                                  <p:stCondLst>
                                    <p:cond delay="45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childTnLst>
                                </p:cTn>
                              </p:par>
                              <p:par>
                                <p:cTn id="14" presetID="10" presetClass="entr" presetSubtype="0" fill="hold" grpId="0" nodeType="withEffect">
                                  <p:stCondLst>
                                    <p:cond delay="45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childTnLst>
                                </p:cTn>
                              </p:par>
                              <p:par>
                                <p:cTn id="17" presetID="10" presetClass="entr" presetSubtype="0" fill="hold" grpId="0" nodeType="withEffect">
                                  <p:stCondLst>
                                    <p:cond delay="45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childTnLst>
                                </p:cTn>
                              </p:par>
                              <p:par>
                                <p:cTn id="20" presetID="10" presetClass="entr" presetSubtype="0" fill="hold" grpId="0" nodeType="withEffect">
                                  <p:stCondLst>
                                    <p:cond delay="75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par>
                                <p:cTn id="23" presetID="10" presetClass="entr" presetSubtype="0" fill="hold" grpId="0" nodeType="withEffect">
                                  <p:stCondLst>
                                    <p:cond delay="75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childTnLst>
                                </p:cTn>
                              </p:par>
                              <p:par>
                                <p:cTn id="26" presetID="10" presetClass="entr" presetSubtype="0" fill="hold" grpId="0" nodeType="withEffect">
                                  <p:stCondLst>
                                    <p:cond delay="75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500"/>
                                        <p:tgtEl>
                                          <p:spTgt spid="9"/>
                                        </p:tgtEl>
                                      </p:cBhvr>
                                    </p:animEffect>
                                  </p:childTnLst>
                                </p:cTn>
                              </p:par>
                              <p:par>
                                <p:cTn id="29" presetID="10" presetClass="entr" presetSubtype="0" fill="hold" grpId="0" nodeType="withEffect">
                                  <p:stCondLst>
                                    <p:cond delay="105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500"/>
                                        <p:tgtEl>
                                          <p:spTgt spid="10"/>
                                        </p:tgtEl>
                                      </p:cBhvr>
                                    </p:animEffect>
                                  </p:childTnLst>
                                </p:cTn>
                              </p:par>
                              <p:par>
                                <p:cTn id="32" presetID="10" presetClass="entr" presetSubtype="0" fill="hold" grpId="0" nodeType="withEffect">
                                  <p:stCondLst>
                                    <p:cond delay="105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500"/>
                                        <p:tgtEl>
                                          <p:spTgt spid="11"/>
                                        </p:tgtEl>
                                      </p:cBhvr>
                                    </p:animEffect>
                                  </p:childTnLst>
                                </p:cTn>
                              </p:par>
                              <p:par>
                                <p:cTn id="35" presetID="10" presetClass="entr" presetSubtype="0" fill="hold" grpId="0" nodeType="withEffect">
                                  <p:stCondLst>
                                    <p:cond delay="105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500"/>
                                        <p:tgtEl>
                                          <p:spTgt spid="12"/>
                                        </p:tgtEl>
                                      </p:cBhvr>
                                    </p:animEffect>
                                  </p:childTnLst>
                                </p:cTn>
                              </p:par>
                              <p:par>
                                <p:cTn id="38" presetID="10" presetClass="entr" presetSubtype="0" fill="hold" grpId="0" nodeType="withEffect">
                                  <p:stCondLst>
                                    <p:cond delay="135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00"/>
                                        <p:tgtEl>
                                          <p:spTgt spid="13"/>
                                        </p:tgtEl>
                                      </p:cBhvr>
                                    </p:animEffect>
                                  </p:childTnLst>
                                </p:cTn>
                              </p:par>
                              <p:par>
                                <p:cTn id="41" presetID="10" presetClass="entr" presetSubtype="0" fill="hold" grpId="0" nodeType="withEffect">
                                  <p:stCondLst>
                                    <p:cond delay="135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500"/>
                                        <p:tgtEl>
                                          <p:spTgt spid="14"/>
                                        </p:tgtEl>
                                      </p:cBhvr>
                                    </p:animEffect>
                                  </p:childTnLst>
                                </p:cTn>
                              </p:par>
                              <p:par>
                                <p:cTn id="44" presetID="10" presetClass="entr" presetSubtype="0" fill="hold" grpId="0" nodeType="withEffect">
                                  <p:stCondLst>
                                    <p:cond delay="135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00"/>
                                        <p:tgtEl>
                                          <p:spTgt spid="15"/>
                                        </p:tgtEl>
                                      </p:cBhvr>
                                    </p:animEffect>
                                  </p:childTnLst>
                                </p:cTn>
                              </p:par>
                              <p:par>
                                <p:cTn id="47" presetID="10" presetClass="entr" presetSubtype="0" fill="hold" grpId="0" nodeType="withEffect">
                                  <p:stCondLst>
                                    <p:cond delay="165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500"/>
                                        <p:tgtEl>
                                          <p:spTgt spid="16"/>
                                        </p:tgtEl>
                                      </p:cBhvr>
                                    </p:animEffect>
                                  </p:childTnLst>
                                </p:cTn>
                              </p:par>
                              <p:par>
                                <p:cTn id="50" presetID="10" presetClass="entr" presetSubtype="0" fill="hold" grpId="0" nodeType="withEffect">
                                  <p:stCondLst>
                                    <p:cond delay="165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P spid="5" grpId="0"/>
      <p:bldP spid="6" grpId="0"/>
      <p:bldP spid="7" grpId="0"/>
      <p:bldP spid="8" grpId="0"/>
      <p:bldP spid="9" grpId="0"/>
      <p:bldP spid="10" grpId="0"/>
      <p:bldP spid="11" grpId="0"/>
      <p:bldP spid="12" grpId="0"/>
      <p:bldP spid="13" grpId="0"/>
      <p:bldP spid="14" grpId="0"/>
      <p:bldP spid="15" grpId="0"/>
      <p:bldP spid="16" grpId="0" animBg="1"/>
      <p:bldP spid="17" grpId="0"/>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1016"/>
        </a:solidFill>
        <a:effectLst/>
      </p:bgPr>
    </p:bg>
    <p:spTree>
      <p:nvGrpSpPr>
        <p:cNvPr id="1" name=""/>
        <p:cNvGrpSpPr/>
        <p:nvPr/>
      </p:nvGrpSpPr>
      <p:grpSpPr>
        <a:xfrm>
          <a:off x="0" y="0"/>
          <a:ext cx="0" cy="0"/>
          <a:chOff x="0" y="0"/>
          <a:chExt cx="0" cy="0"/>
        </a:xfrm>
      </p:grpSpPr>
      <p:sp>
        <p:nvSpPr>
          <p:cNvPr id="2" name="ZoneTexte 1">
            <a:extLst>
              <a:ext uri="{FF2B5EF4-FFF2-40B4-BE49-F238E27FC236}">
                <a16:creationId xmlns:a16="http://schemas.microsoft.com/office/drawing/2014/main" id="{F8C49B02-AC47-AA2C-ABDD-76DBF51AE21A}"/>
              </a:ext>
            </a:extLst>
          </p:cNvPr>
          <p:cNvSpPr txBox="1"/>
          <p:nvPr/>
        </p:nvSpPr>
        <p:spPr>
          <a:xfrm>
            <a:off x="914400" y="711200"/>
            <a:ext cx="10363200" cy="369332"/>
          </a:xfrm>
          <a:prstGeom prst="rect">
            <a:avLst/>
          </a:prstGeom>
          <a:noFill/>
        </p:spPr>
        <p:txBody>
          <a:bodyPr vert="horz" wrap="square" lIns="0" tIns="0" rIns="0" bIns="0" rtlCol="0">
            <a:noAutofit/>
          </a:bodyPr>
          <a:lstStyle/>
          <a:p>
            <a:pPr>
              <a:lnSpc>
                <a:spcPct val="115000"/>
              </a:lnSpc>
            </a:pPr>
            <a:r>
              <a:rPr lang="fr-FR" sz="1100" spc="260">
                <a:solidFill>
                  <a:srgbClr val="A9CCE3"/>
                </a:solidFill>
                <a:latin typeface="Manrope SemiBold" pitchFamily="2" charset="0"/>
              </a:rPr>
              <a:t>LA PLATEFORME</a:t>
            </a:r>
          </a:p>
        </p:txBody>
      </p:sp>
      <p:sp>
        <p:nvSpPr>
          <p:cNvPr id="3" name="ZoneTexte 2">
            <a:extLst>
              <a:ext uri="{FF2B5EF4-FFF2-40B4-BE49-F238E27FC236}">
                <a16:creationId xmlns:a16="http://schemas.microsoft.com/office/drawing/2014/main" id="{97F28ABD-D3CE-3C65-43F3-A7B866DE7131}"/>
              </a:ext>
            </a:extLst>
          </p:cNvPr>
          <p:cNvSpPr txBox="1"/>
          <p:nvPr/>
        </p:nvSpPr>
        <p:spPr>
          <a:xfrm>
            <a:off x="914400" y="990600"/>
            <a:ext cx="10363200" cy="369332"/>
          </a:xfrm>
          <a:prstGeom prst="rect">
            <a:avLst/>
          </a:prstGeom>
          <a:noFill/>
        </p:spPr>
        <p:txBody>
          <a:bodyPr vert="horz" wrap="square" lIns="0" tIns="0" rIns="0" bIns="0" rtlCol="0">
            <a:noAutofit/>
          </a:bodyPr>
          <a:lstStyle/>
          <a:p>
            <a:r>
              <a:rPr lang="fr-FR" sz="3600" spc="-50">
                <a:solidFill>
                  <a:srgbClr val="F2F5F8"/>
                </a:solidFill>
                <a:latin typeface="Manrope SemiBold" pitchFamily="2" charset="0"/>
              </a:rPr>
              <a:t>Conçue pour durer, pensée pour </a:t>
            </a:r>
            <a:r>
              <a:rPr lang="fr-FR" sz="3600" spc="-50">
                <a:gradFill flip="none" rotWithShape="1">
                  <a:gsLst>
                    <a:gs pos="0">
                      <a:srgbClr val="5A93BF"/>
                    </a:gs>
                    <a:gs pos="100000">
                      <a:srgbClr val="A9CCE3"/>
                    </a:gs>
                  </a:gsLst>
                  <a:lin ang="0" scaled="1"/>
                  <a:tileRect/>
                </a:gradFill>
                <a:latin typeface="Manrope SemiBold" pitchFamily="2" charset="0"/>
              </a:rPr>
              <a:t>évoluer</a:t>
            </a:r>
            <a:r>
              <a:rPr lang="fr-FR" sz="3600" spc="-50">
                <a:solidFill>
                  <a:srgbClr val="F2F5F8"/>
                </a:solidFill>
                <a:latin typeface="Manrope SemiBold" pitchFamily="2" charset="0"/>
              </a:rPr>
              <a:t>.</a:t>
            </a:r>
          </a:p>
        </p:txBody>
      </p:sp>
      <p:sp>
        <p:nvSpPr>
          <p:cNvPr id="4" name="Rectangle : coins arrondis 3">
            <a:extLst>
              <a:ext uri="{FF2B5EF4-FFF2-40B4-BE49-F238E27FC236}">
                <a16:creationId xmlns:a16="http://schemas.microsoft.com/office/drawing/2014/main" id="{54C1CE45-0FEB-B66B-FF83-260A3E35EC61}"/>
              </a:ext>
            </a:extLst>
          </p:cNvPr>
          <p:cNvSpPr/>
          <p:nvPr/>
        </p:nvSpPr>
        <p:spPr>
          <a:xfrm>
            <a:off x="914400" y="2032000"/>
            <a:ext cx="3200400" cy="1905000"/>
          </a:xfrm>
          <a:prstGeom prst="roundRect">
            <a:avLst>
              <a:gd name="adj" fmla="val 8000"/>
            </a:avLst>
          </a:prstGeom>
          <a:solidFill>
            <a:srgbClr val="121A23"/>
          </a:solidFill>
          <a:ln w="9525">
            <a:solidFill>
              <a:srgbClr val="2430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 name="ZoneTexte 4">
            <a:extLst>
              <a:ext uri="{FF2B5EF4-FFF2-40B4-BE49-F238E27FC236}">
                <a16:creationId xmlns:a16="http://schemas.microsoft.com/office/drawing/2014/main" id="{70E05584-1DDD-4BFB-ACA6-56D58425C438}"/>
              </a:ext>
            </a:extLst>
          </p:cNvPr>
          <p:cNvSpPr txBox="1"/>
          <p:nvPr/>
        </p:nvSpPr>
        <p:spPr>
          <a:xfrm>
            <a:off x="1219200" y="2286000"/>
            <a:ext cx="2540000" cy="369332"/>
          </a:xfrm>
          <a:prstGeom prst="rect">
            <a:avLst/>
          </a:prstGeom>
          <a:noFill/>
        </p:spPr>
        <p:txBody>
          <a:bodyPr vert="horz" wrap="square" lIns="0" tIns="0" rIns="0" bIns="0" rtlCol="0">
            <a:noAutofit/>
          </a:bodyPr>
          <a:lstStyle/>
          <a:p>
            <a:pPr>
              <a:lnSpc>
                <a:spcPct val="115000"/>
              </a:lnSpc>
            </a:pPr>
            <a:r>
              <a:rPr lang="fr-FR" sz="1000" spc="220">
                <a:solidFill>
                  <a:srgbClr val="A9CCE3"/>
                </a:solidFill>
                <a:latin typeface="Manrope SemiBold" pitchFamily="2" charset="0"/>
              </a:rPr>
              <a:t>INTERFACE</a:t>
            </a:r>
          </a:p>
        </p:txBody>
      </p:sp>
      <p:sp>
        <p:nvSpPr>
          <p:cNvPr id="6" name="ZoneTexte 5">
            <a:extLst>
              <a:ext uri="{FF2B5EF4-FFF2-40B4-BE49-F238E27FC236}">
                <a16:creationId xmlns:a16="http://schemas.microsoft.com/office/drawing/2014/main" id="{7186C508-54DF-B300-B44E-D89D55EBB093}"/>
              </a:ext>
            </a:extLst>
          </p:cNvPr>
          <p:cNvSpPr txBox="1"/>
          <p:nvPr/>
        </p:nvSpPr>
        <p:spPr>
          <a:xfrm>
            <a:off x="1219200" y="2565400"/>
            <a:ext cx="2667000" cy="381000"/>
          </a:xfrm>
          <a:prstGeom prst="rect">
            <a:avLst/>
          </a:prstGeom>
          <a:noFill/>
        </p:spPr>
        <p:txBody>
          <a:bodyPr vert="horz" wrap="square" lIns="0" tIns="0" rIns="0" bIns="0" rtlCol="0">
            <a:noAutofit/>
          </a:bodyPr>
          <a:lstStyle/>
          <a:p>
            <a:pPr>
              <a:lnSpc>
                <a:spcPct val="115000"/>
              </a:lnSpc>
            </a:pPr>
            <a:r>
              <a:rPr lang="fr-FR" sz="2400">
                <a:solidFill>
                  <a:srgbClr val="F2F5F8"/>
                </a:solidFill>
                <a:latin typeface="Manrope SemiBold" pitchFamily="2" charset="0"/>
              </a:rPr>
              <a:t>Rapide</a:t>
            </a:r>
          </a:p>
        </p:txBody>
      </p:sp>
      <p:sp>
        <p:nvSpPr>
          <p:cNvPr id="7" name="ZoneTexte 6">
            <a:extLst>
              <a:ext uri="{FF2B5EF4-FFF2-40B4-BE49-F238E27FC236}">
                <a16:creationId xmlns:a16="http://schemas.microsoft.com/office/drawing/2014/main" id="{64E31C78-1145-4E1D-DED7-BA25456FBD58}"/>
              </a:ext>
            </a:extLst>
          </p:cNvPr>
          <p:cNvSpPr txBox="1"/>
          <p:nvPr/>
        </p:nvSpPr>
        <p:spPr>
          <a:xfrm>
            <a:off x="1219200" y="3048000"/>
            <a:ext cx="2667000" cy="369332"/>
          </a:xfrm>
          <a:prstGeom prst="rect">
            <a:avLst/>
          </a:prstGeom>
          <a:noFill/>
        </p:spPr>
        <p:txBody>
          <a:bodyPr vert="horz" wrap="square" lIns="0" tIns="0" rIns="0" bIns="0" rtlCol="0">
            <a:noAutofit/>
          </a:bodyPr>
          <a:lstStyle/>
          <a:p>
            <a:pPr>
              <a:lnSpc>
                <a:spcPct val="115000"/>
              </a:lnSpc>
            </a:pPr>
            <a:r>
              <a:rPr lang="fr-FR" sz="1250">
                <a:solidFill>
                  <a:srgbClr val="9CA9B6"/>
                </a:solidFill>
                <a:latin typeface="Manrope" pitchFamily="2" charset="0"/>
              </a:rPr>
              <a:t>Une page par écran, aucun rechargement. Tout vient de l'API.</a:t>
            </a:r>
          </a:p>
        </p:txBody>
      </p:sp>
      <p:cxnSp>
        <p:nvCxnSpPr>
          <p:cNvPr id="8" name="Connecteur droit 7">
            <a:extLst>
              <a:ext uri="{FF2B5EF4-FFF2-40B4-BE49-F238E27FC236}">
                <a16:creationId xmlns:a16="http://schemas.microsoft.com/office/drawing/2014/main" id="{39C02A28-DD22-85BA-6949-01934A627DA6}"/>
              </a:ext>
            </a:extLst>
          </p:cNvPr>
          <p:cNvCxnSpPr/>
          <p:nvPr/>
        </p:nvCxnSpPr>
        <p:spPr>
          <a:xfrm>
            <a:off x="4165600" y="2984500"/>
            <a:ext cx="279400" cy="0"/>
          </a:xfrm>
          <a:prstGeom prst="line">
            <a:avLst/>
          </a:prstGeom>
          <a:ln w="15875">
            <a:solidFill>
              <a:srgbClr val="9CA9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ectangle : coins arrondis 8">
            <a:extLst>
              <a:ext uri="{FF2B5EF4-FFF2-40B4-BE49-F238E27FC236}">
                <a16:creationId xmlns:a16="http://schemas.microsoft.com/office/drawing/2014/main" id="{4C1D0C00-EF8B-5F10-698E-D703D7CA9707}"/>
              </a:ext>
            </a:extLst>
          </p:cNvPr>
          <p:cNvSpPr/>
          <p:nvPr/>
        </p:nvSpPr>
        <p:spPr>
          <a:xfrm>
            <a:off x="4495800" y="2032000"/>
            <a:ext cx="3200400" cy="1905000"/>
          </a:xfrm>
          <a:prstGeom prst="roundRect">
            <a:avLst>
              <a:gd name="adj" fmla="val 8000"/>
            </a:avLst>
          </a:prstGeom>
          <a:solidFill>
            <a:srgbClr val="121A23"/>
          </a:solidFill>
          <a:ln w="9525">
            <a:solidFill>
              <a:srgbClr val="2430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ZoneTexte 9">
            <a:extLst>
              <a:ext uri="{FF2B5EF4-FFF2-40B4-BE49-F238E27FC236}">
                <a16:creationId xmlns:a16="http://schemas.microsoft.com/office/drawing/2014/main" id="{73753272-638E-A790-D100-B529EA264609}"/>
              </a:ext>
            </a:extLst>
          </p:cNvPr>
          <p:cNvSpPr txBox="1"/>
          <p:nvPr/>
        </p:nvSpPr>
        <p:spPr>
          <a:xfrm>
            <a:off x="4800600" y="2286000"/>
            <a:ext cx="2540000" cy="369332"/>
          </a:xfrm>
          <a:prstGeom prst="rect">
            <a:avLst/>
          </a:prstGeom>
          <a:noFill/>
        </p:spPr>
        <p:txBody>
          <a:bodyPr vert="horz" wrap="square" lIns="0" tIns="0" rIns="0" bIns="0" rtlCol="0">
            <a:noAutofit/>
          </a:bodyPr>
          <a:lstStyle/>
          <a:p>
            <a:pPr>
              <a:lnSpc>
                <a:spcPct val="115000"/>
              </a:lnSpc>
            </a:pPr>
            <a:r>
              <a:rPr lang="fr-FR" sz="1000" spc="220">
                <a:solidFill>
                  <a:srgbClr val="A9CCE3"/>
                </a:solidFill>
                <a:latin typeface="Manrope SemiBold" pitchFamily="2" charset="0"/>
              </a:rPr>
              <a:t>API</a:t>
            </a:r>
          </a:p>
        </p:txBody>
      </p:sp>
      <p:sp>
        <p:nvSpPr>
          <p:cNvPr id="11" name="ZoneTexte 10">
            <a:extLst>
              <a:ext uri="{FF2B5EF4-FFF2-40B4-BE49-F238E27FC236}">
                <a16:creationId xmlns:a16="http://schemas.microsoft.com/office/drawing/2014/main" id="{50947F05-165B-CB84-E42C-2445AC0FB6FF}"/>
              </a:ext>
            </a:extLst>
          </p:cNvPr>
          <p:cNvSpPr txBox="1"/>
          <p:nvPr/>
        </p:nvSpPr>
        <p:spPr>
          <a:xfrm>
            <a:off x="4800600" y="2565400"/>
            <a:ext cx="2667000" cy="381000"/>
          </a:xfrm>
          <a:prstGeom prst="rect">
            <a:avLst/>
          </a:prstGeom>
          <a:noFill/>
        </p:spPr>
        <p:txBody>
          <a:bodyPr vert="horz" wrap="square" lIns="0" tIns="0" rIns="0" bIns="0" rtlCol="0">
            <a:noAutofit/>
          </a:bodyPr>
          <a:lstStyle/>
          <a:p>
            <a:pPr>
              <a:lnSpc>
                <a:spcPct val="115000"/>
              </a:lnSpc>
            </a:pPr>
            <a:r>
              <a:rPr lang="fr-FR" sz="2400">
                <a:solidFill>
                  <a:srgbClr val="F2F5F8"/>
                </a:solidFill>
                <a:latin typeface="Manrope SemiBold" pitchFamily="2" charset="0"/>
              </a:rPr>
              <a:t>Fiable</a:t>
            </a:r>
          </a:p>
        </p:txBody>
      </p:sp>
      <p:sp>
        <p:nvSpPr>
          <p:cNvPr id="12" name="ZoneTexte 11">
            <a:extLst>
              <a:ext uri="{FF2B5EF4-FFF2-40B4-BE49-F238E27FC236}">
                <a16:creationId xmlns:a16="http://schemas.microsoft.com/office/drawing/2014/main" id="{6C0957EC-A31F-9076-AA76-2FCC23B40CD6}"/>
              </a:ext>
            </a:extLst>
          </p:cNvPr>
          <p:cNvSpPr txBox="1"/>
          <p:nvPr/>
        </p:nvSpPr>
        <p:spPr>
          <a:xfrm>
            <a:off x="4800600" y="3048000"/>
            <a:ext cx="2667000" cy="369332"/>
          </a:xfrm>
          <a:prstGeom prst="rect">
            <a:avLst/>
          </a:prstGeom>
          <a:noFill/>
        </p:spPr>
        <p:txBody>
          <a:bodyPr vert="horz" wrap="square" lIns="0" tIns="0" rIns="0" bIns="0" rtlCol="0">
            <a:noAutofit/>
          </a:bodyPr>
          <a:lstStyle/>
          <a:p>
            <a:pPr>
              <a:lnSpc>
                <a:spcPct val="115000"/>
              </a:lnSpc>
            </a:pPr>
            <a:r>
              <a:rPr lang="fr-FR" sz="1250">
                <a:solidFill>
                  <a:srgbClr val="9CA9B6"/>
                </a:solidFill>
                <a:latin typeface="Manrope" pitchFamily="2" charset="0"/>
              </a:rPr>
              <a:t>23 routes, chacune avec ses codes et ses messages écrits à l'avance.</a:t>
            </a:r>
          </a:p>
        </p:txBody>
      </p:sp>
      <p:cxnSp>
        <p:nvCxnSpPr>
          <p:cNvPr id="13" name="Connecteur droit 12">
            <a:extLst>
              <a:ext uri="{FF2B5EF4-FFF2-40B4-BE49-F238E27FC236}">
                <a16:creationId xmlns:a16="http://schemas.microsoft.com/office/drawing/2014/main" id="{996723ED-DA2F-4A5D-D926-C9FFC3387D42}"/>
              </a:ext>
            </a:extLst>
          </p:cNvPr>
          <p:cNvCxnSpPr/>
          <p:nvPr/>
        </p:nvCxnSpPr>
        <p:spPr>
          <a:xfrm>
            <a:off x="7747000" y="2984500"/>
            <a:ext cx="279400" cy="0"/>
          </a:xfrm>
          <a:prstGeom prst="line">
            <a:avLst/>
          </a:prstGeom>
          <a:ln w="15875">
            <a:solidFill>
              <a:srgbClr val="9CA9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ectangle : coins arrondis 13">
            <a:extLst>
              <a:ext uri="{FF2B5EF4-FFF2-40B4-BE49-F238E27FC236}">
                <a16:creationId xmlns:a16="http://schemas.microsoft.com/office/drawing/2014/main" id="{5590EF68-DC28-CA64-B424-E526F3643E9B}"/>
              </a:ext>
            </a:extLst>
          </p:cNvPr>
          <p:cNvSpPr/>
          <p:nvPr/>
        </p:nvSpPr>
        <p:spPr>
          <a:xfrm>
            <a:off x="8077200" y="2032000"/>
            <a:ext cx="3200400" cy="1905000"/>
          </a:xfrm>
          <a:prstGeom prst="roundRect">
            <a:avLst>
              <a:gd name="adj" fmla="val 8000"/>
            </a:avLst>
          </a:prstGeom>
          <a:solidFill>
            <a:srgbClr val="121A23"/>
          </a:solidFill>
          <a:ln w="9525">
            <a:solidFill>
              <a:srgbClr val="2430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ZoneTexte 14">
            <a:extLst>
              <a:ext uri="{FF2B5EF4-FFF2-40B4-BE49-F238E27FC236}">
                <a16:creationId xmlns:a16="http://schemas.microsoft.com/office/drawing/2014/main" id="{8E8EF90C-A0B8-05AB-01D6-4D05E1C44977}"/>
              </a:ext>
            </a:extLst>
          </p:cNvPr>
          <p:cNvSpPr txBox="1"/>
          <p:nvPr/>
        </p:nvSpPr>
        <p:spPr>
          <a:xfrm>
            <a:off x="8382000" y="2286000"/>
            <a:ext cx="2540000" cy="369332"/>
          </a:xfrm>
          <a:prstGeom prst="rect">
            <a:avLst/>
          </a:prstGeom>
          <a:noFill/>
        </p:spPr>
        <p:txBody>
          <a:bodyPr vert="horz" wrap="square" lIns="0" tIns="0" rIns="0" bIns="0" rtlCol="0">
            <a:noAutofit/>
          </a:bodyPr>
          <a:lstStyle/>
          <a:p>
            <a:pPr>
              <a:lnSpc>
                <a:spcPct val="115000"/>
              </a:lnSpc>
            </a:pPr>
            <a:r>
              <a:rPr lang="fr-FR" sz="1000" spc="220">
                <a:solidFill>
                  <a:srgbClr val="A9CCE3"/>
                </a:solidFill>
                <a:latin typeface="Manrope SemiBold" pitchFamily="2" charset="0"/>
              </a:rPr>
              <a:t>DONNÉES</a:t>
            </a:r>
          </a:p>
        </p:txBody>
      </p:sp>
      <p:sp>
        <p:nvSpPr>
          <p:cNvPr id="16" name="ZoneTexte 15">
            <a:extLst>
              <a:ext uri="{FF2B5EF4-FFF2-40B4-BE49-F238E27FC236}">
                <a16:creationId xmlns:a16="http://schemas.microsoft.com/office/drawing/2014/main" id="{0AC5D986-58C4-4622-F1CA-889A9BC73A50}"/>
              </a:ext>
            </a:extLst>
          </p:cNvPr>
          <p:cNvSpPr txBox="1"/>
          <p:nvPr/>
        </p:nvSpPr>
        <p:spPr>
          <a:xfrm>
            <a:off x="8382000" y="2565400"/>
            <a:ext cx="2667000" cy="381000"/>
          </a:xfrm>
          <a:prstGeom prst="rect">
            <a:avLst/>
          </a:prstGeom>
          <a:noFill/>
        </p:spPr>
        <p:txBody>
          <a:bodyPr vert="horz" wrap="square" lIns="0" tIns="0" rIns="0" bIns="0" rtlCol="0">
            <a:noAutofit/>
          </a:bodyPr>
          <a:lstStyle/>
          <a:p>
            <a:pPr>
              <a:lnSpc>
                <a:spcPct val="115000"/>
              </a:lnSpc>
            </a:pPr>
            <a:r>
              <a:rPr lang="fr-FR" sz="2400">
                <a:solidFill>
                  <a:srgbClr val="F2F5F8"/>
                </a:solidFill>
                <a:latin typeface="Manrope SemiBold" pitchFamily="2" charset="0"/>
              </a:rPr>
              <a:t>Protégées</a:t>
            </a:r>
          </a:p>
        </p:txBody>
      </p:sp>
      <p:sp>
        <p:nvSpPr>
          <p:cNvPr id="17" name="ZoneTexte 16">
            <a:extLst>
              <a:ext uri="{FF2B5EF4-FFF2-40B4-BE49-F238E27FC236}">
                <a16:creationId xmlns:a16="http://schemas.microsoft.com/office/drawing/2014/main" id="{E7D13312-D0C0-8CF7-481A-1ABF41A5A61E}"/>
              </a:ext>
            </a:extLst>
          </p:cNvPr>
          <p:cNvSpPr txBox="1"/>
          <p:nvPr/>
        </p:nvSpPr>
        <p:spPr>
          <a:xfrm>
            <a:off x="8382000" y="3048000"/>
            <a:ext cx="2667000" cy="369332"/>
          </a:xfrm>
          <a:prstGeom prst="rect">
            <a:avLst/>
          </a:prstGeom>
          <a:noFill/>
        </p:spPr>
        <p:txBody>
          <a:bodyPr vert="horz" wrap="square" lIns="0" tIns="0" rIns="0" bIns="0" rtlCol="0">
            <a:noAutofit/>
          </a:bodyPr>
          <a:lstStyle/>
          <a:p>
            <a:pPr>
              <a:lnSpc>
                <a:spcPct val="115000"/>
              </a:lnSpc>
            </a:pPr>
            <a:r>
              <a:rPr lang="fr-FR" sz="1250">
                <a:solidFill>
                  <a:srgbClr val="9CA9B6"/>
                </a:solidFill>
                <a:latin typeface="Manrope" pitchFamily="2" charset="0"/>
              </a:rPr>
              <a:t>6 tables liées. Rien d'encore utilisé ne peut être supprimé.</a:t>
            </a:r>
          </a:p>
        </p:txBody>
      </p:sp>
      <p:sp>
        <p:nvSpPr>
          <p:cNvPr id="18" name="Rectangle : coins arrondis 17">
            <a:extLst>
              <a:ext uri="{FF2B5EF4-FFF2-40B4-BE49-F238E27FC236}">
                <a16:creationId xmlns:a16="http://schemas.microsoft.com/office/drawing/2014/main" id="{118CF8F9-CE74-62E7-55F1-4EDA9D69F07B}"/>
              </a:ext>
            </a:extLst>
          </p:cNvPr>
          <p:cNvSpPr/>
          <p:nvPr/>
        </p:nvSpPr>
        <p:spPr>
          <a:xfrm>
            <a:off x="914400" y="4343400"/>
            <a:ext cx="10363200" cy="1422400"/>
          </a:xfrm>
          <a:prstGeom prst="roundRect">
            <a:avLst>
              <a:gd name="adj" fmla="val 10714"/>
            </a:avLst>
          </a:prstGeom>
          <a:solidFill>
            <a:srgbClr val="18233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Rectangle 18">
            <a:extLst>
              <a:ext uri="{FF2B5EF4-FFF2-40B4-BE49-F238E27FC236}">
                <a16:creationId xmlns:a16="http://schemas.microsoft.com/office/drawing/2014/main" id="{05E538A4-B4A1-6ADA-5665-A44F1C8ACC4F}"/>
              </a:ext>
            </a:extLst>
          </p:cNvPr>
          <p:cNvSpPr/>
          <p:nvPr/>
        </p:nvSpPr>
        <p:spPr>
          <a:xfrm>
            <a:off x="914400" y="4343400"/>
            <a:ext cx="50800" cy="1422400"/>
          </a:xfrm>
          <a:prstGeom prst="rect">
            <a:avLst/>
          </a:prstGeom>
          <a:solidFill>
            <a:srgbClr val="A9CC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ZoneTexte 19">
            <a:extLst>
              <a:ext uri="{FF2B5EF4-FFF2-40B4-BE49-F238E27FC236}">
                <a16:creationId xmlns:a16="http://schemas.microsoft.com/office/drawing/2014/main" id="{2B690D44-C92E-62D1-CBBE-E06A8777B6F5}"/>
              </a:ext>
            </a:extLst>
          </p:cNvPr>
          <p:cNvSpPr txBox="1"/>
          <p:nvPr/>
        </p:nvSpPr>
        <p:spPr>
          <a:xfrm>
            <a:off x="1270000" y="4572000"/>
            <a:ext cx="8890000" cy="369332"/>
          </a:xfrm>
          <a:prstGeom prst="rect">
            <a:avLst/>
          </a:prstGeom>
          <a:noFill/>
        </p:spPr>
        <p:txBody>
          <a:bodyPr vert="horz" wrap="square" lIns="0" tIns="0" rIns="0" bIns="0" rtlCol="0">
            <a:noAutofit/>
          </a:bodyPr>
          <a:lstStyle/>
          <a:p>
            <a:pPr>
              <a:lnSpc>
                <a:spcPct val="115000"/>
              </a:lnSpc>
            </a:pPr>
            <a:r>
              <a:rPr lang="fr-FR">
                <a:solidFill>
                  <a:srgbClr val="F2F5F8"/>
                </a:solidFill>
                <a:latin typeface="Manrope Medium" pitchFamily="2" charset="0"/>
              </a:rPr>
              <a:t>Le contrat d'API est écrit avant le code.</a:t>
            </a:r>
          </a:p>
        </p:txBody>
      </p:sp>
      <p:sp>
        <p:nvSpPr>
          <p:cNvPr id="21" name="ZoneTexte 20">
            <a:extLst>
              <a:ext uri="{FF2B5EF4-FFF2-40B4-BE49-F238E27FC236}">
                <a16:creationId xmlns:a16="http://schemas.microsoft.com/office/drawing/2014/main" id="{8586C38A-06F5-92B7-6D59-784DF1B50668}"/>
              </a:ext>
            </a:extLst>
          </p:cNvPr>
          <p:cNvSpPr txBox="1"/>
          <p:nvPr/>
        </p:nvSpPr>
        <p:spPr>
          <a:xfrm>
            <a:off x="1270000" y="4978400"/>
            <a:ext cx="9652000" cy="369332"/>
          </a:xfrm>
          <a:prstGeom prst="rect">
            <a:avLst/>
          </a:prstGeom>
          <a:noFill/>
        </p:spPr>
        <p:txBody>
          <a:bodyPr vert="horz" wrap="square" lIns="0" tIns="0" rIns="0" bIns="0" rtlCol="0">
            <a:noAutofit/>
          </a:bodyPr>
          <a:lstStyle/>
          <a:p>
            <a:pPr>
              <a:lnSpc>
                <a:spcPct val="115000"/>
              </a:lnSpc>
            </a:pPr>
            <a:r>
              <a:rPr lang="fr-FR" sz="1350">
                <a:solidFill>
                  <a:srgbClr val="9CA9B6"/>
                </a:solidFill>
                <a:latin typeface="Manrope" pitchFamily="2" charset="0"/>
              </a:rPr>
              <a:t>Interface et serveur avancent en parallèle contre le même document. Une évolution se décide sur le papier, puis se livre sans surprise.</a:t>
            </a:r>
          </a:p>
        </p:txBody>
      </p:sp>
    </p:spTree>
    <p:extLst>
      <p:ext uri="{BB962C8B-B14F-4D97-AF65-F5344CB8AC3E}">
        <p14:creationId xmlns:p14="http://schemas.microsoft.com/office/powerpoint/2010/main" val="24054269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15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par>
                                <p:cTn id="11" presetID="10" presetClass="entr" presetSubtype="0" fill="hold" grpId="0" nodeType="withEffect">
                                  <p:stCondLst>
                                    <p:cond delay="45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childTnLst>
                                </p:cTn>
                              </p:par>
                              <p:par>
                                <p:cTn id="14" presetID="10" presetClass="entr" presetSubtype="0" fill="hold" grpId="0" nodeType="withEffect">
                                  <p:stCondLst>
                                    <p:cond delay="45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childTnLst>
                                </p:cTn>
                              </p:par>
                              <p:par>
                                <p:cTn id="17" presetID="10" presetClass="entr" presetSubtype="0" fill="hold" grpId="0" nodeType="withEffect">
                                  <p:stCondLst>
                                    <p:cond delay="45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childTnLst>
                                </p:cTn>
                              </p:par>
                              <p:par>
                                <p:cTn id="20" presetID="10" presetClass="entr" presetSubtype="0" fill="hold" grpId="0" nodeType="withEffect">
                                  <p:stCondLst>
                                    <p:cond delay="45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par>
                                <p:cTn id="23" presetID="10" presetClass="entr" presetSubtype="0" fill="hold" nodeType="withEffect">
                                  <p:stCondLst>
                                    <p:cond delay="75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childTnLst>
                                </p:cTn>
                              </p:par>
                              <p:par>
                                <p:cTn id="26" presetID="10" presetClass="entr" presetSubtype="0" fill="hold" grpId="0" nodeType="withEffect">
                                  <p:stCondLst>
                                    <p:cond delay="75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500"/>
                                        <p:tgtEl>
                                          <p:spTgt spid="9"/>
                                        </p:tgtEl>
                                      </p:cBhvr>
                                    </p:animEffect>
                                  </p:childTnLst>
                                </p:cTn>
                              </p:par>
                              <p:par>
                                <p:cTn id="29" presetID="10" presetClass="entr" presetSubtype="0" fill="hold" grpId="0" nodeType="withEffect">
                                  <p:stCondLst>
                                    <p:cond delay="75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500"/>
                                        <p:tgtEl>
                                          <p:spTgt spid="10"/>
                                        </p:tgtEl>
                                      </p:cBhvr>
                                    </p:animEffect>
                                  </p:childTnLst>
                                </p:cTn>
                              </p:par>
                              <p:par>
                                <p:cTn id="32" presetID="10" presetClass="entr" presetSubtype="0" fill="hold" grpId="0" nodeType="withEffect">
                                  <p:stCondLst>
                                    <p:cond delay="75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500"/>
                                        <p:tgtEl>
                                          <p:spTgt spid="11"/>
                                        </p:tgtEl>
                                      </p:cBhvr>
                                    </p:animEffect>
                                  </p:childTnLst>
                                </p:cTn>
                              </p:par>
                              <p:par>
                                <p:cTn id="35" presetID="10" presetClass="entr" presetSubtype="0" fill="hold" grpId="0" nodeType="withEffect">
                                  <p:stCondLst>
                                    <p:cond delay="75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500"/>
                                        <p:tgtEl>
                                          <p:spTgt spid="12"/>
                                        </p:tgtEl>
                                      </p:cBhvr>
                                    </p:animEffect>
                                  </p:childTnLst>
                                </p:cTn>
                              </p:par>
                              <p:par>
                                <p:cTn id="38" presetID="10" presetClass="entr" presetSubtype="0" fill="hold" nodeType="withEffect">
                                  <p:stCondLst>
                                    <p:cond delay="105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00"/>
                                        <p:tgtEl>
                                          <p:spTgt spid="13"/>
                                        </p:tgtEl>
                                      </p:cBhvr>
                                    </p:animEffect>
                                  </p:childTnLst>
                                </p:cTn>
                              </p:par>
                              <p:par>
                                <p:cTn id="41" presetID="10" presetClass="entr" presetSubtype="0" fill="hold" grpId="0" nodeType="withEffect">
                                  <p:stCondLst>
                                    <p:cond delay="105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500"/>
                                        <p:tgtEl>
                                          <p:spTgt spid="14"/>
                                        </p:tgtEl>
                                      </p:cBhvr>
                                    </p:animEffect>
                                  </p:childTnLst>
                                </p:cTn>
                              </p:par>
                              <p:par>
                                <p:cTn id="44" presetID="10" presetClass="entr" presetSubtype="0" fill="hold" grpId="0" nodeType="withEffect">
                                  <p:stCondLst>
                                    <p:cond delay="105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00"/>
                                        <p:tgtEl>
                                          <p:spTgt spid="15"/>
                                        </p:tgtEl>
                                      </p:cBhvr>
                                    </p:animEffect>
                                  </p:childTnLst>
                                </p:cTn>
                              </p:par>
                              <p:par>
                                <p:cTn id="47" presetID="10" presetClass="entr" presetSubtype="0" fill="hold" grpId="0" nodeType="withEffect">
                                  <p:stCondLst>
                                    <p:cond delay="105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500"/>
                                        <p:tgtEl>
                                          <p:spTgt spid="16"/>
                                        </p:tgtEl>
                                      </p:cBhvr>
                                    </p:animEffect>
                                  </p:childTnLst>
                                </p:cTn>
                              </p:par>
                              <p:par>
                                <p:cTn id="50" presetID="10" presetClass="entr" presetSubtype="0" fill="hold" grpId="0" nodeType="withEffect">
                                  <p:stCondLst>
                                    <p:cond delay="105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00"/>
                                        <p:tgtEl>
                                          <p:spTgt spid="17"/>
                                        </p:tgtEl>
                                      </p:cBhvr>
                                    </p:animEffect>
                                  </p:childTnLst>
                                </p:cTn>
                              </p:par>
                              <p:par>
                                <p:cTn id="53" presetID="10" presetClass="entr" presetSubtype="0" fill="hold" grpId="0" nodeType="withEffect">
                                  <p:stCondLst>
                                    <p:cond delay="135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500"/>
                                        <p:tgtEl>
                                          <p:spTgt spid="18"/>
                                        </p:tgtEl>
                                      </p:cBhvr>
                                    </p:animEffect>
                                  </p:childTnLst>
                                </p:cTn>
                              </p:par>
                              <p:par>
                                <p:cTn id="56" presetID="10" presetClass="entr" presetSubtype="0" fill="hold" grpId="0" nodeType="withEffect">
                                  <p:stCondLst>
                                    <p:cond delay="135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500"/>
                                        <p:tgtEl>
                                          <p:spTgt spid="19"/>
                                        </p:tgtEl>
                                      </p:cBhvr>
                                    </p:animEffect>
                                  </p:childTnLst>
                                </p:cTn>
                              </p:par>
                              <p:par>
                                <p:cTn id="59" presetID="10" presetClass="entr" presetSubtype="0" fill="hold" grpId="0" nodeType="withEffect">
                                  <p:stCondLst>
                                    <p:cond delay="135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500"/>
                                        <p:tgtEl>
                                          <p:spTgt spid="20"/>
                                        </p:tgtEl>
                                      </p:cBhvr>
                                    </p:animEffect>
                                  </p:childTnLst>
                                </p:cTn>
                              </p:par>
                              <p:par>
                                <p:cTn id="62" presetID="10" presetClass="entr" presetSubtype="0" fill="hold" grpId="0" nodeType="withEffect">
                                  <p:stCondLst>
                                    <p:cond delay="1350"/>
                                  </p:stCondLst>
                                  <p:childTnLst>
                                    <p:set>
                                      <p:cBhvr>
                                        <p:cTn id="63" dur="1" fill="hold">
                                          <p:stCondLst>
                                            <p:cond delay="0"/>
                                          </p:stCondLst>
                                        </p:cTn>
                                        <p:tgtEl>
                                          <p:spTgt spid="21"/>
                                        </p:tgtEl>
                                        <p:attrNameLst>
                                          <p:attrName>style.visibility</p:attrName>
                                        </p:attrNameLst>
                                      </p:cBhvr>
                                      <p:to>
                                        <p:strVal val="visible"/>
                                      </p:to>
                                    </p:set>
                                    <p:animEffect transition="in" filter="fade">
                                      <p:cBhvr>
                                        <p:cTn id="64"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animBg="1"/>
      <p:bldP spid="5" grpId="0"/>
      <p:bldP spid="6" grpId="0"/>
      <p:bldP spid="7" grpId="0"/>
      <p:bldP spid="9" grpId="0" animBg="1"/>
      <p:bldP spid="10" grpId="0"/>
      <p:bldP spid="11" grpId="0"/>
      <p:bldP spid="12" grpId="0"/>
      <p:bldP spid="14" grpId="0" animBg="1"/>
      <p:bldP spid="15" grpId="0"/>
      <p:bldP spid="16" grpId="0"/>
      <p:bldP spid="17" grpId="0"/>
      <p:bldP spid="18" grpId="0" animBg="1"/>
      <p:bldP spid="19" grpId="0" animBg="1"/>
      <p:bldP spid="20" grpId="0"/>
      <p:bldP spid="21" grpId="0"/>
    </p:bld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1016"/>
        </a:solidFill>
        <a:effectLst/>
      </p:bgPr>
    </p:bg>
    <p:spTree>
      <p:nvGrpSpPr>
        <p:cNvPr id="1" name=""/>
        <p:cNvGrpSpPr/>
        <p:nvPr/>
      </p:nvGrpSpPr>
      <p:grpSpPr>
        <a:xfrm>
          <a:off x="0" y="0"/>
          <a:ext cx="0" cy="0"/>
          <a:chOff x="0" y="0"/>
          <a:chExt cx="0" cy="0"/>
        </a:xfrm>
      </p:grpSpPr>
      <p:sp>
        <p:nvSpPr>
          <p:cNvPr id="2" name="ZoneTexte 1">
            <a:extLst>
              <a:ext uri="{FF2B5EF4-FFF2-40B4-BE49-F238E27FC236}">
                <a16:creationId xmlns:a16="http://schemas.microsoft.com/office/drawing/2014/main" id="{356B9B6F-4C72-83B8-EE5B-05AF7AB70267}"/>
              </a:ext>
            </a:extLst>
          </p:cNvPr>
          <p:cNvSpPr txBox="1"/>
          <p:nvPr/>
        </p:nvSpPr>
        <p:spPr>
          <a:xfrm>
            <a:off x="914400" y="711200"/>
            <a:ext cx="10363200" cy="369332"/>
          </a:xfrm>
          <a:prstGeom prst="rect">
            <a:avLst/>
          </a:prstGeom>
          <a:noFill/>
        </p:spPr>
        <p:txBody>
          <a:bodyPr vert="horz" wrap="square" lIns="0" tIns="0" rIns="0" bIns="0" rtlCol="0">
            <a:noAutofit/>
          </a:bodyPr>
          <a:lstStyle/>
          <a:p>
            <a:pPr>
              <a:lnSpc>
                <a:spcPct val="115000"/>
              </a:lnSpc>
            </a:pPr>
            <a:r>
              <a:rPr lang="fr-FR" sz="1100" spc="260">
                <a:solidFill>
                  <a:srgbClr val="A9CCE3"/>
                </a:solidFill>
                <a:latin typeface="Manrope SemiBold" pitchFamily="2" charset="0"/>
              </a:rPr>
              <a:t>LA CONFIANCE</a:t>
            </a:r>
          </a:p>
        </p:txBody>
      </p:sp>
      <p:sp>
        <p:nvSpPr>
          <p:cNvPr id="3" name="ZoneTexte 2">
            <a:extLst>
              <a:ext uri="{FF2B5EF4-FFF2-40B4-BE49-F238E27FC236}">
                <a16:creationId xmlns:a16="http://schemas.microsoft.com/office/drawing/2014/main" id="{F186848D-71CF-500E-A05A-E9FD6EF9145E}"/>
              </a:ext>
            </a:extLst>
          </p:cNvPr>
          <p:cNvSpPr txBox="1"/>
          <p:nvPr/>
        </p:nvSpPr>
        <p:spPr>
          <a:xfrm>
            <a:off x="914400" y="990600"/>
            <a:ext cx="10363200" cy="369332"/>
          </a:xfrm>
          <a:prstGeom prst="rect">
            <a:avLst/>
          </a:prstGeom>
          <a:noFill/>
        </p:spPr>
        <p:txBody>
          <a:bodyPr vert="horz" wrap="square" lIns="0" tIns="0" rIns="0" bIns="0" rtlCol="0">
            <a:noAutofit/>
          </a:bodyPr>
          <a:lstStyle/>
          <a:p>
            <a:r>
              <a:rPr lang="fr-FR" sz="3600" spc="-50">
                <a:solidFill>
                  <a:srgbClr val="F2F5F8"/>
                </a:solidFill>
                <a:latin typeface="Manrope SemiBold" pitchFamily="2" charset="0"/>
              </a:rPr>
              <a:t>Vos données, protégées par </a:t>
            </a:r>
            <a:r>
              <a:rPr lang="fr-FR" sz="3600" spc="-50">
                <a:gradFill flip="none" rotWithShape="1">
                  <a:gsLst>
                    <a:gs pos="0">
                      <a:srgbClr val="5A93BF"/>
                    </a:gs>
                    <a:gs pos="100000">
                      <a:srgbClr val="A9CCE3"/>
                    </a:gs>
                  </a:gsLst>
                  <a:lin ang="0" scaled="1"/>
                  <a:tileRect/>
                </a:gradFill>
                <a:latin typeface="Manrope SemiBold" pitchFamily="2" charset="0"/>
              </a:rPr>
              <a:t>conception</a:t>
            </a:r>
            <a:r>
              <a:rPr lang="fr-FR" sz="3600" spc="-50">
                <a:solidFill>
                  <a:srgbClr val="F2F5F8"/>
                </a:solidFill>
                <a:latin typeface="Manrope SemiBold" pitchFamily="2" charset="0"/>
              </a:rPr>
              <a:t>.</a:t>
            </a:r>
          </a:p>
        </p:txBody>
      </p:sp>
      <p:sp>
        <p:nvSpPr>
          <p:cNvPr id="4" name="Rectangle : coins arrondis 3">
            <a:extLst>
              <a:ext uri="{FF2B5EF4-FFF2-40B4-BE49-F238E27FC236}">
                <a16:creationId xmlns:a16="http://schemas.microsoft.com/office/drawing/2014/main" id="{716B9159-8BCF-37B2-705F-2DD69813AEEC}"/>
              </a:ext>
            </a:extLst>
          </p:cNvPr>
          <p:cNvSpPr/>
          <p:nvPr/>
        </p:nvSpPr>
        <p:spPr>
          <a:xfrm>
            <a:off x="914400" y="2032000"/>
            <a:ext cx="2362200" cy="1625600"/>
          </a:xfrm>
          <a:prstGeom prst="roundRect">
            <a:avLst>
              <a:gd name="adj" fmla="val 9375"/>
            </a:avLst>
          </a:prstGeom>
          <a:solidFill>
            <a:srgbClr val="121A23"/>
          </a:solidFill>
          <a:ln w="9525">
            <a:solidFill>
              <a:srgbClr val="2430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 name="ZoneTexte 4">
            <a:extLst>
              <a:ext uri="{FF2B5EF4-FFF2-40B4-BE49-F238E27FC236}">
                <a16:creationId xmlns:a16="http://schemas.microsoft.com/office/drawing/2014/main" id="{7F4AE214-BC8A-8498-F9A6-7D618D03F5E9}"/>
              </a:ext>
            </a:extLst>
          </p:cNvPr>
          <p:cNvSpPr txBox="1"/>
          <p:nvPr/>
        </p:nvSpPr>
        <p:spPr>
          <a:xfrm>
            <a:off x="1143000" y="2235200"/>
            <a:ext cx="508000" cy="369332"/>
          </a:xfrm>
          <a:prstGeom prst="rect">
            <a:avLst/>
          </a:prstGeom>
          <a:noFill/>
        </p:spPr>
        <p:txBody>
          <a:bodyPr vert="horz" wrap="square" lIns="0" tIns="0" rIns="0" bIns="0" rtlCol="0">
            <a:noAutofit/>
          </a:bodyPr>
          <a:lstStyle/>
          <a:p>
            <a:pPr>
              <a:lnSpc>
                <a:spcPct val="115000"/>
              </a:lnSpc>
            </a:pPr>
            <a:r>
              <a:rPr lang="fr-FR" sz="1200">
                <a:solidFill>
                  <a:srgbClr val="A9CCE3"/>
                </a:solidFill>
                <a:latin typeface="Manrope SemiBold" pitchFamily="2" charset="0"/>
              </a:rPr>
              <a:t>01</a:t>
            </a:r>
          </a:p>
        </p:txBody>
      </p:sp>
      <p:sp>
        <p:nvSpPr>
          <p:cNvPr id="6" name="ZoneTexte 5">
            <a:extLst>
              <a:ext uri="{FF2B5EF4-FFF2-40B4-BE49-F238E27FC236}">
                <a16:creationId xmlns:a16="http://schemas.microsoft.com/office/drawing/2014/main" id="{E99CFCE9-6847-6FEC-1393-C387C4A413F9}"/>
              </a:ext>
            </a:extLst>
          </p:cNvPr>
          <p:cNvSpPr txBox="1"/>
          <p:nvPr/>
        </p:nvSpPr>
        <p:spPr>
          <a:xfrm>
            <a:off x="1143000" y="2514600"/>
            <a:ext cx="2032000" cy="369332"/>
          </a:xfrm>
          <a:prstGeom prst="rect">
            <a:avLst/>
          </a:prstGeom>
          <a:noFill/>
        </p:spPr>
        <p:txBody>
          <a:bodyPr vert="horz" wrap="square" lIns="0" tIns="0" rIns="0" bIns="0" rtlCol="0">
            <a:noAutofit/>
          </a:bodyPr>
          <a:lstStyle/>
          <a:p>
            <a:pPr>
              <a:lnSpc>
                <a:spcPct val="115000"/>
              </a:lnSpc>
            </a:pPr>
            <a:r>
              <a:rPr lang="fr-FR" sz="1550">
                <a:solidFill>
                  <a:srgbClr val="F2F5F8"/>
                </a:solidFill>
                <a:latin typeface="Manrope Medium" pitchFamily="2" charset="0"/>
              </a:rPr>
              <a:t>Inscription</a:t>
            </a:r>
          </a:p>
        </p:txBody>
      </p:sp>
      <p:sp>
        <p:nvSpPr>
          <p:cNvPr id="7" name="ZoneTexte 6">
            <a:extLst>
              <a:ext uri="{FF2B5EF4-FFF2-40B4-BE49-F238E27FC236}">
                <a16:creationId xmlns:a16="http://schemas.microsoft.com/office/drawing/2014/main" id="{B478C48D-3D63-B84B-C825-1E222AB74FBB}"/>
              </a:ext>
            </a:extLst>
          </p:cNvPr>
          <p:cNvSpPr txBox="1"/>
          <p:nvPr/>
        </p:nvSpPr>
        <p:spPr>
          <a:xfrm>
            <a:off x="1143000" y="2844800"/>
            <a:ext cx="1930400" cy="369332"/>
          </a:xfrm>
          <a:prstGeom prst="rect">
            <a:avLst/>
          </a:prstGeom>
          <a:noFill/>
        </p:spPr>
        <p:txBody>
          <a:bodyPr vert="horz" wrap="square" lIns="0" tIns="0" rIns="0" bIns="0" rtlCol="0">
            <a:noAutofit/>
          </a:bodyPr>
          <a:lstStyle/>
          <a:p>
            <a:pPr>
              <a:lnSpc>
                <a:spcPct val="115000"/>
              </a:lnSpc>
            </a:pPr>
            <a:r>
              <a:rPr lang="fr-FR" sz="1150">
                <a:solidFill>
                  <a:srgbClr val="9CA9B6"/>
                </a:solidFill>
                <a:latin typeface="Manrope" pitchFamily="2" charset="0"/>
              </a:rPr>
              <a:t>Le compte attend : rien n'est créé sans vous.</a:t>
            </a:r>
          </a:p>
        </p:txBody>
      </p:sp>
      <p:cxnSp>
        <p:nvCxnSpPr>
          <p:cNvPr id="8" name="Connecteur droit 7">
            <a:extLst>
              <a:ext uri="{FF2B5EF4-FFF2-40B4-BE49-F238E27FC236}">
                <a16:creationId xmlns:a16="http://schemas.microsoft.com/office/drawing/2014/main" id="{AFDA6766-298B-EF45-8035-629DF66CE63A}"/>
              </a:ext>
            </a:extLst>
          </p:cNvPr>
          <p:cNvCxnSpPr/>
          <p:nvPr/>
        </p:nvCxnSpPr>
        <p:spPr>
          <a:xfrm>
            <a:off x="3327400" y="2844800"/>
            <a:ext cx="203200" cy="0"/>
          </a:xfrm>
          <a:prstGeom prst="line">
            <a:avLst/>
          </a:prstGeom>
          <a:ln w="15875">
            <a:solidFill>
              <a:srgbClr val="9CA9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ectangle : coins arrondis 8">
            <a:extLst>
              <a:ext uri="{FF2B5EF4-FFF2-40B4-BE49-F238E27FC236}">
                <a16:creationId xmlns:a16="http://schemas.microsoft.com/office/drawing/2014/main" id="{02C777C6-34DC-F2D0-8C21-F4917CEC80CC}"/>
              </a:ext>
            </a:extLst>
          </p:cNvPr>
          <p:cNvSpPr/>
          <p:nvPr/>
        </p:nvSpPr>
        <p:spPr>
          <a:xfrm>
            <a:off x="3581400" y="2032000"/>
            <a:ext cx="2362200" cy="1625600"/>
          </a:xfrm>
          <a:prstGeom prst="roundRect">
            <a:avLst>
              <a:gd name="adj" fmla="val 9375"/>
            </a:avLst>
          </a:prstGeom>
          <a:solidFill>
            <a:srgbClr val="121A23"/>
          </a:solidFill>
          <a:ln w="9525">
            <a:solidFill>
              <a:srgbClr val="2430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ZoneTexte 9">
            <a:extLst>
              <a:ext uri="{FF2B5EF4-FFF2-40B4-BE49-F238E27FC236}">
                <a16:creationId xmlns:a16="http://schemas.microsoft.com/office/drawing/2014/main" id="{48314687-8EF9-B870-452C-262223EC24B1}"/>
              </a:ext>
            </a:extLst>
          </p:cNvPr>
          <p:cNvSpPr txBox="1"/>
          <p:nvPr/>
        </p:nvSpPr>
        <p:spPr>
          <a:xfrm>
            <a:off x="3810000" y="2235200"/>
            <a:ext cx="508000" cy="369332"/>
          </a:xfrm>
          <a:prstGeom prst="rect">
            <a:avLst/>
          </a:prstGeom>
          <a:noFill/>
        </p:spPr>
        <p:txBody>
          <a:bodyPr vert="horz" wrap="square" lIns="0" tIns="0" rIns="0" bIns="0" rtlCol="0">
            <a:noAutofit/>
          </a:bodyPr>
          <a:lstStyle/>
          <a:p>
            <a:pPr>
              <a:lnSpc>
                <a:spcPct val="115000"/>
              </a:lnSpc>
            </a:pPr>
            <a:r>
              <a:rPr lang="fr-FR" sz="1200">
                <a:solidFill>
                  <a:srgbClr val="A9CCE3"/>
                </a:solidFill>
                <a:latin typeface="Manrope SemiBold" pitchFamily="2" charset="0"/>
              </a:rPr>
              <a:t>02</a:t>
            </a:r>
          </a:p>
        </p:txBody>
      </p:sp>
      <p:sp>
        <p:nvSpPr>
          <p:cNvPr id="11" name="ZoneTexte 10">
            <a:extLst>
              <a:ext uri="{FF2B5EF4-FFF2-40B4-BE49-F238E27FC236}">
                <a16:creationId xmlns:a16="http://schemas.microsoft.com/office/drawing/2014/main" id="{19C41258-16C1-77D3-EA03-377E3FB62582}"/>
              </a:ext>
            </a:extLst>
          </p:cNvPr>
          <p:cNvSpPr txBox="1"/>
          <p:nvPr/>
        </p:nvSpPr>
        <p:spPr>
          <a:xfrm>
            <a:off x="3810000" y="2514600"/>
            <a:ext cx="2032000" cy="369332"/>
          </a:xfrm>
          <a:prstGeom prst="rect">
            <a:avLst/>
          </a:prstGeom>
          <a:noFill/>
        </p:spPr>
        <p:txBody>
          <a:bodyPr vert="horz" wrap="square" lIns="0" tIns="0" rIns="0" bIns="0" rtlCol="0">
            <a:noAutofit/>
          </a:bodyPr>
          <a:lstStyle/>
          <a:p>
            <a:pPr>
              <a:lnSpc>
                <a:spcPct val="115000"/>
              </a:lnSpc>
            </a:pPr>
            <a:r>
              <a:rPr lang="fr-FR" sz="1550">
                <a:solidFill>
                  <a:srgbClr val="F2F5F8"/>
                </a:solidFill>
                <a:latin typeface="Manrope Medium" pitchFamily="2" charset="0"/>
              </a:rPr>
              <a:t>Lien par e-mail</a:t>
            </a:r>
          </a:p>
        </p:txBody>
      </p:sp>
      <p:sp>
        <p:nvSpPr>
          <p:cNvPr id="12" name="ZoneTexte 11">
            <a:extLst>
              <a:ext uri="{FF2B5EF4-FFF2-40B4-BE49-F238E27FC236}">
                <a16:creationId xmlns:a16="http://schemas.microsoft.com/office/drawing/2014/main" id="{6B99816E-AFC7-C371-E4AE-485E6D3C1E60}"/>
              </a:ext>
            </a:extLst>
          </p:cNvPr>
          <p:cNvSpPr txBox="1"/>
          <p:nvPr/>
        </p:nvSpPr>
        <p:spPr>
          <a:xfrm>
            <a:off x="3810000" y="2844800"/>
            <a:ext cx="1930400" cy="369332"/>
          </a:xfrm>
          <a:prstGeom prst="rect">
            <a:avLst/>
          </a:prstGeom>
          <a:noFill/>
        </p:spPr>
        <p:txBody>
          <a:bodyPr vert="horz" wrap="square" lIns="0" tIns="0" rIns="0" bIns="0" rtlCol="0">
            <a:noAutofit/>
          </a:bodyPr>
          <a:lstStyle/>
          <a:p>
            <a:pPr>
              <a:lnSpc>
                <a:spcPct val="115000"/>
              </a:lnSpc>
            </a:pPr>
            <a:r>
              <a:rPr lang="fr-FR" sz="1150">
                <a:solidFill>
                  <a:srgbClr val="9CA9B6"/>
                </a:solidFill>
                <a:latin typeface="Manrope" pitchFamily="2" charset="0"/>
              </a:rPr>
              <a:t>Valable 24 heures, utilisable une seule fois.</a:t>
            </a:r>
          </a:p>
        </p:txBody>
      </p:sp>
      <p:cxnSp>
        <p:nvCxnSpPr>
          <p:cNvPr id="13" name="Connecteur droit 12">
            <a:extLst>
              <a:ext uri="{FF2B5EF4-FFF2-40B4-BE49-F238E27FC236}">
                <a16:creationId xmlns:a16="http://schemas.microsoft.com/office/drawing/2014/main" id="{DAB50CA0-9610-8BB3-CD34-1535A7AA273A}"/>
              </a:ext>
            </a:extLst>
          </p:cNvPr>
          <p:cNvCxnSpPr/>
          <p:nvPr/>
        </p:nvCxnSpPr>
        <p:spPr>
          <a:xfrm>
            <a:off x="5994400" y="2844800"/>
            <a:ext cx="203200" cy="0"/>
          </a:xfrm>
          <a:prstGeom prst="line">
            <a:avLst/>
          </a:prstGeom>
          <a:ln w="15875">
            <a:solidFill>
              <a:srgbClr val="9CA9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ectangle : coins arrondis 13">
            <a:extLst>
              <a:ext uri="{FF2B5EF4-FFF2-40B4-BE49-F238E27FC236}">
                <a16:creationId xmlns:a16="http://schemas.microsoft.com/office/drawing/2014/main" id="{B6B79028-E2C9-2D2C-7DAD-70FE540A0BA6}"/>
              </a:ext>
            </a:extLst>
          </p:cNvPr>
          <p:cNvSpPr/>
          <p:nvPr/>
        </p:nvSpPr>
        <p:spPr>
          <a:xfrm>
            <a:off x="6248400" y="2032000"/>
            <a:ext cx="2362200" cy="1625600"/>
          </a:xfrm>
          <a:prstGeom prst="roundRect">
            <a:avLst>
              <a:gd name="adj" fmla="val 9375"/>
            </a:avLst>
          </a:prstGeom>
          <a:solidFill>
            <a:srgbClr val="121A23"/>
          </a:solidFill>
          <a:ln w="9525">
            <a:solidFill>
              <a:srgbClr val="2430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ZoneTexte 14">
            <a:extLst>
              <a:ext uri="{FF2B5EF4-FFF2-40B4-BE49-F238E27FC236}">
                <a16:creationId xmlns:a16="http://schemas.microsoft.com/office/drawing/2014/main" id="{AAD90980-D898-D487-C4EB-A4EDD4ECDBEE}"/>
              </a:ext>
            </a:extLst>
          </p:cNvPr>
          <p:cNvSpPr txBox="1"/>
          <p:nvPr/>
        </p:nvSpPr>
        <p:spPr>
          <a:xfrm>
            <a:off x="6477000" y="2235200"/>
            <a:ext cx="508000" cy="369332"/>
          </a:xfrm>
          <a:prstGeom prst="rect">
            <a:avLst/>
          </a:prstGeom>
          <a:noFill/>
        </p:spPr>
        <p:txBody>
          <a:bodyPr vert="horz" wrap="square" lIns="0" tIns="0" rIns="0" bIns="0" rtlCol="0">
            <a:noAutofit/>
          </a:bodyPr>
          <a:lstStyle/>
          <a:p>
            <a:pPr>
              <a:lnSpc>
                <a:spcPct val="115000"/>
              </a:lnSpc>
            </a:pPr>
            <a:r>
              <a:rPr lang="fr-FR" sz="1200">
                <a:solidFill>
                  <a:srgbClr val="A9CCE3"/>
                </a:solidFill>
                <a:latin typeface="Manrope SemiBold" pitchFamily="2" charset="0"/>
              </a:rPr>
              <a:t>03</a:t>
            </a:r>
          </a:p>
        </p:txBody>
      </p:sp>
      <p:sp>
        <p:nvSpPr>
          <p:cNvPr id="16" name="ZoneTexte 15">
            <a:extLst>
              <a:ext uri="{FF2B5EF4-FFF2-40B4-BE49-F238E27FC236}">
                <a16:creationId xmlns:a16="http://schemas.microsoft.com/office/drawing/2014/main" id="{6C0112EF-1542-6853-19FF-1F1F158A7BAA}"/>
              </a:ext>
            </a:extLst>
          </p:cNvPr>
          <p:cNvSpPr txBox="1"/>
          <p:nvPr/>
        </p:nvSpPr>
        <p:spPr>
          <a:xfrm>
            <a:off x="6477000" y="2514600"/>
            <a:ext cx="2032000" cy="369332"/>
          </a:xfrm>
          <a:prstGeom prst="rect">
            <a:avLst/>
          </a:prstGeom>
          <a:noFill/>
        </p:spPr>
        <p:txBody>
          <a:bodyPr vert="horz" wrap="square" lIns="0" tIns="0" rIns="0" bIns="0" rtlCol="0">
            <a:noAutofit/>
          </a:bodyPr>
          <a:lstStyle/>
          <a:p>
            <a:pPr>
              <a:lnSpc>
                <a:spcPct val="115000"/>
              </a:lnSpc>
            </a:pPr>
            <a:r>
              <a:rPr lang="fr-FR" sz="1550">
                <a:solidFill>
                  <a:srgbClr val="F2F5F8"/>
                </a:solidFill>
                <a:latin typeface="Manrope Medium" pitchFamily="2" charset="0"/>
              </a:rPr>
              <a:t>Adresse confirmée</a:t>
            </a:r>
          </a:p>
        </p:txBody>
      </p:sp>
      <p:sp>
        <p:nvSpPr>
          <p:cNvPr id="17" name="ZoneTexte 16">
            <a:extLst>
              <a:ext uri="{FF2B5EF4-FFF2-40B4-BE49-F238E27FC236}">
                <a16:creationId xmlns:a16="http://schemas.microsoft.com/office/drawing/2014/main" id="{17301CF8-C5D4-5F65-A3CA-63B0623E107B}"/>
              </a:ext>
            </a:extLst>
          </p:cNvPr>
          <p:cNvSpPr txBox="1"/>
          <p:nvPr/>
        </p:nvSpPr>
        <p:spPr>
          <a:xfrm>
            <a:off x="6477000" y="2844800"/>
            <a:ext cx="1930400" cy="369332"/>
          </a:xfrm>
          <a:prstGeom prst="rect">
            <a:avLst/>
          </a:prstGeom>
          <a:noFill/>
        </p:spPr>
        <p:txBody>
          <a:bodyPr vert="horz" wrap="square" lIns="0" tIns="0" rIns="0" bIns="0" rtlCol="0">
            <a:noAutofit/>
          </a:bodyPr>
          <a:lstStyle/>
          <a:p>
            <a:pPr>
              <a:lnSpc>
                <a:spcPct val="115000"/>
              </a:lnSpc>
            </a:pPr>
            <a:r>
              <a:rPr lang="fr-FR" sz="1150">
                <a:solidFill>
                  <a:srgbClr val="9CA9B6"/>
                </a:solidFill>
                <a:latin typeface="Manrope" pitchFamily="2" charset="0"/>
              </a:rPr>
              <a:t>Seul le propriétaire de la boîte mail ouvre le compte.</a:t>
            </a:r>
          </a:p>
        </p:txBody>
      </p:sp>
      <p:cxnSp>
        <p:nvCxnSpPr>
          <p:cNvPr id="18" name="Connecteur droit 17">
            <a:extLst>
              <a:ext uri="{FF2B5EF4-FFF2-40B4-BE49-F238E27FC236}">
                <a16:creationId xmlns:a16="http://schemas.microsoft.com/office/drawing/2014/main" id="{B8E5F6FA-99D0-C2DE-3D59-1A56D9E7522E}"/>
              </a:ext>
            </a:extLst>
          </p:cNvPr>
          <p:cNvCxnSpPr/>
          <p:nvPr/>
        </p:nvCxnSpPr>
        <p:spPr>
          <a:xfrm>
            <a:off x="8661400" y="2844800"/>
            <a:ext cx="203200" cy="0"/>
          </a:xfrm>
          <a:prstGeom prst="line">
            <a:avLst/>
          </a:prstGeom>
          <a:ln w="15875">
            <a:solidFill>
              <a:srgbClr val="9CA9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 coins arrondis 18">
            <a:extLst>
              <a:ext uri="{FF2B5EF4-FFF2-40B4-BE49-F238E27FC236}">
                <a16:creationId xmlns:a16="http://schemas.microsoft.com/office/drawing/2014/main" id="{C9AF8F1F-FCCD-B995-2E84-7BB60DD34A44}"/>
              </a:ext>
            </a:extLst>
          </p:cNvPr>
          <p:cNvSpPr/>
          <p:nvPr/>
        </p:nvSpPr>
        <p:spPr>
          <a:xfrm>
            <a:off x="8915400" y="2032000"/>
            <a:ext cx="2362200" cy="1625600"/>
          </a:xfrm>
          <a:prstGeom prst="roundRect">
            <a:avLst>
              <a:gd name="adj" fmla="val 9375"/>
            </a:avLst>
          </a:prstGeom>
          <a:solidFill>
            <a:srgbClr val="121A23"/>
          </a:solidFill>
          <a:ln w="9525">
            <a:solidFill>
              <a:srgbClr val="2430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ZoneTexte 19">
            <a:extLst>
              <a:ext uri="{FF2B5EF4-FFF2-40B4-BE49-F238E27FC236}">
                <a16:creationId xmlns:a16="http://schemas.microsoft.com/office/drawing/2014/main" id="{18996304-1907-9EFC-5A93-D2401E467A96}"/>
              </a:ext>
            </a:extLst>
          </p:cNvPr>
          <p:cNvSpPr txBox="1"/>
          <p:nvPr/>
        </p:nvSpPr>
        <p:spPr>
          <a:xfrm>
            <a:off x="9144000" y="2235200"/>
            <a:ext cx="508000" cy="369332"/>
          </a:xfrm>
          <a:prstGeom prst="rect">
            <a:avLst/>
          </a:prstGeom>
          <a:noFill/>
        </p:spPr>
        <p:txBody>
          <a:bodyPr vert="horz" wrap="square" lIns="0" tIns="0" rIns="0" bIns="0" rtlCol="0">
            <a:noAutofit/>
          </a:bodyPr>
          <a:lstStyle/>
          <a:p>
            <a:pPr>
              <a:lnSpc>
                <a:spcPct val="115000"/>
              </a:lnSpc>
            </a:pPr>
            <a:r>
              <a:rPr lang="fr-FR" sz="1200">
                <a:solidFill>
                  <a:srgbClr val="A9CCE3"/>
                </a:solidFill>
                <a:latin typeface="Manrope SemiBold" pitchFamily="2" charset="0"/>
              </a:rPr>
              <a:t>04</a:t>
            </a:r>
          </a:p>
        </p:txBody>
      </p:sp>
      <p:sp>
        <p:nvSpPr>
          <p:cNvPr id="21" name="ZoneTexte 20">
            <a:extLst>
              <a:ext uri="{FF2B5EF4-FFF2-40B4-BE49-F238E27FC236}">
                <a16:creationId xmlns:a16="http://schemas.microsoft.com/office/drawing/2014/main" id="{1F762A33-407D-8FBB-43FA-ED42262A802B}"/>
              </a:ext>
            </a:extLst>
          </p:cNvPr>
          <p:cNvSpPr txBox="1"/>
          <p:nvPr/>
        </p:nvSpPr>
        <p:spPr>
          <a:xfrm>
            <a:off x="9144000" y="2514600"/>
            <a:ext cx="2032000" cy="369332"/>
          </a:xfrm>
          <a:prstGeom prst="rect">
            <a:avLst/>
          </a:prstGeom>
          <a:noFill/>
        </p:spPr>
        <p:txBody>
          <a:bodyPr vert="horz" wrap="square" lIns="0" tIns="0" rIns="0" bIns="0" rtlCol="0">
            <a:noAutofit/>
          </a:bodyPr>
          <a:lstStyle/>
          <a:p>
            <a:pPr>
              <a:lnSpc>
                <a:spcPct val="115000"/>
              </a:lnSpc>
            </a:pPr>
            <a:r>
              <a:rPr lang="fr-FR" sz="1550">
                <a:solidFill>
                  <a:srgbClr val="F2F5F8"/>
                </a:solidFill>
                <a:latin typeface="Manrope Medium" pitchFamily="2" charset="0"/>
              </a:rPr>
              <a:t>Connexion</a:t>
            </a:r>
          </a:p>
        </p:txBody>
      </p:sp>
      <p:sp>
        <p:nvSpPr>
          <p:cNvPr id="22" name="ZoneTexte 21">
            <a:extLst>
              <a:ext uri="{FF2B5EF4-FFF2-40B4-BE49-F238E27FC236}">
                <a16:creationId xmlns:a16="http://schemas.microsoft.com/office/drawing/2014/main" id="{105F713E-8E25-A9E9-4601-80877CC5B703}"/>
              </a:ext>
            </a:extLst>
          </p:cNvPr>
          <p:cNvSpPr txBox="1"/>
          <p:nvPr/>
        </p:nvSpPr>
        <p:spPr>
          <a:xfrm>
            <a:off x="9144000" y="2844800"/>
            <a:ext cx="1930400" cy="369332"/>
          </a:xfrm>
          <a:prstGeom prst="rect">
            <a:avLst/>
          </a:prstGeom>
          <a:noFill/>
        </p:spPr>
        <p:txBody>
          <a:bodyPr vert="horz" wrap="square" lIns="0" tIns="0" rIns="0" bIns="0" rtlCol="0">
            <a:noAutofit/>
          </a:bodyPr>
          <a:lstStyle/>
          <a:p>
            <a:pPr>
              <a:lnSpc>
                <a:spcPct val="115000"/>
              </a:lnSpc>
            </a:pPr>
            <a:r>
              <a:rPr lang="fr-FR" sz="1150">
                <a:solidFill>
                  <a:srgbClr val="9CA9B6"/>
                </a:solidFill>
                <a:latin typeface="Manrope" pitchFamily="2" charset="0"/>
              </a:rPr>
              <a:t>Une session sûre, invisible aux scripts.</a:t>
            </a:r>
          </a:p>
        </p:txBody>
      </p:sp>
      <p:sp>
        <p:nvSpPr>
          <p:cNvPr id="23" name="Rectangle 22">
            <a:extLst>
              <a:ext uri="{FF2B5EF4-FFF2-40B4-BE49-F238E27FC236}">
                <a16:creationId xmlns:a16="http://schemas.microsoft.com/office/drawing/2014/main" id="{ADC9E8B4-6310-61C2-F19B-81BDB17B2AFD}"/>
              </a:ext>
            </a:extLst>
          </p:cNvPr>
          <p:cNvSpPr/>
          <p:nvPr/>
        </p:nvSpPr>
        <p:spPr>
          <a:xfrm>
            <a:off x="914400" y="4191000"/>
            <a:ext cx="38100" cy="685800"/>
          </a:xfrm>
          <a:prstGeom prst="rect">
            <a:avLst/>
          </a:prstGeom>
          <a:solidFill>
            <a:srgbClr val="A9CC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ZoneTexte 23">
            <a:extLst>
              <a:ext uri="{FF2B5EF4-FFF2-40B4-BE49-F238E27FC236}">
                <a16:creationId xmlns:a16="http://schemas.microsoft.com/office/drawing/2014/main" id="{2013B04E-9F4E-B41F-347B-85CD4FF4BF0D}"/>
              </a:ext>
            </a:extLst>
          </p:cNvPr>
          <p:cNvSpPr txBox="1"/>
          <p:nvPr/>
        </p:nvSpPr>
        <p:spPr>
          <a:xfrm>
            <a:off x="1117600" y="4165600"/>
            <a:ext cx="2413000" cy="369332"/>
          </a:xfrm>
          <a:prstGeom prst="rect">
            <a:avLst/>
          </a:prstGeom>
          <a:noFill/>
        </p:spPr>
        <p:txBody>
          <a:bodyPr vert="horz" wrap="square" lIns="0" tIns="0" rIns="0" bIns="0" rtlCol="0">
            <a:noAutofit/>
          </a:bodyPr>
          <a:lstStyle/>
          <a:p>
            <a:pPr>
              <a:lnSpc>
                <a:spcPct val="105000"/>
              </a:lnSpc>
            </a:pPr>
            <a:r>
              <a:rPr lang="fr-FR" sz="1500">
                <a:solidFill>
                  <a:srgbClr val="F2F5F8"/>
                </a:solidFill>
                <a:latin typeface="Manrope Medium" pitchFamily="2" charset="0"/>
              </a:rPr>
              <a:t>Mots de passe hachés</a:t>
            </a:r>
          </a:p>
        </p:txBody>
      </p:sp>
      <p:sp>
        <p:nvSpPr>
          <p:cNvPr id="25" name="ZoneTexte 24">
            <a:extLst>
              <a:ext uri="{FF2B5EF4-FFF2-40B4-BE49-F238E27FC236}">
                <a16:creationId xmlns:a16="http://schemas.microsoft.com/office/drawing/2014/main" id="{42ACFA26-B0AD-5218-B5ED-813EC5A07918}"/>
              </a:ext>
            </a:extLst>
          </p:cNvPr>
          <p:cNvSpPr txBox="1"/>
          <p:nvPr/>
        </p:nvSpPr>
        <p:spPr>
          <a:xfrm>
            <a:off x="1117600" y="4775200"/>
            <a:ext cx="2413000" cy="369332"/>
          </a:xfrm>
          <a:prstGeom prst="rect">
            <a:avLst/>
          </a:prstGeom>
          <a:noFill/>
        </p:spPr>
        <p:txBody>
          <a:bodyPr vert="horz" wrap="square" lIns="0" tIns="0" rIns="0" bIns="0" rtlCol="0">
            <a:noAutofit/>
          </a:bodyPr>
          <a:lstStyle/>
          <a:p>
            <a:pPr>
              <a:lnSpc>
                <a:spcPct val="115000"/>
              </a:lnSpc>
            </a:pPr>
            <a:r>
              <a:rPr lang="fr-FR" sz="1200">
                <a:solidFill>
                  <a:srgbClr val="9CA9B6"/>
                </a:solidFill>
                <a:latin typeface="Manrope" pitchFamily="2" charset="0"/>
              </a:rPr>
              <a:t>Illisibles, même pour nous.</a:t>
            </a:r>
          </a:p>
        </p:txBody>
      </p:sp>
      <p:sp>
        <p:nvSpPr>
          <p:cNvPr id="26" name="Rectangle 25">
            <a:extLst>
              <a:ext uri="{FF2B5EF4-FFF2-40B4-BE49-F238E27FC236}">
                <a16:creationId xmlns:a16="http://schemas.microsoft.com/office/drawing/2014/main" id="{7BF8C5FE-C0CD-9C79-8141-D168636DDCC4}"/>
              </a:ext>
            </a:extLst>
          </p:cNvPr>
          <p:cNvSpPr/>
          <p:nvPr/>
        </p:nvSpPr>
        <p:spPr>
          <a:xfrm>
            <a:off x="3581400" y="4191000"/>
            <a:ext cx="38100" cy="685800"/>
          </a:xfrm>
          <a:prstGeom prst="rect">
            <a:avLst/>
          </a:prstGeom>
          <a:solidFill>
            <a:srgbClr val="A9CC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7" name="ZoneTexte 26">
            <a:extLst>
              <a:ext uri="{FF2B5EF4-FFF2-40B4-BE49-F238E27FC236}">
                <a16:creationId xmlns:a16="http://schemas.microsoft.com/office/drawing/2014/main" id="{AE558CB2-0220-70AD-2B4E-6D3D04E38E40}"/>
              </a:ext>
            </a:extLst>
          </p:cNvPr>
          <p:cNvSpPr txBox="1"/>
          <p:nvPr/>
        </p:nvSpPr>
        <p:spPr>
          <a:xfrm>
            <a:off x="3784600" y="4165600"/>
            <a:ext cx="2413000" cy="369332"/>
          </a:xfrm>
          <a:prstGeom prst="rect">
            <a:avLst/>
          </a:prstGeom>
          <a:noFill/>
        </p:spPr>
        <p:txBody>
          <a:bodyPr vert="horz" wrap="square" lIns="0" tIns="0" rIns="0" bIns="0" rtlCol="0">
            <a:noAutofit/>
          </a:bodyPr>
          <a:lstStyle/>
          <a:p>
            <a:pPr>
              <a:lnSpc>
                <a:spcPct val="105000"/>
              </a:lnSpc>
            </a:pPr>
            <a:r>
              <a:rPr lang="fr-FR" sz="1500">
                <a:solidFill>
                  <a:srgbClr val="F2F5F8"/>
                </a:solidFill>
                <a:latin typeface="Manrope Medium" pitchFamily="2" charset="0"/>
              </a:rPr>
              <a:t>Cinq essais, puis pause</a:t>
            </a:r>
          </a:p>
        </p:txBody>
      </p:sp>
      <p:sp>
        <p:nvSpPr>
          <p:cNvPr id="28" name="ZoneTexte 27">
            <a:extLst>
              <a:ext uri="{FF2B5EF4-FFF2-40B4-BE49-F238E27FC236}">
                <a16:creationId xmlns:a16="http://schemas.microsoft.com/office/drawing/2014/main" id="{EACDC883-770F-E659-153F-BDEAD1A0B517}"/>
              </a:ext>
            </a:extLst>
          </p:cNvPr>
          <p:cNvSpPr txBox="1"/>
          <p:nvPr/>
        </p:nvSpPr>
        <p:spPr>
          <a:xfrm>
            <a:off x="3784600" y="4775200"/>
            <a:ext cx="2413000" cy="369332"/>
          </a:xfrm>
          <a:prstGeom prst="rect">
            <a:avLst/>
          </a:prstGeom>
          <a:noFill/>
        </p:spPr>
        <p:txBody>
          <a:bodyPr vert="horz" wrap="square" lIns="0" tIns="0" rIns="0" bIns="0" rtlCol="0">
            <a:noAutofit/>
          </a:bodyPr>
          <a:lstStyle/>
          <a:p>
            <a:pPr>
              <a:lnSpc>
                <a:spcPct val="115000"/>
              </a:lnSpc>
            </a:pPr>
            <a:r>
              <a:rPr lang="fr-FR" sz="1200">
                <a:solidFill>
                  <a:srgbClr val="9CA9B6"/>
                </a:solidFill>
                <a:latin typeface="Manrope" pitchFamily="2" charset="0"/>
              </a:rPr>
              <a:t>Les tentatives en rafale sont bloquées.</a:t>
            </a:r>
          </a:p>
        </p:txBody>
      </p:sp>
      <p:sp>
        <p:nvSpPr>
          <p:cNvPr id="29" name="Rectangle 28">
            <a:extLst>
              <a:ext uri="{FF2B5EF4-FFF2-40B4-BE49-F238E27FC236}">
                <a16:creationId xmlns:a16="http://schemas.microsoft.com/office/drawing/2014/main" id="{44D6A524-8BB1-2D43-12F9-E22018486DA0}"/>
              </a:ext>
            </a:extLst>
          </p:cNvPr>
          <p:cNvSpPr/>
          <p:nvPr/>
        </p:nvSpPr>
        <p:spPr>
          <a:xfrm>
            <a:off x="6248400" y="4191000"/>
            <a:ext cx="38100" cy="685800"/>
          </a:xfrm>
          <a:prstGeom prst="rect">
            <a:avLst/>
          </a:prstGeom>
          <a:solidFill>
            <a:srgbClr val="A9CC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0" name="ZoneTexte 29">
            <a:extLst>
              <a:ext uri="{FF2B5EF4-FFF2-40B4-BE49-F238E27FC236}">
                <a16:creationId xmlns:a16="http://schemas.microsoft.com/office/drawing/2014/main" id="{CCACCDCD-9059-383C-5965-17A4206725F6}"/>
              </a:ext>
            </a:extLst>
          </p:cNvPr>
          <p:cNvSpPr txBox="1"/>
          <p:nvPr/>
        </p:nvSpPr>
        <p:spPr>
          <a:xfrm>
            <a:off x="6451600" y="4165600"/>
            <a:ext cx="2413000" cy="369332"/>
          </a:xfrm>
          <a:prstGeom prst="rect">
            <a:avLst/>
          </a:prstGeom>
          <a:noFill/>
        </p:spPr>
        <p:txBody>
          <a:bodyPr vert="horz" wrap="square" lIns="0" tIns="0" rIns="0" bIns="0" rtlCol="0">
            <a:noAutofit/>
          </a:bodyPr>
          <a:lstStyle/>
          <a:p>
            <a:pPr>
              <a:lnSpc>
                <a:spcPct val="105000"/>
              </a:lnSpc>
            </a:pPr>
            <a:r>
              <a:rPr lang="fr-FR" sz="1500">
                <a:solidFill>
                  <a:srgbClr val="F2F5F8"/>
                </a:solidFill>
                <a:latin typeface="Manrope Medium" pitchFamily="2" charset="0"/>
              </a:rPr>
              <a:t>Aucun secret en clair</a:t>
            </a:r>
          </a:p>
        </p:txBody>
      </p:sp>
      <p:sp>
        <p:nvSpPr>
          <p:cNvPr id="31" name="ZoneTexte 30">
            <a:extLst>
              <a:ext uri="{FF2B5EF4-FFF2-40B4-BE49-F238E27FC236}">
                <a16:creationId xmlns:a16="http://schemas.microsoft.com/office/drawing/2014/main" id="{84A98D7A-6D9F-301F-7F38-577907842555}"/>
              </a:ext>
            </a:extLst>
          </p:cNvPr>
          <p:cNvSpPr txBox="1"/>
          <p:nvPr/>
        </p:nvSpPr>
        <p:spPr>
          <a:xfrm>
            <a:off x="6451600" y="4775200"/>
            <a:ext cx="2413000" cy="369332"/>
          </a:xfrm>
          <a:prstGeom prst="rect">
            <a:avLst/>
          </a:prstGeom>
          <a:noFill/>
        </p:spPr>
        <p:txBody>
          <a:bodyPr vert="horz" wrap="square" lIns="0" tIns="0" rIns="0" bIns="0" rtlCol="0">
            <a:noAutofit/>
          </a:bodyPr>
          <a:lstStyle/>
          <a:p>
            <a:pPr>
              <a:lnSpc>
                <a:spcPct val="115000"/>
              </a:lnSpc>
            </a:pPr>
            <a:r>
              <a:rPr lang="fr-FR" sz="1200">
                <a:solidFill>
                  <a:srgbClr val="9CA9B6"/>
                </a:solidFill>
                <a:latin typeface="Manrope" pitchFamily="2" charset="0"/>
              </a:rPr>
              <a:t>Les clés vivent hors du dépôt.</a:t>
            </a:r>
          </a:p>
        </p:txBody>
      </p:sp>
      <p:sp>
        <p:nvSpPr>
          <p:cNvPr id="32" name="Rectangle 31">
            <a:extLst>
              <a:ext uri="{FF2B5EF4-FFF2-40B4-BE49-F238E27FC236}">
                <a16:creationId xmlns:a16="http://schemas.microsoft.com/office/drawing/2014/main" id="{800864E0-70F7-DC99-BDC0-3AC13245F404}"/>
              </a:ext>
            </a:extLst>
          </p:cNvPr>
          <p:cNvSpPr/>
          <p:nvPr/>
        </p:nvSpPr>
        <p:spPr>
          <a:xfrm>
            <a:off x="8915400" y="4191000"/>
            <a:ext cx="38100" cy="685800"/>
          </a:xfrm>
          <a:prstGeom prst="rect">
            <a:avLst/>
          </a:prstGeom>
          <a:solidFill>
            <a:srgbClr val="A9CC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3" name="ZoneTexte 32">
            <a:extLst>
              <a:ext uri="{FF2B5EF4-FFF2-40B4-BE49-F238E27FC236}">
                <a16:creationId xmlns:a16="http://schemas.microsoft.com/office/drawing/2014/main" id="{9233C10A-C3B6-3980-0734-561E703C319D}"/>
              </a:ext>
            </a:extLst>
          </p:cNvPr>
          <p:cNvSpPr txBox="1"/>
          <p:nvPr/>
        </p:nvSpPr>
        <p:spPr>
          <a:xfrm>
            <a:off x="9118600" y="4165600"/>
            <a:ext cx="2413000" cy="369332"/>
          </a:xfrm>
          <a:prstGeom prst="rect">
            <a:avLst/>
          </a:prstGeom>
          <a:noFill/>
        </p:spPr>
        <p:txBody>
          <a:bodyPr vert="horz" wrap="square" lIns="0" tIns="0" rIns="0" bIns="0" rtlCol="0">
            <a:noAutofit/>
          </a:bodyPr>
          <a:lstStyle/>
          <a:p>
            <a:pPr>
              <a:lnSpc>
                <a:spcPct val="105000"/>
              </a:lnSpc>
            </a:pPr>
            <a:r>
              <a:rPr lang="fr-FR" sz="1500">
                <a:solidFill>
                  <a:srgbClr val="F2F5F8"/>
                </a:solidFill>
                <a:latin typeface="Manrope Medium" pitchFamily="2" charset="0"/>
              </a:rPr>
              <a:t>Jamais au nom d'un autre</a:t>
            </a:r>
          </a:p>
        </p:txBody>
      </p:sp>
      <p:sp>
        <p:nvSpPr>
          <p:cNvPr id="34" name="ZoneTexte 33">
            <a:extLst>
              <a:ext uri="{FF2B5EF4-FFF2-40B4-BE49-F238E27FC236}">
                <a16:creationId xmlns:a16="http://schemas.microsoft.com/office/drawing/2014/main" id="{F8D4F0C3-B9C5-E257-1DAA-D344BD783961}"/>
              </a:ext>
            </a:extLst>
          </p:cNvPr>
          <p:cNvSpPr txBox="1"/>
          <p:nvPr/>
        </p:nvSpPr>
        <p:spPr>
          <a:xfrm>
            <a:off x="9118600" y="4775200"/>
            <a:ext cx="2413000" cy="369332"/>
          </a:xfrm>
          <a:prstGeom prst="rect">
            <a:avLst/>
          </a:prstGeom>
          <a:noFill/>
        </p:spPr>
        <p:txBody>
          <a:bodyPr vert="horz" wrap="square" lIns="0" tIns="0" rIns="0" bIns="0" rtlCol="0">
            <a:noAutofit/>
          </a:bodyPr>
          <a:lstStyle/>
          <a:p>
            <a:pPr>
              <a:lnSpc>
                <a:spcPct val="115000"/>
              </a:lnSpc>
            </a:pPr>
            <a:r>
              <a:rPr lang="fr-FR" sz="1200">
                <a:solidFill>
                  <a:srgbClr val="9CA9B6"/>
                </a:solidFill>
                <a:latin typeface="Manrope" pitchFamily="2" charset="0"/>
              </a:rPr>
              <a:t>Une adresse déjà connue exige la connexion.</a:t>
            </a:r>
          </a:p>
        </p:txBody>
      </p:sp>
    </p:spTree>
    <p:extLst>
      <p:ext uri="{BB962C8B-B14F-4D97-AF65-F5344CB8AC3E}">
        <p14:creationId xmlns:p14="http://schemas.microsoft.com/office/powerpoint/2010/main" val="261944423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15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par>
                                <p:cTn id="11" presetID="10" presetClass="entr" presetSubtype="0" fill="hold" grpId="0" nodeType="withEffect">
                                  <p:stCondLst>
                                    <p:cond delay="37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childTnLst>
                                </p:cTn>
                              </p:par>
                              <p:par>
                                <p:cTn id="14" presetID="10" presetClass="entr" presetSubtype="0" fill="hold" grpId="0" nodeType="withEffect">
                                  <p:stCondLst>
                                    <p:cond delay="37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childTnLst>
                                </p:cTn>
                              </p:par>
                              <p:par>
                                <p:cTn id="17" presetID="10" presetClass="entr" presetSubtype="0" fill="hold" grpId="0" nodeType="withEffect">
                                  <p:stCondLst>
                                    <p:cond delay="37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childTnLst>
                                </p:cTn>
                              </p:par>
                              <p:par>
                                <p:cTn id="20" presetID="10" presetClass="entr" presetSubtype="0" fill="hold" grpId="0" nodeType="withEffect">
                                  <p:stCondLst>
                                    <p:cond delay="37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par>
                                <p:cTn id="23" presetID="10" presetClass="entr" presetSubtype="0" fill="hold" nodeType="withEffect">
                                  <p:stCondLst>
                                    <p:cond delay="37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childTnLst>
                                </p:cTn>
                              </p:par>
                              <p:par>
                                <p:cTn id="26" presetID="10" presetClass="entr" presetSubtype="0" fill="hold" grpId="0" nodeType="withEffect">
                                  <p:stCondLst>
                                    <p:cond delay="59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500"/>
                                        <p:tgtEl>
                                          <p:spTgt spid="9"/>
                                        </p:tgtEl>
                                      </p:cBhvr>
                                    </p:animEffect>
                                  </p:childTnLst>
                                </p:cTn>
                              </p:par>
                              <p:par>
                                <p:cTn id="29" presetID="10" presetClass="entr" presetSubtype="0" fill="hold" grpId="0" nodeType="withEffect">
                                  <p:stCondLst>
                                    <p:cond delay="59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500"/>
                                        <p:tgtEl>
                                          <p:spTgt spid="10"/>
                                        </p:tgtEl>
                                      </p:cBhvr>
                                    </p:animEffect>
                                  </p:childTnLst>
                                </p:cTn>
                              </p:par>
                              <p:par>
                                <p:cTn id="32" presetID="10" presetClass="entr" presetSubtype="0" fill="hold" grpId="0" nodeType="withEffect">
                                  <p:stCondLst>
                                    <p:cond delay="59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500"/>
                                        <p:tgtEl>
                                          <p:spTgt spid="11"/>
                                        </p:tgtEl>
                                      </p:cBhvr>
                                    </p:animEffect>
                                  </p:childTnLst>
                                </p:cTn>
                              </p:par>
                              <p:par>
                                <p:cTn id="35" presetID="10" presetClass="entr" presetSubtype="0" fill="hold" grpId="0" nodeType="withEffect">
                                  <p:stCondLst>
                                    <p:cond delay="59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500"/>
                                        <p:tgtEl>
                                          <p:spTgt spid="12"/>
                                        </p:tgtEl>
                                      </p:cBhvr>
                                    </p:animEffect>
                                  </p:childTnLst>
                                </p:cTn>
                              </p:par>
                              <p:par>
                                <p:cTn id="38" presetID="10" presetClass="entr" presetSubtype="0" fill="hold" nodeType="withEffect">
                                  <p:stCondLst>
                                    <p:cond delay="59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00"/>
                                        <p:tgtEl>
                                          <p:spTgt spid="13"/>
                                        </p:tgtEl>
                                      </p:cBhvr>
                                    </p:animEffect>
                                  </p:childTnLst>
                                </p:cTn>
                              </p:par>
                              <p:par>
                                <p:cTn id="41" presetID="10" presetClass="entr" presetSubtype="0" fill="hold" grpId="0" nodeType="withEffect">
                                  <p:stCondLst>
                                    <p:cond delay="81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500"/>
                                        <p:tgtEl>
                                          <p:spTgt spid="14"/>
                                        </p:tgtEl>
                                      </p:cBhvr>
                                    </p:animEffect>
                                  </p:childTnLst>
                                </p:cTn>
                              </p:par>
                              <p:par>
                                <p:cTn id="44" presetID="10" presetClass="entr" presetSubtype="0" fill="hold" grpId="0" nodeType="withEffect">
                                  <p:stCondLst>
                                    <p:cond delay="81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00"/>
                                        <p:tgtEl>
                                          <p:spTgt spid="15"/>
                                        </p:tgtEl>
                                      </p:cBhvr>
                                    </p:animEffect>
                                  </p:childTnLst>
                                </p:cTn>
                              </p:par>
                              <p:par>
                                <p:cTn id="47" presetID="10" presetClass="entr" presetSubtype="0" fill="hold" grpId="0" nodeType="withEffect">
                                  <p:stCondLst>
                                    <p:cond delay="81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500"/>
                                        <p:tgtEl>
                                          <p:spTgt spid="16"/>
                                        </p:tgtEl>
                                      </p:cBhvr>
                                    </p:animEffect>
                                  </p:childTnLst>
                                </p:cTn>
                              </p:par>
                              <p:par>
                                <p:cTn id="50" presetID="10" presetClass="entr" presetSubtype="0" fill="hold" grpId="0" nodeType="withEffect">
                                  <p:stCondLst>
                                    <p:cond delay="81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00"/>
                                        <p:tgtEl>
                                          <p:spTgt spid="17"/>
                                        </p:tgtEl>
                                      </p:cBhvr>
                                    </p:animEffect>
                                  </p:childTnLst>
                                </p:cTn>
                              </p:par>
                              <p:par>
                                <p:cTn id="53" presetID="10" presetClass="entr" presetSubtype="0" fill="hold" nodeType="withEffect">
                                  <p:stCondLst>
                                    <p:cond delay="81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500"/>
                                        <p:tgtEl>
                                          <p:spTgt spid="18"/>
                                        </p:tgtEl>
                                      </p:cBhvr>
                                    </p:animEffect>
                                  </p:childTnLst>
                                </p:cTn>
                              </p:par>
                              <p:par>
                                <p:cTn id="56" presetID="10" presetClass="entr" presetSubtype="0" fill="hold" grpId="0" nodeType="withEffect">
                                  <p:stCondLst>
                                    <p:cond delay="103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500"/>
                                        <p:tgtEl>
                                          <p:spTgt spid="19"/>
                                        </p:tgtEl>
                                      </p:cBhvr>
                                    </p:animEffect>
                                  </p:childTnLst>
                                </p:cTn>
                              </p:par>
                              <p:par>
                                <p:cTn id="59" presetID="10" presetClass="entr" presetSubtype="0" fill="hold" grpId="0" nodeType="withEffect">
                                  <p:stCondLst>
                                    <p:cond delay="103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500"/>
                                        <p:tgtEl>
                                          <p:spTgt spid="20"/>
                                        </p:tgtEl>
                                      </p:cBhvr>
                                    </p:animEffect>
                                  </p:childTnLst>
                                </p:cTn>
                              </p:par>
                              <p:par>
                                <p:cTn id="62" presetID="10" presetClass="entr" presetSubtype="0" fill="hold" grpId="0" nodeType="withEffect">
                                  <p:stCondLst>
                                    <p:cond delay="1030"/>
                                  </p:stCondLst>
                                  <p:childTnLst>
                                    <p:set>
                                      <p:cBhvr>
                                        <p:cTn id="63" dur="1" fill="hold">
                                          <p:stCondLst>
                                            <p:cond delay="0"/>
                                          </p:stCondLst>
                                        </p:cTn>
                                        <p:tgtEl>
                                          <p:spTgt spid="21"/>
                                        </p:tgtEl>
                                        <p:attrNameLst>
                                          <p:attrName>style.visibility</p:attrName>
                                        </p:attrNameLst>
                                      </p:cBhvr>
                                      <p:to>
                                        <p:strVal val="visible"/>
                                      </p:to>
                                    </p:set>
                                    <p:animEffect transition="in" filter="fade">
                                      <p:cBhvr>
                                        <p:cTn id="64" dur="500"/>
                                        <p:tgtEl>
                                          <p:spTgt spid="21"/>
                                        </p:tgtEl>
                                      </p:cBhvr>
                                    </p:animEffect>
                                  </p:childTnLst>
                                </p:cTn>
                              </p:par>
                              <p:par>
                                <p:cTn id="65" presetID="10" presetClass="entr" presetSubtype="0" fill="hold" grpId="0" nodeType="withEffect">
                                  <p:stCondLst>
                                    <p:cond delay="103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500"/>
                                        <p:tgtEl>
                                          <p:spTgt spid="22"/>
                                        </p:tgtEl>
                                      </p:cBhvr>
                                    </p:animEffect>
                                  </p:childTnLst>
                                </p:cTn>
                              </p:par>
                              <p:par>
                                <p:cTn id="68" presetID="10" presetClass="entr" presetSubtype="0" fill="hold" grpId="0" nodeType="withEffect">
                                  <p:stCondLst>
                                    <p:cond delay="1250"/>
                                  </p:stCondLst>
                                  <p:childTnLst>
                                    <p:set>
                                      <p:cBhvr>
                                        <p:cTn id="69" dur="1" fill="hold">
                                          <p:stCondLst>
                                            <p:cond delay="0"/>
                                          </p:stCondLst>
                                        </p:cTn>
                                        <p:tgtEl>
                                          <p:spTgt spid="23"/>
                                        </p:tgtEl>
                                        <p:attrNameLst>
                                          <p:attrName>style.visibility</p:attrName>
                                        </p:attrNameLst>
                                      </p:cBhvr>
                                      <p:to>
                                        <p:strVal val="visible"/>
                                      </p:to>
                                    </p:set>
                                    <p:animEffect transition="in" filter="fade">
                                      <p:cBhvr>
                                        <p:cTn id="70" dur="500"/>
                                        <p:tgtEl>
                                          <p:spTgt spid="23"/>
                                        </p:tgtEl>
                                      </p:cBhvr>
                                    </p:animEffect>
                                  </p:childTnLst>
                                </p:cTn>
                              </p:par>
                              <p:par>
                                <p:cTn id="71" presetID="10" presetClass="entr" presetSubtype="0" fill="hold" grpId="0" nodeType="withEffect">
                                  <p:stCondLst>
                                    <p:cond delay="1250"/>
                                  </p:stCondLst>
                                  <p:childTnLst>
                                    <p:set>
                                      <p:cBhvr>
                                        <p:cTn id="72" dur="1" fill="hold">
                                          <p:stCondLst>
                                            <p:cond delay="0"/>
                                          </p:stCondLst>
                                        </p:cTn>
                                        <p:tgtEl>
                                          <p:spTgt spid="24"/>
                                        </p:tgtEl>
                                        <p:attrNameLst>
                                          <p:attrName>style.visibility</p:attrName>
                                        </p:attrNameLst>
                                      </p:cBhvr>
                                      <p:to>
                                        <p:strVal val="visible"/>
                                      </p:to>
                                    </p:set>
                                    <p:animEffect transition="in" filter="fade">
                                      <p:cBhvr>
                                        <p:cTn id="73" dur="500"/>
                                        <p:tgtEl>
                                          <p:spTgt spid="24"/>
                                        </p:tgtEl>
                                      </p:cBhvr>
                                    </p:animEffect>
                                  </p:childTnLst>
                                </p:cTn>
                              </p:par>
                              <p:par>
                                <p:cTn id="74" presetID="10" presetClass="entr" presetSubtype="0" fill="hold" grpId="0" nodeType="withEffect">
                                  <p:stCondLst>
                                    <p:cond delay="1250"/>
                                  </p:stCondLst>
                                  <p:childTnLst>
                                    <p:set>
                                      <p:cBhvr>
                                        <p:cTn id="75" dur="1" fill="hold">
                                          <p:stCondLst>
                                            <p:cond delay="0"/>
                                          </p:stCondLst>
                                        </p:cTn>
                                        <p:tgtEl>
                                          <p:spTgt spid="25"/>
                                        </p:tgtEl>
                                        <p:attrNameLst>
                                          <p:attrName>style.visibility</p:attrName>
                                        </p:attrNameLst>
                                      </p:cBhvr>
                                      <p:to>
                                        <p:strVal val="visible"/>
                                      </p:to>
                                    </p:set>
                                    <p:animEffect transition="in" filter="fade">
                                      <p:cBhvr>
                                        <p:cTn id="76" dur="500"/>
                                        <p:tgtEl>
                                          <p:spTgt spid="25"/>
                                        </p:tgtEl>
                                      </p:cBhvr>
                                    </p:animEffect>
                                  </p:childTnLst>
                                </p:cTn>
                              </p:par>
                              <p:par>
                                <p:cTn id="77" presetID="10" presetClass="entr" presetSubtype="0" fill="hold" grpId="0" nodeType="withEffect">
                                  <p:stCondLst>
                                    <p:cond delay="1470"/>
                                  </p:stCondLst>
                                  <p:childTnLst>
                                    <p:set>
                                      <p:cBhvr>
                                        <p:cTn id="78" dur="1" fill="hold">
                                          <p:stCondLst>
                                            <p:cond delay="0"/>
                                          </p:stCondLst>
                                        </p:cTn>
                                        <p:tgtEl>
                                          <p:spTgt spid="26"/>
                                        </p:tgtEl>
                                        <p:attrNameLst>
                                          <p:attrName>style.visibility</p:attrName>
                                        </p:attrNameLst>
                                      </p:cBhvr>
                                      <p:to>
                                        <p:strVal val="visible"/>
                                      </p:to>
                                    </p:set>
                                    <p:animEffect transition="in" filter="fade">
                                      <p:cBhvr>
                                        <p:cTn id="79" dur="500"/>
                                        <p:tgtEl>
                                          <p:spTgt spid="26"/>
                                        </p:tgtEl>
                                      </p:cBhvr>
                                    </p:animEffect>
                                  </p:childTnLst>
                                </p:cTn>
                              </p:par>
                              <p:par>
                                <p:cTn id="80" presetID="10" presetClass="entr" presetSubtype="0" fill="hold" grpId="0" nodeType="withEffect">
                                  <p:stCondLst>
                                    <p:cond delay="1470"/>
                                  </p:stCondLst>
                                  <p:childTnLst>
                                    <p:set>
                                      <p:cBhvr>
                                        <p:cTn id="81" dur="1" fill="hold">
                                          <p:stCondLst>
                                            <p:cond delay="0"/>
                                          </p:stCondLst>
                                        </p:cTn>
                                        <p:tgtEl>
                                          <p:spTgt spid="27"/>
                                        </p:tgtEl>
                                        <p:attrNameLst>
                                          <p:attrName>style.visibility</p:attrName>
                                        </p:attrNameLst>
                                      </p:cBhvr>
                                      <p:to>
                                        <p:strVal val="visible"/>
                                      </p:to>
                                    </p:set>
                                    <p:animEffect transition="in" filter="fade">
                                      <p:cBhvr>
                                        <p:cTn id="82" dur="500"/>
                                        <p:tgtEl>
                                          <p:spTgt spid="27"/>
                                        </p:tgtEl>
                                      </p:cBhvr>
                                    </p:animEffect>
                                  </p:childTnLst>
                                </p:cTn>
                              </p:par>
                              <p:par>
                                <p:cTn id="83" presetID="10" presetClass="entr" presetSubtype="0" fill="hold" grpId="0" nodeType="withEffect">
                                  <p:stCondLst>
                                    <p:cond delay="1470"/>
                                  </p:stCondLst>
                                  <p:childTnLst>
                                    <p:set>
                                      <p:cBhvr>
                                        <p:cTn id="84" dur="1" fill="hold">
                                          <p:stCondLst>
                                            <p:cond delay="0"/>
                                          </p:stCondLst>
                                        </p:cTn>
                                        <p:tgtEl>
                                          <p:spTgt spid="28"/>
                                        </p:tgtEl>
                                        <p:attrNameLst>
                                          <p:attrName>style.visibility</p:attrName>
                                        </p:attrNameLst>
                                      </p:cBhvr>
                                      <p:to>
                                        <p:strVal val="visible"/>
                                      </p:to>
                                    </p:set>
                                    <p:animEffect transition="in" filter="fade">
                                      <p:cBhvr>
                                        <p:cTn id="85" dur="500"/>
                                        <p:tgtEl>
                                          <p:spTgt spid="28"/>
                                        </p:tgtEl>
                                      </p:cBhvr>
                                    </p:animEffect>
                                  </p:childTnLst>
                                </p:cTn>
                              </p:par>
                              <p:par>
                                <p:cTn id="86" presetID="10" presetClass="entr" presetSubtype="0" fill="hold" grpId="0" nodeType="withEffect">
                                  <p:stCondLst>
                                    <p:cond delay="1690"/>
                                  </p:stCondLst>
                                  <p:childTnLst>
                                    <p:set>
                                      <p:cBhvr>
                                        <p:cTn id="87" dur="1" fill="hold">
                                          <p:stCondLst>
                                            <p:cond delay="0"/>
                                          </p:stCondLst>
                                        </p:cTn>
                                        <p:tgtEl>
                                          <p:spTgt spid="29"/>
                                        </p:tgtEl>
                                        <p:attrNameLst>
                                          <p:attrName>style.visibility</p:attrName>
                                        </p:attrNameLst>
                                      </p:cBhvr>
                                      <p:to>
                                        <p:strVal val="visible"/>
                                      </p:to>
                                    </p:set>
                                    <p:animEffect transition="in" filter="fade">
                                      <p:cBhvr>
                                        <p:cTn id="88" dur="500"/>
                                        <p:tgtEl>
                                          <p:spTgt spid="29"/>
                                        </p:tgtEl>
                                      </p:cBhvr>
                                    </p:animEffect>
                                  </p:childTnLst>
                                </p:cTn>
                              </p:par>
                              <p:par>
                                <p:cTn id="89" presetID="10" presetClass="entr" presetSubtype="0" fill="hold" grpId="0" nodeType="withEffect">
                                  <p:stCondLst>
                                    <p:cond delay="1690"/>
                                  </p:stCondLst>
                                  <p:childTnLst>
                                    <p:set>
                                      <p:cBhvr>
                                        <p:cTn id="90" dur="1" fill="hold">
                                          <p:stCondLst>
                                            <p:cond delay="0"/>
                                          </p:stCondLst>
                                        </p:cTn>
                                        <p:tgtEl>
                                          <p:spTgt spid="30"/>
                                        </p:tgtEl>
                                        <p:attrNameLst>
                                          <p:attrName>style.visibility</p:attrName>
                                        </p:attrNameLst>
                                      </p:cBhvr>
                                      <p:to>
                                        <p:strVal val="visible"/>
                                      </p:to>
                                    </p:set>
                                    <p:animEffect transition="in" filter="fade">
                                      <p:cBhvr>
                                        <p:cTn id="91" dur="500"/>
                                        <p:tgtEl>
                                          <p:spTgt spid="30"/>
                                        </p:tgtEl>
                                      </p:cBhvr>
                                    </p:animEffect>
                                  </p:childTnLst>
                                </p:cTn>
                              </p:par>
                              <p:par>
                                <p:cTn id="92" presetID="10" presetClass="entr" presetSubtype="0" fill="hold" grpId="0" nodeType="withEffect">
                                  <p:stCondLst>
                                    <p:cond delay="1690"/>
                                  </p:stCondLst>
                                  <p:childTnLst>
                                    <p:set>
                                      <p:cBhvr>
                                        <p:cTn id="93" dur="1" fill="hold">
                                          <p:stCondLst>
                                            <p:cond delay="0"/>
                                          </p:stCondLst>
                                        </p:cTn>
                                        <p:tgtEl>
                                          <p:spTgt spid="31"/>
                                        </p:tgtEl>
                                        <p:attrNameLst>
                                          <p:attrName>style.visibility</p:attrName>
                                        </p:attrNameLst>
                                      </p:cBhvr>
                                      <p:to>
                                        <p:strVal val="visible"/>
                                      </p:to>
                                    </p:set>
                                    <p:animEffect transition="in" filter="fade">
                                      <p:cBhvr>
                                        <p:cTn id="94" dur="500"/>
                                        <p:tgtEl>
                                          <p:spTgt spid="31"/>
                                        </p:tgtEl>
                                      </p:cBhvr>
                                    </p:animEffect>
                                  </p:childTnLst>
                                </p:cTn>
                              </p:par>
                              <p:par>
                                <p:cTn id="95" presetID="10" presetClass="entr" presetSubtype="0" fill="hold" grpId="0" nodeType="withEffect">
                                  <p:stCondLst>
                                    <p:cond delay="1910"/>
                                  </p:stCondLst>
                                  <p:childTnLst>
                                    <p:set>
                                      <p:cBhvr>
                                        <p:cTn id="96" dur="1" fill="hold">
                                          <p:stCondLst>
                                            <p:cond delay="0"/>
                                          </p:stCondLst>
                                        </p:cTn>
                                        <p:tgtEl>
                                          <p:spTgt spid="32"/>
                                        </p:tgtEl>
                                        <p:attrNameLst>
                                          <p:attrName>style.visibility</p:attrName>
                                        </p:attrNameLst>
                                      </p:cBhvr>
                                      <p:to>
                                        <p:strVal val="visible"/>
                                      </p:to>
                                    </p:set>
                                    <p:animEffect transition="in" filter="fade">
                                      <p:cBhvr>
                                        <p:cTn id="97" dur="500"/>
                                        <p:tgtEl>
                                          <p:spTgt spid="32"/>
                                        </p:tgtEl>
                                      </p:cBhvr>
                                    </p:animEffect>
                                  </p:childTnLst>
                                </p:cTn>
                              </p:par>
                              <p:par>
                                <p:cTn id="98" presetID="10" presetClass="entr" presetSubtype="0" fill="hold" grpId="0" nodeType="withEffect">
                                  <p:stCondLst>
                                    <p:cond delay="1910"/>
                                  </p:stCondLst>
                                  <p:childTnLst>
                                    <p:set>
                                      <p:cBhvr>
                                        <p:cTn id="99" dur="1" fill="hold">
                                          <p:stCondLst>
                                            <p:cond delay="0"/>
                                          </p:stCondLst>
                                        </p:cTn>
                                        <p:tgtEl>
                                          <p:spTgt spid="33"/>
                                        </p:tgtEl>
                                        <p:attrNameLst>
                                          <p:attrName>style.visibility</p:attrName>
                                        </p:attrNameLst>
                                      </p:cBhvr>
                                      <p:to>
                                        <p:strVal val="visible"/>
                                      </p:to>
                                    </p:set>
                                    <p:animEffect transition="in" filter="fade">
                                      <p:cBhvr>
                                        <p:cTn id="100" dur="500"/>
                                        <p:tgtEl>
                                          <p:spTgt spid="33"/>
                                        </p:tgtEl>
                                      </p:cBhvr>
                                    </p:animEffect>
                                  </p:childTnLst>
                                </p:cTn>
                              </p:par>
                              <p:par>
                                <p:cTn id="101" presetID="10" presetClass="entr" presetSubtype="0" fill="hold" grpId="0" nodeType="withEffect">
                                  <p:stCondLst>
                                    <p:cond delay="1910"/>
                                  </p:stCondLst>
                                  <p:childTnLst>
                                    <p:set>
                                      <p:cBhvr>
                                        <p:cTn id="102" dur="1" fill="hold">
                                          <p:stCondLst>
                                            <p:cond delay="0"/>
                                          </p:stCondLst>
                                        </p:cTn>
                                        <p:tgtEl>
                                          <p:spTgt spid="34"/>
                                        </p:tgtEl>
                                        <p:attrNameLst>
                                          <p:attrName>style.visibility</p:attrName>
                                        </p:attrNameLst>
                                      </p:cBhvr>
                                      <p:to>
                                        <p:strVal val="visible"/>
                                      </p:to>
                                    </p:set>
                                    <p:animEffect transition="in" filter="fade">
                                      <p:cBhvr>
                                        <p:cTn id="103" dur="5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animBg="1"/>
      <p:bldP spid="5" grpId="0"/>
      <p:bldP spid="6" grpId="0"/>
      <p:bldP spid="7" grpId="0"/>
      <p:bldP spid="9" grpId="0" animBg="1"/>
      <p:bldP spid="10" grpId="0"/>
      <p:bldP spid="11" grpId="0"/>
      <p:bldP spid="12" grpId="0"/>
      <p:bldP spid="14" grpId="0" animBg="1"/>
      <p:bldP spid="15" grpId="0"/>
      <p:bldP spid="16" grpId="0"/>
      <p:bldP spid="17" grpId="0"/>
      <p:bldP spid="19" grpId="0" animBg="1"/>
      <p:bldP spid="20" grpId="0"/>
      <p:bldP spid="21" grpId="0"/>
      <p:bldP spid="22" grpId="0"/>
      <p:bldP spid="23" grpId="0" animBg="1"/>
      <p:bldP spid="24" grpId="0"/>
      <p:bldP spid="25" grpId="0"/>
      <p:bldP spid="26" grpId="0" animBg="1"/>
      <p:bldP spid="27" grpId="0"/>
      <p:bldP spid="28" grpId="0"/>
      <p:bldP spid="29" grpId="0" animBg="1"/>
      <p:bldP spid="30" grpId="0"/>
      <p:bldP spid="31" grpId="0"/>
      <p:bldP spid="32" grpId="0" animBg="1"/>
      <p:bldP spid="33" grpId="0"/>
      <p:bldP spid="34" grpId="0"/>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1016"/>
        </a:solidFill>
        <a:effectLst/>
      </p:bgPr>
    </p:bg>
    <p:spTree>
      <p:nvGrpSpPr>
        <p:cNvPr id="1" name=""/>
        <p:cNvGrpSpPr/>
        <p:nvPr/>
      </p:nvGrpSpPr>
      <p:grpSpPr>
        <a:xfrm>
          <a:off x="0" y="0"/>
          <a:ext cx="0" cy="0"/>
          <a:chOff x="0" y="0"/>
          <a:chExt cx="0" cy="0"/>
        </a:xfrm>
      </p:grpSpPr>
      <p:sp>
        <p:nvSpPr>
          <p:cNvPr id="2" name="ZoneTexte 1">
            <a:extLst>
              <a:ext uri="{FF2B5EF4-FFF2-40B4-BE49-F238E27FC236}">
                <a16:creationId xmlns:a16="http://schemas.microsoft.com/office/drawing/2014/main" id="{86A1BC3E-D2DF-5762-B2B3-AA4E870E2280}"/>
              </a:ext>
            </a:extLst>
          </p:cNvPr>
          <p:cNvSpPr txBox="1"/>
          <p:nvPr/>
        </p:nvSpPr>
        <p:spPr>
          <a:xfrm>
            <a:off x="914400" y="711200"/>
            <a:ext cx="10363200" cy="369332"/>
          </a:xfrm>
          <a:prstGeom prst="rect">
            <a:avLst/>
          </a:prstGeom>
          <a:noFill/>
        </p:spPr>
        <p:txBody>
          <a:bodyPr vert="horz" wrap="square" lIns="0" tIns="0" rIns="0" bIns="0" rtlCol="0">
            <a:noAutofit/>
          </a:bodyPr>
          <a:lstStyle/>
          <a:p>
            <a:pPr>
              <a:lnSpc>
                <a:spcPct val="115000"/>
              </a:lnSpc>
            </a:pPr>
            <a:r>
              <a:rPr lang="fr-FR" sz="1100" spc="260">
                <a:solidFill>
                  <a:srgbClr val="A9CCE3"/>
                </a:solidFill>
                <a:latin typeface="Manrope SemiBold" pitchFamily="2" charset="0"/>
              </a:rPr>
              <a:t>PERSONNALISATION</a:t>
            </a:r>
          </a:p>
        </p:txBody>
      </p:sp>
      <p:sp>
        <p:nvSpPr>
          <p:cNvPr id="3" name="ZoneTexte 2">
            <a:extLst>
              <a:ext uri="{FF2B5EF4-FFF2-40B4-BE49-F238E27FC236}">
                <a16:creationId xmlns:a16="http://schemas.microsoft.com/office/drawing/2014/main" id="{1C33A5A5-255F-6AD0-82FD-046DD8A431FB}"/>
              </a:ext>
            </a:extLst>
          </p:cNvPr>
          <p:cNvSpPr txBox="1"/>
          <p:nvPr/>
        </p:nvSpPr>
        <p:spPr>
          <a:xfrm>
            <a:off x="914400" y="990600"/>
            <a:ext cx="10363200" cy="369332"/>
          </a:xfrm>
          <a:prstGeom prst="rect">
            <a:avLst/>
          </a:prstGeom>
          <a:noFill/>
        </p:spPr>
        <p:txBody>
          <a:bodyPr vert="horz" wrap="square" lIns="0" tIns="0" rIns="0" bIns="0" rtlCol="0">
            <a:noAutofit/>
          </a:bodyPr>
          <a:lstStyle/>
          <a:p>
            <a:r>
              <a:rPr lang="fr-FR" sz="3200" spc="-50" dirty="0">
                <a:solidFill>
                  <a:srgbClr val="F2F5F8"/>
                </a:solidFill>
                <a:latin typeface="Manrope SemiBold" pitchFamily="2" charset="0"/>
              </a:rPr>
              <a:t>Vous souhaitez personnaliser ? On s'occupe de </a:t>
            </a:r>
            <a:r>
              <a:rPr lang="fr-FR" sz="3200" spc="-50" dirty="0">
                <a:gradFill flip="none" rotWithShape="1">
                  <a:gsLst>
                    <a:gs pos="0">
                      <a:srgbClr val="5A93BF"/>
                    </a:gs>
                    <a:gs pos="100000">
                      <a:srgbClr val="A9CCE3"/>
                    </a:gs>
                  </a:gsLst>
                  <a:lin ang="0" scaled="1"/>
                  <a:tileRect/>
                </a:gradFill>
                <a:latin typeface="Manrope SemiBold" pitchFamily="2" charset="0"/>
              </a:rPr>
              <a:t>tout</a:t>
            </a:r>
            <a:r>
              <a:rPr lang="fr-FR" sz="3200" spc="-50" dirty="0">
                <a:solidFill>
                  <a:srgbClr val="F2F5F8"/>
                </a:solidFill>
                <a:latin typeface="Manrope SemiBold" pitchFamily="2" charset="0"/>
              </a:rPr>
              <a:t>.</a:t>
            </a:r>
          </a:p>
        </p:txBody>
      </p:sp>
      <p:sp>
        <p:nvSpPr>
          <p:cNvPr id="4" name="Rectangle : coins arrondis 3">
            <a:extLst>
              <a:ext uri="{FF2B5EF4-FFF2-40B4-BE49-F238E27FC236}">
                <a16:creationId xmlns:a16="http://schemas.microsoft.com/office/drawing/2014/main" id="{0EEBAC3B-0F3A-D42D-F633-51F075C04F08}"/>
              </a:ext>
            </a:extLst>
          </p:cNvPr>
          <p:cNvSpPr/>
          <p:nvPr/>
        </p:nvSpPr>
        <p:spPr>
          <a:xfrm>
            <a:off x="914400" y="2057400"/>
            <a:ext cx="3200400" cy="1905000"/>
          </a:xfrm>
          <a:prstGeom prst="roundRect">
            <a:avLst>
              <a:gd name="adj" fmla="val 8000"/>
            </a:avLst>
          </a:prstGeom>
          <a:solidFill>
            <a:srgbClr val="121A23"/>
          </a:solidFill>
          <a:ln w="9525">
            <a:solidFill>
              <a:srgbClr val="2430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 name="ZoneTexte 4">
            <a:extLst>
              <a:ext uri="{FF2B5EF4-FFF2-40B4-BE49-F238E27FC236}">
                <a16:creationId xmlns:a16="http://schemas.microsoft.com/office/drawing/2014/main" id="{E11E3FA4-A4CD-EEB5-DFB0-65C94495E77E}"/>
              </a:ext>
            </a:extLst>
          </p:cNvPr>
          <p:cNvSpPr txBox="1"/>
          <p:nvPr/>
        </p:nvSpPr>
        <p:spPr>
          <a:xfrm>
            <a:off x="1219200" y="2336800"/>
            <a:ext cx="2667000" cy="369332"/>
          </a:xfrm>
          <a:prstGeom prst="rect">
            <a:avLst/>
          </a:prstGeom>
          <a:noFill/>
        </p:spPr>
        <p:txBody>
          <a:bodyPr vert="horz" wrap="square" lIns="0" tIns="0" rIns="0" bIns="0" rtlCol="0">
            <a:noAutofit/>
          </a:bodyPr>
          <a:lstStyle/>
          <a:p>
            <a:pPr>
              <a:lnSpc>
                <a:spcPct val="115000"/>
              </a:lnSpc>
            </a:pPr>
            <a:r>
              <a:rPr lang="fr-FR" sz="1900">
                <a:solidFill>
                  <a:srgbClr val="F2F5F8"/>
                </a:solidFill>
                <a:latin typeface="Manrope SemiBold" pitchFamily="2" charset="0"/>
              </a:rPr>
              <a:t>Axel FOLLET</a:t>
            </a:r>
          </a:p>
        </p:txBody>
      </p:sp>
      <p:sp>
        <p:nvSpPr>
          <p:cNvPr id="6" name="ZoneTexte 5">
            <a:extLst>
              <a:ext uri="{FF2B5EF4-FFF2-40B4-BE49-F238E27FC236}">
                <a16:creationId xmlns:a16="http://schemas.microsoft.com/office/drawing/2014/main" id="{FF607C46-00CD-84E3-EB51-56C77BC8F1A6}"/>
              </a:ext>
            </a:extLst>
          </p:cNvPr>
          <p:cNvSpPr txBox="1"/>
          <p:nvPr/>
        </p:nvSpPr>
        <p:spPr>
          <a:xfrm>
            <a:off x="1219200" y="2692400"/>
            <a:ext cx="2667000" cy="369332"/>
          </a:xfrm>
          <a:prstGeom prst="rect">
            <a:avLst/>
          </a:prstGeom>
          <a:noFill/>
        </p:spPr>
        <p:txBody>
          <a:bodyPr vert="horz" wrap="square" lIns="0" tIns="0" rIns="0" bIns="0" rtlCol="0">
            <a:noAutofit/>
          </a:bodyPr>
          <a:lstStyle/>
          <a:p>
            <a:pPr>
              <a:lnSpc>
                <a:spcPct val="115000"/>
              </a:lnSpc>
            </a:pPr>
            <a:r>
              <a:rPr lang="fr-FR" sz="1300">
                <a:solidFill>
                  <a:srgbClr val="A9CCE3"/>
                </a:solidFill>
                <a:latin typeface="Manrope Medium" pitchFamily="2" charset="0"/>
              </a:rPr>
              <a:t>Interface et pilotage</a:t>
            </a:r>
          </a:p>
        </p:txBody>
      </p:sp>
      <p:sp>
        <p:nvSpPr>
          <p:cNvPr id="7" name="ZoneTexte 6">
            <a:extLst>
              <a:ext uri="{FF2B5EF4-FFF2-40B4-BE49-F238E27FC236}">
                <a16:creationId xmlns:a16="http://schemas.microsoft.com/office/drawing/2014/main" id="{C26C6B43-728E-495F-A561-43BA317D7B88}"/>
              </a:ext>
            </a:extLst>
          </p:cNvPr>
          <p:cNvSpPr txBox="1"/>
          <p:nvPr/>
        </p:nvSpPr>
        <p:spPr>
          <a:xfrm>
            <a:off x="1219200" y="3073400"/>
            <a:ext cx="2616200" cy="369332"/>
          </a:xfrm>
          <a:prstGeom prst="rect">
            <a:avLst/>
          </a:prstGeom>
          <a:noFill/>
        </p:spPr>
        <p:txBody>
          <a:bodyPr vert="horz" wrap="square" lIns="0" tIns="0" rIns="0" bIns="0" rtlCol="0">
            <a:noAutofit/>
          </a:bodyPr>
          <a:lstStyle/>
          <a:p>
            <a:pPr>
              <a:lnSpc>
                <a:spcPct val="115000"/>
              </a:lnSpc>
            </a:pPr>
            <a:r>
              <a:rPr lang="fr-FR" sz="1250">
                <a:solidFill>
                  <a:srgbClr val="9CA9B6"/>
                </a:solidFill>
                <a:latin typeface="Manrope" pitchFamily="2" charset="0"/>
              </a:rPr>
              <a:t>Vos écrans, votre charte, votre parcours candidat.</a:t>
            </a:r>
          </a:p>
        </p:txBody>
      </p:sp>
      <p:sp>
        <p:nvSpPr>
          <p:cNvPr id="8" name="Rectangle : coins arrondis 7">
            <a:extLst>
              <a:ext uri="{FF2B5EF4-FFF2-40B4-BE49-F238E27FC236}">
                <a16:creationId xmlns:a16="http://schemas.microsoft.com/office/drawing/2014/main" id="{83C6BEF0-2161-842A-179A-5E54C3690FD6}"/>
              </a:ext>
            </a:extLst>
          </p:cNvPr>
          <p:cNvSpPr/>
          <p:nvPr/>
        </p:nvSpPr>
        <p:spPr>
          <a:xfrm>
            <a:off x="4495800" y="2057400"/>
            <a:ext cx="3200400" cy="1905000"/>
          </a:xfrm>
          <a:prstGeom prst="roundRect">
            <a:avLst>
              <a:gd name="adj" fmla="val 8000"/>
            </a:avLst>
          </a:prstGeom>
          <a:solidFill>
            <a:srgbClr val="121A23"/>
          </a:solidFill>
          <a:ln w="9525">
            <a:solidFill>
              <a:srgbClr val="2430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ZoneTexte 8">
            <a:extLst>
              <a:ext uri="{FF2B5EF4-FFF2-40B4-BE49-F238E27FC236}">
                <a16:creationId xmlns:a16="http://schemas.microsoft.com/office/drawing/2014/main" id="{7D020DB9-0B3E-F995-30C1-BE9ED5B2AC7E}"/>
              </a:ext>
            </a:extLst>
          </p:cNvPr>
          <p:cNvSpPr txBox="1"/>
          <p:nvPr/>
        </p:nvSpPr>
        <p:spPr>
          <a:xfrm>
            <a:off x="4800600" y="2336800"/>
            <a:ext cx="2667000" cy="369332"/>
          </a:xfrm>
          <a:prstGeom prst="rect">
            <a:avLst/>
          </a:prstGeom>
          <a:noFill/>
        </p:spPr>
        <p:txBody>
          <a:bodyPr vert="horz" wrap="square" lIns="0" tIns="0" rIns="0" bIns="0" rtlCol="0">
            <a:noAutofit/>
          </a:bodyPr>
          <a:lstStyle/>
          <a:p>
            <a:pPr>
              <a:lnSpc>
                <a:spcPct val="115000"/>
              </a:lnSpc>
            </a:pPr>
            <a:r>
              <a:rPr lang="fr-FR" sz="1900">
                <a:solidFill>
                  <a:srgbClr val="F2F5F8"/>
                </a:solidFill>
                <a:latin typeface="Manrope SemiBold" pitchFamily="2" charset="0"/>
              </a:rPr>
              <a:t>Yohan AVRONSART</a:t>
            </a:r>
          </a:p>
        </p:txBody>
      </p:sp>
      <p:sp>
        <p:nvSpPr>
          <p:cNvPr id="10" name="ZoneTexte 9">
            <a:extLst>
              <a:ext uri="{FF2B5EF4-FFF2-40B4-BE49-F238E27FC236}">
                <a16:creationId xmlns:a16="http://schemas.microsoft.com/office/drawing/2014/main" id="{C8CB69AC-9926-F449-CC5D-B957B383B7BF}"/>
              </a:ext>
            </a:extLst>
          </p:cNvPr>
          <p:cNvSpPr txBox="1"/>
          <p:nvPr/>
        </p:nvSpPr>
        <p:spPr>
          <a:xfrm>
            <a:off x="4800600" y="2692400"/>
            <a:ext cx="2667000" cy="369332"/>
          </a:xfrm>
          <a:prstGeom prst="rect">
            <a:avLst/>
          </a:prstGeom>
          <a:noFill/>
        </p:spPr>
        <p:txBody>
          <a:bodyPr vert="horz" wrap="square" lIns="0" tIns="0" rIns="0" bIns="0" rtlCol="0">
            <a:noAutofit/>
          </a:bodyPr>
          <a:lstStyle/>
          <a:p>
            <a:pPr>
              <a:lnSpc>
                <a:spcPct val="115000"/>
              </a:lnSpc>
            </a:pPr>
            <a:r>
              <a:rPr lang="fr-FR" sz="1300">
                <a:solidFill>
                  <a:srgbClr val="A9CCE3"/>
                </a:solidFill>
                <a:latin typeface="Manrope Medium" pitchFamily="2" charset="0"/>
              </a:rPr>
              <a:t>Données et métier</a:t>
            </a:r>
          </a:p>
        </p:txBody>
      </p:sp>
      <p:sp>
        <p:nvSpPr>
          <p:cNvPr id="11" name="ZoneTexte 10">
            <a:extLst>
              <a:ext uri="{FF2B5EF4-FFF2-40B4-BE49-F238E27FC236}">
                <a16:creationId xmlns:a16="http://schemas.microsoft.com/office/drawing/2014/main" id="{6EFFA136-2491-95E4-9CD8-989AE61C75D5}"/>
              </a:ext>
            </a:extLst>
          </p:cNvPr>
          <p:cNvSpPr txBox="1"/>
          <p:nvPr/>
        </p:nvSpPr>
        <p:spPr>
          <a:xfrm>
            <a:off x="4800600" y="3073400"/>
            <a:ext cx="2616200" cy="369332"/>
          </a:xfrm>
          <a:prstGeom prst="rect">
            <a:avLst/>
          </a:prstGeom>
          <a:noFill/>
        </p:spPr>
        <p:txBody>
          <a:bodyPr vert="horz" wrap="square" lIns="0" tIns="0" rIns="0" bIns="0" rtlCol="0">
            <a:noAutofit/>
          </a:bodyPr>
          <a:lstStyle/>
          <a:p>
            <a:pPr>
              <a:lnSpc>
                <a:spcPct val="115000"/>
              </a:lnSpc>
            </a:pPr>
            <a:r>
              <a:rPr lang="fr-FR" sz="1250">
                <a:solidFill>
                  <a:srgbClr val="9CA9B6"/>
                </a:solidFill>
                <a:latin typeface="Manrope" pitchFamily="2" charset="0"/>
              </a:rPr>
              <a:t>Vos règles de recrutement, vos catégories, vos statuts.</a:t>
            </a:r>
          </a:p>
        </p:txBody>
      </p:sp>
      <p:sp>
        <p:nvSpPr>
          <p:cNvPr id="12" name="Rectangle : coins arrondis 11">
            <a:extLst>
              <a:ext uri="{FF2B5EF4-FFF2-40B4-BE49-F238E27FC236}">
                <a16:creationId xmlns:a16="http://schemas.microsoft.com/office/drawing/2014/main" id="{A29CD14C-AA7A-A636-50DE-6CEC705201A3}"/>
              </a:ext>
            </a:extLst>
          </p:cNvPr>
          <p:cNvSpPr/>
          <p:nvPr/>
        </p:nvSpPr>
        <p:spPr>
          <a:xfrm>
            <a:off x="8077200" y="2057400"/>
            <a:ext cx="3200400" cy="1905000"/>
          </a:xfrm>
          <a:prstGeom prst="roundRect">
            <a:avLst>
              <a:gd name="adj" fmla="val 8000"/>
            </a:avLst>
          </a:prstGeom>
          <a:solidFill>
            <a:srgbClr val="121A23"/>
          </a:solidFill>
          <a:ln w="9525">
            <a:solidFill>
              <a:srgbClr val="2430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ZoneTexte 12">
            <a:extLst>
              <a:ext uri="{FF2B5EF4-FFF2-40B4-BE49-F238E27FC236}">
                <a16:creationId xmlns:a16="http://schemas.microsoft.com/office/drawing/2014/main" id="{707266BB-2668-2840-1A71-DE5ADF105CE1}"/>
              </a:ext>
            </a:extLst>
          </p:cNvPr>
          <p:cNvSpPr txBox="1"/>
          <p:nvPr/>
        </p:nvSpPr>
        <p:spPr>
          <a:xfrm>
            <a:off x="8382000" y="2336800"/>
            <a:ext cx="2667000" cy="369332"/>
          </a:xfrm>
          <a:prstGeom prst="rect">
            <a:avLst/>
          </a:prstGeom>
          <a:noFill/>
        </p:spPr>
        <p:txBody>
          <a:bodyPr vert="horz" wrap="square" lIns="0" tIns="0" rIns="0" bIns="0" rtlCol="0">
            <a:noAutofit/>
          </a:bodyPr>
          <a:lstStyle/>
          <a:p>
            <a:pPr>
              <a:lnSpc>
                <a:spcPct val="115000"/>
              </a:lnSpc>
            </a:pPr>
            <a:r>
              <a:rPr lang="fr-FR" sz="1900">
                <a:solidFill>
                  <a:srgbClr val="F2F5F8"/>
                </a:solidFill>
                <a:latin typeface="Manrope SemiBold" pitchFamily="2" charset="0"/>
              </a:rPr>
              <a:t>Ismail BASSIT</a:t>
            </a:r>
          </a:p>
        </p:txBody>
      </p:sp>
      <p:sp>
        <p:nvSpPr>
          <p:cNvPr id="14" name="ZoneTexte 13">
            <a:extLst>
              <a:ext uri="{FF2B5EF4-FFF2-40B4-BE49-F238E27FC236}">
                <a16:creationId xmlns:a16="http://schemas.microsoft.com/office/drawing/2014/main" id="{69368A14-5D9D-0DB9-7ACE-AB4A146950E2}"/>
              </a:ext>
            </a:extLst>
          </p:cNvPr>
          <p:cNvSpPr txBox="1"/>
          <p:nvPr/>
        </p:nvSpPr>
        <p:spPr>
          <a:xfrm>
            <a:off x="8382000" y="2692400"/>
            <a:ext cx="2667000" cy="369332"/>
          </a:xfrm>
          <a:prstGeom prst="rect">
            <a:avLst/>
          </a:prstGeom>
          <a:noFill/>
        </p:spPr>
        <p:txBody>
          <a:bodyPr vert="horz" wrap="square" lIns="0" tIns="0" rIns="0" bIns="0" rtlCol="0">
            <a:noAutofit/>
          </a:bodyPr>
          <a:lstStyle/>
          <a:p>
            <a:pPr>
              <a:lnSpc>
                <a:spcPct val="115000"/>
              </a:lnSpc>
            </a:pPr>
            <a:r>
              <a:rPr lang="fr-FR" sz="1300">
                <a:solidFill>
                  <a:srgbClr val="A9CCE3"/>
                </a:solidFill>
                <a:latin typeface="Manrope Medium" pitchFamily="2" charset="0"/>
              </a:rPr>
              <a:t>Comptes et sécurité</a:t>
            </a:r>
          </a:p>
        </p:txBody>
      </p:sp>
      <p:sp>
        <p:nvSpPr>
          <p:cNvPr id="15" name="ZoneTexte 14">
            <a:extLst>
              <a:ext uri="{FF2B5EF4-FFF2-40B4-BE49-F238E27FC236}">
                <a16:creationId xmlns:a16="http://schemas.microsoft.com/office/drawing/2014/main" id="{B818ACD5-D9C3-1DE0-89CF-B08885CB38EC}"/>
              </a:ext>
            </a:extLst>
          </p:cNvPr>
          <p:cNvSpPr txBox="1"/>
          <p:nvPr/>
        </p:nvSpPr>
        <p:spPr>
          <a:xfrm>
            <a:off x="8382000" y="3073400"/>
            <a:ext cx="2616200" cy="369332"/>
          </a:xfrm>
          <a:prstGeom prst="rect">
            <a:avLst/>
          </a:prstGeom>
          <a:noFill/>
        </p:spPr>
        <p:txBody>
          <a:bodyPr vert="horz" wrap="square" lIns="0" tIns="0" rIns="0" bIns="0" rtlCol="0">
            <a:noAutofit/>
          </a:bodyPr>
          <a:lstStyle/>
          <a:p>
            <a:pPr>
              <a:lnSpc>
                <a:spcPct val="115000"/>
              </a:lnSpc>
            </a:pPr>
            <a:r>
              <a:rPr lang="fr-FR" sz="1250">
                <a:solidFill>
                  <a:srgbClr val="9CA9B6"/>
                </a:solidFill>
                <a:latin typeface="Manrope" pitchFamily="2" charset="0"/>
              </a:rPr>
              <a:t>Vos accès, vos rôles, vos exigences de confidentialité.</a:t>
            </a:r>
          </a:p>
        </p:txBody>
      </p:sp>
      <p:sp>
        <p:nvSpPr>
          <p:cNvPr id="16" name="ZoneTexte 15">
            <a:extLst>
              <a:ext uri="{FF2B5EF4-FFF2-40B4-BE49-F238E27FC236}">
                <a16:creationId xmlns:a16="http://schemas.microsoft.com/office/drawing/2014/main" id="{697C19BD-73B2-F0D6-3984-20317EB35C2A}"/>
              </a:ext>
            </a:extLst>
          </p:cNvPr>
          <p:cNvSpPr txBox="1"/>
          <p:nvPr/>
        </p:nvSpPr>
        <p:spPr>
          <a:xfrm>
            <a:off x="914400" y="4419600"/>
            <a:ext cx="3200400" cy="369332"/>
          </a:xfrm>
          <a:prstGeom prst="rect">
            <a:avLst/>
          </a:prstGeom>
          <a:noFill/>
        </p:spPr>
        <p:txBody>
          <a:bodyPr vert="horz" wrap="square" lIns="0" tIns="0" rIns="0" bIns="0" rtlCol="0">
            <a:noAutofit/>
          </a:bodyPr>
          <a:lstStyle/>
          <a:p>
            <a:pPr>
              <a:lnSpc>
                <a:spcPct val="115000"/>
              </a:lnSpc>
            </a:pPr>
            <a:r>
              <a:rPr lang="fr-FR" sz="1700">
                <a:solidFill>
                  <a:srgbClr val="F2F5F8"/>
                </a:solidFill>
                <a:latin typeface="Manrope Medium" pitchFamily="2" charset="0"/>
              </a:rPr>
              <a:t>Le matin</a:t>
            </a:r>
          </a:p>
        </p:txBody>
      </p:sp>
      <p:sp>
        <p:nvSpPr>
          <p:cNvPr id="17" name="ZoneTexte 16">
            <a:extLst>
              <a:ext uri="{FF2B5EF4-FFF2-40B4-BE49-F238E27FC236}">
                <a16:creationId xmlns:a16="http://schemas.microsoft.com/office/drawing/2014/main" id="{534F5AD1-FF73-8A69-3B84-CDAB5A014949}"/>
              </a:ext>
            </a:extLst>
          </p:cNvPr>
          <p:cNvSpPr txBox="1"/>
          <p:nvPr/>
        </p:nvSpPr>
        <p:spPr>
          <a:xfrm>
            <a:off x="914400" y="4775200"/>
            <a:ext cx="3048000" cy="369332"/>
          </a:xfrm>
          <a:prstGeom prst="rect">
            <a:avLst/>
          </a:prstGeom>
          <a:noFill/>
        </p:spPr>
        <p:txBody>
          <a:bodyPr vert="horz" wrap="square" lIns="0" tIns="0" rIns="0" bIns="0" rtlCol="0">
            <a:noAutofit/>
          </a:bodyPr>
          <a:lstStyle/>
          <a:p>
            <a:pPr>
              <a:lnSpc>
                <a:spcPct val="115000"/>
              </a:lnSpc>
            </a:pPr>
            <a:r>
              <a:rPr lang="fr-FR" sz="1300">
                <a:solidFill>
                  <a:srgbClr val="9CA9B6"/>
                </a:solidFill>
                <a:latin typeface="Manrope" pitchFamily="2" charset="0"/>
              </a:rPr>
              <a:t>votre demande devient un plan écrit</a:t>
            </a:r>
          </a:p>
        </p:txBody>
      </p:sp>
      <p:cxnSp>
        <p:nvCxnSpPr>
          <p:cNvPr id="18" name="Connecteur droit 17">
            <a:extLst>
              <a:ext uri="{FF2B5EF4-FFF2-40B4-BE49-F238E27FC236}">
                <a16:creationId xmlns:a16="http://schemas.microsoft.com/office/drawing/2014/main" id="{A91E9A77-B62B-99D4-94A7-2A06DF508A97}"/>
              </a:ext>
            </a:extLst>
          </p:cNvPr>
          <p:cNvCxnSpPr/>
          <p:nvPr/>
        </p:nvCxnSpPr>
        <p:spPr>
          <a:xfrm>
            <a:off x="3835400" y="4572000"/>
            <a:ext cx="406400" cy="0"/>
          </a:xfrm>
          <a:prstGeom prst="line">
            <a:avLst/>
          </a:prstGeom>
          <a:ln w="15875">
            <a:solidFill>
              <a:srgbClr val="9CA9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ZoneTexte 18">
            <a:extLst>
              <a:ext uri="{FF2B5EF4-FFF2-40B4-BE49-F238E27FC236}">
                <a16:creationId xmlns:a16="http://schemas.microsoft.com/office/drawing/2014/main" id="{31C6404D-0E0A-6474-A24C-F20EA5075997}"/>
              </a:ext>
            </a:extLst>
          </p:cNvPr>
          <p:cNvSpPr txBox="1"/>
          <p:nvPr/>
        </p:nvSpPr>
        <p:spPr>
          <a:xfrm>
            <a:off x="4495800" y="4419600"/>
            <a:ext cx="3200400" cy="369332"/>
          </a:xfrm>
          <a:prstGeom prst="rect">
            <a:avLst/>
          </a:prstGeom>
          <a:noFill/>
        </p:spPr>
        <p:txBody>
          <a:bodyPr vert="horz" wrap="square" lIns="0" tIns="0" rIns="0" bIns="0" rtlCol="0">
            <a:noAutofit/>
          </a:bodyPr>
          <a:lstStyle/>
          <a:p>
            <a:pPr>
              <a:lnSpc>
                <a:spcPct val="115000"/>
              </a:lnSpc>
            </a:pPr>
            <a:r>
              <a:rPr lang="fr-FR" sz="1700">
                <a:solidFill>
                  <a:srgbClr val="F2F5F8"/>
                </a:solidFill>
                <a:latin typeface="Manrope Medium" pitchFamily="2" charset="0"/>
              </a:rPr>
              <a:t>Le soir</a:t>
            </a:r>
          </a:p>
        </p:txBody>
      </p:sp>
      <p:sp>
        <p:nvSpPr>
          <p:cNvPr id="20" name="ZoneTexte 19">
            <a:extLst>
              <a:ext uri="{FF2B5EF4-FFF2-40B4-BE49-F238E27FC236}">
                <a16:creationId xmlns:a16="http://schemas.microsoft.com/office/drawing/2014/main" id="{466ED05C-062C-88A0-5FFB-C63857BB3145}"/>
              </a:ext>
            </a:extLst>
          </p:cNvPr>
          <p:cNvSpPr txBox="1"/>
          <p:nvPr/>
        </p:nvSpPr>
        <p:spPr>
          <a:xfrm>
            <a:off x="4495800" y="4775200"/>
            <a:ext cx="3048000" cy="369332"/>
          </a:xfrm>
          <a:prstGeom prst="rect">
            <a:avLst/>
          </a:prstGeom>
          <a:noFill/>
        </p:spPr>
        <p:txBody>
          <a:bodyPr vert="horz" wrap="square" lIns="0" tIns="0" rIns="0" bIns="0" rtlCol="0">
            <a:noAutofit/>
          </a:bodyPr>
          <a:lstStyle/>
          <a:p>
            <a:pPr>
              <a:lnSpc>
                <a:spcPct val="115000"/>
              </a:lnSpc>
            </a:pPr>
            <a:r>
              <a:rPr lang="fr-FR" sz="1300">
                <a:solidFill>
                  <a:srgbClr val="9CA9B6"/>
                </a:solidFill>
                <a:latin typeface="Manrope" pitchFamily="2" charset="0"/>
              </a:rPr>
              <a:t>elle est testée et relue</a:t>
            </a:r>
          </a:p>
        </p:txBody>
      </p:sp>
      <p:cxnSp>
        <p:nvCxnSpPr>
          <p:cNvPr id="21" name="Connecteur droit 20">
            <a:extLst>
              <a:ext uri="{FF2B5EF4-FFF2-40B4-BE49-F238E27FC236}">
                <a16:creationId xmlns:a16="http://schemas.microsoft.com/office/drawing/2014/main" id="{F727346B-40D4-AC72-78AC-64E1C333A2F1}"/>
              </a:ext>
            </a:extLst>
          </p:cNvPr>
          <p:cNvCxnSpPr/>
          <p:nvPr/>
        </p:nvCxnSpPr>
        <p:spPr>
          <a:xfrm>
            <a:off x="7416800" y="4572000"/>
            <a:ext cx="406400" cy="0"/>
          </a:xfrm>
          <a:prstGeom prst="line">
            <a:avLst/>
          </a:prstGeom>
          <a:ln w="15875">
            <a:solidFill>
              <a:srgbClr val="9CA9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ZoneTexte 21">
            <a:extLst>
              <a:ext uri="{FF2B5EF4-FFF2-40B4-BE49-F238E27FC236}">
                <a16:creationId xmlns:a16="http://schemas.microsoft.com/office/drawing/2014/main" id="{C89495BE-D030-A7C9-4788-0BE436BB0D1C}"/>
              </a:ext>
            </a:extLst>
          </p:cNvPr>
          <p:cNvSpPr txBox="1"/>
          <p:nvPr/>
        </p:nvSpPr>
        <p:spPr>
          <a:xfrm>
            <a:off x="8077200" y="4419600"/>
            <a:ext cx="3200400" cy="369332"/>
          </a:xfrm>
          <a:prstGeom prst="rect">
            <a:avLst/>
          </a:prstGeom>
          <a:noFill/>
        </p:spPr>
        <p:txBody>
          <a:bodyPr vert="horz" wrap="square" lIns="0" tIns="0" rIns="0" bIns="0" rtlCol="0">
            <a:noAutofit/>
          </a:bodyPr>
          <a:lstStyle/>
          <a:p>
            <a:pPr>
              <a:lnSpc>
                <a:spcPct val="115000"/>
              </a:lnSpc>
            </a:pPr>
            <a:r>
              <a:rPr lang="fr-FR" sz="1700">
                <a:solidFill>
                  <a:srgbClr val="F2F5F8"/>
                </a:solidFill>
                <a:latin typeface="Manrope Medium" pitchFamily="2" charset="0"/>
              </a:rPr>
              <a:t>Le lendemain</a:t>
            </a:r>
          </a:p>
        </p:txBody>
      </p:sp>
      <p:sp>
        <p:nvSpPr>
          <p:cNvPr id="23" name="ZoneTexte 22">
            <a:extLst>
              <a:ext uri="{FF2B5EF4-FFF2-40B4-BE49-F238E27FC236}">
                <a16:creationId xmlns:a16="http://schemas.microsoft.com/office/drawing/2014/main" id="{82FDA1D8-AE6F-4255-F2AF-47A184943437}"/>
              </a:ext>
            </a:extLst>
          </p:cNvPr>
          <p:cNvSpPr txBox="1"/>
          <p:nvPr/>
        </p:nvSpPr>
        <p:spPr>
          <a:xfrm>
            <a:off x="8077200" y="4775200"/>
            <a:ext cx="3048000" cy="369332"/>
          </a:xfrm>
          <a:prstGeom prst="rect">
            <a:avLst/>
          </a:prstGeom>
          <a:noFill/>
        </p:spPr>
        <p:txBody>
          <a:bodyPr vert="horz" wrap="square" lIns="0" tIns="0" rIns="0" bIns="0" rtlCol="0">
            <a:noAutofit/>
          </a:bodyPr>
          <a:lstStyle/>
          <a:p>
            <a:pPr>
              <a:lnSpc>
                <a:spcPct val="115000"/>
              </a:lnSpc>
            </a:pPr>
            <a:r>
              <a:rPr lang="fr-FR" sz="1300">
                <a:solidFill>
                  <a:srgbClr val="9CA9B6"/>
                </a:solidFill>
                <a:latin typeface="Manrope" pitchFamily="2" charset="0"/>
              </a:rPr>
              <a:t>elle est en ligne</a:t>
            </a:r>
          </a:p>
        </p:txBody>
      </p:sp>
      <p:sp>
        <p:nvSpPr>
          <p:cNvPr id="24" name="ZoneTexte 23">
            <a:extLst>
              <a:ext uri="{FF2B5EF4-FFF2-40B4-BE49-F238E27FC236}">
                <a16:creationId xmlns:a16="http://schemas.microsoft.com/office/drawing/2014/main" id="{560382E2-44DB-F365-9BF3-F9CBE462D1A5}"/>
              </a:ext>
            </a:extLst>
          </p:cNvPr>
          <p:cNvSpPr txBox="1"/>
          <p:nvPr/>
        </p:nvSpPr>
        <p:spPr>
          <a:xfrm>
            <a:off x="914400" y="5537200"/>
            <a:ext cx="10363200" cy="369332"/>
          </a:xfrm>
          <a:prstGeom prst="rect">
            <a:avLst/>
          </a:prstGeom>
          <a:noFill/>
        </p:spPr>
        <p:txBody>
          <a:bodyPr vert="horz" wrap="square" lIns="0" tIns="0" rIns="0" bIns="0" rtlCol="0">
            <a:noAutofit/>
          </a:bodyPr>
          <a:lstStyle/>
          <a:p>
            <a:pPr>
              <a:lnSpc>
                <a:spcPct val="115000"/>
              </a:lnSpc>
            </a:pPr>
            <a:r>
              <a:rPr lang="fr-FR" sz="1600">
                <a:solidFill>
                  <a:srgbClr val="A9CCE3"/>
                </a:solidFill>
                <a:latin typeface="Manrope Medium" pitchFamily="2" charset="0"/>
              </a:rPr>
              <a:t>Trois spécialistes, une seule équipe à contacter.</a:t>
            </a:r>
          </a:p>
        </p:txBody>
      </p:sp>
    </p:spTree>
    <p:extLst>
      <p:ext uri="{BB962C8B-B14F-4D97-AF65-F5344CB8AC3E}">
        <p14:creationId xmlns:p14="http://schemas.microsoft.com/office/powerpoint/2010/main" val="24456669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15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par>
                                <p:cTn id="11" presetID="10" presetClass="entr" presetSubtype="0" fill="hold" grpId="0" nodeType="withEffect">
                                  <p:stCondLst>
                                    <p:cond delay="45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childTnLst>
                                </p:cTn>
                              </p:par>
                              <p:par>
                                <p:cTn id="14" presetID="10" presetClass="entr" presetSubtype="0" fill="hold" grpId="0" nodeType="withEffect">
                                  <p:stCondLst>
                                    <p:cond delay="45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childTnLst>
                                </p:cTn>
                              </p:par>
                              <p:par>
                                <p:cTn id="17" presetID="10" presetClass="entr" presetSubtype="0" fill="hold" grpId="0" nodeType="withEffect">
                                  <p:stCondLst>
                                    <p:cond delay="45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childTnLst>
                                </p:cTn>
                              </p:par>
                              <p:par>
                                <p:cTn id="20" presetID="10" presetClass="entr" presetSubtype="0" fill="hold" grpId="0" nodeType="withEffect">
                                  <p:stCondLst>
                                    <p:cond delay="45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par>
                                <p:cTn id="23" presetID="10" presetClass="entr" presetSubtype="0" fill="hold" grpId="0" nodeType="withEffect">
                                  <p:stCondLst>
                                    <p:cond delay="75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childTnLst>
                                </p:cTn>
                              </p:par>
                              <p:par>
                                <p:cTn id="26" presetID="10" presetClass="entr" presetSubtype="0" fill="hold" grpId="0" nodeType="withEffect">
                                  <p:stCondLst>
                                    <p:cond delay="75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500"/>
                                        <p:tgtEl>
                                          <p:spTgt spid="9"/>
                                        </p:tgtEl>
                                      </p:cBhvr>
                                    </p:animEffect>
                                  </p:childTnLst>
                                </p:cTn>
                              </p:par>
                              <p:par>
                                <p:cTn id="29" presetID="10" presetClass="entr" presetSubtype="0" fill="hold" grpId="0" nodeType="withEffect">
                                  <p:stCondLst>
                                    <p:cond delay="75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500"/>
                                        <p:tgtEl>
                                          <p:spTgt spid="10"/>
                                        </p:tgtEl>
                                      </p:cBhvr>
                                    </p:animEffect>
                                  </p:childTnLst>
                                </p:cTn>
                              </p:par>
                              <p:par>
                                <p:cTn id="32" presetID="10" presetClass="entr" presetSubtype="0" fill="hold" grpId="0" nodeType="withEffect">
                                  <p:stCondLst>
                                    <p:cond delay="75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500"/>
                                        <p:tgtEl>
                                          <p:spTgt spid="11"/>
                                        </p:tgtEl>
                                      </p:cBhvr>
                                    </p:animEffect>
                                  </p:childTnLst>
                                </p:cTn>
                              </p:par>
                              <p:par>
                                <p:cTn id="35" presetID="10" presetClass="entr" presetSubtype="0" fill="hold" grpId="0" nodeType="withEffect">
                                  <p:stCondLst>
                                    <p:cond delay="105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500"/>
                                        <p:tgtEl>
                                          <p:spTgt spid="12"/>
                                        </p:tgtEl>
                                      </p:cBhvr>
                                    </p:animEffect>
                                  </p:childTnLst>
                                </p:cTn>
                              </p:par>
                              <p:par>
                                <p:cTn id="38" presetID="10" presetClass="entr" presetSubtype="0" fill="hold" grpId="0" nodeType="withEffect">
                                  <p:stCondLst>
                                    <p:cond delay="105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00"/>
                                        <p:tgtEl>
                                          <p:spTgt spid="13"/>
                                        </p:tgtEl>
                                      </p:cBhvr>
                                    </p:animEffect>
                                  </p:childTnLst>
                                </p:cTn>
                              </p:par>
                              <p:par>
                                <p:cTn id="41" presetID="10" presetClass="entr" presetSubtype="0" fill="hold" grpId="0" nodeType="withEffect">
                                  <p:stCondLst>
                                    <p:cond delay="105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500"/>
                                        <p:tgtEl>
                                          <p:spTgt spid="14"/>
                                        </p:tgtEl>
                                      </p:cBhvr>
                                    </p:animEffect>
                                  </p:childTnLst>
                                </p:cTn>
                              </p:par>
                              <p:par>
                                <p:cTn id="44" presetID="10" presetClass="entr" presetSubtype="0" fill="hold" grpId="0" nodeType="withEffect">
                                  <p:stCondLst>
                                    <p:cond delay="105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00"/>
                                        <p:tgtEl>
                                          <p:spTgt spid="15"/>
                                        </p:tgtEl>
                                      </p:cBhvr>
                                    </p:animEffect>
                                  </p:childTnLst>
                                </p:cTn>
                              </p:par>
                              <p:par>
                                <p:cTn id="47" presetID="10" presetClass="entr" presetSubtype="0" fill="hold" grpId="0" nodeType="withEffect">
                                  <p:stCondLst>
                                    <p:cond delay="135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500"/>
                                        <p:tgtEl>
                                          <p:spTgt spid="16"/>
                                        </p:tgtEl>
                                      </p:cBhvr>
                                    </p:animEffect>
                                  </p:childTnLst>
                                </p:cTn>
                              </p:par>
                              <p:par>
                                <p:cTn id="50" presetID="10" presetClass="entr" presetSubtype="0" fill="hold" grpId="0" nodeType="withEffect">
                                  <p:stCondLst>
                                    <p:cond delay="135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00"/>
                                        <p:tgtEl>
                                          <p:spTgt spid="17"/>
                                        </p:tgtEl>
                                      </p:cBhvr>
                                    </p:animEffect>
                                  </p:childTnLst>
                                </p:cTn>
                              </p:par>
                              <p:par>
                                <p:cTn id="53" presetID="10" presetClass="entr" presetSubtype="0" fill="hold" nodeType="withEffect">
                                  <p:stCondLst>
                                    <p:cond delay="135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500"/>
                                        <p:tgtEl>
                                          <p:spTgt spid="18"/>
                                        </p:tgtEl>
                                      </p:cBhvr>
                                    </p:animEffect>
                                  </p:childTnLst>
                                </p:cTn>
                              </p:par>
                              <p:par>
                                <p:cTn id="56" presetID="10" presetClass="entr" presetSubtype="0" fill="hold" grpId="0" nodeType="withEffect">
                                  <p:stCondLst>
                                    <p:cond delay="165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500"/>
                                        <p:tgtEl>
                                          <p:spTgt spid="19"/>
                                        </p:tgtEl>
                                      </p:cBhvr>
                                    </p:animEffect>
                                  </p:childTnLst>
                                </p:cTn>
                              </p:par>
                              <p:par>
                                <p:cTn id="59" presetID="10" presetClass="entr" presetSubtype="0" fill="hold" grpId="0" nodeType="withEffect">
                                  <p:stCondLst>
                                    <p:cond delay="165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500"/>
                                        <p:tgtEl>
                                          <p:spTgt spid="20"/>
                                        </p:tgtEl>
                                      </p:cBhvr>
                                    </p:animEffect>
                                  </p:childTnLst>
                                </p:cTn>
                              </p:par>
                              <p:par>
                                <p:cTn id="62" presetID="10" presetClass="entr" presetSubtype="0" fill="hold" nodeType="withEffect">
                                  <p:stCondLst>
                                    <p:cond delay="1650"/>
                                  </p:stCondLst>
                                  <p:childTnLst>
                                    <p:set>
                                      <p:cBhvr>
                                        <p:cTn id="63" dur="1" fill="hold">
                                          <p:stCondLst>
                                            <p:cond delay="0"/>
                                          </p:stCondLst>
                                        </p:cTn>
                                        <p:tgtEl>
                                          <p:spTgt spid="21"/>
                                        </p:tgtEl>
                                        <p:attrNameLst>
                                          <p:attrName>style.visibility</p:attrName>
                                        </p:attrNameLst>
                                      </p:cBhvr>
                                      <p:to>
                                        <p:strVal val="visible"/>
                                      </p:to>
                                    </p:set>
                                    <p:animEffect transition="in" filter="fade">
                                      <p:cBhvr>
                                        <p:cTn id="64" dur="500"/>
                                        <p:tgtEl>
                                          <p:spTgt spid="21"/>
                                        </p:tgtEl>
                                      </p:cBhvr>
                                    </p:animEffect>
                                  </p:childTnLst>
                                </p:cTn>
                              </p:par>
                              <p:par>
                                <p:cTn id="65" presetID="10" presetClass="entr" presetSubtype="0" fill="hold" grpId="0" nodeType="withEffect">
                                  <p:stCondLst>
                                    <p:cond delay="195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500"/>
                                        <p:tgtEl>
                                          <p:spTgt spid="22"/>
                                        </p:tgtEl>
                                      </p:cBhvr>
                                    </p:animEffect>
                                  </p:childTnLst>
                                </p:cTn>
                              </p:par>
                              <p:par>
                                <p:cTn id="68" presetID="10" presetClass="entr" presetSubtype="0" fill="hold" grpId="0" nodeType="withEffect">
                                  <p:stCondLst>
                                    <p:cond delay="1950"/>
                                  </p:stCondLst>
                                  <p:childTnLst>
                                    <p:set>
                                      <p:cBhvr>
                                        <p:cTn id="69" dur="1" fill="hold">
                                          <p:stCondLst>
                                            <p:cond delay="0"/>
                                          </p:stCondLst>
                                        </p:cTn>
                                        <p:tgtEl>
                                          <p:spTgt spid="23"/>
                                        </p:tgtEl>
                                        <p:attrNameLst>
                                          <p:attrName>style.visibility</p:attrName>
                                        </p:attrNameLst>
                                      </p:cBhvr>
                                      <p:to>
                                        <p:strVal val="visible"/>
                                      </p:to>
                                    </p:set>
                                    <p:animEffect transition="in" filter="fade">
                                      <p:cBhvr>
                                        <p:cTn id="70" dur="500"/>
                                        <p:tgtEl>
                                          <p:spTgt spid="23"/>
                                        </p:tgtEl>
                                      </p:cBhvr>
                                    </p:animEffect>
                                  </p:childTnLst>
                                </p:cTn>
                              </p:par>
                              <p:par>
                                <p:cTn id="71" presetID="10" presetClass="entr" presetSubtype="0" fill="hold" grpId="0" nodeType="withEffect">
                                  <p:stCondLst>
                                    <p:cond delay="2250"/>
                                  </p:stCondLst>
                                  <p:childTnLst>
                                    <p:set>
                                      <p:cBhvr>
                                        <p:cTn id="72" dur="1" fill="hold">
                                          <p:stCondLst>
                                            <p:cond delay="0"/>
                                          </p:stCondLst>
                                        </p:cTn>
                                        <p:tgtEl>
                                          <p:spTgt spid="24"/>
                                        </p:tgtEl>
                                        <p:attrNameLst>
                                          <p:attrName>style.visibility</p:attrName>
                                        </p:attrNameLst>
                                      </p:cBhvr>
                                      <p:to>
                                        <p:strVal val="visible"/>
                                      </p:to>
                                    </p:set>
                                    <p:animEffect transition="in" filter="fade">
                                      <p:cBhvr>
                                        <p:cTn id="73"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animBg="1"/>
      <p:bldP spid="5" grpId="0"/>
      <p:bldP spid="6" grpId="0"/>
      <p:bldP spid="7" grpId="0"/>
      <p:bldP spid="8" grpId="0" animBg="1"/>
      <p:bldP spid="9" grpId="0"/>
      <p:bldP spid="10" grpId="0"/>
      <p:bldP spid="11" grpId="0"/>
      <p:bldP spid="12" grpId="0" animBg="1"/>
      <p:bldP spid="13" grpId="0"/>
      <p:bldP spid="14" grpId="0"/>
      <p:bldP spid="15" grpId="0"/>
      <p:bldP spid="16" grpId="0"/>
      <p:bldP spid="17" grpId="0"/>
      <p:bldP spid="19" grpId="0"/>
      <p:bldP spid="20" grpId="0"/>
      <p:bldP spid="22" grpId="0"/>
      <p:bldP spid="23" grpId="0"/>
      <p:bldP spid="24" grpId="0"/>
    </p:bld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1016"/>
        </a:solidFill>
        <a:effectLst/>
      </p:bgPr>
    </p:bg>
    <p:spTree>
      <p:nvGrpSpPr>
        <p:cNvPr id="1" name=""/>
        <p:cNvGrpSpPr/>
        <p:nvPr/>
      </p:nvGrpSpPr>
      <p:grpSpPr>
        <a:xfrm>
          <a:off x="0" y="0"/>
          <a:ext cx="0" cy="0"/>
          <a:chOff x="0" y="0"/>
          <a:chExt cx="0" cy="0"/>
        </a:xfrm>
      </p:grpSpPr>
      <p:sp>
        <p:nvSpPr>
          <p:cNvPr id="2" name="ZoneTexte 1">
            <a:extLst>
              <a:ext uri="{FF2B5EF4-FFF2-40B4-BE49-F238E27FC236}">
                <a16:creationId xmlns:a16="http://schemas.microsoft.com/office/drawing/2014/main" id="{A1952C92-207F-7FAE-72BD-B82A78524649}"/>
              </a:ext>
            </a:extLst>
          </p:cNvPr>
          <p:cNvSpPr txBox="1"/>
          <p:nvPr/>
        </p:nvSpPr>
        <p:spPr>
          <a:xfrm>
            <a:off x="914400" y="711200"/>
            <a:ext cx="10363200" cy="369332"/>
          </a:xfrm>
          <a:prstGeom prst="rect">
            <a:avLst/>
          </a:prstGeom>
          <a:noFill/>
        </p:spPr>
        <p:txBody>
          <a:bodyPr vert="horz" wrap="square" lIns="0" tIns="0" rIns="0" bIns="0" rtlCol="0">
            <a:noAutofit/>
          </a:bodyPr>
          <a:lstStyle/>
          <a:p>
            <a:pPr>
              <a:lnSpc>
                <a:spcPct val="115000"/>
              </a:lnSpc>
            </a:pPr>
            <a:r>
              <a:rPr lang="fr-FR" sz="1100" spc="260">
                <a:solidFill>
                  <a:srgbClr val="A9CCE3"/>
                </a:solidFill>
                <a:latin typeface="Manrope SemiBold" pitchFamily="2" charset="0"/>
              </a:rPr>
              <a:t>DÉMONSTRATION</a:t>
            </a:r>
          </a:p>
        </p:txBody>
      </p:sp>
      <p:sp>
        <p:nvSpPr>
          <p:cNvPr id="3" name="ZoneTexte 2">
            <a:extLst>
              <a:ext uri="{FF2B5EF4-FFF2-40B4-BE49-F238E27FC236}">
                <a16:creationId xmlns:a16="http://schemas.microsoft.com/office/drawing/2014/main" id="{B79BF206-EA42-D569-936A-A03D88329883}"/>
              </a:ext>
            </a:extLst>
          </p:cNvPr>
          <p:cNvSpPr txBox="1"/>
          <p:nvPr/>
        </p:nvSpPr>
        <p:spPr>
          <a:xfrm>
            <a:off x="914400" y="990600"/>
            <a:ext cx="10363200" cy="369332"/>
          </a:xfrm>
          <a:prstGeom prst="rect">
            <a:avLst/>
          </a:prstGeom>
          <a:noFill/>
        </p:spPr>
        <p:txBody>
          <a:bodyPr vert="horz" wrap="square" lIns="0" tIns="0" rIns="0" bIns="0" rtlCol="0">
            <a:noAutofit/>
          </a:bodyPr>
          <a:lstStyle/>
          <a:p>
            <a:r>
              <a:rPr lang="fr-FR" sz="3600" spc="-50">
                <a:solidFill>
                  <a:srgbClr val="F2F5F8"/>
                </a:solidFill>
                <a:latin typeface="Manrope SemiBold" pitchFamily="2" charset="0"/>
              </a:rPr>
              <a:t>Voyez par </a:t>
            </a:r>
            <a:r>
              <a:rPr lang="fr-FR" sz="3600" spc="-50">
                <a:gradFill flip="none" rotWithShape="1">
                  <a:gsLst>
                    <a:gs pos="0">
                      <a:srgbClr val="5A93BF"/>
                    </a:gs>
                    <a:gs pos="100000">
                      <a:srgbClr val="A9CCE3"/>
                    </a:gs>
                  </a:gsLst>
                  <a:lin ang="0" scaled="1"/>
                  <a:tileRect/>
                </a:gradFill>
                <a:latin typeface="Manrope SemiBold" pitchFamily="2" charset="0"/>
              </a:rPr>
              <a:t>vous-même</a:t>
            </a:r>
            <a:r>
              <a:rPr lang="fr-FR" sz="3600" spc="-50">
                <a:solidFill>
                  <a:srgbClr val="F2F5F8"/>
                </a:solidFill>
                <a:latin typeface="Manrope SemiBold" pitchFamily="2" charset="0"/>
              </a:rPr>
              <a:t>.</a:t>
            </a:r>
          </a:p>
        </p:txBody>
      </p:sp>
      <p:sp>
        <p:nvSpPr>
          <p:cNvPr id="4" name="ZoneTexte 3">
            <a:extLst>
              <a:ext uri="{FF2B5EF4-FFF2-40B4-BE49-F238E27FC236}">
                <a16:creationId xmlns:a16="http://schemas.microsoft.com/office/drawing/2014/main" id="{4AA09A13-534E-1BF8-64E8-9F284B72F429}"/>
              </a:ext>
            </a:extLst>
          </p:cNvPr>
          <p:cNvSpPr txBox="1"/>
          <p:nvPr/>
        </p:nvSpPr>
        <p:spPr>
          <a:xfrm>
            <a:off x="914400" y="2159000"/>
            <a:ext cx="508000" cy="369332"/>
          </a:xfrm>
          <a:prstGeom prst="rect">
            <a:avLst/>
          </a:prstGeom>
          <a:noFill/>
        </p:spPr>
        <p:txBody>
          <a:bodyPr vert="horz" wrap="square" lIns="0" tIns="0" rIns="0" bIns="0" rtlCol="0">
            <a:noAutofit/>
          </a:bodyPr>
          <a:lstStyle/>
          <a:p>
            <a:pPr>
              <a:lnSpc>
                <a:spcPct val="115000"/>
              </a:lnSpc>
            </a:pPr>
            <a:r>
              <a:rPr lang="fr-FR" sz="1500">
                <a:solidFill>
                  <a:srgbClr val="A9CCE3"/>
                </a:solidFill>
                <a:latin typeface="Manrope SemiBold" pitchFamily="2" charset="0"/>
              </a:rPr>
              <a:t>01</a:t>
            </a:r>
          </a:p>
        </p:txBody>
      </p:sp>
      <p:sp>
        <p:nvSpPr>
          <p:cNvPr id="5" name="ZoneTexte 4">
            <a:extLst>
              <a:ext uri="{FF2B5EF4-FFF2-40B4-BE49-F238E27FC236}">
                <a16:creationId xmlns:a16="http://schemas.microsoft.com/office/drawing/2014/main" id="{EF0D1DC9-C773-2AC7-235E-70E4F5369835}"/>
              </a:ext>
            </a:extLst>
          </p:cNvPr>
          <p:cNvSpPr txBox="1"/>
          <p:nvPr/>
        </p:nvSpPr>
        <p:spPr>
          <a:xfrm>
            <a:off x="1524000" y="2120900"/>
            <a:ext cx="8890000" cy="381000"/>
          </a:xfrm>
          <a:prstGeom prst="rect">
            <a:avLst/>
          </a:prstGeom>
          <a:noFill/>
        </p:spPr>
        <p:txBody>
          <a:bodyPr vert="horz" wrap="square" lIns="0" tIns="0" rIns="0" bIns="0" rtlCol="0">
            <a:noAutofit/>
          </a:bodyPr>
          <a:lstStyle/>
          <a:p>
            <a:pPr>
              <a:lnSpc>
                <a:spcPct val="115000"/>
              </a:lnSpc>
            </a:pPr>
            <a:r>
              <a:rPr lang="fr-FR" sz="2100">
                <a:solidFill>
                  <a:srgbClr val="F2F5F8"/>
                </a:solidFill>
                <a:latin typeface="Manrope Medium" pitchFamily="2" charset="0"/>
              </a:rPr>
              <a:t>Trouver une offre et lire son détail</a:t>
            </a:r>
          </a:p>
        </p:txBody>
      </p:sp>
      <p:sp>
        <p:nvSpPr>
          <p:cNvPr id="6" name="Rectangle 5">
            <a:extLst>
              <a:ext uri="{FF2B5EF4-FFF2-40B4-BE49-F238E27FC236}">
                <a16:creationId xmlns:a16="http://schemas.microsoft.com/office/drawing/2014/main" id="{F7360111-4E65-85DF-D7C5-34E17F40CD35}"/>
              </a:ext>
            </a:extLst>
          </p:cNvPr>
          <p:cNvSpPr/>
          <p:nvPr/>
        </p:nvSpPr>
        <p:spPr>
          <a:xfrm>
            <a:off x="914400" y="2616200"/>
            <a:ext cx="10363200" cy="9525"/>
          </a:xfrm>
          <a:prstGeom prst="rect">
            <a:avLst/>
          </a:prstGeom>
          <a:solidFill>
            <a:srgbClr val="24304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7" name="ZoneTexte 6">
            <a:extLst>
              <a:ext uri="{FF2B5EF4-FFF2-40B4-BE49-F238E27FC236}">
                <a16:creationId xmlns:a16="http://schemas.microsoft.com/office/drawing/2014/main" id="{82804FF0-174D-CDBB-A031-2233FAD77983}"/>
              </a:ext>
            </a:extLst>
          </p:cNvPr>
          <p:cNvSpPr txBox="1"/>
          <p:nvPr/>
        </p:nvSpPr>
        <p:spPr>
          <a:xfrm>
            <a:off x="914400" y="2870200"/>
            <a:ext cx="508000" cy="369332"/>
          </a:xfrm>
          <a:prstGeom prst="rect">
            <a:avLst/>
          </a:prstGeom>
          <a:noFill/>
        </p:spPr>
        <p:txBody>
          <a:bodyPr vert="horz" wrap="square" lIns="0" tIns="0" rIns="0" bIns="0" rtlCol="0">
            <a:noAutofit/>
          </a:bodyPr>
          <a:lstStyle/>
          <a:p>
            <a:pPr>
              <a:lnSpc>
                <a:spcPct val="115000"/>
              </a:lnSpc>
            </a:pPr>
            <a:r>
              <a:rPr lang="fr-FR" sz="1500">
                <a:solidFill>
                  <a:srgbClr val="A9CCE3"/>
                </a:solidFill>
                <a:latin typeface="Manrope SemiBold" pitchFamily="2" charset="0"/>
              </a:rPr>
              <a:t>02</a:t>
            </a:r>
          </a:p>
        </p:txBody>
      </p:sp>
      <p:sp>
        <p:nvSpPr>
          <p:cNvPr id="8" name="ZoneTexte 7">
            <a:extLst>
              <a:ext uri="{FF2B5EF4-FFF2-40B4-BE49-F238E27FC236}">
                <a16:creationId xmlns:a16="http://schemas.microsoft.com/office/drawing/2014/main" id="{AB41F3AD-BD21-964B-E146-A640C3809E79}"/>
              </a:ext>
            </a:extLst>
          </p:cNvPr>
          <p:cNvSpPr txBox="1"/>
          <p:nvPr/>
        </p:nvSpPr>
        <p:spPr>
          <a:xfrm>
            <a:off x="1524000" y="2832100"/>
            <a:ext cx="8890000" cy="381000"/>
          </a:xfrm>
          <a:prstGeom prst="rect">
            <a:avLst/>
          </a:prstGeom>
          <a:noFill/>
        </p:spPr>
        <p:txBody>
          <a:bodyPr vert="horz" wrap="square" lIns="0" tIns="0" rIns="0" bIns="0" rtlCol="0">
            <a:noAutofit/>
          </a:bodyPr>
          <a:lstStyle/>
          <a:p>
            <a:pPr>
              <a:lnSpc>
                <a:spcPct val="115000"/>
              </a:lnSpc>
            </a:pPr>
            <a:r>
              <a:rPr lang="fr-FR" sz="2100">
                <a:solidFill>
                  <a:srgbClr val="F2F5F8"/>
                </a:solidFill>
                <a:latin typeface="Manrope Medium" pitchFamily="2" charset="0"/>
              </a:rPr>
              <a:t>Postuler, sans compte</a:t>
            </a:r>
          </a:p>
        </p:txBody>
      </p:sp>
      <p:sp>
        <p:nvSpPr>
          <p:cNvPr id="9" name="Rectangle 8">
            <a:extLst>
              <a:ext uri="{FF2B5EF4-FFF2-40B4-BE49-F238E27FC236}">
                <a16:creationId xmlns:a16="http://schemas.microsoft.com/office/drawing/2014/main" id="{5234B607-918B-425B-3396-9DB3A2A656D1}"/>
              </a:ext>
            </a:extLst>
          </p:cNvPr>
          <p:cNvSpPr/>
          <p:nvPr/>
        </p:nvSpPr>
        <p:spPr>
          <a:xfrm>
            <a:off x="914400" y="3327400"/>
            <a:ext cx="10363200" cy="9525"/>
          </a:xfrm>
          <a:prstGeom prst="rect">
            <a:avLst/>
          </a:prstGeom>
          <a:solidFill>
            <a:srgbClr val="24304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ZoneTexte 9">
            <a:extLst>
              <a:ext uri="{FF2B5EF4-FFF2-40B4-BE49-F238E27FC236}">
                <a16:creationId xmlns:a16="http://schemas.microsoft.com/office/drawing/2014/main" id="{79DC2418-D3FA-19ED-102A-0B496A8A9C2C}"/>
              </a:ext>
            </a:extLst>
          </p:cNvPr>
          <p:cNvSpPr txBox="1"/>
          <p:nvPr/>
        </p:nvSpPr>
        <p:spPr>
          <a:xfrm>
            <a:off x="914400" y="3581400"/>
            <a:ext cx="508000" cy="369332"/>
          </a:xfrm>
          <a:prstGeom prst="rect">
            <a:avLst/>
          </a:prstGeom>
          <a:noFill/>
        </p:spPr>
        <p:txBody>
          <a:bodyPr vert="horz" wrap="square" lIns="0" tIns="0" rIns="0" bIns="0" rtlCol="0">
            <a:noAutofit/>
          </a:bodyPr>
          <a:lstStyle/>
          <a:p>
            <a:pPr>
              <a:lnSpc>
                <a:spcPct val="115000"/>
              </a:lnSpc>
            </a:pPr>
            <a:r>
              <a:rPr lang="fr-FR" sz="1500">
                <a:solidFill>
                  <a:srgbClr val="A9CCE3"/>
                </a:solidFill>
                <a:latin typeface="Manrope SemiBold" pitchFamily="2" charset="0"/>
              </a:rPr>
              <a:t>03</a:t>
            </a:r>
          </a:p>
        </p:txBody>
      </p:sp>
      <p:sp>
        <p:nvSpPr>
          <p:cNvPr id="11" name="ZoneTexte 10">
            <a:extLst>
              <a:ext uri="{FF2B5EF4-FFF2-40B4-BE49-F238E27FC236}">
                <a16:creationId xmlns:a16="http://schemas.microsoft.com/office/drawing/2014/main" id="{A5CEEF4C-2485-EAFF-B3E1-F2E249C3D67B}"/>
              </a:ext>
            </a:extLst>
          </p:cNvPr>
          <p:cNvSpPr txBox="1"/>
          <p:nvPr/>
        </p:nvSpPr>
        <p:spPr>
          <a:xfrm>
            <a:off x="1524000" y="3543300"/>
            <a:ext cx="8890000" cy="381000"/>
          </a:xfrm>
          <a:prstGeom prst="rect">
            <a:avLst/>
          </a:prstGeom>
          <a:noFill/>
        </p:spPr>
        <p:txBody>
          <a:bodyPr vert="horz" wrap="square" lIns="0" tIns="0" rIns="0" bIns="0" rtlCol="0">
            <a:noAutofit/>
          </a:bodyPr>
          <a:lstStyle/>
          <a:p>
            <a:pPr>
              <a:lnSpc>
                <a:spcPct val="115000"/>
              </a:lnSpc>
            </a:pPr>
            <a:r>
              <a:rPr lang="fr-FR" sz="2100">
                <a:solidFill>
                  <a:srgbClr val="F2F5F8"/>
                </a:solidFill>
                <a:latin typeface="Manrope Medium" pitchFamily="2" charset="0"/>
              </a:rPr>
              <a:t>Créer un compte et confirmer son adresse</a:t>
            </a:r>
          </a:p>
        </p:txBody>
      </p:sp>
      <p:sp>
        <p:nvSpPr>
          <p:cNvPr id="12" name="Rectangle 11">
            <a:extLst>
              <a:ext uri="{FF2B5EF4-FFF2-40B4-BE49-F238E27FC236}">
                <a16:creationId xmlns:a16="http://schemas.microsoft.com/office/drawing/2014/main" id="{00FE70F1-A4DA-DC6E-91C5-B52AC6B12D74}"/>
              </a:ext>
            </a:extLst>
          </p:cNvPr>
          <p:cNvSpPr/>
          <p:nvPr/>
        </p:nvSpPr>
        <p:spPr>
          <a:xfrm>
            <a:off x="914400" y="4038600"/>
            <a:ext cx="10363200" cy="9525"/>
          </a:xfrm>
          <a:prstGeom prst="rect">
            <a:avLst/>
          </a:prstGeom>
          <a:solidFill>
            <a:srgbClr val="24304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ZoneTexte 12">
            <a:extLst>
              <a:ext uri="{FF2B5EF4-FFF2-40B4-BE49-F238E27FC236}">
                <a16:creationId xmlns:a16="http://schemas.microsoft.com/office/drawing/2014/main" id="{3AAFA6CF-09ED-00C3-C25D-07101DF2C697}"/>
              </a:ext>
            </a:extLst>
          </p:cNvPr>
          <p:cNvSpPr txBox="1"/>
          <p:nvPr/>
        </p:nvSpPr>
        <p:spPr>
          <a:xfrm>
            <a:off x="914400" y="4292600"/>
            <a:ext cx="508000" cy="369332"/>
          </a:xfrm>
          <a:prstGeom prst="rect">
            <a:avLst/>
          </a:prstGeom>
          <a:noFill/>
        </p:spPr>
        <p:txBody>
          <a:bodyPr vert="horz" wrap="square" lIns="0" tIns="0" rIns="0" bIns="0" rtlCol="0">
            <a:noAutofit/>
          </a:bodyPr>
          <a:lstStyle/>
          <a:p>
            <a:pPr>
              <a:lnSpc>
                <a:spcPct val="115000"/>
              </a:lnSpc>
            </a:pPr>
            <a:r>
              <a:rPr lang="fr-FR" sz="1500">
                <a:solidFill>
                  <a:srgbClr val="A9CCE3"/>
                </a:solidFill>
                <a:latin typeface="Manrope SemiBold" pitchFamily="2" charset="0"/>
              </a:rPr>
              <a:t>04</a:t>
            </a:r>
          </a:p>
        </p:txBody>
      </p:sp>
      <p:sp>
        <p:nvSpPr>
          <p:cNvPr id="14" name="ZoneTexte 13">
            <a:extLst>
              <a:ext uri="{FF2B5EF4-FFF2-40B4-BE49-F238E27FC236}">
                <a16:creationId xmlns:a16="http://schemas.microsoft.com/office/drawing/2014/main" id="{B80589C9-7E51-1CC2-AF1F-2CEFCB23163E}"/>
              </a:ext>
            </a:extLst>
          </p:cNvPr>
          <p:cNvSpPr txBox="1"/>
          <p:nvPr/>
        </p:nvSpPr>
        <p:spPr>
          <a:xfrm>
            <a:off x="1524000" y="4254500"/>
            <a:ext cx="8890000" cy="381000"/>
          </a:xfrm>
          <a:prstGeom prst="rect">
            <a:avLst/>
          </a:prstGeom>
          <a:noFill/>
        </p:spPr>
        <p:txBody>
          <a:bodyPr vert="horz" wrap="square" lIns="0" tIns="0" rIns="0" bIns="0" rtlCol="0">
            <a:noAutofit/>
          </a:bodyPr>
          <a:lstStyle/>
          <a:p>
            <a:pPr>
              <a:lnSpc>
                <a:spcPct val="115000"/>
              </a:lnSpc>
            </a:pPr>
            <a:r>
              <a:rPr lang="fr-FR" sz="2100">
                <a:solidFill>
                  <a:srgbClr val="F2F5F8"/>
                </a:solidFill>
                <a:latin typeface="Manrope Medium" pitchFamily="2" charset="0"/>
              </a:rPr>
              <a:t>Retrouver ses candidatures et leur état</a:t>
            </a:r>
          </a:p>
        </p:txBody>
      </p:sp>
      <p:sp>
        <p:nvSpPr>
          <p:cNvPr id="15" name="Rectangle 14">
            <a:extLst>
              <a:ext uri="{FF2B5EF4-FFF2-40B4-BE49-F238E27FC236}">
                <a16:creationId xmlns:a16="http://schemas.microsoft.com/office/drawing/2014/main" id="{BEBBE369-397F-3D4F-FEAF-132EC2F5FA38}"/>
              </a:ext>
            </a:extLst>
          </p:cNvPr>
          <p:cNvSpPr/>
          <p:nvPr/>
        </p:nvSpPr>
        <p:spPr>
          <a:xfrm>
            <a:off x="914400" y="4749800"/>
            <a:ext cx="10363200" cy="9525"/>
          </a:xfrm>
          <a:prstGeom prst="rect">
            <a:avLst/>
          </a:prstGeom>
          <a:solidFill>
            <a:srgbClr val="24304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ZoneTexte 15">
            <a:extLst>
              <a:ext uri="{FF2B5EF4-FFF2-40B4-BE49-F238E27FC236}">
                <a16:creationId xmlns:a16="http://schemas.microsoft.com/office/drawing/2014/main" id="{04110B85-601A-0DD5-1F49-F34E3E22B1FA}"/>
              </a:ext>
            </a:extLst>
          </p:cNvPr>
          <p:cNvSpPr txBox="1"/>
          <p:nvPr/>
        </p:nvSpPr>
        <p:spPr>
          <a:xfrm>
            <a:off x="914400" y="5003800"/>
            <a:ext cx="508000" cy="369332"/>
          </a:xfrm>
          <a:prstGeom prst="rect">
            <a:avLst/>
          </a:prstGeom>
          <a:noFill/>
        </p:spPr>
        <p:txBody>
          <a:bodyPr vert="horz" wrap="square" lIns="0" tIns="0" rIns="0" bIns="0" rtlCol="0">
            <a:noAutofit/>
          </a:bodyPr>
          <a:lstStyle/>
          <a:p>
            <a:pPr>
              <a:lnSpc>
                <a:spcPct val="115000"/>
              </a:lnSpc>
            </a:pPr>
            <a:r>
              <a:rPr lang="fr-FR" sz="1500">
                <a:solidFill>
                  <a:srgbClr val="A9CCE3"/>
                </a:solidFill>
                <a:latin typeface="Manrope SemiBold" pitchFamily="2" charset="0"/>
              </a:rPr>
              <a:t>05</a:t>
            </a:r>
          </a:p>
        </p:txBody>
      </p:sp>
      <p:sp>
        <p:nvSpPr>
          <p:cNvPr id="17" name="ZoneTexte 16">
            <a:extLst>
              <a:ext uri="{FF2B5EF4-FFF2-40B4-BE49-F238E27FC236}">
                <a16:creationId xmlns:a16="http://schemas.microsoft.com/office/drawing/2014/main" id="{D03E69CE-2649-721F-467A-4FEB04133431}"/>
              </a:ext>
            </a:extLst>
          </p:cNvPr>
          <p:cNvSpPr txBox="1"/>
          <p:nvPr/>
        </p:nvSpPr>
        <p:spPr>
          <a:xfrm>
            <a:off x="1524000" y="4965700"/>
            <a:ext cx="8890000" cy="381000"/>
          </a:xfrm>
          <a:prstGeom prst="rect">
            <a:avLst/>
          </a:prstGeom>
          <a:noFill/>
        </p:spPr>
        <p:txBody>
          <a:bodyPr vert="horz" wrap="square" lIns="0" tIns="0" rIns="0" bIns="0" rtlCol="0">
            <a:noAutofit/>
          </a:bodyPr>
          <a:lstStyle/>
          <a:p>
            <a:pPr>
              <a:lnSpc>
                <a:spcPct val="115000"/>
              </a:lnSpc>
            </a:pPr>
            <a:r>
              <a:rPr lang="fr-FR" sz="2100">
                <a:solidFill>
                  <a:srgbClr val="F2F5F8"/>
                </a:solidFill>
                <a:latin typeface="Manrope Medium" pitchFamily="2" charset="0"/>
              </a:rPr>
              <a:t>Administrer la plateforme</a:t>
            </a:r>
          </a:p>
        </p:txBody>
      </p:sp>
      <p:sp>
        <p:nvSpPr>
          <p:cNvPr id="18" name="Rectangle 17">
            <a:extLst>
              <a:ext uri="{FF2B5EF4-FFF2-40B4-BE49-F238E27FC236}">
                <a16:creationId xmlns:a16="http://schemas.microsoft.com/office/drawing/2014/main" id="{17B321E9-A4C1-08A8-D14F-B0AFC04C95B4}"/>
              </a:ext>
            </a:extLst>
          </p:cNvPr>
          <p:cNvSpPr/>
          <p:nvPr/>
        </p:nvSpPr>
        <p:spPr>
          <a:xfrm>
            <a:off x="914400" y="5461000"/>
            <a:ext cx="10363200" cy="9525"/>
          </a:xfrm>
          <a:prstGeom prst="rect">
            <a:avLst/>
          </a:prstGeom>
          <a:solidFill>
            <a:srgbClr val="24304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661742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15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par>
                                <p:cTn id="11" presetID="10" presetClass="entr" presetSubtype="0" fill="hold" grpId="0" nodeType="withEffect">
                                  <p:stCondLst>
                                    <p:cond delay="35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childTnLst>
                                </p:cTn>
                              </p:par>
                              <p:par>
                                <p:cTn id="14" presetID="10" presetClass="entr" presetSubtype="0" fill="hold" grpId="0" nodeType="withEffect">
                                  <p:stCondLst>
                                    <p:cond delay="35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childTnLst>
                                </p:cTn>
                              </p:par>
                              <p:par>
                                <p:cTn id="17" presetID="10" presetClass="entr" presetSubtype="0" fill="hold" grpId="0" nodeType="withEffect">
                                  <p:stCondLst>
                                    <p:cond delay="35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childTnLst>
                                </p:cTn>
                              </p:par>
                              <p:par>
                                <p:cTn id="20" presetID="10" presetClass="entr" presetSubtype="0" fill="hold" grpId="0" nodeType="withEffect">
                                  <p:stCondLst>
                                    <p:cond delay="55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par>
                                <p:cTn id="23" presetID="10" presetClass="entr" presetSubtype="0" fill="hold" grpId="0" nodeType="withEffect">
                                  <p:stCondLst>
                                    <p:cond delay="55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childTnLst>
                                </p:cTn>
                              </p:par>
                              <p:par>
                                <p:cTn id="26" presetID="10" presetClass="entr" presetSubtype="0" fill="hold" grpId="0" nodeType="withEffect">
                                  <p:stCondLst>
                                    <p:cond delay="55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500"/>
                                        <p:tgtEl>
                                          <p:spTgt spid="9"/>
                                        </p:tgtEl>
                                      </p:cBhvr>
                                    </p:animEffect>
                                  </p:childTnLst>
                                </p:cTn>
                              </p:par>
                              <p:par>
                                <p:cTn id="29" presetID="10" presetClass="entr" presetSubtype="0" fill="hold" grpId="0" nodeType="withEffect">
                                  <p:stCondLst>
                                    <p:cond delay="75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500"/>
                                        <p:tgtEl>
                                          <p:spTgt spid="10"/>
                                        </p:tgtEl>
                                      </p:cBhvr>
                                    </p:animEffect>
                                  </p:childTnLst>
                                </p:cTn>
                              </p:par>
                              <p:par>
                                <p:cTn id="32" presetID="10" presetClass="entr" presetSubtype="0" fill="hold" grpId="0" nodeType="withEffect">
                                  <p:stCondLst>
                                    <p:cond delay="75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500"/>
                                        <p:tgtEl>
                                          <p:spTgt spid="11"/>
                                        </p:tgtEl>
                                      </p:cBhvr>
                                    </p:animEffect>
                                  </p:childTnLst>
                                </p:cTn>
                              </p:par>
                              <p:par>
                                <p:cTn id="35" presetID="10" presetClass="entr" presetSubtype="0" fill="hold" grpId="0" nodeType="withEffect">
                                  <p:stCondLst>
                                    <p:cond delay="75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500"/>
                                        <p:tgtEl>
                                          <p:spTgt spid="12"/>
                                        </p:tgtEl>
                                      </p:cBhvr>
                                    </p:animEffect>
                                  </p:childTnLst>
                                </p:cTn>
                              </p:par>
                              <p:par>
                                <p:cTn id="38" presetID="10" presetClass="entr" presetSubtype="0" fill="hold" grpId="0" nodeType="withEffect">
                                  <p:stCondLst>
                                    <p:cond delay="95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00"/>
                                        <p:tgtEl>
                                          <p:spTgt spid="13"/>
                                        </p:tgtEl>
                                      </p:cBhvr>
                                    </p:animEffect>
                                  </p:childTnLst>
                                </p:cTn>
                              </p:par>
                              <p:par>
                                <p:cTn id="41" presetID="10" presetClass="entr" presetSubtype="0" fill="hold" grpId="0" nodeType="withEffect">
                                  <p:stCondLst>
                                    <p:cond delay="95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500"/>
                                        <p:tgtEl>
                                          <p:spTgt spid="14"/>
                                        </p:tgtEl>
                                      </p:cBhvr>
                                    </p:animEffect>
                                  </p:childTnLst>
                                </p:cTn>
                              </p:par>
                              <p:par>
                                <p:cTn id="44" presetID="10" presetClass="entr" presetSubtype="0" fill="hold" grpId="0" nodeType="withEffect">
                                  <p:stCondLst>
                                    <p:cond delay="95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00"/>
                                        <p:tgtEl>
                                          <p:spTgt spid="15"/>
                                        </p:tgtEl>
                                      </p:cBhvr>
                                    </p:animEffect>
                                  </p:childTnLst>
                                </p:cTn>
                              </p:par>
                              <p:par>
                                <p:cTn id="47" presetID="10" presetClass="entr" presetSubtype="0" fill="hold" grpId="0" nodeType="withEffect">
                                  <p:stCondLst>
                                    <p:cond delay="115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500"/>
                                        <p:tgtEl>
                                          <p:spTgt spid="16"/>
                                        </p:tgtEl>
                                      </p:cBhvr>
                                    </p:animEffect>
                                  </p:childTnLst>
                                </p:cTn>
                              </p:par>
                              <p:par>
                                <p:cTn id="50" presetID="10" presetClass="entr" presetSubtype="0" fill="hold" grpId="0" nodeType="withEffect">
                                  <p:stCondLst>
                                    <p:cond delay="115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00"/>
                                        <p:tgtEl>
                                          <p:spTgt spid="17"/>
                                        </p:tgtEl>
                                      </p:cBhvr>
                                    </p:animEffect>
                                  </p:childTnLst>
                                </p:cTn>
                              </p:par>
                              <p:par>
                                <p:cTn id="53" presetID="10" presetClass="entr" presetSubtype="0" fill="hold" grpId="0" nodeType="withEffect">
                                  <p:stCondLst>
                                    <p:cond delay="115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P spid="5" grpId="0"/>
      <p:bldP spid="6" grpId="0" animBg="1"/>
      <p:bldP spid="7" grpId="0"/>
      <p:bldP spid="8" grpId="0"/>
      <p:bldP spid="9" grpId="0" animBg="1"/>
      <p:bldP spid="10" grpId="0"/>
      <p:bldP spid="11" grpId="0"/>
      <p:bldP spid="12" grpId="0" animBg="1"/>
      <p:bldP spid="13" grpId="0"/>
      <p:bldP spid="14" grpId="0"/>
      <p:bldP spid="15" grpId="0" animBg="1"/>
      <p:bldP spid="16" grpId="0"/>
      <p:bldP spid="17" grpId="0"/>
      <p:bldP spid="18"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1016"/>
        </a:solidFill>
        <a:effectLst/>
      </p:bgPr>
    </p:bg>
    <p:spTree>
      <p:nvGrpSpPr>
        <p:cNvPr id="1" name=""/>
        <p:cNvGrpSpPr/>
        <p:nvPr/>
      </p:nvGrpSpPr>
      <p:grpSpPr>
        <a:xfrm>
          <a:off x="0" y="0"/>
          <a:ext cx="0" cy="0"/>
          <a:chOff x="0" y="0"/>
          <a:chExt cx="0" cy="0"/>
        </a:xfrm>
      </p:grpSpPr>
      <p:sp>
        <p:nvSpPr>
          <p:cNvPr id="2" name="ZoneTexte 1">
            <a:extLst>
              <a:ext uri="{FF2B5EF4-FFF2-40B4-BE49-F238E27FC236}">
                <a16:creationId xmlns:a16="http://schemas.microsoft.com/office/drawing/2014/main" id="{03A74D5E-6F25-BE2A-DBB0-2DA863D880CF}"/>
              </a:ext>
            </a:extLst>
          </p:cNvPr>
          <p:cNvSpPr txBox="1"/>
          <p:nvPr/>
        </p:nvSpPr>
        <p:spPr>
          <a:xfrm>
            <a:off x="914400" y="711200"/>
            <a:ext cx="10363200" cy="369332"/>
          </a:xfrm>
          <a:prstGeom prst="rect">
            <a:avLst/>
          </a:prstGeom>
          <a:noFill/>
        </p:spPr>
        <p:txBody>
          <a:bodyPr vert="horz" wrap="square" lIns="0" tIns="0" rIns="0" bIns="0" rtlCol="0">
            <a:noAutofit/>
          </a:bodyPr>
          <a:lstStyle/>
          <a:p>
            <a:pPr>
              <a:lnSpc>
                <a:spcPct val="115000"/>
              </a:lnSpc>
            </a:pPr>
            <a:r>
              <a:rPr lang="fr-FR" sz="1100" spc="260">
                <a:solidFill>
                  <a:srgbClr val="A9CCE3"/>
                </a:solidFill>
                <a:latin typeface="Manrope SemiBold" pitchFamily="2" charset="0"/>
              </a:rPr>
              <a:t>POUR ALLER PLUS LOIN</a:t>
            </a:r>
          </a:p>
        </p:txBody>
      </p:sp>
      <p:sp>
        <p:nvSpPr>
          <p:cNvPr id="3" name="ZoneTexte 2">
            <a:extLst>
              <a:ext uri="{FF2B5EF4-FFF2-40B4-BE49-F238E27FC236}">
                <a16:creationId xmlns:a16="http://schemas.microsoft.com/office/drawing/2014/main" id="{0A56B22C-41DC-B7A6-5E06-4F578D44ADF4}"/>
              </a:ext>
            </a:extLst>
          </p:cNvPr>
          <p:cNvSpPr txBox="1"/>
          <p:nvPr/>
        </p:nvSpPr>
        <p:spPr>
          <a:xfrm>
            <a:off x="914400" y="990600"/>
            <a:ext cx="10363200" cy="369332"/>
          </a:xfrm>
          <a:prstGeom prst="rect">
            <a:avLst/>
          </a:prstGeom>
          <a:noFill/>
        </p:spPr>
        <p:txBody>
          <a:bodyPr vert="horz" wrap="square" lIns="0" tIns="0" rIns="0" bIns="0" rtlCol="0">
            <a:noAutofit/>
          </a:bodyPr>
          <a:lstStyle/>
          <a:p>
            <a:r>
              <a:rPr lang="fr-FR" sz="3600" spc="-50" dirty="0">
                <a:solidFill>
                  <a:srgbClr val="F2F5F8"/>
                </a:solidFill>
                <a:latin typeface="Manrope SemiBold" pitchFamily="2" charset="0"/>
              </a:rPr>
              <a:t>Des données qui vont vous </a:t>
            </a:r>
            <a:r>
              <a:rPr lang="fr-FR" sz="3600" spc="-50" dirty="0">
                <a:gradFill flip="none" rotWithShape="1">
                  <a:gsLst>
                    <a:gs pos="0">
                      <a:srgbClr val="5A93BF"/>
                    </a:gs>
                    <a:gs pos="100000">
                      <a:srgbClr val="A9CCE3"/>
                    </a:gs>
                  </a:gsLst>
                  <a:lin ang="0" scaled="1"/>
                  <a:tileRect/>
                </a:gradFill>
                <a:latin typeface="Manrope SemiBold" pitchFamily="2" charset="0"/>
              </a:rPr>
              <a:t>convaincre</a:t>
            </a:r>
            <a:r>
              <a:rPr lang="fr-FR" sz="3600" spc="-50" dirty="0">
                <a:solidFill>
                  <a:srgbClr val="F2F5F8"/>
                </a:solidFill>
                <a:latin typeface="Manrope SemiBold" pitchFamily="2" charset="0"/>
              </a:rPr>
              <a:t>.</a:t>
            </a:r>
          </a:p>
        </p:txBody>
      </p:sp>
      <p:sp>
        <p:nvSpPr>
          <p:cNvPr id="4" name="ZoneTexte 3">
            <a:extLst>
              <a:ext uri="{FF2B5EF4-FFF2-40B4-BE49-F238E27FC236}">
                <a16:creationId xmlns:a16="http://schemas.microsoft.com/office/drawing/2014/main" id="{D0181DF8-C271-20FC-5CC8-8F79D8CC31EF}"/>
              </a:ext>
            </a:extLst>
          </p:cNvPr>
          <p:cNvSpPr txBox="1"/>
          <p:nvPr/>
        </p:nvSpPr>
        <p:spPr>
          <a:xfrm>
            <a:off x="914400" y="2108200"/>
            <a:ext cx="3302000" cy="369332"/>
          </a:xfrm>
          <a:prstGeom prst="rect">
            <a:avLst/>
          </a:prstGeom>
          <a:noFill/>
        </p:spPr>
        <p:txBody>
          <a:bodyPr vert="horz" wrap="square" lIns="0" tIns="0" rIns="0" bIns="0" rtlCol="0">
            <a:noAutofit/>
          </a:bodyPr>
          <a:lstStyle/>
          <a:p>
            <a:r>
              <a:rPr lang="fr-FR" sz="4800" dirty="0">
                <a:solidFill>
                  <a:srgbClr val="F2F5F8"/>
                </a:solidFill>
                <a:latin typeface="Manrope SemiBold" pitchFamily="2" charset="0"/>
              </a:rPr>
              <a:t>3</a:t>
            </a:r>
          </a:p>
        </p:txBody>
      </p:sp>
      <p:sp>
        <p:nvSpPr>
          <p:cNvPr id="5" name="ZoneTexte 4">
            <a:extLst>
              <a:ext uri="{FF2B5EF4-FFF2-40B4-BE49-F238E27FC236}">
                <a16:creationId xmlns:a16="http://schemas.microsoft.com/office/drawing/2014/main" id="{EDA1ECDA-1497-45CD-BD74-2CEC64A70AEC}"/>
              </a:ext>
            </a:extLst>
          </p:cNvPr>
          <p:cNvSpPr txBox="1"/>
          <p:nvPr/>
        </p:nvSpPr>
        <p:spPr>
          <a:xfrm>
            <a:off x="914400" y="2921000"/>
            <a:ext cx="3302000" cy="369332"/>
          </a:xfrm>
          <a:prstGeom prst="rect">
            <a:avLst/>
          </a:prstGeom>
          <a:noFill/>
        </p:spPr>
        <p:txBody>
          <a:bodyPr vert="horz" wrap="square" lIns="0" tIns="0" rIns="0" bIns="0" rtlCol="0">
            <a:noAutofit/>
          </a:bodyPr>
          <a:lstStyle/>
          <a:p>
            <a:pPr>
              <a:lnSpc>
                <a:spcPct val="115000"/>
              </a:lnSpc>
            </a:pPr>
            <a:r>
              <a:rPr lang="fr-FR" sz="1600" dirty="0">
                <a:solidFill>
                  <a:srgbClr val="A9CCE3"/>
                </a:solidFill>
                <a:latin typeface="Manrope Medium" pitchFamily="2" charset="0"/>
              </a:rPr>
              <a:t>Documents sur nos choix techniques</a:t>
            </a:r>
          </a:p>
        </p:txBody>
      </p:sp>
      <p:sp>
        <p:nvSpPr>
          <p:cNvPr id="6" name="ZoneTexte 5">
            <a:extLst>
              <a:ext uri="{FF2B5EF4-FFF2-40B4-BE49-F238E27FC236}">
                <a16:creationId xmlns:a16="http://schemas.microsoft.com/office/drawing/2014/main" id="{83971BEE-3FA5-59E8-95BD-17AD400FE8DB}"/>
              </a:ext>
            </a:extLst>
          </p:cNvPr>
          <p:cNvSpPr txBox="1"/>
          <p:nvPr/>
        </p:nvSpPr>
        <p:spPr>
          <a:xfrm>
            <a:off x="914400" y="3225800"/>
            <a:ext cx="3175000" cy="369332"/>
          </a:xfrm>
          <a:prstGeom prst="rect">
            <a:avLst/>
          </a:prstGeom>
          <a:noFill/>
        </p:spPr>
        <p:txBody>
          <a:bodyPr vert="horz" wrap="square" lIns="0" tIns="0" rIns="0" bIns="0" rtlCol="0">
            <a:noAutofit/>
          </a:bodyPr>
          <a:lstStyle/>
          <a:p>
            <a:pPr>
              <a:lnSpc>
                <a:spcPct val="115000"/>
              </a:lnSpc>
            </a:pPr>
            <a:endParaRPr lang="fr-FR" sz="1200" dirty="0">
              <a:solidFill>
                <a:srgbClr val="9CA9B6"/>
              </a:solidFill>
              <a:latin typeface="Manrope" pitchFamily="2" charset="0"/>
            </a:endParaRPr>
          </a:p>
        </p:txBody>
      </p:sp>
      <p:sp>
        <p:nvSpPr>
          <p:cNvPr id="7" name="ZoneTexte 6">
            <a:extLst>
              <a:ext uri="{FF2B5EF4-FFF2-40B4-BE49-F238E27FC236}">
                <a16:creationId xmlns:a16="http://schemas.microsoft.com/office/drawing/2014/main" id="{F926D2D8-F79B-DC39-A73B-C1C0008B2F0D}"/>
              </a:ext>
            </a:extLst>
          </p:cNvPr>
          <p:cNvSpPr txBox="1"/>
          <p:nvPr/>
        </p:nvSpPr>
        <p:spPr>
          <a:xfrm>
            <a:off x="4470400" y="2108200"/>
            <a:ext cx="3302000" cy="369332"/>
          </a:xfrm>
          <a:prstGeom prst="rect">
            <a:avLst/>
          </a:prstGeom>
          <a:noFill/>
        </p:spPr>
        <p:txBody>
          <a:bodyPr vert="horz" wrap="square" lIns="0" tIns="0" rIns="0" bIns="0" rtlCol="0">
            <a:noAutofit/>
          </a:bodyPr>
          <a:lstStyle/>
          <a:p>
            <a:endParaRPr lang="fr-FR" sz="4800" dirty="0">
              <a:solidFill>
                <a:srgbClr val="F2F5F8"/>
              </a:solidFill>
              <a:latin typeface="Manrope SemiBold" pitchFamily="2" charset="0"/>
            </a:endParaRPr>
          </a:p>
        </p:txBody>
      </p:sp>
      <p:sp>
        <p:nvSpPr>
          <p:cNvPr id="8" name="ZoneTexte 7">
            <a:extLst>
              <a:ext uri="{FF2B5EF4-FFF2-40B4-BE49-F238E27FC236}">
                <a16:creationId xmlns:a16="http://schemas.microsoft.com/office/drawing/2014/main" id="{C76DBFF5-2D56-D501-5D99-C1394B92F06A}"/>
              </a:ext>
            </a:extLst>
          </p:cNvPr>
          <p:cNvSpPr txBox="1"/>
          <p:nvPr/>
        </p:nvSpPr>
        <p:spPr>
          <a:xfrm>
            <a:off x="4470400" y="2108200"/>
            <a:ext cx="1625600" cy="369332"/>
          </a:xfrm>
          <a:prstGeom prst="rect">
            <a:avLst/>
          </a:prstGeom>
          <a:noFill/>
        </p:spPr>
        <p:txBody>
          <a:bodyPr vert="horz" wrap="square" lIns="0" tIns="0" rIns="0" bIns="0" rtlCol="0">
            <a:noAutofit/>
          </a:bodyPr>
          <a:lstStyle/>
          <a:p>
            <a:pPr>
              <a:lnSpc>
                <a:spcPct val="115000"/>
              </a:lnSpc>
            </a:pPr>
            <a:r>
              <a:rPr lang="fr-FR" sz="2000" dirty="0">
                <a:solidFill>
                  <a:srgbClr val="A9CCE3"/>
                </a:solidFill>
                <a:latin typeface="Manrope Medium" pitchFamily="2" charset="0"/>
              </a:rPr>
              <a:t>Cadre légal défini</a:t>
            </a:r>
          </a:p>
        </p:txBody>
      </p:sp>
      <p:sp>
        <p:nvSpPr>
          <p:cNvPr id="9" name="ZoneTexte 8">
            <a:extLst>
              <a:ext uri="{FF2B5EF4-FFF2-40B4-BE49-F238E27FC236}">
                <a16:creationId xmlns:a16="http://schemas.microsoft.com/office/drawing/2014/main" id="{C067B3FA-9455-35EC-6FE4-6ABA2949F60D}"/>
              </a:ext>
            </a:extLst>
          </p:cNvPr>
          <p:cNvSpPr txBox="1"/>
          <p:nvPr/>
        </p:nvSpPr>
        <p:spPr>
          <a:xfrm>
            <a:off x="4470400" y="2921000"/>
            <a:ext cx="3175000" cy="369332"/>
          </a:xfrm>
          <a:prstGeom prst="rect">
            <a:avLst/>
          </a:prstGeom>
          <a:noFill/>
        </p:spPr>
        <p:txBody>
          <a:bodyPr vert="horz" wrap="square" lIns="0" tIns="0" rIns="0" bIns="0" rtlCol="0">
            <a:noAutofit/>
          </a:bodyPr>
          <a:lstStyle/>
          <a:p>
            <a:pPr>
              <a:lnSpc>
                <a:spcPct val="115000"/>
              </a:lnSpc>
            </a:pPr>
            <a:r>
              <a:rPr lang="fr-FR" sz="1200" dirty="0">
                <a:solidFill>
                  <a:srgbClr val="9CA9B6"/>
                </a:solidFill>
                <a:latin typeface="Manrope" pitchFamily="2" charset="0"/>
              </a:rPr>
              <a:t>Contrat API et encart "Mentions légales et données personnelles"</a:t>
            </a:r>
          </a:p>
        </p:txBody>
      </p:sp>
      <p:sp>
        <p:nvSpPr>
          <p:cNvPr id="10" name="ZoneTexte 9">
            <a:extLst>
              <a:ext uri="{FF2B5EF4-FFF2-40B4-BE49-F238E27FC236}">
                <a16:creationId xmlns:a16="http://schemas.microsoft.com/office/drawing/2014/main" id="{3D42C13E-D061-6212-514C-2B5DEA2C6CB5}"/>
              </a:ext>
            </a:extLst>
          </p:cNvPr>
          <p:cNvSpPr txBox="1"/>
          <p:nvPr/>
        </p:nvSpPr>
        <p:spPr>
          <a:xfrm>
            <a:off x="8026400" y="2108200"/>
            <a:ext cx="1849120" cy="369332"/>
          </a:xfrm>
          <a:prstGeom prst="rect">
            <a:avLst/>
          </a:prstGeom>
          <a:noFill/>
        </p:spPr>
        <p:txBody>
          <a:bodyPr vert="horz" wrap="square" lIns="0" tIns="0" rIns="0" bIns="0" rtlCol="0">
            <a:noAutofit/>
          </a:bodyPr>
          <a:lstStyle/>
          <a:p>
            <a:endParaRPr lang="fr-FR" sz="4800" dirty="0">
              <a:solidFill>
                <a:srgbClr val="F2F5F8"/>
              </a:solidFill>
              <a:latin typeface="Manrope SemiBold" pitchFamily="2" charset="0"/>
            </a:endParaRPr>
          </a:p>
        </p:txBody>
      </p:sp>
      <p:sp>
        <p:nvSpPr>
          <p:cNvPr id="11" name="ZoneTexte 10">
            <a:extLst>
              <a:ext uri="{FF2B5EF4-FFF2-40B4-BE49-F238E27FC236}">
                <a16:creationId xmlns:a16="http://schemas.microsoft.com/office/drawing/2014/main" id="{964D72AC-4CCF-74ED-409B-644DE9DF4721}"/>
              </a:ext>
            </a:extLst>
          </p:cNvPr>
          <p:cNvSpPr txBox="1"/>
          <p:nvPr/>
        </p:nvSpPr>
        <p:spPr>
          <a:xfrm>
            <a:off x="8026400" y="2108200"/>
            <a:ext cx="1849120" cy="369332"/>
          </a:xfrm>
          <a:prstGeom prst="rect">
            <a:avLst/>
          </a:prstGeom>
          <a:noFill/>
        </p:spPr>
        <p:txBody>
          <a:bodyPr vert="horz" wrap="square" lIns="0" tIns="0" rIns="0" bIns="0" rtlCol="0">
            <a:noAutofit/>
          </a:bodyPr>
          <a:lstStyle>
            <a:defPPr>
              <a:defRPr lang="fr-FR"/>
            </a:defPPr>
            <a:lvl1pPr>
              <a:lnSpc>
                <a:spcPct val="115000"/>
              </a:lnSpc>
              <a:defRPr sz="2000">
                <a:solidFill>
                  <a:srgbClr val="A9CCE3"/>
                </a:solidFill>
                <a:latin typeface="Manrope Medium" pitchFamily="2" charset="0"/>
              </a:defRPr>
            </a:lvl1pPr>
          </a:lstStyle>
          <a:p>
            <a:r>
              <a:rPr lang="fr-FR" dirty="0"/>
              <a:t>Une entreprise moderne</a:t>
            </a:r>
          </a:p>
        </p:txBody>
      </p:sp>
      <p:sp>
        <p:nvSpPr>
          <p:cNvPr id="12" name="ZoneTexte 11">
            <a:extLst>
              <a:ext uri="{FF2B5EF4-FFF2-40B4-BE49-F238E27FC236}">
                <a16:creationId xmlns:a16="http://schemas.microsoft.com/office/drawing/2014/main" id="{76C28A6D-22D2-7A1D-510D-B9021999BBBC}"/>
              </a:ext>
            </a:extLst>
          </p:cNvPr>
          <p:cNvSpPr txBox="1"/>
          <p:nvPr/>
        </p:nvSpPr>
        <p:spPr>
          <a:xfrm>
            <a:off x="8026400" y="2921000"/>
            <a:ext cx="3175000" cy="369332"/>
          </a:xfrm>
          <a:prstGeom prst="rect">
            <a:avLst/>
          </a:prstGeom>
          <a:noFill/>
        </p:spPr>
        <p:txBody>
          <a:bodyPr vert="horz" wrap="square" lIns="0" tIns="0" rIns="0" bIns="0" rtlCol="0">
            <a:noAutofit/>
          </a:bodyPr>
          <a:lstStyle/>
          <a:p>
            <a:pPr>
              <a:lnSpc>
                <a:spcPct val="115000"/>
              </a:lnSpc>
            </a:pPr>
            <a:r>
              <a:rPr lang="fr-FR" sz="1200" dirty="0">
                <a:solidFill>
                  <a:srgbClr val="9CA9B6"/>
                </a:solidFill>
                <a:latin typeface="Manrope" pitchFamily="2" charset="0"/>
              </a:rPr>
              <a:t>L’IA au service de notre équipe</a:t>
            </a:r>
          </a:p>
        </p:txBody>
      </p:sp>
      <p:sp>
        <p:nvSpPr>
          <p:cNvPr id="13" name="Rectangle : coins arrondis 12">
            <a:hlinkClick r:id="rId3"/>
            <a:extLst>
              <a:ext uri="{FF2B5EF4-FFF2-40B4-BE49-F238E27FC236}">
                <a16:creationId xmlns:a16="http://schemas.microsoft.com/office/drawing/2014/main" id="{2D56565A-BAEE-C09A-9403-7EAD2F8B2010}"/>
              </a:ext>
            </a:extLst>
          </p:cNvPr>
          <p:cNvSpPr/>
          <p:nvPr/>
        </p:nvSpPr>
        <p:spPr>
          <a:xfrm>
            <a:off x="914400" y="4241800"/>
            <a:ext cx="10363200" cy="1498600"/>
          </a:xfrm>
          <a:prstGeom prst="roundRect">
            <a:avLst>
              <a:gd name="adj" fmla="val 10169"/>
            </a:avLst>
          </a:prstGeom>
          <a:solidFill>
            <a:srgbClr val="182330"/>
          </a:solidFill>
          <a:ln w="9525">
            <a:solidFill>
              <a:srgbClr val="2430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Rectangle 13">
            <a:hlinkClick r:id="rId3"/>
            <a:extLst>
              <a:ext uri="{FF2B5EF4-FFF2-40B4-BE49-F238E27FC236}">
                <a16:creationId xmlns:a16="http://schemas.microsoft.com/office/drawing/2014/main" id="{D2C842D4-D0D9-DC49-D715-71959A90AE4A}"/>
              </a:ext>
            </a:extLst>
          </p:cNvPr>
          <p:cNvSpPr/>
          <p:nvPr/>
        </p:nvSpPr>
        <p:spPr>
          <a:xfrm>
            <a:off x="914400" y="4241800"/>
            <a:ext cx="50800" cy="1498600"/>
          </a:xfrm>
          <a:prstGeom prst="rect">
            <a:avLst/>
          </a:prstGeom>
          <a:solidFill>
            <a:srgbClr val="A9CC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ZoneTexte 14">
            <a:hlinkClick r:id="rId3"/>
            <a:extLst>
              <a:ext uri="{FF2B5EF4-FFF2-40B4-BE49-F238E27FC236}">
                <a16:creationId xmlns:a16="http://schemas.microsoft.com/office/drawing/2014/main" id="{5B9FA308-37A5-197E-D0C6-06152F590F01}"/>
              </a:ext>
            </a:extLst>
          </p:cNvPr>
          <p:cNvSpPr txBox="1"/>
          <p:nvPr/>
        </p:nvSpPr>
        <p:spPr>
          <a:xfrm>
            <a:off x="1270000" y="4470400"/>
            <a:ext cx="9652000" cy="369332"/>
          </a:xfrm>
          <a:prstGeom prst="rect">
            <a:avLst/>
          </a:prstGeom>
          <a:noFill/>
        </p:spPr>
        <p:txBody>
          <a:bodyPr vert="horz" wrap="square" lIns="0" tIns="0" rIns="0" bIns="0" rtlCol="0">
            <a:noAutofit/>
          </a:bodyPr>
          <a:lstStyle/>
          <a:p>
            <a:pPr>
              <a:lnSpc>
                <a:spcPct val="115000"/>
              </a:lnSpc>
            </a:pPr>
            <a:r>
              <a:rPr lang="fr-FR" sz="1900">
                <a:solidFill>
                  <a:srgbClr val="F2F5F8"/>
                </a:solidFill>
                <a:latin typeface="Manrope Medium" pitchFamily="2" charset="0"/>
              </a:rPr>
              <a:t>Lire la documentation technique</a:t>
            </a:r>
          </a:p>
        </p:txBody>
      </p:sp>
      <p:sp>
        <p:nvSpPr>
          <p:cNvPr id="16" name="ZoneTexte 15">
            <a:hlinkClick r:id="rId3"/>
            <a:extLst>
              <a:ext uri="{FF2B5EF4-FFF2-40B4-BE49-F238E27FC236}">
                <a16:creationId xmlns:a16="http://schemas.microsoft.com/office/drawing/2014/main" id="{E5F9EAB9-59EF-1F33-F8D7-CC236FB3A39C}"/>
              </a:ext>
            </a:extLst>
          </p:cNvPr>
          <p:cNvSpPr txBox="1"/>
          <p:nvPr/>
        </p:nvSpPr>
        <p:spPr>
          <a:xfrm>
            <a:off x="1270000" y="4876800"/>
            <a:ext cx="9652000" cy="369332"/>
          </a:xfrm>
          <a:prstGeom prst="rect">
            <a:avLst/>
          </a:prstGeom>
          <a:noFill/>
        </p:spPr>
        <p:txBody>
          <a:bodyPr vert="horz" wrap="square" lIns="0" tIns="0" rIns="0" bIns="0" rtlCol="0">
            <a:noAutofit/>
          </a:bodyPr>
          <a:lstStyle/>
          <a:p>
            <a:pPr>
              <a:lnSpc>
                <a:spcPct val="115000"/>
              </a:lnSpc>
            </a:pPr>
            <a:r>
              <a:rPr lang="fr-FR" sz="1350">
                <a:solidFill>
                  <a:srgbClr val="9CA9B6"/>
                </a:solidFill>
                <a:latin typeface="Manrope" pitchFamily="2" charset="0"/>
              </a:rPr>
              <a:t>Choix techniques, contrat d'API, schéma des données : tout est écrit dans le dépôt.</a:t>
            </a:r>
          </a:p>
        </p:txBody>
      </p:sp>
      <p:sp>
        <p:nvSpPr>
          <p:cNvPr id="17" name="ZoneTexte 16">
            <a:hlinkClick r:id="rId3"/>
            <a:extLst>
              <a:ext uri="{FF2B5EF4-FFF2-40B4-BE49-F238E27FC236}">
                <a16:creationId xmlns:a16="http://schemas.microsoft.com/office/drawing/2014/main" id="{55C6E446-6170-1D22-66CE-5DC633060E71}"/>
              </a:ext>
            </a:extLst>
          </p:cNvPr>
          <p:cNvSpPr txBox="1"/>
          <p:nvPr/>
        </p:nvSpPr>
        <p:spPr>
          <a:xfrm>
            <a:off x="1270000" y="5283200"/>
            <a:ext cx="9652000" cy="369332"/>
          </a:xfrm>
          <a:prstGeom prst="rect">
            <a:avLst/>
          </a:prstGeom>
          <a:noFill/>
        </p:spPr>
        <p:txBody>
          <a:bodyPr vert="horz" wrap="square" lIns="0" tIns="0" rIns="0" bIns="0" rtlCol="0">
            <a:noAutofit/>
          </a:bodyPr>
          <a:lstStyle/>
          <a:p>
            <a:pPr>
              <a:lnSpc>
                <a:spcPct val="115000"/>
              </a:lnSpc>
            </a:pPr>
            <a:r>
              <a:rPr lang="fr-FR" sz="1050">
                <a:solidFill>
                  <a:srgbClr val="A9CCE3"/>
                </a:solidFill>
                <a:latin typeface="Manrope" pitchFamily="2" charset="0"/>
              </a:rPr>
              <a:t>https://github.com/EpitechMscProPromo2029/T-WEB-501-PAR-5-1-job_board-5/blob/main/docs/choix_techniques_front.md</a:t>
            </a:r>
          </a:p>
        </p:txBody>
      </p:sp>
    </p:spTree>
    <p:extLst>
      <p:ext uri="{BB962C8B-B14F-4D97-AF65-F5344CB8AC3E}">
        <p14:creationId xmlns:p14="http://schemas.microsoft.com/office/powerpoint/2010/main" val="6642659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15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par>
                                <p:cTn id="11" presetID="10" presetClass="entr" presetSubtype="0" fill="hold" grpId="0" nodeType="withEffect">
                                  <p:stCondLst>
                                    <p:cond delay="45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childTnLst>
                                </p:cTn>
                              </p:par>
                              <p:par>
                                <p:cTn id="14" presetID="10" presetClass="entr" presetSubtype="0" fill="hold" grpId="0" nodeType="withEffect">
                                  <p:stCondLst>
                                    <p:cond delay="45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childTnLst>
                                </p:cTn>
                              </p:par>
                              <p:par>
                                <p:cTn id="17" presetID="10" presetClass="entr" presetSubtype="0" fill="hold" grpId="0" nodeType="withEffect" nodePh="1">
                                  <p:stCondLst>
                                    <p:cond delay="450"/>
                                  </p:stCondLst>
                                  <p:endCondLst>
                                    <p:cond evt="begin" delay="0">
                                      <p:tn val="17"/>
                                    </p:cond>
                                  </p:end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childTnLst>
                                </p:cTn>
                              </p:par>
                              <p:par>
                                <p:cTn id="20" presetID="10" presetClass="entr" presetSubtype="0" fill="hold" grpId="0" nodeType="withEffect" nodePh="1">
                                  <p:stCondLst>
                                    <p:cond delay="750"/>
                                  </p:stCondLst>
                                  <p:endCondLst>
                                    <p:cond evt="begin" delay="0">
                                      <p:tn val="20"/>
                                    </p:cond>
                                  </p:end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par>
                                <p:cTn id="23" presetID="10" presetClass="entr" presetSubtype="0" fill="hold" grpId="0" nodeType="withEffect">
                                  <p:stCondLst>
                                    <p:cond delay="75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childTnLst>
                                </p:cTn>
                              </p:par>
                              <p:par>
                                <p:cTn id="26" presetID="10" presetClass="entr" presetSubtype="0" fill="hold" grpId="0" nodeType="withEffect">
                                  <p:stCondLst>
                                    <p:cond delay="75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500"/>
                                        <p:tgtEl>
                                          <p:spTgt spid="9"/>
                                        </p:tgtEl>
                                      </p:cBhvr>
                                    </p:animEffect>
                                  </p:childTnLst>
                                </p:cTn>
                              </p:par>
                              <p:par>
                                <p:cTn id="29" presetID="10" presetClass="entr" presetSubtype="0" fill="hold" grpId="0" nodeType="withEffect" nodePh="1">
                                  <p:stCondLst>
                                    <p:cond delay="1050"/>
                                  </p:stCondLst>
                                  <p:endCondLst>
                                    <p:cond evt="begin" delay="0">
                                      <p:tn val="29"/>
                                    </p:cond>
                                  </p:endCondLst>
                                  <p:childTnLst>
                                    <p:set>
                                      <p:cBhvr>
                                        <p:cTn id="30" dur="1" fill="hold">
                                          <p:stCondLst>
                                            <p:cond delay="0"/>
                                          </p:stCondLst>
                                        </p:cTn>
                                        <p:tgtEl>
                                          <p:spTgt spid="10"/>
                                        </p:tgtEl>
                                        <p:attrNameLst>
                                          <p:attrName>style.visibility</p:attrName>
                                        </p:attrNameLst>
                                      </p:cBhvr>
                                      <p:to>
                                        <p:strVal val="visible"/>
                                      </p:to>
                                    </p:set>
                                    <p:animEffect transition="in" filter="fade">
                                      <p:cBhvr>
                                        <p:cTn id="31" dur="500"/>
                                        <p:tgtEl>
                                          <p:spTgt spid="10"/>
                                        </p:tgtEl>
                                      </p:cBhvr>
                                    </p:animEffect>
                                  </p:childTnLst>
                                </p:cTn>
                              </p:par>
                              <p:par>
                                <p:cTn id="32" presetID="10" presetClass="entr" presetSubtype="0" fill="hold" grpId="0" nodeType="withEffect">
                                  <p:stCondLst>
                                    <p:cond delay="105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500"/>
                                        <p:tgtEl>
                                          <p:spTgt spid="11"/>
                                        </p:tgtEl>
                                      </p:cBhvr>
                                    </p:animEffect>
                                  </p:childTnLst>
                                </p:cTn>
                              </p:par>
                              <p:par>
                                <p:cTn id="35" presetID="10" presetClass="entr" presetSubtype="0" fill="hold" grpId="0" nodeType="withEffect">
                                  <p:stCondLst>
                                    <p:cond delay="105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500"/>
                                        <p:tgtEl>
                                          <p:spTgt spid="12"/>
                                        </p:tgtEl>
                                      </p:cBhvr>
                                    </p:animEffect>
                                  </p:childTnLst>
                                </p:cTn>
                              </p:par>
                              <p:par>
                                <p:cTn id="38" presetID="10" presetClass="entr" presetSubtype="0" fill="hold" grpId="0" nodeType="withEffect">
                                  <p:stCondLst>
                                    <p:cond delay="135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00"/>
                                        <p:tgtEl>
                                          <p:spTgt spid="13"/>
                                        </p:tgtEl>
                                      </p:cBhvr>
                                    </p:animEffect>
                                  </p:childTnLst>
                                </p:cTn>
                              </p:par>
                              <p:par>
                                <p:cTn id="41" presetID="10" presetClass="entr" presetSubtype="0" fill="hold" grpId="0" nodeType="withEffect">
                                  <p:stCondLst>
                                    <p:cond delay="135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500"/>
                                        <p:tgtEl>
                                          <p:spTgt spid="14"/>
                                        </p:tgtEl>
                                      </p:cBhvr>
                                    </p:animEffect>
                                  </p:childTnLst>
                                </p:cTn>
                              </p:par>
                              <p:par>
                                <p:cTn id="44" presetID="10" presetClass="entr" presetSubtype="0" fill="hold" grpId="0" nodeType="withEffect">
                                  <p:stCondLst>
                                    <p:cond delay="135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00"/>
                                        <p:tgtEl>
                                          <p:spTgt spid="15"/>
                                        </p:tgtEl>
                                      </p:cBhvr>
                                    </p:animEffect>
                                  </p:childTnLst>
                                </p:cTn>
                              </p:par>
                              <p:par>
                                <p:cTn id="47" presetID="10" presetClass="entr" presetSubtype="0" fill="hold" grpId="0" nodeType="withEffect">
                                  <p:stCondLst>
                                    <p:cond delay="135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500"/>
                                        <p:tgtEl>
                                          <p:spTgt spid="16"/>
                                        </p:tgtEl>
                                      </p:cBhvr>
                                    </p:animEffect>
                                  </p:childTnLst>
                                </p:cTn>
                              </p:par>
                              <p:par>
                                <p:cTn id="50" presetID="10" presetClass="entr" presetSubtype="0" fill="hold" grpId="0" nodeType="withEffect">
                                  <p:stCondLst>
                                    <p:cond delay="135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P spid="5" grpId="0"/>
      <p:bldP spid="6" grpId="0"/>
      <p:bldP spid="7" grpId="0"/>
      <p:bldP spid="8" grpId="0"/>
      <p:bldP spid="9" grpId="0"/>
      <p:bldP spid="10" grpId="0"/>
      <p:bldP spid="11" grpId="0"/>
      <p:bldP spid="12" grpId="0"/>
      <p:bldP spid="13" grpId="0" animBg="1"/>
      <p:bldP spid="14" grpId="0" animBg="1"/>
      <p:bldP spid="15" grpId="0"/>
      <p:bldP spid="16" grpId="0"/>
      <p:bldP spid="17" grpId="0"/>
    </p:bldLst>
  </p:timing>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22</TotalTime>
  <Words>1956</Words>
  <Application>Microsoft Office PowerPoint</Application>
  <PresentationFormat>Grand écran</PresentationFormat>
  <Paragraphs>257</Paragraphs>
  <Slides>12</Slides>
  <Notes>12</Notes>
  <HiddenSlides>0</HiddenSlides>
  <MMClips>0</MMClips>
  <ScaleCrop>false</ScaleCrop>
  <HeadingPairs>
    <vt:vector size="6" baseType="variant">
      <vt:variant>
        <vt:lpstr>Polices utilisées</vt:lpstr>
      </vt:variant>
      <vt:variant>
        <vt:i4>6</vt:i4>
      </vt:variant>
      <vt:variant>
        <vt:lpstr>Thème</vt:lpstr>
      </vt:variant>
      <vt:variant>
        <vt:i4>1</vt:i4>
      </vt:variant>
      <vt:variant>
        <vt:lpstr>Titres des diapositives</vt:lpstr>
      </vt:variant>
      <vt:variant>
        <vt:i4>12</vt:i4>
      </vt:variant>
    </vt:vector>
  </HeadingPairs>
  <TitlesOfParts>
    <vt:vector size="19" baseType="lpstr">
      <vt:lpstr>Aptos</vt:lpstr>
      <vt:lpstr>Aptos Display</vt:lpstr>
      <vt:lpstr>Arial</vt:lpstr>
      <vt:lpstr>Manrope</vt:lpstr>
      <vt:lpstr>Manrope Medium</vt:lpstr>
      <vt:lpstr>Manrope SemiBold</vt:lpstr>
      <vt:lpstr>Thème Office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Axel Follet</dc:creator>
  <cp:lastModifiedBy>Axel Follet</cp:lastModifiedBy>
  <cp:revision>6</cp:revision>
  <dcterms:created xsi:type="dcterms:W3CDTF">2026-10-13T12:08:52Z</dcterms:created>
  <dcterms:modified xsi:type="dcterms:W3CDTF">2026-10-13T21:14:02Z</dcterms:modified>
</cp:coreProperties>
</file>