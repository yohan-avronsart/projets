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628" autoAdjust="0"/>
  </p:normalViewPr>
  <p:slideViewPr>
    <p:cSldViewPr snapToGrid="0">
      <p:cViewPr>
        <p:scale>
          <a:sx n="66" d="100"/>
          <a:sy n="66" d="100"/>
        </p:scale>
        <p:origin x="644" y="-2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8A6968-F8A5-4117-883A-0C39BC6E68E7}" type="datetimeFigureOut">
              <a:rPr lang="fr-FR" smtClean="0"/>
              <a:t>16/10/2026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9C38A8C-A952-4860-9F51-CDDD32759BDD}" type="slidenum">
              <a:rPr lang="fr-FR" smtClean="0"/>
              <a:t>‹N°›</a:t>
            </a:fld>
            <a:endParaRPr lang="fr-FR"/>
          </a:p>
        </p:txBody>
      </p:sp>
    </p:spTree>
    <p:extLst>
      <p:ext uri="{BB962C8B-B14F-4D97-AF65-F5344CB8AC3E}">
        <p14:creationId xmlns:p14="http://schemas.microsoft.com/office/powerpoint/2010/main" val="24301912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20 s</a:t>
            </a:r>
          </a:p>
          <a:p>
            <a:endParaRPr lang="fr-FR"/>
          </a:p>
          <a:p>
            <a:r>
              <a:rPr lang="fr-FR"/>
              <a:t>COMPLÉMENT</a:t>
            </a:r>
          </a:p>
          <a:p>
            <a:r>
              <a:rPr lang="fr-FR"/>
              <a:t>Dire en une phrase ce que c'est : un site d'emploi où l'on postule en quelques secondes. Annoncer : un quart d'heure de présentation, puis la démonstration en direct, puis les questions. Chacun parle de son périmètre : Axel le produit, l'organisation et la méthode ; Yohan le constat, le catalogue, la stack et les données ; Ismail la confiance, l'architecture et les difficultés.</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1</a:t>
            </a:fld>
            <a:endParaRPr lang="fr-FR"/>
          </a:p>
        </p:txBody>
      </p:sp>
    </p:spTree>
    <p:extLst>
      <p:ext uri="{BB962C8B-B14F-4D97-AF65-F5344CB8AC3E}">
        <p14:creationId xmlns:p14="http://schemas.microsoft.com/office/powerpoint/2010/main" val="28577903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INTERVENANT : Yohan · 45 s</a:t>
            </a:r>
          </a:p>
          <a:p>
            <a:endParaRPr lang="fr-FR" dirty="0"/>
          </a:p>
          <a:p>
            <a:r>
              <a:rPr lang="fr-FR" dirty="0"/>
              <a:t>COMPLÉMENT</a:t>
            </a:r>
          </a:p>
          <a:p>
            <a:r>
              <a:rPr lang="fr-FR" dirty="0"/>
              <a:t>Le premier point vient du sujet : les offres sont dispersées sur de nombreuses plateformes. Les deux autres sont le vécu de n'importe quel candidat : parler d'une expérience personnelle rend le constat concret.</a:t>
            </a:r>
          </a:p>
          <a:p>
            <a:r>
              <a:rPr lang="fr-FR" dirty="0"/>
              <a:t>La phrase du bas est la promesse ; la diapositive suivante la tient.</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2</a:t>
            </a:fld>
            <a:endParaRPr lang="fr-FR"/>
          </a:p>
        </p:txBody>
      </p:sp>
    </p:spTree>
    <p:extLst>
      <p:ext uri="{BB962C8B-B14F-4D97-AF65-F5344CB8AC3E}">
        <p14:creationId xmlns:p14="http://schemas.microsoft.com/office/powerpoint/2010/main" val="3773289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60 s</a:t>
            </a:r>
          </a:p>
          <a:p>
            <a:endParaRPr lang="fr-FR"/>
          </a:p>
          <a:p>
            <a:r>
              <a:rPr lang="fr-FR"/>
              <a:t>COMPLÉMENT</a:t>
            </a:r>
          </a:p>
          <a:p>
            <a:r>
              <a:rPr lang="fr-FR"/>
              <a:t>La capture de droite est l'accueil réel du site : recherche, puis les deux offres les plus récentes.</a:t>
            </a:r>
          </a:p>
          <a:p>
            <a:r>
              <a:rPr lang="fr-FR"/>
              <a:t>Sans compte : nom, prénom, e-mail, téléphone facultatif, message, CV en PDF facultatif. Si l'adresse appartient déjà à un compte, le site demande de se connecter : personne ne candidate au nom d'un autre.</a:t>
            </a:r>
          </a:p>
          <a:p>
            <a:r>
              <a:rPr lang="fr-FR"/>
              <a:t>Ne pas parler technique ici : on vend l'usage.</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3</a:t>
            </a:fld>
            <a:endParaRPr lang="fr-FR"/>
          </a:p>
        </p:txBody>
      </p:sp>
    </p:spTree>
    <p:extLst>
      <p:ext uri="{BB962C8B-B14F-4D97-AF65-F5344CB8AC3E}">
        <p14:creationId xmlns:p14="http://schemas.microsoft.com/office/powerpoint/2010/main" val="3118259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60 s</a:t>
            </a:r>
          </a:p>
          <a:p>
            <a:endParaRPr lang="fr-FR"/>
          </a:p>
          <a:p>
            <a:r>
              <a:rPr lang="fr-FR"/>
              <a:t>COMPLÉMENT</a:t>
            </a:r>
          </a:p>
          <a:p>
            <a:r>
              <a:rPr lang="fr-FR"/>
              <a:t>La capture est une annonce réelle de la base, avec le formulaire ouvert. Le titre de l'annonce ouvre le détail dans la carte ; le bouton Postuler ouvre le formulaire au même endroit.</a:t>
            </a:r>
          </a:p>
          <a:p>
            <a:r>
              <a:rPr lang="fr-FR"/>
              <a:t>Montrer dans l'ordre du geste : l'annonce, le bouton Postuler, le formulaire, puis la confirmation à l'écran après l'envoi.</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4</a:t>
            </a:fld>
            <a:endParaRPr lang="fr-FR"/>
          </a:p>
        </p:txBody>
      </p:sp>
    </p:spTree>
    <p:extLst>
      <p:ext uri="{BB962C8B-B14F-4D97-AF65-F5344CB8AC3E}">
        <p14:creationId xmlns:p14="http://schemas.microsoft.com/office/powerpoint/2010/main" val="32051963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50 s</a:t>
            </a:r>
          </a:p>
          <a:p>
            <a:endParaRPr lang="fr-FR"/>
          </a:p>
          <a:p>
            <a:r>
              <a:rPr lang="fr-FR"/>
              <a:t>COMPLÉMENT</a:t>
            </a:r>
          </a:p>
          <a:p>
            <a:r>
              <a:rPr lang="fr-FR"/>
              <a:t>Un recruteur est une personne rattachée à une entreprise par l'administrateur : personne ne se déclare recruteur lui-même. Pourvoir une offre : l'annonce se ferme, une candidature est retenue, les autres refusées, en une seule opération.</a:t>
            </a:r>
          </a:p>
          <a:p>
            <a:r>
              <a:rPr lang="fr-FR"/>
              <a:t>Administration : accès réservé au rôle admin, 10, 25 ou 50 lignes par page.</a:t>
            </a:r>
          </a:p>
          <a:p>
            <a:r>
              <a:rPr lang="fr-FR"/>
              <a:t>Démonstration : espace candidat, espace recruteur (publier, lire les candidatures et le CV, clôturer) et administration. La clôture se fait depuis l'espace recruteur ; la page d'administration ne la propose pas.</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5</a:t>
            </a:fld>
            <a:endParaRPr lang="fr-FR"/>
          </a:p>
        </p:txBody>
      </p:sp>
    </p:spTree>
    <p:extLst>
      <p:ext uri="{BB962C8B-B14F-4D97-AF65-F5344CB8AC3E}">
        <p14:creationId xmlns:p14="http://schemas.microsoft.com/office/powerpoint/2010/main" val="22311009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Yohan · 35 s</a:t>
            </a:r>
          </a:p>
          <a:p>
            <a:endParaRPr lang="fr-FR"/>
          </a:p>
          <a:p>
            <a:r>
              <a:rPr lang="fr-FR"/>
              <a:t>COMPLÉMENT</a:t>
            </a:r>
          </a:p>
          <a:p>
            <a:r>
              <a:rPr lang="fr-FR"/>
              <a:t>Les 53 annonces : 22 CDI, 10 CDD, 9 stages, 7 alternances, 5 freelances, dans 12 entreprises et 12 villes, six catégories de métiers. 3 annonces viennent de seed.sql (TechNova, GreenWorks) ; les 50 autres sont insérées par seed_data.py, qui refuse de s'exécuter deux fois.</a:t>
            </a:r>
          </a:p>
          <a:p>
            <a:r>
              <a:rPr lang="fr-FR"/>
              <a:t>Si la question vient : les données sont fictives, rédigées par l'équipe ; aucune entreprise réelle.</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6</a:t>
            </a:fld>
            <a:endParaRPr lang="fr-FR"/>
          </a:p>
        </p:txBody>
      </p:sp>
    </p:spTree>
    <p:extLst>
      <p:ext uri="{BB962C8B-B14F-4D97-AF65-F5344CB8AC3E}">
        <p14:creationId xmlns:p14="http://schemas.microsoft.com/office/powerpoint/2010/main" val="20588482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Ismail · 70 s</a:t>
            </a:r>
          </a:p>
          <a:p>
            <a:endParaRPr lang="fr-FR"/>
          </a:p>
          <a:p>
            <a:r>
              <a:rPr lang="fr-FR"/>
              <a:t>COMPLÉMENT</a:t>
            </a:r>
          </a:p>
          <a:p>
            <a:r>
              <a:rPr lang="fr-FR"/>
              <a:t>Pourquoi ce parcours : une personne qui a candidaté sans compte a déjà une fiche. Sans vérification, connaître son adresse suffirait pour lire ses candidatures. Avec le lien, seul le propriétaire de la boîte mail ouvre le compte. À l'inverse, une adresse encore inconnue crée le compte tout de suite, sans lien : il n'y a aucune candidature à protéger.</a:t>
            </a:r>
          </a:p>
          <a:p>
            <a:r>
              <a:rPr lang="fr-FR"/>
              <a:t>Technique, si on la demande : jeton aléatoire stocké haché, un lien périmé, inconnu ou déjà utilisé reçoit le même refus ; cookie de session HttpOnly et SameSite=Lax ; cinq échecs en quinze minutes donnent une réponse 429 avec le délai d'attente, même avec le bon mot de passe ; clé secrète et réglages d'envoi dans un fichier .env ignoré par Git.</a:t>
            </a:r>
          </a:p>
          <a:p>
            <a:r>
              <a:rPr lang="fr-FR"/>
              <a:t>En démonstration : avec MAIL_ENABLED=1 dans .env, le lien arrive dans la boîte mail ; sinon, il s'affiche dans le terminal du serveur.</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7</a:t>
            </a:fld>
            <a:endParaRPr lang="fr-FR"/>
          </a:p>
        </p:txBody>
      </p:sp>
    </p:spTree>
    <p:extLst>
      <p:ext uri="{BB962C8B-B14F-4D97-AF65-F5344CB8AC3E}">
        <p14:creationId xmlns:p14="http://schemas.microsoft.com/office/powerpoint/2010/main" val="23950436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Yohan · 75 s</a:t>
            </a:r>
          </a:p>
          <a:p>
            <a:endParaRPr lang="fr-FR"/>
          </a:p>
          <a:p>
            <a:r>
              <a:rPr lang="fr-FR"/>
              <a:t>COMPLÉMENT</a:t>
            </a:r>
          </a:p>
          <a:p>
            <a:r>
              <a:rPr lang="fr-FR"/>
              <a:t>Chiffres des documents de choix techniques : React est utilisé par 44,7 % des développeurs interrogés par Stack Overflow en 2025, Vue par 17,6 % ; FastAPI 14,8 % et Flask 14,4 %. Vite 8 construit avec Rolldown. Werkzeug 3.1.9, python-dotenv 1.2.4, SQLite 3.46.</a:t>
            </a:r>
          </a:p>
          <a:p>
            <a:r>
              <a:rPr lang="fr-FR"/>
              <a:t>Question attendue « pourquoi pas Django ? » : son ORM, son administration et ses gabarits HTML seraient restés inutilisés pour une API qui ne renvoie que du JSON à un front séparé.</a:t>
            </a:r>
          </a:p>
          <a:p>
            <a:r>
              <a:rPr lang="fr-FR"/>
              <a:t>Question attendue « pourquoi pas PostgreSQL ? » : zéro installation pour dix jours, même SQL paramétré ; SQLite accepte des lectures illimitées mais un seul écrivain à la fois, d'où la migration prévue si la charge grandit.</a:t>
            </a:r>
          </a:p>
          <a:p>
            <a:r>
              <a:rPr lang="fr-FR"/>
              <a:t>Les trois documents : docs/choix_techniques_front.md, docs/choix_techniques_back_donnees.md, docs/choix_techniques_comptes_securite.md.</a:t>
            </a:r>
          </a:p>
        </p:txBody>
      </p:sp>
      <p:sp>
        <p:nvSpPr>
          <p:cNvPr id="4" name="Espace réservé du numéro de diapositive 3"/>
          <p:cNvSpPr>
            <a:spLocks noGrp="1"/>
          </p:cNvSpPr>
          <p:nvPr>
            <p:ph type="sldNum" sz="quarter" idx="5"/>
          </p:nvPr>
        </p:nvSpPr>
        <p:spPr/>
        <p:txBody>
          <a:bodyPr/>
          <a:lstStyle/>
          <a:p>
            <a:fld id="{D9C38A8C-A952-4860-9F51-CDDD32759BDD}" type="slidenum">
              <a:rPr lang="fr-FR"/>
              <a:t>8</a:t>
            </a:fld>
            <a:endParaRPr lang="fr-F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Ismail · 75 s</a:t>
            </a:r>
          </a:p>
          <a:p>
            <a:endParaRPr lang="fr-FR"/>
          </a:p>
          <a:p>
            <a:r>
              <a:rPr lang="fr-FR"/>
              <a:t>COMPLÉMENT</a:t>
            </a:r>
          </a:p>
          <a:p>
            <a:r>
              <a:rPr lang="fr-FR"/>
              <a:t>La sécurité (session, mots de passe, e-mails) a été présentée à la diapo 7 : ici, seulement l'enchaînement des couches.</a:t>
            </a:r>
          </a:p>
          <a:p>
            <a:r>
              <a:rPr lang="fr-FR"/>
              <a:t>Le chemin d'une action : le navigateur appelle /api, Vite transmet au serveur Flask en développement (proxy), la route lit ou écrit dans SQLite avec une requête paramétrée, puis renvoie du JSON et un code HTTP prévu par le contrat.</a:t>
            </a:r>
          </a:p>
          <a:p>
            <a:r>
              <a:rPr lang="fr-FR"/>
              <a:t>Les cinq modules (Blueprints) : ads, auth, verification, recruiter, admin, tous enregistrés dans app.py sous /api.</a:t>
            </a:r>
          </a:p>
          <a:p>
            <a:r>
              <a:rPr lang="fr-FR"/>
              <a:t>Session : l'identifiant de la personne est placé dans le cookie de session de Flask, signé par la clé secrète ; HttpOnly le rend illisible par les scripts, SameSite=Lax empêche un autre site de le joindre à un POST. Alternative écartée : un jeton JWT dans localStorage, lisible par tout script de la page.</a:t>
            </a:r>
          </a:p>
          <a:p>
            <a:r>
              <a:rPr lang="fr-FR"/>
              <a:t>Mots de passe : scrypt via Werkzeug, N = 2^15, r = 8, p = 3 ; jamais renvoyés par l'API. Limite d'essais : 429 avec Retry-After.</a:t>
            </a:r>
          </a:p>
          <a:p>
            <a:r>
              <a:rPr lang="fr-FR"/>
              <a:t>Jetons de confirmation : 32 octets tirés par le module secrets, seule l'empreinte SHA-256 est en base ; une base copiée ne donne aucun lien valide.</a:t>
            </a:r>
          </a:p>
        </p:txBody>
      </p:sp>
      <p:sp>
        <p:nvSpPr>
          <p:cNvPr id="4" name="Espace réservé du numéro de diapositive 3"/>
          <p:cNvSpPr>
            <a:spLocks noGrp="1"/>
          </p:cNvSpPr>
          <p:nvPr>
            <p:ph type="sldNum" sz="quarter" idx="5"/>
          </p:nvPr>
        </p:nvSpPr>
        <p:spPr/>
        <p:txBody>
          <a:bodyPr/>
          <a:lstStyle/>
          <a:p>
            <a:fld id="{D9C38A8C-A952-4860-9F51-CDDD32759BDD}" type="slidenum">
              <a:rPr lang="fr-FR"/>
              <a:t>9</a:t>
            </a:fld>
            <a:endParaRPr lang="fr-F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Yohan · 75 s</a:t>
            </a:r>
          </a:p>
          <a:p>
            <a:endParaRPr lang="fr-FR"/>
          </a:p>
          <a:p>
            <a:r>
              <a:rPr lang="fr-FR"/>
              <a:t>COMPLÉMENT</a:t>
            </a:r>
          </a:p>
          <a:p>
            <a:r>
              <a:rPr lang="fr-FR"/>
              <a:t>Lire les flèches comme « dépend de » : une annonce dépend d'une entreprise, d'une catégorie et d'une personne de contact ; une candidature dépend d'une annonce et d'une personne.</a:t>
            </a:r>
          </a:p>
          <a:p>
            <a:r>
              <a:rPr lang="fr-FR"/>
              <a:t>Clés étrangères activées à chaque connexion (PRAGMA foreign_keys = ON). Tables métier en ON DELETE RESTRICT : impossible de supprimer une entreprise qui a encore des annonces, ou une annonce qui a des candidatures. Tables annexes en ON DELETE CASCADE.</a:t>
            </a:r>
          </a:p>
          <a:p>
            <a:r>
              <a:rPr lang="fr-FR"/>
              <a:t>Contraintes : UNIQUE (ad_id, person_id) sur applications ; e-mail unique dans people ; SIREN : 9 chiffres, index unique, NULL autorisé pour une ancienne fiche. Statuts contrôlés par CHECK.</a:t>
            </a:r>
          </a:p>
          <a:p>
            <a:r>
              <a:rPr lang="fr-FR"/>
              <a:t>Un recruteur est une personne rattachée à une entreprise par company_id ; un administrateur a le rôle admin.</a:t>
            </a:r>
          </a:p>
          <a:p>
            <a:r>
              <a:rPr lang="fr-FR"/>
              <a:t>Les deux dates d'e-mails dans applications (accusé de réception, décision) évitent d'envoyer deux fois le même message.</a:t>
            </a:r>
          </a:p>
          <a:p>
            <a:r>
              <a:rPr lang="fr-FR"/>
              <a:t>schema.sql se relance sans erreur (DROP TABLE IF EXISTS en tête) ; init_db.py recrée la base ; seed_data.py remplit 12 entreprises, 6 catégories et 53 annonces.</a:t>
            </a:r>
          </a:p>
        </p:txBody>
      </p:sp>
      <p:sp>
        <p:nvSpPr>
          <p:cNvPr id="4" name="Espace réservé du numéro de diapositive 3"/>
          <p:cNvSpPr>
            <a:spLocks noGrp="1"/>
          </p:cNvSpPr>
          <p:nvPr>
            <p:ph type="sldNum" sz="quarter" idx="5"/>
          </p:nvPr>
        </p:nvSpPr>
        <p:spPr/>
        <p:txBody>
          <a:bodyPr/>
          <a:lstStyle/>
          <a:p>
            <a:fld id="{D9C38A8C-A952-4860-9F51-CDDD32759BDD}" type="slidenum">
              <a:rPr lang="fr-FR"/>
              <a:t>10</a:t>
            </a:fld>
            <a:endParaRPr lang="fr-F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90 s</a:t>
            </a:r>
          </a:p>
          <a:p>
            <a:endParaRPr lang="fr-FR"/>
          </a:p>
          <a:p>
            <a:r>
              <a:rPr lang="fr-FR"/>
              <a:t>COMPLÉMENT</a:t>
            </a:r>
          </a:p>
          <a:p>
            <a:r>
              <a:rPr lang="fr-FR"/>
              <a:t>Lire le calendrier par rôle : Axel l'interface et le pilotage, Yohan les données et les utilisateurs (annonces, entreprises, candidatures, espace recruteur, e-mails), Ismail les comptes et la sécurité (inscription, sessions, limite d'essais, confirmation et changement d'adresse).</a:t>
            </a:r>
          </a:p>
          <a:p>
            <a:r>
              <a:rPr lang="fr-FR"/>
              <a:t>Outil de suivi : un document de tâches par personne et par jour (dossier gestion/partage_du_travail, J2 à J9), un planning révisé le 06, le 08 et le 11 octobre, un message Teams et un point chaque soir : fait, suite, blocages, demain.</a:t>
            </a:r>
          </a:p>
          <a:p>
            <a:r>
              <a:rPr lang="fr-FR"/>
              <a:t>Les week-ends ne sont pas des jours de projet : le dimanche 11 a seulement servi à préparer l'administration.</a:t>
            </a:r>
          </a:p>
          <a:p>
            <a:r>
              <a:rPr lang="fr-FR"/>
              <a:t>Le J8 au matin, soutenance de mi-parcours ; l'après-midi, corrections issues des retours. Le J9 au soir, fusion finale et gel du code ; le J10, relecture en groupe et rendu.</a:t>
            </a:r>
          </a:p>
        </p:txBody>
      </p:sp>
      <p:sp>
        <p:nvSpPr>
          <p:cNvPr id="4" name="Espace réservé du numéro de diapositive 3"/>
          <p:cNvSpPr>
            <a:spLocks noGrp="1"/>
          </p:cNvSpPr>
          <p:nvPr>
            <p:ph type="sldNum" sz="quarter" idx="5"/>
          </p:nvPr>
        </p:nvSpPr>
        <p:spPr/>
        <p:txBody>
          <a:bodyPr/>
          <a:lstStyle/>
          <a:p>
            <a:fld id="{D9C38A8C-A952-4860-9F51-CDDD32759BDD}" type="slidenum">
              <a:rPr lang="fr-FR"/>
              <a:t>11</a:t>
            </a:fld>
            <a:endParaRPr lang="fr-F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60 s</a:t>
            </a:r>
          </a:p>
          <a:p>
            <a:endParaRPr lang="fr-FR"/>
          </a:p>
          <a:p>
            <a:r>
              <a:rPr lang="fr-FR"/>
              <a:t>COMPLÉMENT</a:t>
            </a:r>
          </a:p>
          <a:p>
            <a:r>
              <a:rPr lang="fr-FR"/>
              <a:t>Chiffres relevés sur main le 16 octobre : 122 commits dont 28 fusions, 22 branches feature/ et fix/ sur le dépôt de l'équipe. Commits nommés « sujet vX.Y » pour suivre les versions.</a:t>
            </a:r>
          </a:p>
          <a:p>
            <a:r>
              <a:rPr lang="fr-FR"/>
              <a:t>Deux dépôts distants : origin (dépôt de Yohan, travail de l'équipe) et epitech (rendu) ; main est poussée sur les deux à chaque fin de journée.</a:t>
            </a:r>
          </a:p>
          <a:p>
            <a:r>
              <a:rPr lang="fr-FR"/>
              <a:t>Le conflit du J3 sur app.py a été résolu en groupe ; depuis, chaque branche part de main à jour et une seule personne fusionne, après tests (curl, parcours dans le navigateur) et relecture.</a:t>
            </a:r>
          </a:p>
          <a:p>
            <a:r>
              <a:rPr lang="fr-FR"/>
              <a:t>Si l'on demande le board : les documents de tâches quotidiens et le planning sont dans le dossier de gestion du projet ; ils sont montrables.</a:t>
            </a:r>
          </a:p>
        </p:txBody>
      </p:sp>
      <p:sp>
        <p:nvSpPr>
          <p:cNvPr id="4" name="Espace réservé du numéro de diapositive 3"/>
          <p:cNvSpPr>
            <a:spLocks noGrp="1"/>
          </p:cNvSpPr>
          <p:nvPr>
            <p:ph type="sldNum" sz="quarter" idx="5"/>
          </p:nvPr>
        </p:nvSpPr>
        <p:spPr/>
        <p:txBody>
          <a:bodyPr/>
          <a:lstStyle/>
          <a:p>
            <a:fld id="{D9C38A8C-A952-4860-9F51-CDDD32759BDD}" type="slidenum">
              <a:rPr lang="fr-FR"/>
              <a:t>12</a:t>
            </a:fld>
            <a:endParaRPr lang="fr-F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Ismail · 60 s</a:t>
            </a:r>
          </a:p>
          <a:p>
            <a:endParaRPr lang="fr-FR"/>
          </a:p>
          <a:p>
            <a:r>
              <a:rPr lang="fr-FR"/>
              <a:t>COMPLÉMENT</a:t>
            </a:r>
          </a:p>
          <a:p>
            <a:r>
              <a:rPr lang="fr-FR"/>
              <a:t>01 : Ismail a rejoint l'équipe le J2 ; rattrapage SQL le jour même, puis documents de tâches quotidiens ; le planning a été rééquilibré le 08/10 et le 11/10.</a:t>
            </a:r>
          </a:p>
          <a:p>
            <a:r>
              <a:rPr lang="fr-FR"/>
              <a:t>02 : conflit sur app.py au J3 (07/10) entre deux branches ; résolu en groupe pendant la fusion du soir.</a:t>
            </a:r>
          </a:p>
          <a:p>
            <a:r>
              <a:rPr lang="fr-FR"/>
              <a:t>03 : le premier compte d'envoi (Outlook) refusait la connexion SMTP par mot de passe (erreur 535) ; passage à Gmail avec un mot de passe d'application, réglages dans .env, jamais dans Git.</a:t>
            </a:r>
          </a:p>
          <a:p>
            <a:r>
              <a:rPr lang="fr-FR"/>
              <a:t>04 : retours du 14/10 : parler du projet plutôt que du chemin, convaincre comme face à un investisseur, documenter pourquoi React et SQLite, expliquer le fonctionnement des routes. Réponse : pitch réécrit, trois documents de choix techniques, README des routes.</a:t>
            </a:r>
          </a:p>
          <a:p>
            <a:r>
              <a:rPr lang="fr-FR"/>
              <a:t>Ne pas s'étendre : une difficulté, sa réponse, et ce qu'on en garde.</a:t>
            </a:r>
          </a:p>
        </p:txBody>
      </p:sp>
      <p:sp>
        <p:nvSpPr>
          <p:cNvPr id="4" name="Espace réservé du numéro de diapositive 3"/>
          <p:cNvSpPr>
            <a:spLocks noGrp="1"/>
          </p:cNvSpPr>
          <p:nvPr>
            <p:ph type="sldNum" sz="quarter" idx="5"/>
          </p:nvPr>
        </p:nvSpPr>
        <p:spPr/>
        <p:txBody>
          <a:bodyPr/>
          <a:lstStyle/>
          <a:p>
            <a:fld id="{D9C38A8C-A952-4860-9F51-CDDD32759BDD}" type="slidenum">
              <a:rPr lang="fr-FR"/>
              <a:t>13</a:t>
            </a:fld>
            <a:endParaRPr lang="fr-F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INTERVENANT : Axel · 15 s, puis la démonstration par Axel, Yohan et Ismail</a:t>
            </a:r>
          </a:p>
          <a:p>
            <a:endParaRPr lang="fr-FR" dirty="0"/>
          </a:p>
          <a:p>
            <a:r>
              <a:rPr lang="fr-FR" dirty="0"/>
              <a:t>COMPLÉMENT</a:t>
            </a:r>
          </a:p>
          <a:p>
            <a:r>
              <a:rPr lang="fr-FR" dirty="0"/>
              <a:t>Une personne parle, une autre manipule. Serveur et site lancés avant la présentation, base remplie, boîte mail ouverte (ou terminal du serveur visible si les e-mails sont désactivés) pour le lien de confirmation. Compte administrateur et compte recruteur rattaché à une entreprise prêts. Aucun mot de passe affiché à l'écran. Étapes 02 et 03 : la même adresse e-mail, sinon aucun lien de confirmation n'est envoyé.</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14</a:t>
            </a:fld>
            <a:endParaRPr lang="fr-FR"/>
          </a:p>
        </p:txBody>
      </p:sp>
    </p:spTree>
    <p:extLst>
      <p:ext uri="{BB962C8B-B14F-4D97-AF65-F5344CB8AC3E}">
        <p14:creationId xmlns:p14="http://schemas.microsoft.com/office/powerpoint/2010/main" val="8589578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INTERVENANT : Axel · 20 s, après la démonstration</a:t>
            </a:r>
          </a:p>
          <a:p>
            <a:endParaRPr lang="fr-FR" dirty="0"/>
          </a:p>
          <a:p>
            <a:r>
              <a:rPr lang="fr-FR" dirty="0"/>
              <a:t>COMPLÉMENT</a:t>
            </a:r>
          </a:p>
          <a:p>
            <a:r>
              <a:rPr lang="fr-FR" dirty="0"/>
              <a:t>Conclure sur la preuve : tout ce qui vient d'être montré est écrit et vérifiable dans le dépôt. Un clic sur le bloc ouvre docs/choix_techniques_front.md sur GitHub (dépôt </a:t>
            </a:r>
            <a:r>
              <a:rPr lang="fr-FR" dirty="0" err="1"/>
              <a:t>Epitech</a:t>
            </a:r>
            <a:r>
              <a:rPr lang="fr-FR" dirty="0"/>
              <a:t>, branche main).</a:t>
            </a:r>
          </a:p>
          <a:p>
            <a:r>
              <a:rPr lang="fr-FR" dirty="0"/>
              <a:t>Ce fichier et le contrat d'API (docs/contrat_api.md) sont sur main depuis le 13 octobre.</a:t>
            </a:r>
          </a:p>
          <a:p>
            <a:r>
              <a:rPr lang="fr-FR" dirty="0"/>
              <a:t>Le 3 : docs/choix_techniques_front.md, choix_techniques_back_donnees.md et choix_techniques_comptes_securite.md.</a:t>
            </a:r>
          </a:p>
          <a:p>
            <a:endParaRPr lang="fr-FR" dirty="0"/>
          </a:p>
          <a:p>
            <a:endParaRPr lang="fr-FR" dirty="0"/>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15</a:t>
            </a:fld>
            <a:endParaRPr lang="fr-FR"/>
          </a:p>
        </p:txBody>
      </p:sp>
    </p:spTree>
    <p:extLst>
      <p:ext uri="{BB962C8B-B14F-4D97-AF65-F5344CB8AC3E}">
        <p14:creationId xmlns:p14="http://schemas.microsoft.com/office/powerpoint/2010/main" val="5333022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3DBEF89-856E-D86A-F731-B18EBF0F8D3D}"/>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8A5A31D5-1405-8130-6827-38E68E9605A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9158E5A-FB45-7C11-F776-A4A7858A2F52}"/>
              </a:ext>
            </a:extLst>
          </p:cNvPr>
          <p:cNvSpPr>
            <a:spLocks noGrp="1"/>
          </p:cNvSpPr>
          <p:nvPr>
            <p:ph type="dt" sz="half" idx="10"/>
          </p:nvPr>
        </p:nvSpPr>
        <p:spPr/>
        <p:txBody>
          <a:bodyPr/>
          <a:lstStyle/>
          <a:p>
            <a:fld id="{B25980C9-7327-4AB2-AF60-70BAAFF4AD3D}" type="datetimeFigureOut">
              <a:rPr lang="fr-FR" smtClean="0"/>
              <a:t>16/10/2026</a:t>
            </a:fld>
            <a:endParaRPr lang="fr-FR"/>
          </a:p>
        </p:txBody>
      </p:sp>
      <p:sp>
        <p:nvSpPr>
          <p:cNvPr id="5" name="Espace réservé du pied de page 4">
            <a:extLst>
              <a:ext uri="{FF2B5EF4-FFF2-40B4-BE49-F238E27FC236}">
                <a16:creationId xmlns:a16="http://schemas.microsoft.com/office/drawing/2014/main" id="{716153AF-5487-5FF4-BCDD-5B56D072EEB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09EFC08-2D12-2D3E-1748-5482D5E8710E}"/>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422037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D29638-EC53-34B9-B583-DB5F863FCE60}"/>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8D9E580F-6697-8301-24AB-5C5EB65D2A64}"/>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A9B51C9-9FDC-C635-BEA6-154D01753986}"/>
              </a:ext>
            </a:extLst>
          </p:cNvPr>
          <p:cNvSpPr>
            <a:spLocks noGrp="1"/>
          </p:cNvSpPr>
          <p:nvPr>
            <p:ph type="dt" sz="half" idx="10"/>
          </p:nvPr>
        </p:nvSpPr>
        <p:spPr/>
        <p:txBody>
          <a:bodyPr/>
          <a:lstStyle/>
          <a:p>
            <a:fld id="{B25980C9-7327-4AB2-AF60-70BAAFF4AD3D}" type="datetimeFigureOut">
              <a:rPr lang="fr-FR" smtClean="0"/>
              <a:t>16/10/2026</a:t>
            </a:fld>
            <a:endParaRPr lang="fr-FR"/>
          </a:p>
        </p:txBody>
      </p:sp>
      <p:sp>
        <p:nvSpPr>
          <p:cNvPr id="5" name="Espace réservé du pied de page 4">
            <a:extLst>
              <a:ext uri="{FF2B5EF4-FFF2-40B4-BE49-F238E27FC236}">
                <a16:creationId xmlns:a16="http://schemas.microsoft.com/office/drawing/2014/main" id="{7C31D793-EA74-0611-9B2D-87BBD766F27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645A012-797B-F034-6F0B-D4CA1FF7C8D5}"/>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30445783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1C9AF78-7EFB-BE4E-7C83-DA2B2B08D120}"/>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86E28DCB-342B-71CB-D8DB-B51021C5BD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3FED0628-9C44-22C0-99CF-F1E5A61C41E0}"/>
              </a:ext>
            </a:extLst>
          </p:cNvPr>
          <p:cNvSpPr>
            <a:spLocks noGrp="1"/>
          </p:cNvSpPr>
          <p:nvPr>
            <p:ph type="dt" sz="half" idx="10"/>
          </p:nvPr>
        </p:nvSpPr>
        <p:spPr/>
        <p:txBody>
          <a:bodyPr/>
          <a:lstStyle/>
          <a:p>
            <a:fld id="{B25980C9-7327-4AB2-AF60-70BAAFF4AD3D}" type="datetimeFigureOut">
              <a:rPr lang="fr-FR" smtClean="0"/>
              <a:t>16/10/2026</a:t>
            </a:fld>
            <a:endParaRPr lang="fr-FR"/>
          </a:p>
        </p:txBody>
      </p:sp>
      <p:sp>
        <p:nvSpPr>
          <p:cNvPr id="5" name="Espace réservé du pied de page 4">
            <a:extLst>
              <a:ext uri="{FF2B5EF4-FFF2-40B4-BE49-F238E27FC236}">
                <a16:creationId xmlns:a16="http://schemas.microsoft.com/office/drawing/2014/main" id="{8FD986D3-8E75-6356-F9F3-AD5CC9AC46E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E47D9CB-14C7-AE86-CF6B-B6CDE91CC93E}"/>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40832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958900A-886C-E749-31BF-EA531F4DE5D6}"/>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8954034-8C93-9333-879E-2077831C41B5}"/>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AA0C1D03-DC47-49FF-4A88-95F916F21C4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5C7B993E-02FB-AF1D-3716-0EB6C0AB2DF9}"/>
              </a:ext>
            </a:extLst>
          </p:cNvPr>
          <p:cNvSpPr>
            <a:spLocks noGrp="1"/>
          </p:cNvSpPr>
          <p:nvPr>
            <p:ph type="dt" sz="half" idx="10"/>
          </p:nvPr>
        </p:nvSpPr>
        <p:spPr/>
        <p:txBody>
          <a:bodyPr/>
          <a:lstStyle/>
          <a:p>
            <a:fld id="{B25980C9-7327-4AB2-AF60-70BAAFF4AD3D}" type="datetimeFigureOut">
              <a:rPr lang="fr-FR" smtClean="0"/>
              <a:t>16/10/2026</a:t>
            </a:fld>
            <a:endParaRPr lang="fr-FR"/>
          </a:p>
        </p:txBody>
      </p:sp>
      <p:sp>
        <p:nvSpPr>
          <p:cNvPr id="6" name="Espace réservé du pied de page 5">
            <a:extLst>
              <a:ext uri="{FF2B5EF4-FFF2-40B4-BE49-F238E27FC236}">
                <a16:creationId xmlns:a16="http://schemas.microsoft.com/office/drawing/2014/main" id="{69F95481-882D-820C-CE90-0DAC17E7206B}"/>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647E3DE2-E7F3-D146-3A25-17A70D2E0092}"/>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13008914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F05988C-D67F-B865-9390-9508214CC8C7}"/>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0DCCB69-3C9D-B943-5CC7-4BE582CE8F2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A13B8E3A-1A2F-CF55-8AB9-C8B4342E16AC}"/>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3F470DBA-8E74-E4BB-9D8A-207FEA37C5D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0E12CF19-38E7-B708-907B-C489C6D38D03}"/>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D47D34C6-AD7B-0818-018D-CE846BEDAC15}"/>
              </a:ext>
            </a:extLst>
          </p:cNvPr>
          <p:cNvSpPr>
            <a:spLocks noGrp="1"/>
          </p:cNvSpPr>
          <p:nvPr>
            <p:ph type="dt" sz="half" idx="10"/>
          </p:nvPr>
        </p:nvSpPr>
        <p:spPr/>
        <p:txBody>
          <a:bodyPr/>
          <a:lstStyle/>
          <a:p>
            <a:fld id="{B25980C9-7327-4AB2-AF60-70BAAFF4AD3D}" type="datetimeFigureOut">
              <a:rPr lang="fr-FR" smtClean="0"/>
              <a:t>16/10/2026</a:t>
            </a:fld>
            <a:endParaRPr lang="fr-FR"/>
          </a:p>
        </p:txBody>
      </p:sp>
      <p:sp>
        <p:nvSpPr>
          <p:cNvPr id="8" name="Espace réservé du pied de page 7">
            <a:extLst>
              <a:ext uri="{FF2B5EF4-FFF2-40B4-BE49-F238E27FC236}">
                <a16:creationId xmlns:a16="http://schemas.microsoft.com/office/drawing/2014/main" id="{045CAFC5-32E6-DAA9-F679-E62B4A5D602E}"/>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ADD8BF7D-445A-CFC0-B4A7-9BA67B203CBE}"/>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2225036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DCDD1D-0F93-943E-0AF0-85C205C76A87}"/>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8753FF6C-64E1-81F6-A31B-19D1624883ED}"/>
              </a:ext>
            </a:extLst>
          </p:cNvPr>
          <p:cNvSpPr>
            <a:spLocks noGrp="1"/>
          </p:cNvSpPr>
          <p:nvPr>
            <p:ph type="dt" sz="half" idx="10"/>
          </p:nvPr>
        </p:nvSpPr>
        <p:spPr/>
        <p:txBody>
          <a:bodyPr/>
          <a:lstStyle/>
          <a:p>
            <a:fld id="{B25980C9-7327-4AB2-AF60-70BAAFF4AD3D}" type="datetimeFigureOut">
              <a:rPr lang="fr-FR" smtClean="0"/>
              <a:t>16/10/2026</a:t>
            </a:fld>
            <a:endParaRPr lang="fr-FR"/>
          </a:p>
        </p:txBody>
      </p:sp>
      <p:sp>
        <p:nvSpPr>
          <p:cNvPr id="4" name="Espace réservé du pied de page 3">
            <a:extLst>
              <a:ext uri="{FF2B5EF4-FFF2-40B4-BE49-F238E27FC236}">
                <a16:creationId xmlns:a16="http://schemas.microsoft.com/office/drawing/2014/main" id="{BF335D0D-F6FD-D771-C938-8D7DC1D6724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891192B2-4F63-D864-3E00-3B97E3014C00}"/>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1485850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73EB12BD-9158-E32F-A1A4-B33AF6CE6732}"/>
              </a:ext>
            </a:extLst>
          </p:cNvPr>
          <p:cNvSpPr>
            <a:spLocks noGrp="1"/>
          </p:cNvSpPr>
          <p:nvPr>
            <p:ph type="dt" sz="half" idx="10"/>
          </p:nvPr>
        </p:nvSpPr>
        <p:spPr/>
        <p:txBody>
          <a:bodyPr/>
          <a:lstStyle/>
          <a:p>
            <a:fld id="{B25980C9-7327-4AB2-AF60-70BAAFF4AD3D}" type="datetimeFigureOut">
              <a:rPr lang="fr-FR" smtClean="0"/>
              <a:t>16/10/2026</a:t>
            </a:fld>
            <a:endParaRPr lang="fr-FR"/>
          </a:p>
        </p:txBody>
      </p:sp>
      <p:sp>
        <p:nvSpPr>
          <p:cNvPr id="3" name="Espace réservé du pied de page 2">
            <a:extLst>
              <a:ext uri="{FF2B5EF4-FFF2-40B4-BE49-F238E27FC236}">
                <a16:creationId xmlns:a16="http://schemas.microsoft.com/office/drawing/2014/main" id="{6818F952-9BF3-7C8D-1CD0-B521FC13467B}"/>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B041CE7C-6444-AC86-BFD8-4AE232A7B7F2}"/>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5463254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42B6FD-FB3A-5ECD-3837-84FB942350D7}"/>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C8A3FB37-6C9F-C963-DA78-4CA64CEEAED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0CABAFA9-2543-AA10-1F20-F89D2EF734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4F34426-274F-2FA7-56C1-D7956FAE46D7}"/>
              </a:ext>
            </a:extLst>
          </p:cNvPr>
          <p:cNvSpPr>
            <a:spLocks noGrp="1"/>
          </p:cNvSpPr>
          <p:nvPr>
            <p:ph type="dt" sz="half" idx="10"/>
          </p:nvPr>
        </p:nvSpPr>
        <p:spPr/>
        <p:txBody>
          <a:bodyPr/>
          <a:lstStyle/>
          <a:p>
            <a:fld id="{B25980C9-7327-4AB2-AF60-70BAAFF4AD3D}" type="datetimeFigureOut">
              <a:rPr lang="fr-FR" smtClean="0"/>
              <a:t>16/10/2026</a:t>
            </a:fld>
            <a:endParaRPr lang="fr-FR"/>
          </a:p>
        </p:txBody>
      </p:sp>
      <p:sp>
        <p:nvSpPr>
          <p:cNvPr id="6" name="Espace réservé du pied de page 5">
            <a:extLst>
              <a:ext uri="{FF2B5EF4-FFF2-40B4-BE49-F238E27FC236}">
                <a16:creationId xmlns:a16="http://schemas.microsoft.com/office/drawing/2014/main" id="{833CF676-1A99-0995-2B73-3F91D2D67A0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FE6741C-5826-C355-F017-0DC58D27021D}"/>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42046849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C908079-B36C-F441-2861-F05FD8E1DD04}"/>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ACDFBB4D-E38C-9E1D-6C86-8E30137C03B3}"/>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A09BD4AC-2044-1BF5-15E3-0B8D8929B5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C74C0F3-E344-0075-EEB4-3AA16A0727CA}"/>
              </a:ext>
            </a:extLst>
          </p:cNvPr>
          <p:cNvSpPr>
            <a:spLocks noGrp="1"/>
          </p:cNvSpPr>
          <p:nvPr>
            <p:ph type="dt" sz="half" idx="10"/>
          </p:nvPr>
        </p:nvSpPr>
        <p:spPr/>
        <p:txBody>
          <a:bodyPr/>
          <a:lstStyle/>
          <a:p>
            <a:fld id="{B25980C9-7327-4AB2-AF60-70BAAFF4AD3D}" type="datetimeFigureOut">
              <a:rPr lang="fr-FR" smtClean="0"/>
              <a:t>16/10/2026</a:t>
            </a:fld>
            <a:endParaRPr lang="fr-FR"/>
          </a:p>
        </p:txBody>
      </p:sp>
      <p:sp>
        <p:nvSpPr>
          <p:cNvPr id="6" name="Espace réservé du pied de page 5">
            <a:extLst>
              <a:ext uri="{FF2B5EF4-FFF2-40B4-BE49-F238E27FC236}">
                <a16:creationId xmlns:a16="http://schemas.microsoft.com/office/drawing/2014/main" id="{8DF5D253-85F2-4D0C-9203-16E7489F80D3}"/>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DC11B5EA-33A7-8D9D-2488-3F7E50FAC2B6}"/>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8637672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23349F-8E5D-158A-E13C-C8AE0B3AD38B}"/>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7E40E0B6-245C-3F6A-9B45-71710B958C35}"/>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8D529F8-1C67-DB14-3458-FCC5C9BFB259}"/>
              </a:ext>
            </a:extLst>
          </p:cNvPr>
          <p:cNvSpPr>
            <a:spLocks noGrp="1"/>
          </p:cNvSpPr>
          <p:nvPr>
            <p:ph type="dt" sz="half" idx="10"/>
          </p:nvPr>
        </p:nvSpPr>
        <p:spPr/>
        <p:txBody>
          <a:bodyPr/>
          <a:lstStyle/>
          <a:p>
            <a:fld id="{B25980C9-7327-4AB2-AF60-70BAAFF4AD3D}" type="datetimeFigureOut">
              <a:rPr lang="fr-FR" smtClean="0"/>
              <a:t>16/10/2026</a:t>
            </a:fld>
            <a:endParaRPr lang="fr-FR"/>
          </a:p>
        </p:txBody>
      </p:sp>
      <p:sp>
        <p:nvSpPr>
          <p:cNvPr id="5" name="Espace réservé du pied de page 4">
            <a:extLst>
              <a:ext uri="{FF2B5EF4-FFF2-40B4-BE49-F238E27FC236}">
                <a16:creationId xmlns:a16="http://schemas.microsoft.com/office/drawing/2014/main" id="{59F2B689-9BFA-3091-A0A9-DB25A619B2C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AC92901-CD21-5AC8-8B72-C32882D832B2}"/>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3396147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60A207FE-7E19-391D-3ED5-301BD5F4CD14}"/>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94C52670-31CB-5E40-420A-06E0294753A3}"/>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C661A050-F626-C8DB-ECD2-DF687C45EA93}"/>
              </a:ext>
            </a:extLst>
          </p:cNvPr>
          <p:cNvSpPr>
            <a:spLocks noGrp="1"/>
          </p:cNvSpPr>
          <p:nvPr>
            <p:ph type="dt" sz="half" idx="10"/>
          </p:nvPr>
        </p:nvSpPr>
        <p:spPr/>
        <p:txBody>
          <a:bodyPr/>
          <a:lstStyle/>
          <a:p>
            <a:fld id="{B25980C9-7327-4AB2-AF60-70BAAFF4AD3D}" type="datetimeFigureOut">
              <a:rPr lang="fr-FR" smtClean="0"/>
              <a:t>16/10/2026</a:t>
            </a:fld>
            <a:endParaRPr lang="fr-FR"/>
          </a:p>
        </p:txBody>
      </p:sp>
      <p:sp>
        <p:nvSpPr>
          <p:cNvPr id="5" name="Espace réservé du pied de page 4">
            <a:extLst>
              <a:ext uri="{FF2B5EF4-FFF2-40B4-BE49-F238E27FC236}">
                <a16:creationId xmlns:a16="http://schemas.microsoft.com/office/drawing/2014/main" id="{681D4CA5-193B-7791-9238-3762087A2A3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37959FA-9ACD-1483-4B11-0ED08FFE7F8E}"/>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5280688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D0B3F5F2-BA05-DCCC-510E-659406FC004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E519AC08-A5AF-3992-A79E-C4C6242498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DE1C1FB-2D4C-C4C8-6CC4-C80A5D27B8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25980C9-7327-4AB2-AF60-70BAAFF4AD3D}" type="datetimeFigureOut">
              <a:rPr lang="fr-FR" smtClean="0"/>
              <a:t>16/10/2026</a:t>
            </a:fld>
            <a:endParaRPr lang="fr-FR"/>
          </a:p>
        </p:txBody>
      </p:sp>
      <p:sp>
        <p:nvSpPr>
          <p:cNvPr id="5" name="Espace réservé du pied de page 4">
            <a:extLst>
              <a:ext uri="{FF2B5EF4-FFF2-40B4-BE49-F238E27FC236}">
                <a16:creationId xmlns:a16="http://schemas.microsoft.com/office/drawing/2014/main" id="{954686B7-A23E-1244-B395-E861B45989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0100ED5F-A504-F208-5E9E-8E8F38B2351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9D42B5C-DFA0-4F61-93A5-06651F3E99BC}" type="slidenum">
              <a:rPr lang="fr-FR" smtClean="0"/>
              <a:t>‹N°›</a:t>
            </a:fld>
            <a:endParaRPr lang="fr-FR"/>
          </a:p>
        </p:txBody>
      </p:sp>
    </p:spTree>
    <p:extLst>
      <p:ext uri="{BB962C8B-B14F-4D97-AF65-F5344CB8AC3E}">
        <p14:creationId xmlns:p14="http://schemas.microsoft.com/office/powerpoint/2010/main" val="38056014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EpitechMscProPromo2029/T-WEB-501-PAR-5-1-job_board-5/blob/main/docs/choix_techniques_front.md" TargetMode="External"/><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6134A688-3A2E-E875-4DC8-63A7A9008D41}"/>
              </a:ext>
            </a:extLst>
          </p:cNvPr>
          <p:cNvSpPr txBox="1"/>
          <p:nvPr/>
        </p:nvSpPr>
        <p:spPr>
          <a:xfrm>
            <a:off x="914400" y="914400"/>
            <a:ext cx="2032000" cy="369332"/>
          </a:xfrm>
          <a:prstGeom prst="rect">
            <a:avLst/>
          </a:prstGeom>
          <a:noFill/>
        </p:spPr>
        <p:txBody>
          <a:bodyPr vert="horz" wrap="square" lIns="0" tIns="0" rIns="0" bIns="0" rtlCol="0">
            <a:noAutofit/>
          </a:bodyPr>
          <a:lstStyle/>
          <a:p>
            <a:pPr>
              <a:lnSpc>
                <a:spcPct val="115000"/>
              </a:lnSpc>
            </a:pPr>
            <a:r>
              <a:rPr lang="fr-FR" sz="2000">
                <a:solidFill>
                  <a:srgbClr val="1D1D1F"/>
                </a:solidFill>
                <a:latin typeface="Manrope SemiBold" pitchFamily="2" charset="0"/>
              </a:rPr>
              <a:t>Y.I.A J</a:t>
            </a:r>
            <a:r>
              <a:rPr lang="fr-FR" sz="2000">
                <a:solidFill>
                  <a:srgbClr val="24577A"/>
                </a:solidFill>
                <a:latin typeface="Manrope SemiBold" pitchFamily="2" charset="0"/>
              </a:rPr>
              <a:t>o</a:t>
            </a:r>
            <a:r>
              <a:rPr lang="fr-FR" sz="2000">
                <a:solidFill>
                  <a:srgbClr val="1D1D1F"/>
                </a:solidFill>
                <a:latin typeface="Manrope SemiBold" pitchFamily="2" charset="0"/>
              </a:rPr>
              <a:t>bs</a:t>
            </a:r>
          </a:p>
        </p:txBody>
      </p:sp>
      <p:sp>
        <p:nvSpPr>
          <p:cNvPr id="3" name="ZoneTexte 2">
            <a:extLst>
              <a:ext uri="{FF2B5EF4-FFF2-40B4-BE49-F238E27FC236}">
                <a16:creationId xmlns:a16="http://schemas.microsoft.com/office/drawing/2014/main" id="{A3249261-F637-F619-4D43-B4D35DAAA271}"/>
              </a:ext>
            </a:extLst>
          </p:cNvPr>
          <p:cNvSpPr txBox="1"/>
          <p:nvPr/>
        </p:nvSpPr>
        <p:spPr>
          <a:xfrm>
            <a:off x="914400" y="2235200"/>
            <a:ext cx="10160000" cy="369332"/>
          </a:xfrm>
          <a:prstGeom prst="rect">
            <a:avLst/>
          </a:prstGeom>
          <a:noFill/>
        </p:spPr>
        <p:txBody>
          <a:bodyPr vert="horz" wrap="square" lIns="0" tIns="0" rIns="0" bIns="0" rtlCol="0">
            <a:noAutofit/>
          </a:bodyPr>
          <a:lstStyle/>
          <a:p>
            <a:r>
              <a:rPr lang="fr-FR" sz="5800" spc="-100">
                <a:solidFill>
                  <a:srgbClr val="1D1D1F"/>
                </a:solidFill>
                <a:latin typeface="Manrope SemiBold" pitchFamily="2" charset="0"/>
              </a:rPr>
              <a:t>Votre carrière,</a:t>
            </a:r>
          </a:p>
          <a:p>
            <a:r>
              <a:rPr lang="fr-FR" sz="5800" spc="-100">
                <a:solidFill>
                  <a:srgbClr val="1D1D1F"/>
                </a:solidFill>
                <a:latin typeface="Manrope SemiBold" pitchFamily="2" charset="0"/>
              </a:rPr>
              <a:t>traitée avec </a:t>
            </a:r>
            <a:r>
              <a:rPr lang="fr-FR" sz="5800" spc="-100">
                <a:gradFill flip="none" rotWithShape="1">
                  <a:gsLst>
                    <a:gs pos="0">
                      <a:srgbClr val="24577A"/>
                    </a:gs>
                    <a:gs pos="100000">
                      <a:srgbClr val="24577A"/>
                    </a:gs>
                  </a:gsLst>
                  <a:lin ang="0" scaled="1"/>
                  <a:tileRect/>
                </a:gradFill>
                <a:latin typeface="Manrope SemiBold" pitchFamily="2" charset="0"/>
              </a:rPr>
              <a:t>soin</a:t>
            </a:r>
            <a:r>
              <a:rPr lang="fr-FR" sz="5800" spc="-100">
                <a:solidFill>
                  <a:srgbClr val="1D1D1F"/>
                </a:solidFill>
                <a:latin typeface="Manrope SemiBold" pitchFamily="2" charset="0"/>
              </a:rPr>
              <a:t>.</a:t>
            </a:r>
          </a:p>
        </p:txBody>
      </p:sp>
      <p:sp>
        <p:nvSpPr>
          <p:cNvPr id="4" name="ZoneTexte 3">
            <a:extLst>
              <a:ext uri="{FF2B5EF4-FFF2-40B4-BE49-F238E27FC236}">
                <a16:creationId xmlns:a16="http://schemas.microsoft.com/office/drawing/2014/main" id="{1FDBBDFB-B9FC-4F52-3749-F2175201014A}"/>
              </a:ext>
            </a:extLst>
          </p:cNvPr>
          <p:cNvSpPr txBox="1"/>
          <p:nvPr/>
        </p:nvSpPr>
        <p:spPr>
          <a:xfrm>
            <a:off x="914400" y="5308600"/>
            <a:ext cx="7620000" cy="369332"/>
          </a:xfrm>
          <a:prstGeom prst="rect">
            <a:avLst/>
          </a:prstGeom>
          <a:noFill/>
        </p:spPr>
        <p:txBody>
          <a:bodyPr vert="horz" wrap="square" lIns="0" tIns="0" rIns="0" bIns="0" rtlCol="0">
            <a:noAutofit/>
          </a:bodyPr>
          <a:lstStyle/>
          <a:p>
            <a:pPr>
              <a:lnSpc>
                <a:spcPct val="115000"/>
              </a:lnSpc>
            </a:pPr>
            <a:r>
              <a:rPr lang="fr-FR" sz="1400">
                <a:solidFill>
                  <a:srgbClr val="5F6B76"/>
                </a:solidFill>
                <a:latin typeface="Manrope" pitchFamily="2" charset="0"/>
              </a:rPr>
              <a:t>Soutenance · octobre 2026</a:t>
            </a:r>
          </a:p>
        </p:txBody>
      </p:sp>
      <p:sp>
        <p:nvSpPr>
          <p:cNvPr id="5" name="ZoneTexte 4">
            <a:extLst>
              <a:ext uri="{FF2B5EF4-FFF2-40B4-BE49-F238E27FC236}">
                <a16:creationId xmlns:a16="http://schemas.microsoft.com/office/drawing/2014/main" id="{8617EC45-1874-0B4E-2784-26E7435B3B5A}"/>
              </a:ext>
            </a:extLst>
          </p:cNvPr>
          <p:cNvSpPr txBox="1"/>
          <p:nvPr/>
        </p:nvSpPr>
        <p:spPr>
          <a:xfrm>
            <a:off x="914400" y="5638800"/>
            <a:ext cx="8890000" cy="369332"/>
          </a:xfrm>
          <a:prstGeom prst="rect">
            <a:avLst/>
          </a:prstGeom>
          <a:noFill/>
        </p:spPr>
        <p:txBody>
          <a:bodyPr vert="horz" wrap="square" lIns="0" tIns="0" rIns="0" bIns="0" rtlCol="0">
            <a:noAutofit/>
          </a:bodyPr>
          <a:lstStyle/>
          <a:p>
            <a:pPr>
              <a:lnSpc>
                <a:spcPct val="115000"/>
              </a:lnSpc>
            </a:pPr>
            <a:r>
              <a:rPr lang="fr-FR" sz="1400">
                <a:solidFill>
                  <a:srgbClr val="1D1D1F"/>
                </a:solidFill>
                <a:latin typeface="Manrope Medium" pitchFamily="2" charset="0"/>
              </a:rPr>
              <a:t>Axel FOLLET · Yohan AVRONSART · Ismail BASSIT</a:t>
            </a:r>
          </a:p>
        </p:txBody>
      </p:sp>
    </p:spTree>
    <p:extLst>
      <p:ext uri="{BB962C8B-B14F-4D97-AF65-F5344CB8AC3E}">
        <p14:creationId xmlns:p14="http://schemas.microsoft.com/office/powerpoint/2010/main" val="16709734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8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8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A174AA58-2FA2-9B40-E869-92BCC6508318}"/>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24577A"/>
                </a:solidFill>
                <a:latin typeface="Manrope SemiBold" pitchFamily="2" charset="0"/>
              </a:rPr>
              <a:t>LE CONSTAT</a:t>
            </a:r>
          </a:p>
        </p:txBody>
      </p:sp>
      <p:sp>
        <p:nvSpPr>
          <p:cNvPr id="3" name="ZoneTexte 2">
            <a:extLst>
              <a:ext uri="{FF2B5EF4-FFF2-40B4-BE49-F238E27FC236}">
                <a16:creationId xmlns:a16="http://schemas.microsoft.com/office/drawing/2014/main" id="{5E92A121-080E-EF03-8468-184C330CF866}"/>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1D1D1F"/>
                </a:solidFill>
                <a:latin typeface="Manrope SemiBold" pitchFamily="2" charset="0"/>
              </a:rPr>
              <a:t>Postuler est devenu un parcours d'</a:t>
            </a:r>
            <a:r>
              <a:rPr lang="fr-FR" sz="3600" spc="-50">
                <a:gradFill flip="none" rotWithShape="1">
                  <a:gsLst>
                    <a:gs pos="0">
                      <a:srgbClr val="24577A"/>
                    </a:gs>
                    <a:gs pos="100000">
                      <a:srgbClr val="24577A"/>
                    </a:gs>
                  </a:gsLst>
                  <a:lin ang="0" scaled="1"/>
                  <a:tileRect/>
                </a:gradFill>
                <a:latin typeface="Manrope SemiBold" pitchFamily="2" charset="0"/>
              </a:rPr>
              <a:t>obstacles</a:t>
            </a:r>
            <a:r>
              <a:rPr lang="fr-FR" sz="3600" spc="-50">
                <a:solidFill>
                  <a:srgbClr val="1D1D1F"/>
                </a:solidFill>
                <a:latin typeface="Manrope SemiBold" pitchFamily="2" charset="0"/>
              </a:rPr>
              <a:t>.</a:t>
            </a:r>
          </a:p>
        </p:txBody>
      </p:sp>
      <p:sp>
        <p:nvSpPr>
          <p:cNvPr id="4" name="Rectangle 3">
            <a:extLst>
              <a:ext uri="{FF2B5EF4-FFF2-40B4-BE49-F238E27FC236}">
                <a16:creationId xmlns:a16="http://schemas.microsoft.com/office/drawing/2014/main" id="{E72AD5B0-F11B-9227-EEBF-B989A6FDC2C4}"/>
              </a:ext>
            </a:extLst>
          </p:cNvPr>
          <p:cNvSpPr/>
          <p:nvPr/>
        </p:nvSpPr>
        <p:spPr>
          <a:xfrm>
            <a:off x="914400" y="2235200"/>
            <a:ext cx="508000" cy="3810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674EE2A7-5636-B272-DC5F-01536F704782}"/>
              </a:ext>
            </a:extLst>
          </p:cNvPr>
          <p:cNvSpPr txBox="1"/>
          <p:nvPr/>
        </p:nvSpPr>
        <p:spPr>
          <a:xfrm>
            <a:off x="914400" y="2489200"/>
            <a:ext cx="3200400" cy="369332"/>
          </a:xfrm>
          <a:prstGeom prst="rect">
            <a:avLst/>
          </a:prstGeom>
          <a:noFill/>
        </p:spPr>
        <p:txBody>
          <a:bodyPr vert="horz" wrap="square" lIns="0" tIns="0" rIns="0" bIns="0" rtlCol="0">
            <a:noAutofit/>
          </a:bodyPr>
          <a:lstStyle/>
          <a:p>
            <a:pPr>
              <a:lnSpc>
                <a:spcPct val="105000"/>
              </a:lnSpc>
            </a:pPr>
            <a:r>
              <a:rPr lang="fr-FR" sz="2400">
                <a:solidFill>
                  <a:srgbClr val="1D1D1F"/>
                </a:solidFill>
                <a:latin typeface="Manrope SemiBold" pitchFamily="2" charset="0"/>
              </a:rPr>
              <a:t>Des offres dispersées.</a:t>
            </a:r>
          </a:p>
        </p:txBody>
      </p:sp>
      <p:sp>
        <p:nvSpPr>
          <p:cNvPr id="6" name="ZoneTexte 5">
            <a:extLst>
              <a:ext uri="{FF2B5EF4-FFF2-40B4-BE49-F238E27FC236}">
                <a16:creationId xmlns:a16="http://schemas.microsoft.com/office/drawing/2014/main" id="{CB782D92-A0A6-3ADE-E480-2F5243F0AC01}"/>
              </a:ext>
            </a:extLst>
          </p:cNvPr>
          <p:cNvSpPr txBox="1"/>
          <p:nvPr/>
        </p:nvSpPr>
        <p:spPr>
          <a:xfrm>
            <a:off x="914400" y="3403600"/>
            <a:ext cx="2997200" cy="369332"/>
          </a:xfrm>
          <a:prstGeom prst="rect">
            <a:avLst/>
          </a:prstGeom>
          <a:noFill/>
        </p:spPr>
        <p:txBody>
          <a:bodyPr vert="horz" wrap="square" lIns="0" tIns="0" rIns="0" bIns="0" rtlCol="0">
            <a:noAutofit/>
          </a:bodyPr>
          <a:lstStyle/>
          <a:p>
            <a:pPr>
              <a:lnSpc>
                <a:spcPct val="115000"/>
              </a:lnSpc>
            </a:pPr>
            <a:r>
              <a:rPr lang="fr-FR" sz="1400">
                <a:solidFill>
                  <a:srgbClr val="5F6B76"/>
                </a:solidFill>
                <a:latin typeface="Manrope" pitchFamily="2" charset="0"/>
              </a:rPr>
              <a:t>Les annonces sont réparties sur de nombreuses plateformes, chacune avec ses règles.</a:t>
            </a:r>
          </a:p>
        </p:txBody>
      </p:sp>
      <p:sp>
        <p:nvSpPr>
          <p:cNvPr id="7" name="Rectangle 6">
            <a:extLst>
              <a:ext uri="{FF2B5EF4-FFF2-40B4-BE49-F238E27FC236}">
                <a16:creationId xmlns:a16="http://schemas.microsoft.com/office/drawing/2014/main" id="{E3FA01C3-3B49-4FC1-35E1-62E5C5241335}"/>
              </a:ext>
            </a:extLst>
          </p:cNvPr>
          <p:cNvSpPr/>
          <p:nvPr/>
        </p:nvSpPr>
        <p:spPr>
          <a:xfrm>
            <a:off x="4495800" y="2235200"/>
            <a:ext cx="508000" cy="3810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53D6F8C2-A20F-CADB-95FE-8CA6D0626F3D}"/>
              </a:ext>
            </a:extLst>
          </p:cNvPr>
          <p:cNvSpPr txBox="1"/>
          <p:nvPr/>
        </p:nvSpPr>
        <p:spPr>
          <a:xfrm>
            <a:off x="4495800" y="2489200"/>
            <a:ext cx="3200400" cy="369332"/>
          </a:xfrm>
          <a:prstGeom prst="rect">
            <a:avLst/>
          </a:prstGeom>
          <a:noFill/>
        </p:spPr>
        <p:txBody>
          <a:bodyPr vert="horz" wrap="square" lIns="0" tIns="0" rIns="0" bIns="0" rtlCol="0">
            <a:noAutofit/>
          </a:bodyPr>
          <a:lstStyle/>
          <a:p>
            <a:pPr>
              <a:lnSpc>
                <a:spcPct val="105000"/>
              </a:lnSpc>
            </a:pPr>
            <a:r>
              <a:rPr lang="fr-FR" sz="2400">
                <a:solidFill>
                  <a:srgbClr val="1D1D1F"/>
                </a:solidFill>
                <a:latin typeface="Manrope SemiBold" pitchFamily="2" charset="0"/>
              </a:rPr>
              <a:t>Un compte avant tout.</a:t>
            </a:r>
          </a:p>
        </p:txBody>
      </p:sp>
      <p:sp>
        <p:nvSpPr>
          <p:cNvPr id="9" name="ZoneTexte 8">
            <a:extLst>
              <a:ext uri="{FF2B5EF4-FFF2-40B4-BE49-F238E27FC236}">
                <a16:creationId xmlns:a16="http://schemas.microsoft.com/office/drawing/2014/main" id="{B7DC25EF-CDD2-C65A-092C-854A35A8E57A}"/>
              </a:ext>
            </a:extLst>
          </p:cNvPr>
          <p:cNvSpPr txBox="1"/>
          <p:nvPr/>
        </p:nvSpPr>
        <p:spPr>
          <a:xfrm>
            <a:off x="4495800" y="3403600"/>
            <a:ext cx="2997200" cy="369332"/>
          </a:xfrm>
          <a:prstGeom prst="rect">
            <a:avLst/>
          </a:prstGeom>
          <a:noFill/>
        </p:spPr>
        <p:txBody>
          <a:bodyPr vert="horz" wrap="square" lIns="0" tIns="0" rIns="0" bIns="0" rtlCol="0">
            <a:noAutofit/>
          </a:bodyPr>
          <a:lstStyle/>
          <a:p>
            <a:pPr>
              <a:lnSpc>
                <a:spcPct val="115000"/>
              </a:lnSpc>
            </a:pPr>
            <a:r>
              <a:rPr lang="fr-FR" sz="1400">
                <a:solidFill>
                  <a:srgbClr val="5F6B76"/>
                </a:solidFill>
                <a:latin typeface="Manrope" pitchFamily="2" charset="0"/>
              </a:rPr>
              <a:t>Il faut s'inscrire, confirmer, se connecter, avant même de lire une offre.</a:t>
            </a:r>
          </a:p>
        </p:txBody>
      </p:sp>
      <p:sp>
        <p:nvSpPr>
          <p:cNvPr id="10" name="Rectangle 9">
            <a:extLst>
              <a:ext uri="{FF2B5EF4-FFF2-40B4-BE49-F238E27FC236}">
                <a16:creationId xmlns:a16="http://schemas.microsoft.com/office/drawing/2014/main" id="{7DC547B4-1750-604A-D557-AFDDFCDDA06D}"/>
              </a:ext>
            </a:extLst>
          </p:cNvPr>
          <p:cNvSpPr/>
          <p:nvPr/>
        </p:nvSpPr>
        <p:spPr>
          <a:xfrm>
            <a:off x="8077200" y="2235200"/>
            <a:ext cx="508000" cy="3810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8AA1A1C3-E17B-EE9D-D151-A3C431A19449}"/>
              </a:ext>
            </a:extLst>
          </p:cNvPr>
          <p:cNvSpPr txBox="1"/>
          <p:nvPr/>
        </p:nvSpPr>
        <p:spPr>
          <a:xfrm>
            <a:off x="8077200" y="2489200"/>
            <a:ext cx="3200400" cy="369332"/>
          </a:xfrm>
          <a:prstGeom prst="rect">
            <a:avLst/>
          </a:prstGeom>
          <a:noFill/>
        </p:spPr>
        <p:txBody>
          <a:bodyPr vert="horz" wrap="square" lIns="0" tIns="0" rIns="0" bIns="0" rtlCol="0">
            <a:noAutofit/>
          </a:bodyPr>
          <a:lstStyle/>
          <a:p>
            <a:pPr>
              <a:lnSpc>
                <a:spcPct val="105000"/>
              </a:lnSpc>
            </a:pPr>
            <a:r>
              <a:rPr lang="fr-FR" sz="2400">
                <a:solidFill>
                  <a:srgbClr val="1D1D1F"/>
                </a:solidFill>
                <a:latin typeface="Manrope SemiBold" pitchFamily="2" charset="0"/>
              </a:rPr>
              <a:t>Puis le silence.</a:t>
            </a:r>
          </a:p>
        </p:txBody>
      </p:sp>
      <p:sp>
        <p:nvSpPr>
          <p:cNvPr id="12" name="ZoneTexte 11">
            <a:extLst>
              <a:ext uri="{FF2B5EF4-FFF2-40B4-BE49-F238E27FC236}">
                <a16:creationId xmlns:a16="http://schemas.microsoft.com/office/drawing/2014/main" id="{4598C50F-ED7A-B3EF-07E1-A8A8F4DF36DA}"/>
              </a:ext>
            </a:extLst>
          </p:cNvPr>
          <p:cNvSpPr txBox="1"/>
          <p:nvPr/>
        </p:nvSpPr>
        <p:spPr>
          <a:xfrm>
            <a:off x="8077200" y="3403600"/>
            <a:ext cx="2997200" cy="369332"/>
          </a:xfrm>
          <a:prstGeom prst="rect">
            <a:avLst/>
          </a:prstGeom>
          <a:noFill/>
        </p:spPr>
        <p:txBody>
          <a:bodyPr vert="horz" wrap="square" lIns="0" tIns="0" rIns="0" bIns="0" rtlCol="0">
            <a:noAutofit/>
          </a:bodyPr>
          <a:lstStyle/>
          <a:p>
            <a:pPr>
              <a:lnSpc>
                <a:spcPct val="115000"/>
              </a:lnSpc>
            </a:pPr>
            <a:r>
              <a:rPr lang="fr-FR" sz="1400">
                <a:solidFill>
                  <a:srgbClr val="5F6B76"/>
                </a:solidFill>
                <a:latin typeface="Manrope" pitchFamily="2" charset="0"/>
              </a:rPr>
              <a:t>Une fois la candidature envoyée, aucune réponse, aucun état, aucun suivi.</a:t>
            </a:r>
          </a:p>
        </p:txBody>
      </p:sp>
      <p:sp>
        <p:nvSpPr>
          <p:cNvPr id="13" name="ZoneTexte 12">
            <a:extLst>
              <a:ext uri="{FF2B5EF4-FFF2-40B4-BE49-F238E27FC236}">
                <a16:creationId xmlns:a16="http://schemas.microsoft.com/office/drawing/2014/main" id="{D6F44757-92A3-2FE1-47E8-68C7A0D6C2D9}"/>
              </a:ext>
            </a:extLst>
          </p:cNvPr>
          <p:cNvSpPr txBox="1"/>
          <p:nvPr/>
        </p:nvSpPr>
        <p:spPr>
          <a:xfrm>
            <a:off x="914400" y="5334000"/>
            <a:ext cx="10363200" cy="381000"/>
          </a:xfrm>
          <a:prstGeom prst="rect">
            <a:avLst/>
          </a:prstGeom>
          <a:noFill/>
        </p:spPr>
        <p:txBody>
          <a:bodyPr vert="horz" wrap="square" lIns="0" tIns="0" rIns="0" bIns="0" rtlCol="0">
            <a:noAutofit/>
          </a:bodyPr>
          <a:lstStyle/>
          <a:p>
            <a:pPr>
              <a:lnSpc>
                <a:spcPct val="115000"/>
              </a:lnSpc>
            </a:pPr>
            <a:r>
              <a:rPr lang="fr-FR" sz="2000">
                <a:solidFill>
                  <a:srgbClr val="24577A"/>
                </a:solidFill>
                <a:latin typeface="Manrope Medium" pitchFamily="2" charset="0"/>
              </a:rPr>
              <a:t>Candidater devrait prendre quelques secondes.</a:t>
            </a:r>
          </a:p>
        </p:txBody>
      </p:sp>
    </p:spTree>
    <p:extLst>
      <p:ext uri="{BB962C8B-B14F-4D97-AF65-F5344CB8AC3E}">
        <p14:creationId xmlns:p14="http://schemas.microsoft.com/office/powerpoint/2010/main" val="1715952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7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10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animBg="1"/>
      <p:bldP spid="8" grpId="0"/>
      <p:bldP spid="9" grpId="0"/>
      <p:bldP spid="10" grpId="0" animBg="1"/>
      <p:bldP spid="11" grpId="0"/>
      <p:bldP spid="12" grpId="0"/>
      <p:bldP spid="13"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A5BE10AB-A882-C6F9-B0B9-A73ADE313325}"/>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24577A"/>
                </a:solidFill>
                <a:latin typeface="Manrope SemiBold" pitchFamily="2" charset="0"/>
              </a:rPr>
              <a:t>LA RÉPONSE</a:t>
            </a:r>
          </a:p>
        </p:txBody>
      </p:sp>
      <p:sp>
        <p:nvSpPr>
          <p:cNvPr id="3" name="ZoneTexte 2">
            <a:extLst>
              <a:ext uri="{FF2B5EF4-FFF2-40B4-BE49-F238E27FC236}">
                <a16:creationId xmlns:a16="http://schemas.microsoft.com/office/drawing/2014/main" id="{350DB812-290C-E2CF-31D5-73BECFF8E0EB}"/>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1D1D1F"/>
                </a:solidFill>
                <a:latin typeface="Manrope SemiBold" pitchFamily="2" charset="0"/>
              </a:rPr>
              <a:t>Trouver, lire, </a:t>
            </a:r>
            <a:r>
              <a:rPr lang="fr-FR" sz="3600" spc="-50">
                <a:gradFill flip="none" rotWithShape="1">
                  <a:gsLst>
                    <a:gs pos="0">
                      <a:srgbClr val="24577A"/>
                    </a:gs>
                    <a:gs pos="100000">
                      <a:srgbClr val="24577A"/>
                    </a:gs>
                  </a:gsLst>
                  <a:lin ang="0" scaled="1"/>
                  <a:tileRect/>
                </a:gradFill>
                <a:latin typeface="Manrope SemiBold" pitchFamily="2" charset="0"/>
              </a:rPr>
              <a:t>postuler</a:t>
            </a:r>
            <a:r>
              <a:rPr lang="fr-FR" sz="3600" spc="-50">
                <a:solidFill>
                  <a:srgbClr val="1D1D1F"/>
                </a:solidFill>
                <a:latin typeface="Manrope SemiBold" pitchFamily="2" charset="0"/>
              </a:rPr>
              <a:t>. Sans détour.</a:t>
            </a:r>
          </a:p>
        </p:txBody>
      </p:sp>
      <p:sp>
        <p:nvSpPr>
          <p:cNvPr id="4" name="Rectangle 3">
            <a:extLst>
              <a:ext uri="{FF2B5EF4-FFF2-40B4-BE49-F238E27FC236}">
                <a16:creationId xmlns:a16="http://schemas.microsoft.com/office/drawing/2014/main" id="{2BD0080F-E3C5-50FD-1D15-7C8681FACCFC}"/>
              </a:ext>
            </a:extLst>
          </p:cNvPr>
          <p:cNvSpPr/>
          <p:nvPr/>
        </p:nvSpPr>
        <p:spPr>
          <a:xfrm>
            <a:off x="914400" y="2159000"/>
            <a:ext cx="38100" cy="55880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B650D61D-C91E-04F7-7306-CC85CF748AA2}"/>
              </a:ext>
            </a:extLst>
          </p:cNvPr>
          <p:cNvSpPr txBox="1"/>
          <p:nvPr/>
        </p:nvSpPr>
        <p:spPr>
          <a:xfrm>
            <a:off x="1143000" y="2108200"/>
            <a:ext cx="4826000" cy="369332"/>
          </a:xfrm>
          <a:prstGeom prst="rect">
            <a:avLst/>
          </a:prstGeom>
          <a:noFill/>
        </p:spPr>
        <p:txBody>
          <a:bodyPr vert="horz" wrap="square" lIns="0" tIns="0" rIns="0" bIns="0" rtlCol="0">
            <a:noAutofit/>
          </a:bodyPr>
          <a:lstStyle/>
          <a:p>
            <a:pPr>
              <a:lnSpc>
                <a:spcPct val="115000"/>
              </a:lnSpc>
            </a:pPr>
            <a:r>
              <a:rPr lang="fr-FR" sz="1900">
                <a:solidFill>
                  <a:srgbClr val="1D1D1F"/>
                </a:solidFill>
                <a:latin typeface="Manrope Medium" pitchFamily="2" charset="0"/>
              </a:rPr>
              <a:t>Quelques secondes</a:t>
            </a:r>
          </a:p>
        </p:txBody>
      </p:sp>
      <p:sp>
        <p:nvSpPr>
          <p:cNvPr id="6" name="ZoneTexte 5">
            <a:extLst>
              <a:ext uri="{FF2B5EF4-FFF2-40B4-BE49-F238E27FC236}">
                <a16:creationId xmlns:a16="http://schemas.microsoft.com/office/drawing/2014/main" id="{59A67ACA-7C26-342E-2A82-311142B9DFB9}"/>
              </a:ext>
            </a:extLst>
          </p:cNvPr>
          <p:cNvSpPr txBox="1"/>
          <p:nvPr/>
        </p:nvSpPr>
        <p:spPr>
          <a:xfrm>
            <a:off x="1143000" y="2489200"/>
            <a:ext cx="4826000" cy="369332"/>
          </a:xfrm>
          <a:prstGeom prst="rect">
            <a:avLst/>
          </a:prstGeom>
          <a:noFill/>
        </p:spPr>
        <p:txBody>
          <a:bodyPr vert="horz" wrap="square" lIns="0" tIns="0" rIns="0" bIns="0" rtlCol="0">
            <a:noAutofit/>
          </a:bodyPr>
          <a:lstStyle/>
          <a:p>
            <a:pPr>
              <a:lnSpc>
                <a:spcPct val="115000"/>
              </a:lnSpc>
            </a:pPr>
            <a:r>
              <a:rPr lang="fr-FR" sz="1350">
                <a:solidFill>
                  <a:srgbClr val="5F6B76"/>
                </a:solidFill>
                <a:latin typeface="Manrope" pitchFamily="2" charset="0"/>
              </a:rPr>
              <a:t>Nom, e-mail, message : la candidature est enregistrée.</a:t>
            </a:r>
          </a:p>
        </p:txBody>
      </p:sp>
      <p:sp>
        <p:nvSpPr>
          <p:cNvPr id="7" name="Rectangle 6">
            <a:extLst>
              <a:ext uri="{FF2B5EF4-FFF2-40B4-BE49-F238E27FC236}">
                <a16:creationId xmlns:a16="http://schemas.microsoft.com/office/drawing/2014/main" id="{D9326F2F-5601-B5BC-8F23-5BBC19B719DE}"/>
              </a:ext>
            </a:extLst>
          </p:cNvPr>
          <p:cNvSpPr/>
          <p:nvPr/>
        </p:nvSpPr>
        <p:spPr>
          <a:xfrm>
            <a:off x="914400" y="3378200"/>
            <a:ext cx="38100" cy="55880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1AA5EF58-CCBD-9EE9-59B7-A68241CE4FD2}"/>
              </a:ext>
            </a:extLst>
          </p:cNvPr>
          <p:cNvSpPr txBox="1"/>
          <p:nvPr/>
        </p:nvSpPr>
        <p:spPr>
          <a:xfrm>
            <a:off x="1143000" y="3327400"/>
            <a:ext cx="4826000" cy="369332"/>
          </a:xfrm>
          <a:prstGeom prst="rect">
            <a:avLst/>
          </a:prstGeom>
          <a:noFill/>
        </p:spPr>
        <p:txBody>
          <a:bodyPr vert="horz" wrap="square" lIns="0" tIns="0" rIns="0" bIns="0" rtlCol="0">
            <a:noAutofit/>
          </a:bodyPr>
          <a:lstStyle/>
          <a:p>
            <a:pPr>
              <a:lnSpc>
                <a:spcPct val="115000"/>
              </a:lnSpc>
            </a:pPr>
            <a:r>
              <a:rPr lang="fr-FR" sz="1900">
                <a:solidFill>
                  <a:srgbClr val="1D1D1F"/>
                </a:solidFill>
                <a:latin typeface="Manrope Medium" pitchFamily="2" charset="0"/>
              </a:rPr>
              <a:t>Avec ou sans compte</a:t>
            </a:r>
          </a:p>
        </p:txBody>
      </p:sp>
      <p:sp>
        <p:nvSpPr>
          <p:cNvPr id="9" name="ZoneTexte 8">
            <a:extLst>
              <a:ext uri="{FF2B5EF4-FFF2-40B4-BE49-F238E27FC236}">
                <a16:creationId xmlns:a16="http://schemas.microsoft.com/office/drawing/2014/main" id="{43C4E452-E33C-E5DD-65C3-E1547C8CBDE9}"/>
              </a:ext>
            </a:extLst>
          </p:cNvPr>
          <p:cNvSpPr txBox="1"/>
          <p:nvPr/>
        </p:nvSpPr>
        <p:spPr>
          <a:xfrm>
            <a:off x="1143000" y="3708400"/>
            <a:ext cx="4826000" cy="369332"/>
          </a:xfrm>
          <a:prstGeom prst="rect">
            <a:avLst/>
          </a:prstGeom>
          <a:noFill/>
        </p:spPr>
        <p:txBody>
          <a:bodyPr vert="horz" wrap="square" lIns="0" tIns="0" rIns="0" bIns="0" rtlCol="0">
            <a:noAutofit/>
          </a:bodyPr>
          <a:lstStyle/>
          <a:p>
            <a:pPr>
              <a:lnSpc>
                <a:spcPct val="115000"/>
              </a:lnSpc>
            </a:pPr>
            <a:r>
              <a:rPr lang="fr-FR" sz="1350">
                <a:solidFill>
                  <a:srgbClr val="5F6B76"/>
                </a:solidFill>
                <a:latin typeface="Manrope" pitchFamily="2" charset="0"/>
              </a:rPr>
              <a:t>Le compte est une option, jamais une barrière.</a:t>
            </a:r>
          </a:p>
        </p:txBody>
      </p:sp>
      <p:sp>
        <p:nvSpPr>
          <p:cNvPr id="10" name="Rectangle 9">
            <a:extLst>
              <a:ext uri="{FF2B5EF4-FFF2-40B4-BE49-F238E27FC236}">
                <a16:creationId xmlns:a16="http://schemas.microsoft.com/office/drawing/2014/main" id="{6F1342EA-3FBC-25E9-413E-B04190BC647C}"/>
              </a:ext>
            </a:extLst>
          </p:cNvPr>
          <p:cNvSpPr/>
          <p:nvPr/>
        </p:nvSpPr>
        <p:spPr>
          <a:xfrm>
            <a:off x="914400" y="4597400"/>
            <a:ext cx="38100" cy="55880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C13EDDBF-5555-E2F0-46C8-D26C5C224801}"/>
              </a:ext>
            </a:extLst>
          </p:cNvPr>
          <p:cNvSpPr txBox="1"/>
          <p:nvPr/>
        </p:nvSpPr>
        <p:spPr>
          <a:xfrm>
            <a:off x="1143000" y="4546600"/>
            <a:ext cx="4826000" cy="369332"/>
          </a:xfrm>
          <a:prstGeom prst="rect">
            <a:avLst/>
          </a:prstGeom>
          <a:noFill/>
        </p:spPr>
        <p:txBody>
          <a:bodyPr vert="horz" wrap="square" lIns="0" tIns="0" rIns="0" bIns="0" rtlCol="0">
            <a:noAutofit/>
          </a:bodyPr>
          <a:lstStyle/>
          <a:p>
            <a:pPr>
              <a:lnSpc>
                <a:spcPct val="115000"/>
              </a:lnSpc>
            </a:pPr>
            <a:r>
              <a:rPr lang="fr-FR" sz="1900">
                <a:solidFill>
                  <a:srgbClr val="1D1D1F"/>
                </a:solidFill>
                <a:latin typeface="Manrope Medium" pitchFamily="2" charset="0"/>
              </a:rPr>
              <a:t>Un suivi lisible</a:t>
            </a:r>
          </a:p>
        </p:txBody>
      </p:sp>
      <p:sp>
        <p:nvSpPr>
          <p:cNvPr id="12" name="ZoneTexte 11">
            <a:extLst>
              <a:ext uri="{FF2B5EF4-FFF2-40B4-BE49-F238E27FC236}">
                <a16:creationId xmlns:a16="http://schemas.microsoft.com/office/drawing/2014/main" id="{51A87B3D-DC66-7F16-DBAC-66AC8C026FD6}"/>
              </a:ext>
            </a:extLst>
          </p:cNvPr>
          <p:cNvSpPr txBox="1"/>
          <p:nvPr/>
        </p:nvSpPr>
        <p:spPr>
          <a:xfrm>
            <a:off x="1143000" y="4927600"/>
            <a:ext cx="4826000" cy="369332"/>
          </a:xfrm>
          <a:prstGeom prst="rect">
            <a:avLst/>
          </a:prstGeom>
          <a:noFill/>
        </p:spPr>
        <p:txBody>
          <a:bodyPr vert="horz" wrap="square" lIns="0" tIns="0" rIns="0" bIns="0" rtlCol="0">
            <a:noAutofit/>
          </a:bodyPr>
          <a:lstStyle/>
          <a:p>
            <a:pPr>
              <a:lnSpc>
                <a:spcPct val="115000"/>
              </a:lnSpc>
            </a:pPr>
            <a:r>
              <a:rPr lang="fr-FR" sz="1350">
                <a:solidFill>
                  <a:srgbClr val="5F6B76"/>
                </a:solidFill>
                <a:latin typeface="Manrope" pitchFamily="2" charset="0"/>
              </a:rPr>
              <a:t>Chaque candidature a un état : en attente, retenue, refusée.</a:t>
            </a:r>
          </a:p>
        </p:txBody>
      </p:sp>
      <p:pic>
        <p:nvPicPr>
          <p:cNvPr id="28" name="Image 27">
            <a:extLst>
              <a:ext uri="{FF2B5EF4-FFF2-40B4-BE49-F238E27FC236}">
                <a16:creationId xmlns:a16="http://schemas.microsoft.com/office/drawing/2014/main" id="{0013B18A-BD82-B704-452F-DB240E67168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269836"/>
            <a:ext cx="4927600" cy="3359727"/>
          </a:xfrm>
          <a:prstGeom prst="rect">
            <a:avLst/>
          </a:prstGeom>
          <a:ln w="9525">
            <a:solidFill>
              <a:srgbClr val="E2E8ED"/>
            </a:solidFill>
          </a:ln>
        </p:spPr>
      </p:pic>
    </p:spTree>
    <p:extLst>
      <p:ext uri="{BB962C8B-B14F-4D97-AF65-F5344CB8AC3E}">
        <p14:creationId xmlns:p14="http://schemas.microsoft.com/office/powerpoint/2010/main" val="339877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7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10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animBg="1"/>
      <p:bldP spid="8" grpId="0"/>
      <p:bldP spid="9" grpId="0"/>
      <p:bldP spid="10" grpId="0" animBg="1"/>
      <p:bldP spid="11" grpId="0"/>
      <p:bldP spid="1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F57FB4BB-36D0-5444-5839-DB1A8B9FE59B}"/>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24577A"/>
                </a:solidFill>
                <a:latin typeface="Manrope SemiBold" pitchFamily="2" charset="0"/>
              </a:rPr>
              <a:t>LE PRODUIT</a:t>
            </a:r>
          </a:p>
        </p:txBody>
      </p:sp>
      <p:sp>
        <p:nvSpPr>
          <p:cNvPr id="3" name="ZoneTexte 2">
            <a:extLst>
              <a:ext uri="{FF2B5EF4-FFF2-40B4-BE49-F238E27FC236}">
                <a16:creationId xmlns:a16="http://schemas.microsoft.com/office/drawing/2014/main" id="{E72E5CBE-2C2C-1F06-3BDF-B09236F3B056}"/>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1D1D1F"/>
                </a:solidFill>
                <a:latin typeface="Manrope SemiBold" pitchFamily="2" charset="0"/>
              </a:rPr>
              <a:t>Une annonce, un bouton, une </a:t>
            </a:r>
            <a:r>
              <a:rPr lang="fr-FR" sz="3600" spc="-50">
                <a:gradFill flip="none" rotWithShape="1">
                  <a:gsLst>
                    <a:gs pos="0">
                      <a:srgbClr val="24577A"/>
                    </a:gs>
                    <a:gs pos="100000">
                      <a:srgbClr val="24577A"/>
                    </a:gs>
                  </a:gsLst>
                  <a:lin ang="0" scaled="1"/>
                  <a:tileRect/>
                </a:gradFill>
                <a:latin typeface="Manrope SemiBold" pitchFamily="2" charset="0"/>
              </a:rPr>
              <a:t>candidature</a:t>
            </a:r>
            <a:r>
              <a:rPr lang="fr-FR" sz="3600" spc="-50">
                <a:solidFill>
                  <a:srgbClr val="1D1D1F"/>
                </a:solidFill>
                <a:latin typeface="Manrope SemiBold" pitchFamily="2" charset="0"/>
              </a:rPr>
              <a:t>.</a:t>
            </a:r>
          </a:p>
        </p:txBody>
      </p:sp>
      <p:sp>
        <p:nvSpPr>
          <p:cNvPr id="18" name="ZoneTexte 17">
            <a:extLst>
              <a:ext uri="{FF2B5EF4-FFF2-40B4-BE49-F238E27FC236}">
                <a16:creationId xmlns:a16="http://schemas.microsoft.com/office/drawing/2014/main" id="{BF01E1EB-C59A-0731-F82E-563B8F358179}"/>
              </a:ext>
            </a:extLst>
          </p:cNvPr>
          <p:cNvSpPr txBox="1"/>
          <p:nvPr/>
        </p:nvSpPr>
        <p:spPr>
          <a:xfrm>
            <a:off x="6604000" y="2057400"/>
            <a:ext cx="4673600" cy="369332"/>
          </a:xfrm>
          <a:prstGeom prst="rect">
            <a:avLst/>
          </a:prstGeom>
          <a:noFill/>
        </p:spPr>
        <p:txBody>
          <a:bodyPr vert="horz" wrap="square" lIns="0" tIns="0" rIns="0" bIns="0" rtlCol="0">
            <a:noAutofit/>
          </a:bodyPr>
          <a:lstStyle/>
          <a:p>
            <a:pPr>
              <a:lnSpc>
                <a:spcPct val="115000"/>
              </a:lnSpc>
            </a:pPr>
            <a:r>
              <a:rPr lang="fr-FR" sz="1900">
                <a:solidFill>
                  <a:srgbClr val="1D1D1F"/>
                </a:solidFill>
                <a:latin typeface="Manrope Medium" pitchFamily="2" charset="0"/>
              </a:rPr>
              <a:t>Le détail dans la carte</a:t>
            </a:r>
          </a:p>
        </p:txBody>
      </p:sp>
      <p:sp>
        <p:nvSpPr>
          <p:cNvPr id="19" name="ZoneTexte 18">
            <a:extLst>
              <a:ext uri="{FF2B5EF4-FFF2-40B4-BE49-F238E27FC236}">
                <a16:creationId xmlns:a16="http://schemas.microsoft.com/office/drawing/2014/main" id="{7098A0AB-0F85-A7E8-8E4C-C3FFF57D1883}"/>
              </a:ext>
            </a:extLst>
          </p:cNvPr>
          <p:cNvSpPr txBox="1"/>
          <p:nvPr/>
        </p:nvSpPr>
        <p:spPr>
          <a:xfrm>
            <a:off x="6604000" y="2438400"/>
            <a:ext cx="4673600" cy="369332"/>
          </a:xfrm>
          <a:prstGeom prst="rect">
            <a:avLst/>
          </a:prstGeom>
          <a:noFill/>
        </p:spPr>
        <p:txBody>
          <a:bodyPr vert="horz" wrap="square" lIns="0" tIns="0" rIns="0" bIns="0" rtlCol="0">
            <a:noAutofit/>
          </a:bodyPr>
          <a:lstStyle/>
          <a:p>
            <a:pPr>
              <a:lnSpc>
                <a:spcPct val="115000"/>
              </a:lnSpc>
            </a:pPr>
            <a:r>
              <a:rPr lang="fr-FR" sz="1350">
                <a:solidFill>
                  <a:srgbClr val="5F6B76"/>
                </a:solidFill>
                <a:latin typeface="Manrope" pitchFamily="2" charset="0"/>
              </a:rPr>
              <a:t>Description, salaire, temps de travail : sans rechargement, sans fenêtre.</a:t>
            </a:r>
          </a:p>
        </p:txBody>
      </p:sp>
      <p:sp>
        <p:nvSpPr>
          <p:cNvPr id="20" name="Rectangle 19">
            <a:extLst>
              <a:ext uri="{FF2B5EF4-FFF2-40B4-BE49-F238E27FC236}">
                <a16:creationId xmlns:a16="http://schemas.microsoft.com/office/drawing/2014/main" id="{7D6B5F5C-543D-10AB-D399-186988F5FC9C}"/>
              </a:ext>
            </a:extLst>
          </p:cNvPr>
          <p:cNvSpPr/>
          <p:nvPr/>
        </p:nvSpPr>
        <p:spPr>
          <a:xfrm>
            <a:off x="6604000" y="3073400"/>
            <a:ext cx="4673600" cy="9525"/>
          </a:xfrm>
          <a:prstGeom prst="rect">
            <a:avLst/>
          </a:prstGeom>
          <a:solidFill>
            <a:srgbClr val="E2E8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36BEFB37-4FD0-AB2A-A898-FD0BFCABB63C}"/>
              </a:ext>
            </a:extLst>
          </p:cNvPr>
          <p:cNvSpPr txBox="1"/>
          <p:nvPr/>
        </p:nvSpPr>
        <p:spPr>
          <a:xfrm>
            <a:off x="6604000" y="3403600"/>
            <a:ext cx="4673600" cy="369332"/>
          </a:xfrm>
          <a:prstGeom prst="rect">
            <a:avLst/>
          </a:prstGeom>
          <a:noFill/>
        </p:spPr>
        <p:txBody>
          <a:bodyPr vert="horz" wrap="square" lIns="0" tIns="0" rIns="0" bIns="0" rtlCol="0">
            <a:noAutofit/>
          </a:bodyPr>
          <a:lstStyle/>
          <a:p>
            <a:pPr>
              <a:lnSpc>
                <a:spcPct val="115000"/>
              </a:lnSpc>
            </a:pPr>
            <a:r>
              <a:rPr lang="fr-FR" sz="1900">
                <a:solidFill>
                  <a:srgbClr val="1D1D1F"/>
                </a:solidFill>
                <a:latin typeface="Manrope Medium" pitchFamily="2" charset="0"/>
              </a:rPr>
              <a:t>Cinq champs, un CV</a:t>
            </a:r>
          </a:p>
        </p:txBody>
      </p:sp>
      <p:sp>
        <p:nvSpPr>
          <p:cNvPr id="22" name="ZoneTexte 21">
            <a:extLst>
              <a:ext uri="{FF2B5EF4-FFF2-40B4-BE49-F238E27FC236}">
                <a16:creationId xmlns:a16="http://schemas.microsoft.com/office/drawing/2014/main" id="{FD36417B-0261-89CC-7724-058FAF629150}"/>
              </a:ext>
            </a:extLst>
          </p:cNvPr>
          <p:cNvSpPr txBox="1"/>
          <p:nvPr/>
        </p:nvSpPr>
        <p:spPr>
          <a:xfrm>
            <a:off x="6604000" y="3784600"/>
            <a:ext cx="4673600" cy="369332"/>
          </a:xfrm>
          <a:prstGeom prst="rect">
            <a:avLst/>
          </a:prstGeom>
          <a:noFill/>
        </p:spPr>
        <p:txBody>
          <a:bodyPr vert="horz" wrap="square" lIns="0" tIns="0" rIns="0" bIns="0" rtlCol="0">
            <a:noAutofit/>
          </a:bodyPr>
          <a:lstStyle/>
          <a:p>
            <a:pPr>
              <a:lnSpc>
                <a:spcPct val="115000"/>
              </a:lnSpc>
            </a:pPr>
            <a:r>
              <a:rPr lang="fr-FR" sz="1350">
                <a:solidFill>
                  <a:srgbClr val="5F6B76"/>
                </a:solidFill>
                <a:latin typeface="Manrope" pitchFamily="2" charset="0"/>
              </a:rPr>
              <a:t>Le CV en PDF est facultatif : rien de plus que ce dont le recruteur a besoin.</a:t>
            </a:r>
          </a:p>
        </p:txBody>
      </p:sp>
      <p:sp>
        <p:nvSpPr>
          <p:cNvPr id="23" name="Rectangle 22">
            <a:extLst>
              <a:ext uri="{FF2B5EF4-FFF2-40B4-BE49-F238E27FC236}">
                <a16:creationId xmlns:a16="http://schemas.microsoft.com/office/drawing/2014/main" id="{AB1285DF-2037-2D4E-E271-11B0B0840F77}"/>
              </a:ext>
            </a:extLst>
          </p:cNvPr>
          <p:cNvSpPr/>
          <p:nvPr/>
        </p:nvSpPr>
        <p:spPr>
          <a:xfrm>
            <a:off x="6604000" y="4419600"/>
            <a:ext cx="4673600" cy="9525"/>
          </a:xfrm>
          <a:prstGeom prst="rect">
            <a:avLst/>
          </a:prstGeom>
          <a:solidFill>
            <a:srgbClr val="E2E8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28021325-BD94-5B2C-6D22-9725706F463E}"/>
              </a:ext>
            </a:extLst>
          </p:cNvPr>
          <p:cNvSpPr txBox="1"/>
          <p:nvPr/>
        </p:nvSpPr>
        <p:spPr>
          <a:xfrm>
            <a:off x="6604000" y="4749800"/>
            <a:ext cx="4673600" cy="369332"/>
          </a:xfrm>
          <a:prstGeom prst="rect">
            <a:avLst/>
          </a:prstGeom>
          <a:noFill/>
        </p:spPr>
        <p:txBody>
          <a:bodyPr vert="horz" wrap="square" lIns="0" tIns="0" rIns="0" bIns="0" rtlCol="0">
            <a:noAutofit/>
          </a:bodyPr>
          <a:lstStyle/>
          <a:p>
            <a:pPr>
              <a:lnSpc>
                <a:spcPct val="115000"/>
              </a:lnSpc>
            </a:pPr>
            <a:r>
              <a:rPr lang="fr-FR" sz="1900">
                <a:solidFill>
                  <a:srgbClr val="1D1D1F"/>
                </a:solidFill>
                <a:latin typeface="Manrope Medium" pitchFamily="2" charset="0"/>
              </a:rPr>
              <a:t>Confirmation immédiate</a:t>
            </a:r>
          </a:p>
        </p:txBody>
      </p:sp>
      <p:sp>
        <p:nvSpPr>
          <p:cNvPr id="25" name="ZoneTexte 24">
            <a:extLst>
              <a:ext uri="{FF2B5EF4-FFF2-40B4-BE49-F238E27FC236}">
                <a16:creationId xmlns:a16="http://schemas.microsoft.com/office/drawing/2014/main" id="{7A4EE74C-024B-0562-E4A0-807E8CFA8B46}"/>
              </a:ext>
            </a:extLst>
          </p:cNvPr>
          <p:cNvSpPr txBox="1"/>
          <p:nvPr/>
        </p:nvSpPr>
        <p:spPr>
          <a:xfrm>
            <a:off x="6604000" y="5130800"/>
            <a:ext cx="4673600" cy="369332"/>
          </a:xfrm>
          <a:prstGeom prst="rect">
            <a:avLst/>
          </a:prstGeom>
          <a:noFill/>
        </p:spPr>
        <p:txBody>
          <a:bodyPr vert="horz" wrap="square" lIns="0" tIns="0" rIns="0" bIns="0" rtlCol="0">
            <a:noAutofit/>
          </a:bodyPr>
          <a:lstStyle/>
          <a:p>
            <a:pPr>
              <a:lnSpc>
                <a:spcPct val="115000"/>
              </a:lnSpc>
            </a:pPr>
            <a:r>
              <a:rPr lang="fr-FR" sz="1350">
                <a:solidFill>
                  <a:srgbClr val="5F6B76"/>
                </a:solidFill>
                <a:latin typeface="Manrope" pitchFamily="2" charset="0"/>
              </a:rPr>
              <a:t>Le candidat sait tout de suite que sa demande est partie.</a:t>
            </a:r>
          </a:p>
        </p:txBody>
      </p:sp>
      <p:sp>
        <p:nvSpPr>
          <p:cNvPr id="26" name="Rectangle 25">
            <a:extLst>
              <a:ext uri="{FF2B5EF4-FFF2-40B4-BE49-F238E27FC236}">
                <a16:creationId xmlns:a16="http://schemas.microsoft.com/office/drawing/2014/main" id="{FF04F62C-47D0-F1EC-872D-DC30A78E8E04}"/>
              </a:ext>
            </a:extLst>
          </p:cNvPr>
          <p:cNvSpPr/>
          <p:nvPr/>
        </p:nvSpPr>
        <p:spPr>
          <a:xfrm>
            <a:off x="6604000" y="5765800"/>
            <a:ext cx="4673600" cy="9525"/>
          </a:xfrm>
          <a:prstGeom prst="rect">
            <a:avLst/>
          </a:prstGeom>
          <a:solidFill>
            <a:srgbClr val="E2E8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8" name="Image 27">
            <a:extLst>
              <a:ext uri="{FF2B5EF4-FFF2-40B4-BE49-F238E27FC236}">
                <a16:creationId xmlns:a16="http://schemas.microsoft.com/office/drawing/2014/main" id="{64147C62-6C5C-7EA0-BA34-E7BE69659976}"/>
              </a:ext>
            </a:extLst>
          </p:cNvPr>
          <p:cNvPicPr>
            <a:picLocks/>
          </p:cNvPicPr>
          <p:nvPr/>
        </p:nvPicPr>
        <p:blipFill>
          <a:blip r:embed="rId3">
            <a:extLst>
              <a:ext uri="{28A0092B-C50C-407E-A947-70E740481C1C}">
                <a14:useLocalDpi xmlns:a14="http://schemas.microsoft.com/office/drawing/2010/main" val="0"/>
              </a:ext>
            </a:extLst>
          </a:blip>
          <a:srcRect l="634" t="746"/>
          <a:stretch>
            <a:fillRect/>
          </a:stretch>
        </p:blipFill>
        <p:spPr>
          <a:xfrm>
            <a:off x="1482290" y="1885846"/>
            <a:ext cx="4071803" cy="4210153"/>
          </a:xfrm>
          <a:prstGeom prst="rect">
            <a:avLst/>
          </a:prstGeom>
          <a:ln w="9525">
            <a:solidFill>
              <a:srgbClr val="E2E8ED"/>
            </a:solidFill>
          </a:ln>
        </p:spPr>
      </p:pic>
    </p:spTree>
    <p:extLst>
      <p:ext uri="{BB962C8B-B14F-4D97-AF65-F5344CB8AC3E}">
        <p14:creationId xmlns:p14="http://schemas.microsoft.com/office/powerpoint/2010/main" val="109671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135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grpId="0" nodeType="withEffect">
                                  <p:stCondLst>
                                    <p:cond delay="135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grpId="0" nodeType="withEffect">
                                  <p:stCondLst>
                                    <p:cond delay="135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grpId="0" nodeType="withEffect">
                                  <p:stCondLst>
                                    <p:cond delay="165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par>
                                <p:cTn id="23" presetID="10" presetClass="entr" presetSubtype="0" fill="hold" grpId="0" nodeType="withEffect">
                                  <p:stCondLst>
                                    <p:cond delay="165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childTnLst>
                                </p:cTn>
                              </p:par>
                              <p:par>
                                <p:cTn id="26" presetID="10" presetClass="entr" presetSubtype="0" fill="hold" grpId="0" nodeType="withEffect">
                                  <p:stCondLst>
                                    <p:cond delay="165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500"/>
                                        <p:tgtEl>
                                          <p:spTgt spid="23"/>
                                        </p:tgtEl>
                                      </p:cBhvr>
                                    </p:animEffect>
                                  </p:childTnLst>
                                </p:cTn>
                              </p:par>
                              <p:par>
                                <p:cTn id="29" presetID="10" presetClass="entr" presetSubtype="0" fill="hold" grpId="0" nodeType="withEffect">
                                  <p:stCondLst>
                                    <p:cond delay="195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00"/>
                                        <p:tgtEl>
                                          <p:spTgt spid="24"/>
                                        </p:tgtEl>
                                      </p:cBhvr>
                                    </p:animEffect>
                                  </p:childTnLst>
                                </p:cTn>
                              </p:par>
                              <p:par>
                                <p:cTn id="32" presetID="10" presetClass="entr" presetSubtype="0" fill="hold" grpId="0" nodeType="withEffect">
                                  <p:stCondLst>
                                    <p:cond delay="195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500"/>
                                        <p:tgtEl>
                                          <p:spTgt spid="25"/>
                                        </p:tgtEl>
                                      </p:cBhvr>
                                    </p:animEffect>
                                  </p:childTnLst>
                                </p:cTn>
                              </p:par>
                              <p:par>
                                <p:cTn id="35" presetID="10" presetClass="entr" presetSubtype="0" fill="hold" grpId="0" nodeType="withEffect">
                                  <p:stCondLst>
                                    <p:cond delay="195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8" grpId="0"/>
      <p:bldP spid="19" grpId="0"/>
      <p:bldP spid="20" grpId="0" animBg="1"/>
      <p:bldP spid="21" grpId="0"/>
      <p:bldP spid="22" grpId="0"/>
      <p:bldP spid="23" grpId="0" animBg="1"/>
      <p:bldP spid="24" grpId="0"/>
      <p:bldP spid="25" grpId="0"/>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26E096FB-E2AE-4177-AFDD-A77691727D5B}"/>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24577A"/>
                </a:solidFill>
                <a:latin typeface="Manrope SemiBold" pitchFamily="2" charset="0"/>
              </a:rPr>
              <a:t>UNE PLATEFORME, TROIS ESPACES</a:t>
            </a:r>
          </a:p>
        </p:txBody>
      </p:sp>
      <p:sp>
        <p:nvSpPr>
          <p:cNvPr id="3" name="ZoneTexte 2">
            <a:extLst>
              <a:ext uri="{FF2B5EF4-FFF2-40B4-BE49-F238E27FC236}">
                <a16:creationId xmlns:a16="http://schemas.microsoft.com/office/drawing/2014/main" id="{1C2CDBFC-FD1A-2CD4-65C0-570A0AF08E8F}"/>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1D1D1F"/>
                </a:solidFill>
                <a:latin typeface="Manrope SemiBold" pitchFamily="2" charset="0"/>
              </a:rPr>
              <a:t>Chacun son espace, la même </a:t>
            </a:r>
            <a:r>
              <a:rPr lang="fr-FR" sz="3600" spc="-50">
                <a:gradFill flip="none" rotWithShape="1">
                  <a:gsLst>
                    <a:gs pos="0">
                      <a:srgbClr val="24577A"/>
                    </a:gs>
                    <a:gs pos="100000">
                      <a:srgbClr val="24577A"/>
                    </a:gs>
                  </a:gsLst>
                  <a:lin ang="0" scaled="1"/>
                  <a:tileRect/>
                </a:gradFill>
                <a:latin typeface="Manrope SemiBold" pitchFamily="2" charset="0"/>
              </a:rPr>
              <a:t>simplicité</a:t>
            </a:r>
            <a:r>
              <a:rPr lang="fr-FR" sz="3600" spc="-50">
                <a:solidFill>
                  <a:srgbClr val="1D1D1F"/>
                </a:solidFill>
                <a:latin typeface="Manrope SemiBold" pitchFamily="2" charset="0"/>
              </a:rPr>
              <a:t>.</a:t>
            </a:r>
          </a:p>
        </p:txBody>
      </p:sp>
      <p:sp>
        <p:nvSpPr>
          <p:cNvPr id="4" name="Rectangle : coins arrondis 3">
            <a:extLst>
              <a:ext uri="{FF2B5EF4-FFF2-40B4-BE49-F238E27FC236}">
                <a16:creationId xmlns:a16="http://schemas.microsoft.com/office/drawing/2014/main" id="{524618D0-493C-E0EB-5D01-6CACBFEB37DA}"/>
              </a:ext>
            </a:extLst>
          </p:cNvPr>
          <p:cNvSpPr/>
          <p:nvPr/>
        </p:nvSpPr>
        <p:spPr>
          <a:xfrm>
            <a:off x="914400" y="2032000"/>
            <a:ext cx="3200400" cy="3683000"/>
          </a:xfrm>
          <a:prstGeom prst="roundRect">
            <a:avLst>
              <a:gd name="adj" fmla="val 4762"/>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1C209EA4-7895-7DE1-FBD4-EF2E1EEDBA5F}"/>
              </a:ext>
            </a:extLst>
          </p:cNvPr>
          <p:cNvSpPr txBox="1"/>
          <p:nvPr/>
        </p:nvSpPr>
        <p:spPr>
          <a:xfrm>
            <a:off x="1219200" y="2336800"/>
            <a:ext cx="2540000" cy="369332"/>
          </a:xfrm>
          <a:prstGeom prst="rect">
            <a:avLst/>
          </a:prstGeom>
          <a:noFill/>
        </p:spPr>
        <p:txBody>
          <a:bodyPr vert="horz" wrap="square" lIns="0" tIns="0" rIns="0" bIns="0" rtlCol="0">
            <a:noAutofit/>
          </a:bodyPr>
          <a:lstStyle/>
          <a:p>
            <a:pPr>
              <a:lnSpc>
                <a:spcPct val="115000"/>
              </a:lnSpc>
            </a:pPr>
            <a:r>
              <a:rPr lang="fr-FR" sz="1000" spc="220">
                <a:solidFill>
                  <a:srgbClr val="24577A"/>
                </a:solidFill>
                <a:latin typeface="Manrope SemiBold" pitchFamily="2" charset="0"/>
              </a:rPr>
              <a:t>CANDIDAT</a:t>
            </a:r>
          </a:p>
        </p:txBody>
      </p:sp>
      <p:sp>
        <p:nvSpPr>
          <p:cNvPr id="6" name="ZoneTexte 5">
            <a:extLst>
              <a:ext uri="{FF2B5EF4-FFF2-40B4-BE49-F238E27FC236}">
                <a16:creationId xmlns:a16="http://schemas.microsoft.com/office/drawing/2014/main" id="{F779EE69-15DC-DF40-0E18-C77BC3EC9E47}"/>
              </a:ext>
            </a:extLst>
          </p:cNvPr>
          <p:cNvSpPr txBox="1"/>
          <p:nvPr/>
        </p:nvSpPr>
        <p:spPr>
          <a:xfrm>
            <a:off x="1219200" y="2616200"/>
            <a:ext cx="2667000" cy="369332"/>
          </a:xfrm>
          <a:prstGeom prst="rect">
            <a:avLst/>
          </a:prstGeom>
          <a:noFill/>
        </p:spPr>
        <p:txBody>
          <a:bodyPr vert="horz" wrap="square" lIns="0" tIns="0" rIns="0" bIns="0" rtlCol="0">
            <a:noAutofit/>
          </a:bodyPr>
          <a:lstStyle/>
          <a:p>
            <a:pPr>
              <a:lnSpc>
                <a:spcPct val="115000"/>
              </a:lnSpc>
            </a:pPr>
            <a:r>
              <a:rPr lang="fr-FR" sz="2100">
                <a:solidFill>
                  <a:srgbClr val="1D1D1F"/>
                </a:solidFill>
                <a:latin typeface="Manrope SemiBold" pitchFamily="2" charset="0"/>
              </a:rPr>
              <a:t>Postuler et suivre</a:t>
            </a:r>
          </a:p>
        </p:txBody>
      </p:sp>
      <p:sp>
        <p:nvSpPr>
          <p:cNvPr id="7" name="Rectangle 6">
            <a:extLst>
              <a:ext uri="{FF2B5EF4-FFF2-40B4-BE49-F238E27FC236}">
                <a16:creationId xmlns:a16="http://schemas.microsoft.com/office/drawing/2014/main" id="{D184367D-BDC6-887B-67FF-9C5AD7EEE6BD}"/>
              </a:ext>
            </a:extLst>
          </p:cNvPr>
          <p:cNvSpPr/>
          <p:nvPr/>
        </p:nvSpPr>
        <p:spPr>
          <a:xfrm>
            <a:off x="1219200" y="3327400"/>
            <a:ext cx="127000" cy="1905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1364B561-1A2A-48BD-BDAF-C7A5B11C2423}"/>
              </a:ext>
            </a:extLst>
          </p:cNvPr>
          <p:cNvSpPr txBox="1"/>
          <p:nvPr/>
        </p:nvSpPr>
        <p:spPr>
          <a:xfrm>
            <a:off x="1447800" y="3225800"/>
            <a:ext cx="2413000" cy="369332"/>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Ses candidatures et leur état</a:t>
            </a:r>
          </a:p>
        </p:txBody>
      </p:sp>
      <p:sp>
        <p:nvSpPr>
          <p:cNvPr id="9" name="Rectangle 8">
            <a:extLst>
              <a:ext uri="{FF2B5EF4-FFF2-40B4-BE49-F238E27FC236}">
                <a16:creationId xmlns:a16="http://schemas.microsoft.com/office/drawing/2014/main" id="{BDE0D620-2BE3-A957-8337-1831DB8CC823}"/>
              </a:ext>
            </a:extLst>
          </p:cNvPr>
          <p:cNvSpPr/>
          <p:nvPr/>
        </p:nvSpPr>
        <p:spPr>
          <a:xfrm>
            <a:off x="1219200" y="3987800"/>
            <a:ext cx="127000" cy="1905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EF10F86E-595A-0106-918E-ACF88CCE49E0}"/>
              </a:ext>
            </a:extLst>
          </p:cNvPr>
          <p:cNvSpPr txBox="1"/>
          <p:nvPr/>
        </p:nvSpPr>
        <p:spPr>
          <a:xfrm>
            <a:off x="1447800" y="3886200"/>
            <a:ext cx="2413000" cy="369332"/>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Ses informations, modifiables</a:t>
            </a:r>
          </a:p>
        </p:txBody>
      </p:sp>
      <p:sp>
        <p:nvSpPr>
          <p:cNvPr id="11" name="Rectangle 10">
            <a:extLst>
              <a:ext uri="{FF2B5EF4-FFF2-40B4-BE49-F238E27FC236}">
                <a16:creationId xmlns:a16="http://schemas.microsoft.com/office/drawing/2014/main" id="{965360DA-E702-D315-A9AF-F4866004D192}"/>
              </a:ext>
            </a:extLst>
          </p:cNvPr>
          <p:cNvSpPr/>
          <p:nvPr/>
        </p:nvSpPr>
        <p:spPr>
          <a:xfrm>
            <a:off x="1219200" y="4648200"/>
            <a:ext cx="127000" cy="1905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8D2CA590-79F6-5AF2-521F-A2B160B35EB4}"/>
              </a:ext>
            </a:extLst>
          </p:cNvPr>
          <p:cNvSpPr txBox="1"/>
          <p:nvPr/>
        </p:nvSpPr>
        <p:spPr>
          <a:xfrm>
            <a:off x="1447800" y="4546600"/>
            <a:ext cx="2413000" cy="369332"/>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Son CV, déposé une fois</a:t>
            </a:r>
          </a:p>
        </p:txBody>
      </p:sp>
      <p:sp>
        <p:nvSpPr>
          <p:cNvPr id="13" name="Rectangle : coins arrondis 12">
            <a:extLst>
              <a:ext uri="{FF2B5EF4-FFF2-40B4-BE49-F238E27FC236}">
                <a16:creationId xmlns:a16="http://schemas.microsoft.com/office/drawing/2014/main" id="{66B0CBFE-9064-7192-CBFF-20D1F7BB3EA7}"/>
              </a:ext>
            </a:extLst>
          </p:cNvPr>
          <p:cNvSpPr/>
          <p:nvPr/>
        </p:nvSpPr>
        <p:spPr>
          <a:xfrm>
            <a:off x="4495800" y="2032000"/>
            <a:ext cx="3200400" cy="3683000"/>
          </a:xfrm>
          <a:prstGeom prst="roundRect">
            <a:avLst>
              <a:gd name="adj" fmla="val 4762"/>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EE7537E5-5ACC-5C9D-0A3F-6B9419183A85}"/>
              </a:ext>
            </a:extLst>
          </p:cNvPr>
          <p:cNvSpPr txBox="1"/>
          <p:nvPr/>
        </p:nvSpPr>
        <p:spPr>
          <a:xfrm>
            <a:off x="4800600" y="2336800"/>
            <a:ext cx="2540000" cy="369332"/>
          </a:xfrm>
          <a:prstGeom prst="rect">
            <a:avLst/>
          </a:prstGeom>
          <a:noFill/>
        </p:spPr>
        <p:txBody>
          <a:bodyPr vert="horz" wrap="square" lIns="0" tIns="0" rIns="0" bIns="0" rtlCol="0">
            <a:noAutofit/>
          </a:bodyPr>
          <a:lstStyle/>
          <a:p>
            <a:pPr>
              <a:lnSpc>
                <a:spcPct val="115000"/>
              </a:lnSpc>
            </a:pPr>
            <a:r>
              <a:rPr lang="fr-FR" sz="1000" spc="220">
                <a:solidFill>
                  <a:srgbClr val="24577A"/>
                </a:solidFill>
                <a:latin typeface="Manrope SemiBold" pitchFamily="2" charset="0"/>
              </a:rPr>
              <a:t>RECRUTEUR</a:t>
            </a:r>
          </a:p>
        </p:txBody>
      </p:sp>
      <p:sp>
        <p:nvSpPr>
          <p:cNvPr id="15" name="ZoneTexte 14">
            <a:extLst>
              <a:ext uri="{FF2B5EF4-FFF2-40B4-BE49-F238E27FC236}">
                <a16:creationId xmlns:a16="http://schemas.microsoft.com/office/drawing/2014/main" id="{1F2AA4DE-F439-23F8-2AE4-E8784A5AD1FC}"/>
              </a:ext>
            </a:extLst>
          </p:cNvPr>
          <p:cNvSpPr txBox="1"/>
          <p:nvPr/>
        </p:nvSpPr>
        <p:spPr>
          <a:xfrm>
            <a:off x="4800600" y="2616200"/>
            <a:ext cx="2667000" cy="369332"/>
          </a:xfrm>
          <a:prstGeom prst="rect">
            <a:avLst/>
          </a:prstGeom>
          <a:noFill/>
        </p:spPr>
        <p:txBody>
          <a:bodyPr vert="horz" wrap="square" lIns="0" tIns="0" rIns="0" bIns="0" rtlCol="0">
            <a:noAutofit/>
          </a:bodyPr>
          <a:lstStyle/>
          <a:p>
            <a:pPr>
              <a:lnSpc>
                <a:spcPct val="115000"/>
              </a:lnSpc>
            </a:pPr>
            <a:r>
              <a:rPr lang="fr-FR" sz="2100">
                <a:solidFill>
                  <a:srgbClr val="1D1D1F"/>
                </a:solidFill>
                <a:latin typeface="Manrope SemiBold" pitchFamily="2" charset="0"/>
              </a:rPr>
              <a:t>Publier et choisir</a:t>
            </a:r>
          </a:p>
        </p:txBody>
      </p:sp>
      <p:sp>
        <p:nvSpPr>
          <p:cNvPr id="16" name="Rectangle 15">
            <a:extLst>
              <a:ext uri="{FF2B5EF4-FFF2-40B4-BE49-F238E27FC236}">
                <a16:creationId xmlns:a16="http://schemas.microsoft.com/office/drawing/2014/main" id="{5871862B-B232-A6B0-0914-EF7EA5305A54}"/>
              </a:ext>
            </a:extLst>
          </p:cNvPr>
          <p:cNvSpPr/>
          <p:nvPr/>
        </p:nvSpPr>
        <p:spPr>
          <a:xfrm>
            <a:off x="4800600" y="3327400"/>
            <a:ext cx="127000" cy="1905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E47D10C2-900D-7734-0B41-C32C11748C3A}"/>
              </a:ext>
            </a:extLst>
          </p:cNvPr>
          <p:cNvSpPr txBox="1"/>
          <p:nvPr/>
        </p:nvSpPr>
        <p:spPr>
          <a:xfrm>
            <a:off x="5029200" y="3225800"/>
            <a:ext cx="2413000" cy="369332"/>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Son entreprise, identifiée par son SIREN</a:t>
            </a:r>
          </a:p>
        </p:txBody>
      </p:sp>
      <p:sp>
        <p:nvSpPr>
          <p:cNvPr id="18" name="Rectangle 17">
            <a:extLst>
              <a:ext uri="{FF2B5EF4-FFF2-40B4-BE49-F238E27FC236}">
                <a16:creationId xmlns:a16="http://schemas.microsoft.com/office/drawing/2014/main" id="{E764B17E-FECC-D285-C0A5-41E7D15E31DA}"/>
              </a:ext>
            </a:extLst>
          </p:cNvPr>
          <p:cNvSpPr/>
          <p:nvPr/>
        </p:nvSpPr>
        <p:spPr>
          <a:xfrm>
            <a:off x="4800600" y="3987800"/>
            <a:ext cx="127000" cy="1905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2F9766DE-99D8-FAAB-613C-617F13617BD7}"/>
              </a:ext>
            </a:extLst>
          </p:cNvPr>
          <p:cNvSpPr txBox="1"/>
          <p:nvPr/>
        </p:nvSpPr>
        <p:spPr>
          <a:xfrm>
            <a:off x="5029200" y="3886200"/>
            <a:ext cx="2413000" cy="369332"/>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Ses offres et leurs candidatures</a:t>
            </a:r>
          </a:p>
        </p:txBody>
      </p:sp>
      <p:sp>
        <p:nvSpPr>
          <p:cNvPr id="20" name="Rectangle 19">
            <a:extLst>
              <a:ext uri="{FF2B5EF4-FFF2-40B4-BE49-F238E27FC236}">
                <a16:creationId xmlns:a16="http://schemas.microsoft.com/office/drawing/2014/main" id="{54332A1C-EAEE-C209-F1B2-C45F7A987EC7}"/>
              </a:ext>
            </a:extLst>
          </p:cNvPr>
          <p:cNvSpPr/>
          <p:nvPr/>
        </p:nvSpPr>
        <p:spPr>
          <a:xfrm>
            <a:off x="4800600" y="4648200"/>
            <a:ext cx="127000" cy="1905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BEBA637E-CE1F-0BDC-748F-CF0A8082D305}"/>
              </a:ext>
            </a:extLst>
          </p:cNvPr>
          <p:cNvSpPr txBox="1"/>
          <p:nvPr/>
        </p:nvSpPr>
        <p:spPr>
          <a:xfrm>
            <a:off x="5029200" y="4546600"/>
            <a:ext cx="2413000" cy="369332"/>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Une offre pourvue en un geste</a:t>
            </a:r>
          </a:p>
        </p:txBody>
      </p:sp>
      <p:sp>
        <p:nvSpPr>
          <p:cNvPr id="22" name="Rectangle : coins arrondis 21">
            <a:extLst>
              <a:ext uri="{FF2B5EF4-FFF2-40B4-BE49-F238E27FC236}">
                <a16:creationId xmlns:a16="http://schemas.microsoft.com/office/drawing/2014/main" id="{4EB0A40E-1022-BBCF-EC99-EA3455B9D546}"/>
              </a:ext>
            </a:extLst>
          </p:cNvPr>
          <p:cNvSpPr/>
          <p:nvPr/>
        </p:nvSpPr>
        <p:spPr>
          <a:xfrm>
            <a:off x="8077200" y="2032000"/>
            <a:ext cx="3200400" cy="3683000"/>
          </a:xfrm>
          <a:prstGeom prst="roundRect">
            <a:avLst>
              <a:gd name="adj" fmla="val 4762"/>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DD3C453E-BAF5-B029-9666-E99F4BF77EE4}"/>
              </a:ext>
            </a:extLst>
          </p:cNvPr>
          <p:cNvSpPr txBox="1"/>
          <p:nvPr/>
        </p:nvSpPr>
        <p:spPr>
          <a:xfrm>
            <a:off x="8382000" y="2336800"/>
            <a:ext cx="2540000" cy="369332"/>
          </a:xfrm>
          <a:prstGeom prst="rect">
            <a:avLst/>
          </a:prstGeom>
          <a:noFill/>
        </p:spPr>
        <p:txBody>
          <a:bodyPr vert="horz" wrap="square" lIns="0" tIns="0" rIns="0" bIns="0" rtlCol="0">
            <a:noAutofit/>
          </a:bodyPr>
          <a:lstStyle/>
          <a:p>
            <a:pPr>
              <a:lnSpc>
                <a:spcPct val="115000"/>
              </a:lnSpc>
            </a:pPr>
            <a:r>
              <a:rPr lang="fr-FR" sz="1000" spc="220">
                <a:solidFill>
                  <a:srgbClr val="24577A"/>
                </a:solidFill>
                <a:latin typeface="Manrope SemiBold" pitchFamily="2" charset="0"/>
              </a:rPr>
              <a:t>ADMINISTRATION</a:t>
            </a:r>
          </a:p>
        </p:txBody>
      </p:sp>
      <p:sp>
        <p:nvSpPr>
          <p:cNvPr id="24" name="ZoneTexte 23">
            <a:extLst>
              <a:ext uri="{FF2B5EF4-FFF2-40B4-BE49-F238E27FC236}">
                <a16:creationId xmlns:a16="http://schemas.microsoft.com/office/drawing/2014/main" id="{72F11AF5-4DA7-45BB-9ABB-E4C6A7934F8D}"/>
              </a:ext>
            </a:extLst>
          </p:cNvPr>
          <p:cNvSpPr txBox="1"/>
          <p:nvPr/>
        </p:nvSpPr>
        <p:spPr>
          <a:xfrm>
            <a:off x="8382000" y="2616200"/>
            <a:ext cx="2667000" cy="369332"/>
          </a:xfrm>
          <a:prstGeom prst="rect">
            <a:avLst/>
          </a:prstGeom>
          <a:noFill/>
        </p:spPr>
        <p:txBody>
          <a:bodyPr vert="horz" wrap="square" lIns="0" tIns="0" rIns="0" bIns="0" rtlCol="0">
            <a:noAutofit/>
          </a:bodyPr>
          <a:lstStyle/>
          <a:p>
            <a:pPr>
              <a:lnSpc>
                <a:spcPct val="115000"/>
              </a:lnSpc>
            </a:pPr>
            <a:r>
              <a:rPr lang="fr-FR" sz="2100">
                <a:solidFill>
                  <a:srgbClr val="1D1D1F"/>
                </a:solidFill>
                <a:latin typeface="Manrope SemiBold" pitchFamily="2" charset="0"/>
              </a:rPr>
              <a:t>Tout piloter</a:t>
            </a:r>
          </a:p>
        </p:txBody>
      </p:sp>
      <p:sp>
        <p:nvSpPr>
          <p:cNvPr id="25" name="Rectangle 24">
            <a:extLst>
              <a:ext uri="{FF2B5EF4-FFF2-40B4-BE49-F238E27FC236}">
                <a16:creationId xmlns:a16="http://schemas.microsoft.com/office/drawing/2014/main" id="{A1DE2B60-1CD8-7795-AFFE-4B4130FFF2ED}"/>
              </a:ext>
            </a:extLst>
          </p:cNvPr>
          <p:cNvSpPr/>
          <p:nvPr/>
        </p:nvSpPr>
        <p:spPr>
          <a:xfrm>
            <a:off x="8382000" y="3327400"/>
            <a:ext cx="127000" cy="1905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ZoneTexte 25">
            <a:extLst>
              <a:ext uri="{FF2B5EF4-FFF2-40B4-BE49-F238E27FC236}">
                <a16:creationId xmlns:a16="http://schemas.microsoft.com/office/drawing/2014/main" id="{91360E5C-EC35-6AAB-211D-C9787970E53C}"/>
              </a:ext>
            </a:extLst>
          </p:cNvPr>
          <p:cNvSpPr txBox="1"/>
          <p:nvPr/>
        </p:nvSpPr>
        <p:spPr>
          <a:xfrm>
            <a:off x="8610600" y="3225800"/>
            <a:ext cx="2413000" cy="369332"/>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Entreprises, catégories, offres, personnes, candidatures</a:t>
            </a:r>
          </a:p>
        </p:txBody>
      </p:sp>
      <p:sp>
        <p:nvSpPr>
          <p:cNvPr id="27" name="Rectangle 26">
            <a:extLst>
              <a:ext uri="{FF2B5EF4-FFF2-40B4-BE49-F238E27FC236}">
                <a16:creationId xmlns:a16="http://schemas.microsoft.com/office/drawing/2014/main" id="{7911B624-968C-B6D3-0543-7B39C28B74F4}"/>
              </a:ext>
            </a:extLst>
          </p:cNvPr>
          <p:cNvSpPr/>
          <p:nvPr/>
        </p:nvSpPr>
        <p:spPr>
          <a:xfrm>
            <a:off x="8382000" y="3987800"/>
            <a:ext cx="127000" cy="1905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ZoneTexte 27">
            <a:extLst>
              <a:ext uri="{FF2B5EF4-FFF2-40B4-BE49-F238E27FC236}">
                <a16:creationId xmlns:a16="http://schemas.microsoft.com/office/drawing/2014/main" id="{7DDC65F4-34FD-BC18-817D-3F2EA4DD897E}"/>
              </a:ext>
            </a:extLst>
          </p:cNvPr>
          <p:cNvSpPr txBox="1"/>
          <p:nvPr/>
        </p:nvSpPr>
        <p:spPr>
          <a:xfrm>
            <a:off x="8610600" y="3886200"/>
            <a:ext cx="2413000" cy="369332"/>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Lister, créer, modifier, supprimer</a:t>
            </a:r>
          </a:p>
        </p:txBody>
      </p:sp>
      <p:sp>
        <p:nvSpPr>
          <p:cNvPr id="29" name="Rectangle 28">
            <a:extLst>
              <a:ext uri="{FF2B5EF4-FFF2-40B4-BE49-F238E27FC236}">
                <a16:creationId xmlns:a16="http://schemas.microsoft.com/office/drawing/2014/main" id="{F1156688-A992-71EB-DE94-EEFEF397DF23}"/>
              </a:ext>
            </a:extLst>
          </p:cNvPr>
          <p:cNvSpPr/>
          <p:nvPr/>
        </p:nvSpPr>
        <p:spPr>
          <a:xfrm>
            <a:off x="8382000" y="4648200"/>
            <a:ext cx="127000" cy="1905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ZoneTexte 29">
            <a:extLst>
              <a:ext uri="{FF2B5EF4-FFF2-40B4-BE49-F238E27FC236}">
                <a16:creationId xmlns:a16="http://schemas.microsoft.com/office/drawing/2014/main" id="{EF104B02-9BF0-9743-4EE6-8F68F06064FF}"/>
              </a:ext>
            </a:extLst>
          </p:cNvPr>
          <p:cNvSpPr txBox="1"/>
          <p:nvPr/>
        </p:nvSpPr>
        <p:spPr>
          <a:xfrm>
            <a:off x="8610600" y="4546600"/>
            <a:ext cx="2413000" cy="369332"/>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Accès réservé, pages paginées</a:t>
            </a:r>
          </a:p>
        </p:txBody>
      </p:sp>
    </p:spTree>
    <p:extLst>
      <p:ext uri="{BB962C8B-B14F-4D97-AF65-F5344CB8AC3E}">
        <p14:creationId xmlns:p14="http://schemas.microsoft.com/office/powerpoint/2010/main" val="33519100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4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4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4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4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4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4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7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7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7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7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7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7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7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7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7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105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10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10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10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105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par>
                                <p:cTn id="80" presetID="10" presetClass="entr" presetSubtype="0" fill="hold" grpId="0" nodeType="withEffect">
                                  <p:stCondLst>
                                    <p:cond delay="105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par>
                                <p:cTn id="83" presetID="10" presetClass="entr" presetSubtype="0" fill="hold" grpId="0" nodeType="withEffect">
                                  <p:stCondLst>
                                    <p:cond delay="105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500"/>
                                        <p:tgtEl>
                                          <p:spTgt spid="28"/>
                                        </p:tgtEl>
                                      </p:cBhvr>
                                    </p:animEffect>
                                  </p:childTnLst>
                                </p:cTn>
                              </p:par>
                              <p:par>
                                <p:cTn id="86" presetID="10" presetClass="entr" presetSubtype="0" fill="hold" grpId="0" nodeType="withEffect">
                                  <p:stCondLst>
                                    <p:cond delay="105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par>
                                <p:cTn id="89" presetID="10" presetClass="entr" presetSubtype="0" fill="hold" grpId="0" nodeType="withEffect">
                                  <p:stCondLst>
                                    <p:cond delay="105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animBg="1"/>
      <p:bldP spid="8" grpId="0"/>
      <p:bldP spid="9" grpId="0" animBg="1"/>
      <p:bldP spid="10" grpId="0"/>
      <p:bldP spid="11" grpId="0" animBg="1"/>
      <p:bldP spid="12" grpId="0"/>
      <p:bldP spid="13" grpId="0" animBg="1"/>
      <p:bldP spid="14" grpId="0"/>
      <p:bldP spid="15" grpId="0"/>
      <p:bldP spid="16" grpId="0" animBg="1"/>
      <p:bldP spid="17" grpId="0"/>
      <p:bldP spid="18" grpId="0" animBg="1"/>
      <p:bldP spid="19" grpId="0"/>
      <p:bldP spid="20" grpId="0" animBg="1"/>
      <p:bldP spid="21" grpId="0"/>
      <p:bldP spid="22" grpId="0" animBg="1"/>
      <p:bldP spid="23" grpId="0"/>
      <p:bldP spid="24" grpId="0"/>
      <p:bldP spid="25" grpId="0" animBg="1"/>
      <p:bldP spid="26" grpId="0"/>
      <p:bldP spid="27" grpId="0" animBg="1"/>
      <p:bldP spid="28" grpId="0"/>
      <p:bldP spid="29" grpId="0" animBg="1"/>
      <p:bldP spid="30"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A5FF9A63-C840-00D2-A4BA-A3245E4FAF8A}"/>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24577A"/>
                </a:solidFill>
                <a:latin typeface="Manrope SemiBold" pitchFamily="2" charset="0"/>
              </a:rPr>
              <a:t>DÉJÀ EN PLACE</a:t>
            </a:r>
          </a:p>
        </p:txBody>
      </p:sp>
      <p:sp>
        <p:nvSpPr>
          <p:cNvPr id="3" name="ZoneTexte 2">
            <a:extLst>
              <a:ext uri="{FF2B5EF4-FFF2-40B4-BE49-F238E27FC236}">
                <a16:creationId xmlns:a16="http://schemas.microsoft.com/office/drawing/2014/main" id="{F7FFE4B2-A5F6-13F5-036F-7F9959EC31FF}"/>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1D1D1F"/>
                </a:solidFill>
                <a:latin typeface="Manrope SemiBold" pitchFamily="2" charset="0"/>
              </a:rPr>
              <a:t>Un catalogue </a:t>
            </a:r>
            <a:r>
              <a:rPr lang="fr-FR" sz="3600" spc="-50">
                <a:gradFill flip="none" rotWithShape="1">
                  <a:gsLst>
                    <a:gs pos="0">
                      <a:srgbClr val="24577A"/>
                    </a:gs>
                    <a:gs pos="100000">
                      <a:srgbClr val="24577A"/>
                    </a:gs>
                  </a:gsLst>
                  <a:lin ang="0" scaled="1"/>
                  <a:tileRect/>
                </a:gradFill>
                <a:latin typeface="Manrope SemiBold" pitchFamily="2" charset="0"/>
              </a:rPr>
              <a:t>réel</a:t>
            </a:r>
            <a:r>
              <a:rPr lang="fr-FR" sz="3600" spc="-50">
                <a:solidFill>
                  <a:srgbClr val="1D1D1F"/>
                </a:solidFill>
                <a:latin typeface="Manrope SemiBold" pitchFamily="2" charset="0"/>
              </a:rPr>
              <a:t>, pas une maquette.</a:t>
            </a:r>
          </a:p>
        </p:txBody>
      </p:sp>
      <p:sp>
        <p:nvSpPr>
          <p:cNvPr id="4" name="ZoneTexte 3">
            <a:extLst>
              <a:ext uri="{FF2B5EF4-FFF2-40B4-BE49-F238E27FC236}">
                <a16:creationId xmlns:a16="http://schemas.microsoft.com/office/drawing/2014/main" id="{7666DF5E-FB67-3C6C-4F9E-0B555FB6F28B}"/>
              </a:ext>
            </a:extLst>
          </p:cNvPr>
          <p:cNvSpPr txBox="1"/>
          <p:nvPr/>
        </p:nvSpPr>
        <p:spPr>
          <a:xfrm>
            <a:off x="914400" y="2260600"/>
            <a:ext cx="2540000" cy="369332"/>
          </a:xfrm>
          <a:prstGeom prst="rect">
            <a:avLst/>
          </a:prstGeom>
          <a:noFill/>
        </p:spPr>
        <p:txBody>
          <a:bodyPr vert="horz" wrap="square" lIns="0" tIns="0" rIns="0" bIns="0" rtlCol="0">
            <a:noAutofit/>
          </a:bodyPr>
          <a:lstStyle/>
          <a:p>
            <a:r>
              <a:rPr lang="fr-FR" sz="7600" spc="-200">
                <a:solidFill>
                  <a:srgbClr val="1D1D1F"/>
                </a:solidFill>
                <a:latin typeface="Manrope SemiBold" pitchFamily="2" charset="0"/>
              </a:rPr>
              <a:t>53</a:t>
            </a:r>
          </a:p>
        </p:txBody>
      </p:sp>
      <p:sp>
        <p:nvSpPr>
          <p:cNvPr id="5" name="ZoneTexte 4">
            <a:extLst>
              <a:ext uri="{FF2B5EF4-FFF2-40B4-BE49-F238E27FC236}">
                <a16:creationId xmlns:a16="http://schemas.microsoft.com/office/drawing/2014/main" id="{2787A40E-908D-6E75-B03F-7181C76651A7}"/>
              </a:ext>
            </a:extLst>
          </p:cNvPr>
          <p:cNvSpPr txBox="1"/>
          <p:nvPr/>
        </p:nvSpPr>
        <p:spPr>
          <a:xfrm>
            <a:off x="914400" y="3454400"/>
            <a:ext cx="2540000" cy="369332"/>
          </a:xfrm>
          <a:prstGeom prst="rect">
            <a:avLst/>
          </a:prstGeom>
          <a:noFill/>
        </p:spPr>
        <p:txBody>
          <a:bodyPr vert="horz" wrap="square" lIns="0" tIns="0" rIns="0" bIns="0" rtlCol="0">
            <a:noAutofit/>
          </a:bodyPr>
          <a:lstStyle/>
          <a:p>
            <a:pPr>
              <a:lnSpc>
                <a:spcPct val="115000"/>
              </a:lnSpc>
            </a:pPr>
            <a:r>
              <a:rPr lang="fr-FR">
                <a:solidFill>
                  <a:srgbClr val="24577A"/>
                </a:solidFill>
                <a:latin typeface="Manrope Medium" pitchFamily="2" charset="0"/>
              </a:rPr>
              <a:t>annonces</a:t>
            </a:r>
          </a:p>
        </p:txBody>
      </p:sp>
      <p:sp>
        <p:nvSpPr>
          <p:cNvPr id="6" name="ZoneTexte 5">
            <a:extLst>
              <a:ext uri="{FF2B5EF4-FFF2-40B4-BE49-F238E27FC236}">
                <a16:creationId xmlns:a16="http://schemas.microsoft.com/office/drawing/2014/main" id="{DA0EA17D-D87B-77C3-A571-0A950FE235CC}"/>
              </a:ext>
            </a:extLst>
          </p:cNvPr>
          <p:cNvSpPr txBox="1"/>
          <p:nvPr/>
        </p:nvSpPr>
        <p:spPr>
          <a:xfrm>
            <a:off x="914400" y="3810000"/>
            <a:ext cx="2413000" cy="369332"/>
          </a:xfrm>
          <a:prstGeom prst="rect">
            <a:avLst/>
          </a:prstGeom>
          <a:noFill/>
        </p:spPr>
        <p:txBody>
          <a:bodyPr vert="horz" wrap="square" lIns="0" tIns="0" rIns="0" bIns="0" rtlCol="0">
            <a:noAutofit/>
          </a:bodyPr>
          <a:lstStyle/>
          <a:p>
            <a:pPr>
              <a:lnSpc>
                <a:spcPct val="115000"/>
              </a:lnSpc>
            </a:pPr>
            <a:r>
              <a:rPr lang="en-US" sz="1250">
                <a:solidFill>
                  <a:srgbClr val="5F6B76"/>
                </a:solidFill>
                <a:latin typeface="Manrope" pitchFamily="2" charset="0"/>
              </a:rPr>
              <a:t>CDI, CDD, stage, alternance, freelance</a:t>
            </a:r>
            <a:endParaRPr lang="fr-FR" sz="1250">
              <a:solidFill>
                <a:srgbClr val="5F6B76"/>
              </a:solidFill>
              <a:latin typeface="Manrope" pitchFamily="2" charset="0"/>
            </a:endParaRPr>
          </a:p>
        </p:txBody>
      </p:sp>
      <p:sp>
        <p:nvSpPr>
          <p:cNvPr id="7" name="ZoneTexte 6">
            <a:extLst>
              <a:ext uri="{FF2B5EF4-FFF2-40B4-BE49-F238E27FC236}">
                <a16:creationId xmlns:a16="http://schemas.microsoft.com/office/drawing/2014/main" id="{5D519F46-893B-37C2-AA9D-CE59986BAB12}"/>
              </a:ext>
            </a:extLst>
          </p:cNvPr>
          <p:cNvSpPr txBox="1"/>
          <p:nvPr/>
        </p:nvSpPr>
        <p:spPr>
          <a:xfrm>
            <a:off x="3683000" y="2260600"/>
            <a:ext cx="2540000" cy="369332"/>
          </a:xfrm>
          <a:prstGeom prst="rect">
            <a:avLst/>
          </a:prstGeom>
          <a:noFill/>
        </p:spPr>
        <p:txBody>
          <a:bodyPr vert="horz" wrap="square" lIns="0" tIns="0" rIns="0" bIns="0" rtlCol="0">
            <a:noAutofit/>
          </a:bodyPr>
          <a:lstStyle/>
          <a:p>
            <a:r>
              <a:rPr lang="fr-FR" sz="7600" spc="-200">
                <a:solidFill>
                  <a:srgbClr val="1D1D1F"/>
                </a:solidFill>
                <a:latin typeface="Manrope SemiBold" pitchFamily="2" charset="0"/>
              </a:rPr>
              <a:t>12</a:t>
            </a:r>
          </a:p>
        </p:txBody>
      </p:sp>
      <p:sp>
        <p:nvSpPr>
          <p:cNvPr id="8" name="ZoneTexte 7">
            <a:extLst>
              <a:ext uri="{FF2B5EF4-FFF2-40B4-BE49-F238E27FC236}">
                <a16:creationId xmlns:a16="http://schemas.microsoft.com/office/drawing/2014/main" id="{98CC6840-CC20-196D-C410-5AA9CD2ABB34}"/>
              </a:ext>
            </a:extLst>
          </p:cNvPr>
          <p:cNvSpPr txBox="1"/>
          <p:nvPr/>
        </p:nvSpPr>
        <p:spPr>
          <a:xfrm>
            <a:off x="3683000" y="3454400"/>
            <a:ext cx="2540000" cy="369332"/>
          </a:xfrm>
          <a:prstGeom prst="rect">
            <a:avLst/>
          </a:prstGeom>
          <a:noFill/>
        </p:spPr>
        <p:txBody>
          <a:bodyPr vert="horz" wrap="square" lIns="0" tIns="0" rIns="0" bIns="0" rtlCol="0">
            <a:noAutofit/>
          </a:bodyPr>
          <a:lstStyle/>
          <a:p>
            <a:pPr>
              <a:lnSpc>
                <a:spcPct val="115000"/>
              </a:lnSpc>
            </a:pPr>
            <a:r>
              <a:rPr lang="fr-FR">
                <a:solidFill>
                  <a:srgbClr val="24577A"/>
                </a:solidFill>
                <a:latin typeface="Manrope Medium" pitchFamily="2" charset="0"/>
              </a:rPr>
              <a:t>entreprises</a:t>
            </a:r>
          </a:p>
        </p:txBody>
      </p:sp>
      <p:sp>
        <p:nvSpPr>
          <p:cNvPr id="9" name="ZoneTexte 8">
            <a:extLst>
              <a:ext uri="{FF2B5EF4-FFF2-40B4-BE49-F238E27FC236}">
                <a16:creationId xmlns:a16="http://schemas.microsoft.com/office/drawing/2014/main" id="{E360179E-47B6-2232-7A3B-528F2007E9E6}"/>
              </a:ext>
            </a:extLst>
          </p:cNvPr>
          <p:cNvSpPr txBox="1"/>
          <p:nvPr/>
        </p:nvSpPr>
        <p:spPr>
          <a:xfrm>
            <a:off x="3683000" y="3810000"/>
            <a:ext cx="2413000" cy="369332"/>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chacune identifiée par son SIREN</a:t>
            </a:r>
          </a:p>
        </p:txBody>
      </p:sp>
      <p:sp>
        <p:nvSpPr>
          <p:cNvPr id="10" name="ZoneTexte 9">
            <a:extLst>
              <a:ext uri="{FF2B5EF4-FFF2-40B4-BE49-F238E27FC236}">
                <a16:creationId xmlns:a16="http://schemas.microsoft.com/office/drawing/2014/main" id="{A40F122C-A46E-B3BD-52E3-919D715DEA2C}"/>
              </a:ext>
            </a:extLst>
          </p:cNvPr>
          <p:cNvSpPr txBox="1"/>
          <p:nvPr/>
        </p:nvSpPr>
        <p:spPr>
          <a:xfrm>
            <a:off x="6451600" y="2260600"/>
            <a:ext cx="2540000" cy="369332"/>
          </a:xfrm>
          <a:prstGeom prst="rect">
            <a:avLst/>
          </a:prstGeom>
          <a:noFill/>
        </p:spPr>
        <p:txBody>
          <a:bodyPr vert="horz" wrap="square" lIns="0" tIns="0" rIns="0" bIns="0" rtlCol="0">
            <a:noAutofit/>
          </a:bodyPr>
          <a:lstStyle/>
          <a:p>
            <a:r>
              <a:rPr lang="fr-FR" sz="7600" spc="-200">
                <a:solidFill>
                  <a:srgbClr val="1D1D1F"/>
                </a:solidFill>
                <a:latin typeface="Manrope SemiBold" pitchFamily="2" charset="0"/>
              </a:rPr>
              <a:t>12</a:t>
            </a:r>
          </a:p>
        </p:txBody>
      </p:sp>
      <p:sp>
        <p:nvSpPr>
          <p:cNvPr id="11" name="ZoneTexte 10">
            <a:extLst>
              <a:ext uri="{FF2B5EF4-FFF2-40B4-BE49-F238E27FC236}">
                <a16:creationId xmlns:a16="http://schemas.microsoft.com/office/drawing/2014/main" id="{15213E4B-21D9-749A-8715-2B7B46EA847B}"/>
              </a:ext>
            </a:extLst>
          </p:cNvPr>
          <p:cNvSpPr txBox="1"/>
          <p:nvPr/>
        </p:nvSpPr>
        <p:spPr>
          <a:xfrm>
            <a:off x="6451600" y="3454400"/>
            <a:ext cx="2540000" cy="369332"/>
          </a:xfrm>
          <a:prstGeom prst="rect">
            <a:avLst/>
          </a:prstGeom>
          <a:noFill/>
        </p:spPr>
        <p:txBody>
          <a:bodyPr vert="horz" wrap="square" lIns="0" tIns="0" rIns="0" bIns="0" rtlCol="0">
            <a:noAutofit/>
          </a:bodyPr>
          <a:lstStyle/>
          <a:p>
            <a:pPr>
              <a:lnSpc>
                <a:spcPct val="115000"/>
              </a:lnSpc>
            </a:pPr>
            <a:r>
              <a:rPr lang="fr-FR">
                <a:solidFill>
                  <a:srgbClr val="24577A"/>
                </a:solidFill>
                <a:latin typeface="Manrope Medium" pitchFamily="2" charset="0"/>
              </a:rPr>
              <a:t>villes</a:t>
            </a:r>
          </a:p>
        </p:txBody>
      </p:sp>
      <p:sp>
        <p:nvSpPr>
          <p:cNvPr id="12" name="ZoneTexte 11">
            <a:extLst>
              <a:ext uri="{FF2B5EF4-FFF2-40B4-BE49-F238E27FC236}">
                <a16:creationId xmlns:a16="http://schemas.microsoft.com/office/drawing/2014/main" id="{0C3744CF-3213-206D-C93C-9DED8818B62F}"/>
              </a:ext>
            </a:extLst>
          </p:cNvPr>
          <p:cNvSpPr txBox="1"/>
          <p:nvPr/>
        </p:nvSpPr>
        <p:spPr>
          <a:xfrm>
            <a:off x="6451600" y="3810000"/>
            <a:ext cx="2413000" cy="369332"/>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de Londres à Marseille</a:t>
            </a:r>
          </a:p>
        </p:txBody>
      </p:sp>
      <p:sp>
        <p:nvSpPr>
          <p:cNvPr id="13" name="ZoneTexte 12">
            <a:extLst>
              <a:ext uri="{FF2B5EF4-FFF2-40B4-BE49-F238E27FC236}">
                <a16:creationId xmlns:a16="http://schemas.microsoft.com/office/drawing/2014/main" id="{2DE608DD-C730-6E04-0A97-B4638A6EA06A}"/>
              </a:ext>
            </a:extLst>
          </p:cNvPr>
          <p:cNvSpPr txBox="1"/>
          <p:nvPr/>
        </p:nvSpPr>
        <p:spPr>
          <a:xfrm>
            <a:off x="9220200" y="2260600"/>
            <a:ext cx="2540000" cy="369332"/>
          </a:xfrm>
          <a:prstGeom prst="rect">
            <a:avLst/>
          </a:prstGeom>
          <a:noFill/>
        </p:spPr>
        <p:txBody>
          <a:bodyPr vert="horz" wrap="square" lIns="0" tIns="0" rIns="0" bIns="0" rtlCol="0">
            <a:noAutofit/>
          </a:bodyPr>
          <a:lstStyle/>
          <a:p>
            <a:r>
              <a:rPr lang="fr-FR" sz="7600" spc="-200">
                <a:solidFill>
                  <a:srgbClr val="1D1D1F"/>
                </a:solidFill>
                <a:latin typeface="Manrope SemiBold" pitchFamily="2" charset="0"/>
              </a:rPr>
              <a:t>6</a:t>
            </a:r>
          </a:p>
        </p:txBody>
      </p:sp>
      <p:sp>
        <p:nvSpPr>
          <p:cNvPr id="14" name="ZoneTexte 13">
            <a:extLst>
              <a:ext uri="{FF2B5EF4-FFF2-40B4-BE49-F238E27FC236}">
                <a16:creationId xmlns:a16="http://schemas.microsoft.com/office/drawing/2014/main" id="{36098E9B-106B-606D-DC8A-6F6430B48EFE}"/>
              </a:ext>
            </a:extLst>
          </p:cNvPr>
          <p:cNvSpPr txBox="1"/>
          <p:nvPr/>
        </p:nvSpPr>
        <p:spPr>
          <a:xfrm>
            <a:off x="9220200" y="3454400"/>
            <a:ext cx="2540000" cy="369332"/>
          </a:xfrm>
          <a:prstGeom prst="rect">
            <a:avLst/>
          </a:prstGeom>
          <a:noFill/>
        </p:spPr>
        <p:txBody>
          <a:bodyPr vert="horz" wrap="square" lIns="0" tIns="0" rIns="0" bIns="0" rtlCol="0">
            <a:noAutofit/>
          </a:bodyPr>
          <a:lstStyle/>
          <a:p>
            <a:pPr>
              <a:lnSpc>
                <a:spcPct val="115000"/>
              </a:lnSpc>
            </a:pPr>
            <a:r>
              <a:rPr lang="fr-FR">
                <a:solidFill>
                  <a:srgbClr val="24577A"/>
                </a:solidFill>
                <a:latin typeface="Manrope Medium" pitchFamily="2" charset="0"/>
              </a:rPr>
              <a:t>métiers</a:t>
            </a:r>
          </a:p>
        </p:txBody>
      </p:sp>
      <p:sp>
        <p:nvSpPr>
          <p:cNvPr id="15" name="ZoneTexte 14">
            <a:extLst>
              <a:ext uri="{FF2B5EF4-FFF2-40B4-BE49-F238E27FC236}">
                <a16:creationId xmlns:a16="http://schemas.microsoft.com/office/drawing/2014/main" id="{CC2EBC0F-19B9-38EF-6515-E3EBA273DE62}"/>
              </a:ext>
            </a:extLst>
          </p:cNvPr>
          <p:cNvSpPr txBox="1"/>
          <p:nvPr/>
        </p:nvSpPr>
        <p:spPr>
          <a:xfrm>
            <a:off x="9220200" y="3810000"/>
            <a:ext cx="2413000" cy="369332"/>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du développement au support</a:t>
            </a:r>
          </a:p>
        </p:txBody>
      </p:sp>
      <p:sp>
        <p:nvSpPr>
          <p:cNvPr id="16" name="Rectangle 15">
            <a:extLst>
              <a:ext uri="{FF2B5EF4-FFF2-40B4-BE49-F238E27FC236}">
                <a16:creationId xmlns:a16="http://schemas.microsoft.com/office/drawing/2014/main" id="{1AD1BFFF-F33C-BFA2-214F-7F0E562356C3}"/>
              </a:ext>
            </a:extLst>
          </p:cNvPr>
          <p:cNvSpPr/>
          <p:nvPr/>
        </p:nvSpPr>
        <p:spPr>
          <a:xfrm>
            <a:off x="914400" y="4902200"/>
            <a:ext cx="10363200" cy="9525"/>
          </a:xfrm>
          <a:prstGeom prst="rect">
            <a:avLst/>
          </a:prstGeom>
          <a:solidFill>
            <a:srgbClr val="E2E8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489CA362-85A1-4995-4FA7-141A29C37D0E}"/>
              </a:ext>
            </a:extLst>
          </p:cNvPr>
          <p:cNvSpPr txBox="1"/>
          <p:nvPr/>
        </p:nvSpPr>
        <p:spPr>
          <a:xfrm>
            <a:off x="914400" y="5130800"/>
            <a:ext cx="10363200" cy="369332"/>
          </a:xfrm>
          <a:prstGeom prst="rect">
            <a:avLst/>
          </a:prstGeom>
          <a:noFill/>
        </p:spPr>
        <p:txBody>
          <a:bodyPr vert="horz" wrap="square" lIns="0" tIns="0" rIns="0" bIns="0" rtlCol="0">
            <a:noAutofit/>
          </a:bodyPr>
          <a:lstStyle/>
          <a:p>
            <a:pPr>
              <a:lnSpc>
                <a:spcPct val="115000"/>
              </a:lnSpc>
            </a:pPr>
            <a:r>
              <a:rPr lang="fr-FR" sz="1400">
                <a:solidFill>
                  <a:srgbClr val="5F6B76"/>
                </a:solidFill>
                <a:latin typeface="Manrope" pitchFamily="2" charset="0"/>
              </a:rPr>
              <a:t>Des données rédigées par l'équipe et insérées par la plateforme elle-même : ce que vous verrez en démonstration est ce que verrait un candidat.</a:t>
            </a:r>
          </a:p>
        </p:txBody>
      </p:sp>
    </p:spTree>
    <p:extLst>
      <p:ext uri="{BB962C8B-B14F-4D97-AF65-F5344CB8AC3E}">
        <p14:creationId xmlns:p14="http://schemas.microsoft.com/office/powerpoint/2010/main" val="2109293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7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10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13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13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6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6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animBg="1"/>
      <p:bldP spid="17"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356B9B6F-4C72-83B8-EE5B-05AF7AB70267}"/>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24577A"/>
                </a:solidFill>
                <a:latin typeface="Manrope SemiBold" pitchFamily="2" charset="0"/>
              </a:rPr>
              <a:t>LA CONFIANCE</a:t>
            </a:r>
          </a:p>
        </p:txBody>
      </p:sp>
      <p:sp>
        <p:nvSpPr>
          <p:cNvPr id="3" name="ZoneTexte 2">
            <a:extLst>
              <a:ext uri="{FF2B5EF4-FFF2-40B4-BE49-F238E27FC236}">
                <a16:creationId xmlns:a16="http://schemas.microsoft.com/office/drawing/2014/main" id="{F186848D-71CF-500E-A05A-E9FD6EF9145E}"/>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1D1D1F"/>
                </a:solidFill>
                <a:latin typeface="Manrope SemiBold" pitchFamily="2" charset="0"/>
              </a:rPr>
              <a:t>Vos données, protégées par </a:t>
            </a:r>
            <a:r>
              <a:rPr lang="fr-FR" sz="3600" spc="-50">
                <a:gradFill flip="none" rotWithShape="1">
                  <a:gsLst>
                    <a:gs pos="0">
                      <a:srgbClr val="24577A"/>
                    </a:gs>
                    <a:gs pos="100000">
                      <a:srgbClr val="24577A"/>
                    </a:gs>
                  </a:gsLst>
                  <a:lin ang="0" scaled="1"/>
                  <a:tileRect/>
                </a:gradFill>
                <a:latin typeface="Manrope SemiBold" pitchFamily="2" charset="0"/>
              </a:rPr>
              <a:t>conception</a:t>
            </a:r>
            <a:r>
              <a:rPr lang="fr-FR" sz="3600" spc="-50">
                <a:solidFill>
                  <a:srgbClr val="1D1D1F"/>
                </a:solidFill>
                <a:latin typeface="Manrope SemiBold" pitchFamily="2" charset="0"/>
              </a:rPr>
              <a:t>.</a:t>
            </a:r>
          </a:p>
        </p:txBody>
      </p:sp>
      <p:sp>
        <p:nvSpPr>
          <p:cNvPr id="4" name="Rectangle : coins arrondis 3">
            <a:extLst>
              <a:ext uri="{FF2B5EF4-FFF2-40B4-BE49-F238E27FC236}">
                <a16:creationId xmlns:a16="http://schemas.microsoft.com/office/drawing/2014/main" id="{716B9159-8BCF-37B2-705F-2DD69813AEEC}"/>
              </a:ext>
            </a:extLst>
          </p:cNvPr>
          <p:cNvSpPr/>
          <p:nvPr/>
        </p:nvSpPr>
        <p:spPr>
          <a:xfrm>
            <a:off x="914400" y="2032000"/>
            <a:ext cx="2362200" cy="1625600"/>
          </a:xfrm>
          <a:prstGeom prst="roundRect">
            <a:avLst>
              <a:gd name="adj" fmla="val 9375"/>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7F4AE214-BC8A-8498-F9A6-7D618D03F5E9}"/>
              </a:ext>
            </a:extLst>
          </p:cNvPr>
          <p:cNvSpPr txBox="1"/>
          <p:nvPr/>
        </p:nvSpPr>
        <p:spPr>
          <a:xfrm>
            <a:off x="1143000" y="2235200"/>
            <a:ext cx="508000" cy="369332"/>
          </a:xfrm>
          <a:prstGeom prst="rect">
            <a:avLst/>
          </a:prstGeom>
          <a:noFill/>
        </p:spPr>
        <p:txBody>
          <a:bodyPr vert="horz" wrap="square" lIns="0" tIns="0" rIns="0" bIns="0" rtlCol="0">
            <a:noAutofit/>
          </a:bodyPr>
          <a:lstStyle/>
          <a:p>
            <a:pPr>
              <a:lnSpc>
                <a:spcPct val="115000"/>
              </a:lnSpc>
            </a:pPr>
            <a:r>
              <a:rPr lang="fr-FR" sz="1200">
                <a:solidFill>
                  <a:srgbClr val="24577A"/>
                </a:solidFill>
                <a:latin typeface="Manrope SemiBold" pitchFamily="2" charset="0"/>
              </a:rPr>
              <a:t>01</a:t>
            </a:r>
          </a:p>
        </p:txBody>
      </p:sp>
      <p:sp>
        <p:nvSpPr>
          <p:cNvPr id="6" name="ZoneTexte 5">
            <a:extLst>
              <a:ext uri="{FF2B5EF4-FFF2-40B4-BE49-F238E27FC236}">
                <a16:creationId xmlns:a16="http://schemas.microsoft.com/office/drawing/2014/main" id="{E99CFCE9-6847-6FEC-1393-C387C4A413F9}"/>
              </a:ext>
            </a:extLst>
          </p:cNvPr>
          <p:cNvSpPr txBox="1"/>
          <p:nvPr/>
        </p:nvSpPr>
        <p:spPr>
          <a:xfrm>
            <a:off x="1143000" y="2514600"/>
            <a:ext cx="2032000" cy="369332"/>
          </a:xfrm>
          <a:prstGeom prst="rect">
            <a:avLst/>
          </a:prstGeom>
          <a:noFill/>
        </p:spPr>
        <p:txBody>
          <a:bodyPr vert="horz" wrap="square" lIns="0" tIns="0" rIns="0" bIns="0" rtlCol="0">
            <a:noAutofit/>
          </a:bodyPr>
          <a:lstStyle/>
          <a:p>
            <a:pPr>
              <a:lnSpc>
                <a:spcPct val="115000"/>
              </a:lnSpc>
            </a:pPr>
            <a:r>
              <a:rPr lang="fr-FR" sz="1550">
                <a:solidFill>
                  <a:srgbClr val="1D1D1F"/>
                </a:solidFill>
                <a:latin typeface="Manrope Medium" pitchFamily="2" charset="0"/>
              </a:rPr>
              <a:t>Adresse déjà connue</a:t>
            </a:r>
          </a:p>
        </p:txBody>
      </p:sp>
      <p:sp>
        <p:nvSpPr>
          <p:cNvPr id="7" name="ZoneTexte 6">
            <a:extLst>
              <a:ext uri="{FF2B5EF4-FFF2-40B4-BE49-F238E27FC236}">
                <a16:creationId xmlns:a16="http://schemas.microsoft.com/office/drawing/2014/main" id="{B478C48D-3D63-B84B-C825-1E222AB74FBB}"/>
              </a:ext>
            </a:extLst>
          </p:cNvPr>
          <p:cNvSpPr txBox="1"/>
          <p:nvPr/>
        </p:nvSpPr>
        <p:spPr>
          <a:xfrm>
            <a:off x="1143000" y="2844800"/>
            <a:ext cx="1930400" cy="369332"/>
          </a:xfrm>
          <a:prstGeom prst="rect">
            <a:avLst/>
          </a:prstGeom>
          <a:noFill/>
        </p:spPr>
        <p:txBody>
          <a:bodyPr vert="horz" wrap="square" lIns="0" tIns="0" rIns="0" bIns="0" rtlCol="0">
            <a:noAutofit/>
          </a:bodyPr>
          <a:lstStyle/>
          <a:p>
            <a:pPr>
              <a:lnSpc>
                <a:spcPct val="115000"/>
              </a:lnSpc>
            </a:pPr>
            <a:r>
              <a:rPr lang="fr-FR" sz="1150">
                <a:solidFill>
                  <a:srgbClr val="5F6B76"/>
                </a:solidFill>
                <a:latin typeface="Manrope" pitchFamily="2" charset="0"/>
              </a:rPr>
              <a:t>Le compte attend : rien n'est créé sans vous.</a:t>
            </a:r>
          </a:p>
        </p:txBody>
      </p:sp>
      <p:cxnSp>
        <p:nvCxnSpPr>
          <p:cNvPr id="8" name="Connecteur droit 7">
            <a:extLst>
              <a:ext uri="{FF2B5EF4-FFF2-40B4-BE49-F238E27FC236}">
                <a16:creationId xmlns:a16="http://schemas.microsoft.com/office/drawing/2014/main" id="{AFDA6766-298B-EF45-8035-629DF66CE63A}"/>
              </a:ext>
            </a:extLst>
          </p:cNvPr>
          <p:cNvCxnSpPr/>
          <p:nvPr/>
        </p:nvCxnSpPr>
        <p:spPr>
          <a:xfrm>
            <a:off x="3327400" y="2844800"/>
            <a:ext cx="203200" cy="0"/>
          </a:xfrm>
          <a:prstGeom prst="line">
            <a:avLst/>
          </a:prstGeom>
          <a:ln w="15875">
            <a:solidFill>
              <a:srgbClr val="5F6B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 coins arrondis 8">
            <a:extLst>
              <a:ext uri="{FF2B5EF4-FFF2-40B4-BE49-F238E27FC236}">
                <a16:creationId xmlns:a16="http://schemas.microsoft.com/office/drawing/2014/main" id="{02C777C6-34DC-F2D0-8C21-F4917CEC80CC}"/>
              </a:ext>
            </a:extLst>
          </p:cNvPr>
          <p:cNvSpPr/>
          <p:nvPr/>
        </p:nvSpPr>
        <p:spPr>
          <a:xfrm>
            <a:off x="3581400" y="2032000"/>
            <a:ext cx="2362200" cy="1625600"/>
          </a:xfrm>
          <a:prstGeom prst="roundRect">
            <a:avLst>
              <a:gd name="adj" fmla="val 9375"/>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48314687-8EF9-B870-452C-262223EC24B1}"/>
              </a:ext>
            </a:extLst>
          </p:cNvPr>
          <p:cNvSpPr txBox="1"/>
          <p:nvPr/>
        </p:nvSpPr>
        <p:spPr>
          <a:xfrm>
            <a:off x="3810000" y="2235200"/>
            <a:ext cx="508000" cy="369332"/>
          </a:xfrm>
          <a:prstGeom prst="rect">
            <a:avLst/>
          </a:prstGeom>
          <a:noFill/>
        </p:spPr>
        <p:txBody>
          <a:bodyPr vert="horz" wrap="square" lIns="0" tIns="0" rIns="0" bIns="0" rtlCol="0">
            <a:noAutofit/>
          </a:bodyPr>
          <a:lstStyle/>
          <a:p>
            <a:pPr>
              <a:lnSpc>
                <a:spcPct val="115000"/>
              </a:lnSpc>
            </a:pPr>
            <a:r>
              <a:rPr lang="fr-FR" sz="1200">
                <a:solidFill>
                  <a:srgbClr val="24577A"/>
                </a:solidFill>
                <a:latin typeface="Manrope SemiBold" pitchFamily="2" charset="0"/>
              </a:rPr>
              <a:t>02</a:t>
            </a:r>
          </a:p>
        </p:txBody>
      </p:sp>
      <p:sp>
        <p:nvSpPr>
          <p:cNvPr id="11" name="ZoneTexte 10">
            <a:extLst>
              <a:ext uri="{FF2B5EF4-FFF2-40B4-BE49-F238E27FC236}">
                <a16:creationId xmlns:a16="http://schemas.microsoft.com/office/drawing/2014/main" id="{19C41258-16C1-77D3-EA03-377E3FB62582}"/>
              </a:ext>
            </a:extLst>
          </p:cNvPr>
          <p:cNvSpPr txBox="1"/>
          <p:nvPr/>
        </p:nvSpPr>
        <p:spPr>
          <a:xfrm>
            <a:off x="3810000" y="2514600"/>
            <a:ext cx="2032000" cy="369332"/>
          </a:xfrm>
          <a:prstGeom prst="rect">
            <a:avLst/>
          </a:prstGeom>
          <a:noFill/>
        </p:spPr>
        <p:txBody>
          <a:bodyPr vert="horz" wrap="square" lIns="0" tIns="0" rIns="0" bIns="0" rtlCol="0">
            <a:noAutofit/>
          </a:bodyPr>
          <a:lstStyle/>
          <a:p>
            <a:pPr>
              <a:lnSpc>
                <a:spcPct val="115000"/>
              </a:lnSpc>
            </a:pPr>
            <a:r>
              <a:rPr lang="fr-FR" sz="1550">
                <a:solidFill>
                  <a:srgbClr val="1D1D1F"/>
                </a:solidFill>
                <a:latin typeface="Manrope Medium" pitchFamily="2" charset="0"/>
              </a:rPr>
              <a:t>Lien par e-mail</a:t>
            </a:r>
          </a:p>
        </p:txBody>
      </p:sp>
      <p:sp>
        <p:nvSpPr>
          <p:cNvPr id="12" name="ZoneTexte 11">
            <a:extLst>
              <a:ext uri="{FF2B5EF4-FFF2-40B4-BE49-F238E27FC236}">
                <a16:creationId xmlns:a16="http://schemas.microsoft.com/office/drawing/2014/main" id="{6B99816E-AFC7-C371-E4AE-485E6D3C1E60}"/>
              </a:ext>
            </a:extLst>
          </p:cNvPr>
          <p:cNvSpPr txBox="1"/>
          <p:nvPr/>
        </p:nvSpPr>
        <p:spPr>
          <a:xfrm>
            <a:off x="3810000" y="2844800"/>
            <a:ext cx="1930400" cy="369332"/>
          </a:xfrm>
          <a:prstGeom prst="rect">
            <a:avLst/>
          </a:prstGeom>
          <a:noFill/>
        </p:spPr>
        <p:txBody>
          <a:bodyPr vert="horz" wrap="square" lIns="0" tIns="0" rIns="0" bIns="0" rtlCol="0">
            <a:noAutofit/>
          </a:bodyPr>
          <a:lstStyle/>
          <a:p>
            <a:pPr>
              <a:lnSpc>
                <a:spcPct val="115000"/>
              </a:lnSpc>
            </a:pPr>
            <a:r>
              <a:rPr lang="fr-FR" sz="1150">
                <a:solidFill>
                  <a:srgbClr val="5F6B76"/>
                </a:solidFill>
                <a:latin typeface="Manrope" pitchFamily="2" charset="0"/>
              </a:rPr>
              <a:t>Valable 24 heures, utilisable une seule fois.</a:t>
            </a:r>
          </a:p>
        </p:txBody>
      </p:sp>
      <p:cxnSp>
        <p:nvCxnSpPr>
          <p:cNvPr id="13" name="Connecteur droit 12">
            <a:extLst>
              <a:ext uri="{FF2B5EF4-FFF2-40B4-BE49-F238E27FC236}">
                <a16:creationId xmlns:a16="http://schemas.microsoft.com/office/drawing/2014/main" id="{DAB50CA0-9610-8BB3-CD34-1535A7AA273A}"/>
              </a:ext>
            </a:extLst>
          </p:cNvPr>
          <p:cNvCxnSpPr/>
          <p:nvPr/>
        </p:nvCxnSpPr>
        <p:spPr>
          <a:xfrm>
            <a:off x="5994400" y="2844800"/>
            <a:ext cx="203200" cy="0"/>
          </a:xfrm>
          <a:prstGeom prst="line">
            <a:avLst/>
          </a:prstGeom>
          <a:ln w="15875">
            <a:solidFill>
              <a:srgbClr val="5F6B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ectangle : coins arrondis 13">
            <a:extLst>
              <a:ext uri="{FF2B5EF4-FFF2-40B4-BE49-F238E27FC236}">
                <a16:creationId xmlns:a16="http://schemas.microsoft.com/office/drawing/2014/main" id="{B6B79028-E2C9-2D2C-7DAD-70FE540A0BA6}"/>
              </a:ext>
            </a:extLst>
          </p:cNvPr>
          <p:cNvSpPr/>
          <p:nvPr/>
        </p:nvSpPr>
        <p:spPr>
          <a:xfrm>
            <a:off x="6248400" y="2032000"/>
            <a:ext cx="2362200" cy="1625600"/>
          </a:xfrm>
          <a:prstGeom prst="roundRect">
            <a:avLst>
              <a:gd name="adj" fmla="val 9375"/>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ZoneTexte 14">
            <a:extLst>
              <a:ext uri="{FF2B5EF4-FFF2-40B4-BE49-F238E27FC236}">
                <a16:creationId xmlns:a16="http://schemas.microsoft.com/office/drawing/2014/main" id="{AAD90980-D898-D487-C4EB-A4EDD4ECDBEE}"/>
              </a:ext>
            </a:extLst>
          </p:cNvPr>
          <p:cNvSpPr txBox="1"/>
          <p:nvPr/>
        </p:nvSpPr>
        <p:spPr>
          <a:xfrm>
            <a:off x="6477000" y="2235200"/>
            <a:ext cx="508000" cy="369332"/>
          </a:xfrm>
          <a:prstGeom prst="rect">
            <a:avLst/>
          </a:prstGeom>
          <a:noFill/>
        </p:spPr>
        <p:txBody>
          <a:bodyPr vert="horz" wrap="square" lIns="0" tIns="0" rIns="0" bIns="0" rtlCol="0">
            <a:noAutofit/>
          </a:bodyPr>
          <a:lstStyle/>
          <a:p>
            <a:pPr>
              <a:lnSpc>
                <a:spcPct val="115000"/>
              </a:lnSpc>
            </a:pPr>
            <a:r>
              <a:rPr lang="fr-FR" sz="1200">
                <a:solidFill>
                  <a:srgbClr val="24577A"/>
                </a:solidFill>
                <a:latin typeface="Manrope SemiBold" pitchFamily="2" charset="0"/>
              </a:rPr>
              <a:t>03</a:t>
            </a:r>
          </a:p>
        </p:txBody>
      </p:sp>
      <p:sp>
        <p:nvSpPr>
          <p:cNvPr id="16" name="ZoneTexte 15">
            <a:extLst>
              <a:ext uri="{FF2B5EF4-FFF2-40B4-BE49-F238E27FC236}">
                <a16:creationId xmlns:a16="http://schemas.microsoft.com/office/drawing/2014/main" id="{6C0112EF-1542-6853-19FF-1F1F158A7BAA}"/>
              </a:ext>
            </a:extLst>
          </p:cNvPr>
          <p:cNvSpPr txBox="1"/>
          <p:nvPr/>
        </p:nvSpPr>
        <p:spPr>
          <a:xfrm>
            <a:off x="6477000" y="2514600"/>
            <a:ext cx="2032000" cy="369332"/>
          </a:xfrm>
          <a:prstGeom prst="rect">
            <a:avLst/>
          </a:prstGeom>
          <a:noFill/>
        </p:spPr>
        <p:txBody>
          <a:bodyPr vert="horz" wrap="square" lIns="0" tIns="0" rIns="0" bIns="0" rtlCol="0">
            <a:noAutofit/>
          </a:bodyPr>
          <a:lstStyle/>
          <a:p>
            <a:pPr>
              <a:lnSpc>
                <a:spcPct val="115000"/>
              </a:lnSpc>
            </a:pPr>
            <a:r>
              <a:rPr lang="fr-FR" sz="1550">
                <a:solidFill>
                  <a:srgbClr val="1D1D1F"/>
                </a:solidFill>
                <a:latin typeface="Manrope Medium" pitchFamily="2" charset="0"/>
              </a:rPr>
              <a:t>Adresse confirmée</a:t>
            </a:r>
          </a:p>
        </p:txBody>
      </p:sp>
      <p:sp>
        <p:nvSpPr>
          <p:cNvPr id="17" name="ZoneTexte 16">
            <a:extLst>
              <a:ext uri="{FF2B5EF4-FFF2-40B4-BE49-F238E27FC236}">
                <a16:creationId xmlns:a16="http://schemas.microsoft.com/office/drawing/2014/main" id="{17301CF8-C5D4-5F65-A3CA-63B0623E107B}"/>
              </a:ext>
            </a:extLst>
          </p:cNvPr>
          <p:cNvSpPr txBox="1"/>
          <p:nvPr/>
        </p:nvSpPr>
        <p:spPr>
          <a:xfrm>
            <a:off x="6477000" y="2844800"/>
            <a:ext cx="1930400" cy="369332"/>
          </a:xfrm>
          <a:prstGeom prst="rect">
            <a:avLst/>
          </a:prstGeom>
          <a:noFill/>
        </p:spPr>
        <p:txBody>
          <a:bodyPr vert="horz" wrap="square" lIns="0" tIns="0" rIns="0" bIns="0" rtlCol="0">
            <a:noAutofit/>
          </a:bodyPr>
          <a:lstStyle/>
          <a:p>
            <a:pPr>
              <a:lnSpc>
                <a:spcPct val="115000"/>
              </a:lnSpc>
            </a:pPr>
            <a:r>
              <a:rPr lang="fr-FR" sz="1150">
                <a:solidFill>
                  <a:srgbClr val="5F6B76"/>
                </a:solidFill>
                <a:latin typeface="Manrope" pitchFamily="2" charset="0"/>
              </a:rPr>
              <a:t>Seul le propriétaire de la boîte mail ouvre le compte.</a:t>
            </a:r>
          </a:p>
        </p:txBody>
      </p:sp>
      <p:cxnSp>
        <p:nvCxnSpPr>
          <p:cNvPr id="18" name="Connecteur droit 17">
            <a:extLst>
              <a:ext uri="{FF2B5EF4-FFF2-40B4-BE49-F238E27FC236}">
                <a16:creationId xmlns:a16="http://schemas.microsoft.com/office/drawing/2014/main" id="{B8E5F6FA-99D0-C2DE-3D59-1A56D9E7522E}"/>
              </a:ext>
            </a:extLst>
          </p:cNvPr>
          <p:cNvCxnSpPr/>
          <p:nvPr/>
        </p:nvCxnSpPr>
        <p:spPr>
          <a:xfrm>
            <a:off x="8661400" y="2844800"/>
            <a:ext cx="203200" cy="0"/>
          </a:xfrm>
          <a:prstGeom prst="line">
            <a:avLst/>
          </a:prstGeom>
          <a:ln w="15875">
            <a:solidFill>
              <a:srgbClr val="5F6B7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 coins arrondis 18">
            <a:extLst>
              <a:ext uri="{FF2B5EF4-FFF2-40B4-BE49-F238E27FC236}">
                <a16:creationId xmlns:a16="http://schemas.microsoft.com/office/drawing/2014/main" id="{C9AF8F1F-FCCD-B995-2E84-7BB60DD34A44}"/>
              </a:ext>
            </a:extLst>
          </p:cNvPr>
          <p:cNvSpPr/>
          <p:nvPr/>
        </p:nvSpPr>
        <p:spPr>
          <a:xfrm>
            <a:off x="8915400" y="2032000"/>
            <a:ext cx="2362200" cy="1625600"/>
          </a:xfrm>
          <a:prstGeom prst="roundRect">
            <a:avLst>
              <a:gd name="adj" fmla="val 9375"/>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ZoneTexte 19">
            <a:extLst>
              <a:ext uri="{FF2B5EF4-FFF2-40B4-BE49-F238E27FC236}">
                <a16:creationId xmlns:a16="http://schemas.microsoft.com/office/drawing/2014/main" id="{18996304-1907-9EFC-5A93-D2401E467A96}"/>
              </a:ext>
            </a:extLst>
          </p:cNvPr>
          <p:cNvSpPr txBox="1"/>
          <p:nvPr/>
        </p:nvSpPr>
        <p:spPr>
          <a:xfrm>
            <a:off x="9144000" y="2235200"/>
            <a:ext cx="508000" cy="369332"/>
          </a:xfrm>
          <a:prstGeom prst="rect">
            <a:avLst/>
          </a:prstGeom>
          <a:noFill/>
        </p:spPr>
        <p:txBody>
          <a:bodyPr vert="horz" wrap="square" lIns="0" tIns="0" rIns="0" bIns="0" rtlCol="0">
            <a:noAutofit/>
          </a:bodyPr>
          <a:lstStyle/>
          <a:p>
            <a:pPr>
              <a:lnSpc>
                <a:spcPct val="115000"/>
              </a:lnSpc>
            </a:pPr>
            <a:r>
              <a:rPr lang="fr-FR" sz="1200">
                <a:solidFill>
                  <a:srgbClr val="24577A"/>
                </a:solidFill>
                <a:latin typeface="Manrope SemiBold" pitchFamily="2" charset="0"/>
              </a:rPr>
              <a:t>04</a:t>
            </a:r>
          </a:p>
        </p:txBody>
      </p:sp>
      <p:sp>
        <p:nvSpPr>
          <p:cNvPr id="21" name="ZoneTexte 20">
            <a:extLst>
              <a:ext uri="{FF2B5EF4-FFF2-40B4-BE49-F238E27FC236}">
                <a16:creationId xmlns:a16="http://schemas.microsoft.com/office/drawing/2014/main" id="{1F762A33-407D-8FBB-43FA-ED42262A802B}"/>
              </a:ext>
            </a:extLst>
          </p:cNvPr>
          <p:cNvSpPr txBox="1"/>
          <p:nvPr/>
        </p:nvSpPr>
        <p:spPr>
          <a:xfrm>
            <a:off x="9144000" y="2514600"/>
            <a:ext cx="2032000" cy="369332"/>
          </a:xfrm>
          <a:prstGeom prst="rect">
            <a:avLst/>
          </a:prstGeom>
          <a:noFill/>
        </p:spPr>
        <p:txBody>
          <a:bodyPr vert="horz" wrap="square" lIns="0" tIns="0" rIns="0" bIns="0" rtlCol="0">
            <a:noAutofit/>
          </a:bodyPr>
          <a:lstStyle/>
          <a:p>
            <a:pPr>
              <a:lnSpc>
                <a:spcPct val="115000"/>
              </a:lnSpc>
            </a:pPr>
            <a:r>
              <a:rPr lang="fr-FR" sz="1550">
                <a:solidFill>
                  <a:srgbClr val="1D1D1F"/>
                </a:solidFill>
                <a:latin typeface="Manrope Medium" pitchFamily="2" charset="0"/>
              </a:rPr>
              <a:t>Connexion</a:t>
            </a:r>
          </a:p>
        </p:txBody>
      </p:sp>
      <p:sp>
        <p:nvSpPr>
          <p:cNvPr id="22" name="ZoneTexte 21">
            <a:extLst>
              <a:ext uri="{FF2B5EF4-FFF2-40B4-BE49-F238E27FC236}">
                <a16:creationId xmlns:a16="http://schemas.microsoft.com/office/drawing/2014/main" id="{105F713E-8E25-A9E9-4601-80877CC5B703}"/>
              </a:ext>
            </a:extLst>
          </p:cNvPr>
          <p:cNvSpPr txBox="1"/>
          <p:nvPr/>
        </p:nvSpPr>
        <p:spPr>
          <a:xfrm>
            <a:off x="9144000" y="2844800"/>
            <a:ext cx="1930400" cy="369332"/>
          </a:xfrm>
          <a:prstGeom prst="rect">
            <a:avLst/>
          </a:prstGeom>
          <a:noFill/>
        </p:spPr>
        <p:txBody>
          <a:bodyPr vert="horz" wrap="square" lIns="0" tIns="0" rIns="0" bIns="0" rtlCol="0">
            <a:noAutofit/>
          </a:bodyPr>
          <a:lstStyle/>
          <a:p>
            <a:pPr>
              <a:lnSpc>
                <a:spcPct val="115000"/>
              </a:lnSpc>
            </a:pPr>
            <a:r>
              <a:rPr lang="fr-FR" sz="1150">
                <a:solidFill>
                  <a:srgbClr val="5F6B76"/>
                </a:solidFill>
                <a:latin typeface="Manrope" pitchFamily="2" charset="0"/>
              </a:rPr>
              <a:t>Une session sûre, invisible aux scripts.</a:t>
            </a:r>
          </a:p>
        </p:txBody>
      </p:sp>
      <p:sp>
        <p:nvSpPr>
          <p:cNvPr id="23" name="Rectangle 22">
            <a:extLst>
              <a:ext uri="{FF2B5EF4-FFF2-40B4-BE49-F238E27FC236}">
                <a16:creationId xmlns:a16="http://schemas.microsoft.com/office/drawing/2014/main" id="{ADC9E8B4-6310-61C2-F19B-81BDB17B2AFD}"/>
              </a:ext>
            </a:extLst>
          </p:cNvPr>
          <p:cNvSpPr/>
          <p:nvPr/>
        </p:nvSpPr>
        <p:spPr>
          <a:xfrm>
            <a:off x="914400" y="4191000"/>
            <a:ext cx="38100" cy="68580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2013B04E-9F4E-B41F-347B-85CD4FF4BF0D}"/>
              </a:ext>
            </a:extLst>
          </p:cNvPr>
          <p:cNvSpPr txBox="1"/>
          <p:nvPr/>
        </p:nvSpPr>
        <p:spPr>
          <a:xfrm>
            <a:off x="1117600" y="4165600"/>
            <a:ext cx="2413000" cy="369332"/>
          </a:xfrm>
          <a:prstGeom prst="rect">
            <a:avLst/>
          </a:prstGeom>
          <a:noFill/>
        </p:spPr>
        <p:txBody>
          <a:bodyPr vert="horz" wrap="square" lIns="0" tIns="0" rIns="0" bIns="0" rtlCol="0">
            <a:noAutofit/>
          </a:bodyPr>
          <a:lstStyle/>
          <a:p>
            <a:pPr>
              <a:lnSpc>
                <a:spcPct val="105000"/>
              </a:lnSpc>
            </a:pPr>
            <a:r>
              <a:rPr lang="fr-FR" sz="1500">
                <a:solidFill>
                  <a:srgbClr val="1D1D1F"/>
                </a:solidFill>
                <a:latin typeface="Manrope Medium" pitchFamily="2" charset="0"/>
              </a:rPr>
              <a:t>Mots de passe hachés</a:t>
            </a:r>
          </a:p>
        </p:txBody>
      </p:sp>
      <p:sp>
        <p:nvSpPr>
          <p:cNvPr id="25" name="ZoneTexte 24">
            <a:extLst>
              <a:ext uri="{FF2B5EF4-FFF2-40B4-BE49-F238E27FC236}">
                <a16:creationId xmlns:a16="http://schemas.microsoft.com/office/drawing/2014/main" id="{42ACFA26-B0AD-5218-B5ED-813EC5A07918}"/>
              </a:ext>
            </a:extLst>
          </p:cNvPr>
          <p:cNvSpPr txBox="1"/>
          <p:nvPr/>
        </p:nvSpPr>
        <p:spPr>
          <a:xfrm>
            <a:off x="1117600" y="4775200"/>
            <a:ext cx="2413000" cy="369332"/>
          </a:xfrm>
          <a:prstGeom prst="rect">
            <a:avLst/>
          </a:prstGeom>
          <a:noFill/>
        </p:spPr>
        <p:txBody>
          <a:bodyPr vert="horz" wrap="square" lIns="0" tIns="0" rIns="0" bIns="0" rtlCol="0">
            <a:noAutofit/>
          </a:bodyPr>
          <a:lstStyle/>
          <a:p>
            <a:pPr>
              <a:lnSpc>
                <a:spcPct val="115000"/>
              </a:lnSpc>
            </a:pPr>
            <a:r>
              <a:rPr lang="fr-FR" sz="1200">
                <a:solidFill>
                  <a:srgbClr val="5F6B76"/>
                </a:solidFill>
                <a:latin typeface="Manrope" pitchFamily="2" charset="0"/>
              </a:rPr>
              <a:t>Illisibles, même pour nous.</a:t>
            </a:r>
          </a:p>
        </p:txBody>
      </p:sp>
      <p:sp>
        <p:nvSpPr>
          <p:cNvPr id="26" name="Rectangle 25">
            <a:extLst>
              <a:ext uri="{FF2B5EF4-FFF2-40B4-BE49-F238E27FC236}">
                <a16:creationId xmlns:a16="http://schemas.microsoft.com/office/drawing/2014/main" id="{7BF8C5FE-C0CD-9C79-8141-D168636DDCC4}"/>
              </a:ext>
            </a:extLst>
          </p:cNvPr>
          <p:cNvSpPr/>
          <p:nvPr/>
        </p:nvSpPr>
        <p:spPr>
          <a:xfrm>
            <a:off x="3581400" y="4191000"/>
            <a:ext cx="38100" cy="68580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ZoneTexte 26">
            <a:extLst>
              <a:ext uri="{FF2B5EF4-FFF2-40B4-BE49-F238E27FC236}">
                <a16:creationId xmlns:a16="http://schemas.microsoft.com/office/drawing/2014/main" id="{AE558CB2-0220-70AD-2B4E-6D3D04E38E40}"/>
              </a:ext>
            </a:extLst>
          </p:cNvPr>
          <p:cNvSpPr txBox="1"/>
          <p:nvPr/>
        </p:nvSpPr>
        <p:spPr>
          <a:xfrm>
            <a:off x="3784600" y="4165600"/>
            <a:ext cx="2413000" cy="369332"/>
          </a:xfrm>
          <a:prstGeom prst="rect">
            <a:avLst/>
          </a:prstGeom>
          <a:noFill/>
        </p:spPr>
        <p:txBody>
          <a:bodyPr vert="horz" wrap="square" lIns="0" tIns="0" rIns="0" bIns="0" rtlCol="0">
            <a:noAutofit/>
          </a:bodyPr>
          <a:lstStyle/>
          <a:p>
            <a:pPr>
              <a:lnSpc>
                <a:spcPct val="105000"/>
              </a:lnSpc>
            </a:pPr>
            <a:r>
              <a:rPr lang="fr-FR" sz="1500">
                <a:solidFill>
                  <a:srgbClr val="1D1D1F"/>
                </a:solidFill>
                <a:latin typeface="Manrope Medium" pitchFamily="2" charset="0"/>
              </a:rPr>
              <a:t>Cinq essais, puis pause</a:t>
            </a:r>
          </a:p>
        </p:txBody>
      </p:sp>
      <p:sp>
        <p:nvSpPr>
          <p:cNvPr id="28" name="ZoneTexte 27">
            <a:extLst>
              <a:ext uri="{FF2B5EF4-FFF2-40B4-BE49-F238E27FC236}">
                <a16:creationId xmlns:a16="http://schemas.microsoft.com/office/drawing/2014/main" id="{EACDC883-770F-E659-153F-BDEAD1A0B517}"/>
              </a:ext>
            </a:extLst>
          </p:cNvPr>
          <p:cNvSpPr txBox="1"/>
          <p:nvPr/>
        </p:nvSpPr>
        <p:spPr>
          <a:xfrm>
            <a:off x="3784600" y="4775200"/>
            <a:ext cx="2413000" cy="369332"/>
          </a:xfrm>
          <a:prstGeom prst="rect">
            <a:avLst/>
          </a:prstGeom>
          <a:noFill/>
        </p:spPr>
        <p:txBody>
          <a:bodyPr vert="horz" wrap="square" lIns="0" tIns="0" rIns="0" bIns="0" rtlCol="0">
            <a:noAutofit/>
          </a:bodyPr>
          <a:lstStyle/>
          <a:p>
            <a:pPr>
              <a:lnSpc>
                <a:spcPct val="115000"/>
              </a:lnSpc>
            </a:pPr>
            <a:r>
              <a:rPr lang="fr-FR" sz="1200">
                <a:solidFill>
                  <a:srgbClr val="5F6B76"/>
                </a:solidFill>
                <a:latin typeface="Manrope" pitchFamily="2" charset="0"/>
              </a:rPr>
              <a:t>Les tentatives en rafale sont bloquées.</a:t>
            </a:r>
          </a:p>
        </p:txBody>
      </p:sp>
      <p:sp>
        <p:nvSpPr>
          <p:cNvPr id="29" name="Rectangle 28">
            <a:extLst>
              <a:ext uri="{FF2B5EF4-FFF2-40B4-BE49-F238E27FC236}">
                <a16:creationId xmlns:a16="http://schemas.microsoft.com/office/drawing/2014/main" id="{44D6A524-8BB1-2D43-12F9-E22018486DA0}"/>
              </a:ext>
            </a:extLst>
          </p:cNvPr>
          <p:cNvSpPr/>
          <p:nvPr/>
        </p:nvSpPr>
        <p:spPr>
          <a:xfrm>
            <a:off x="6248400" y="4191000"/>
            <a:ext cx="38100" cy="68580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ZoneTexte 29">
            <a:extLst>
              <a:ext uri="{FF2B5EF4-FFF2-40B4-BE49-F238E27FC236}">
                <a16:creationId xmlns:a16="http://schemas.microsoft.com/office/drawing/2014/main" id="{CCACCDCD-9059-383C-5965-17A4206725F6}"/>
              </a:ext>
            </a:extLst>
          </p:cNvPr>
          <p:cNvSpPr txBox="1"/>
          <p:nvPr/>
        </p:nvSpPr>
        <p:spPr>
          <a:xfrm>
            <a:off x="6451600" y="4165600"/>
            <a:ext cx="2413000" cy="369332"/>
          </a:xfrm>
          <a:prstGeom prst="rect">
            <a:avLst/>
          </a:prstGeom>
          <a:noFill/>
        </p:spPr>
        <p:txBody>
          <a:bodyPr vert="horz" wrap="square" lIns="0" tIns="0" rIns="0" bIns="0" rtlCol="0">
            <a:noAutofit/>
          </a:bodyPr>
          <a:lstStyle/>
          <a:p>
            <a:pPr>
              <a:lnSpc>
                <a:spcPct val="105000"/>
              </a:lnSpc>
            </a:pPr>
            <a:r>
              <a:rPr lang="fr-FR" sz="1500">
                <a:solidFill>
                  <a:srgbClr val="1D1D1F"/>
                </a:solidFill>
                <a:latin typeface="Manrope Medium" pitchFamily="2" charset="0"/>
              </a:rPr>
              <a:t>Aucun secret en clair</a:t>
            </a:r>
          </a:p>
        </p:txBody>
      </p:sp>
      <p:sp>
        <p:nvSpPr>
          <p:cNvPr id="31" name="ZoneTexte 30">
            <a:extLst>
              <a:ext uri="{FF2B5EF4-FFF2-40B4-BE49-F238E27FC236}">
                <a16:creationId xmlns:a16="http://schemas.microsoft.com/office/drawing/2014/main" id="{84A98D7A-6D9F-301F-7F38-577907842555}"/>
              </a:ext>
            </a:extLst>
          </p:cNvPr>
          <p:cNvSpPr txBox="1"/>
          <p:nvPr/>
        </p:nvSpPr>
        <p:spPr>
          <a:xfrm>
            <a:off x="6451600" y="4775200"/>
            <a:ext cx="2413000" cy="369332"/>
          </a:xfrm>
          <a:prstGeom prst="rect">
            <a:avLst/>
          </a:prstGeom>
          <a:noFill/>
        </p:spPr>
        <p:txBody>
          <a:bodyPr vert="horz" wrap="square" lIns="0" tIns="0" rIns="0" bIns="0" rtlCol="0">
            <a:noAutofit/>
          </a:bodyPr>
          <a:lstStyle/>
          <a:p>
            <a:pPr>
              <a:lnSpc>
                <a:spcPct val="115000"/>
              </a:lnSpc>
            </a:pPr>
            <a:r>
              <a:rPr lang="fr-FR" sz="1200">
                <a:solidFill>
                  <a:srgbClr val="5F6B76"/>
                </a:solidFill>
                <a:latin typeface="Manrope" pitchFamily="2" charset="0"/>
              </a:rPr>
              <a:t>Les clés vivent hors du dépôt.</a:t>
            </a:r>
          </a:p>
        </p:txBody>
      </p:sp>
      <p:sp>
        <p:nvSpPr>
          <p:cNvPr id="32" name="Rectangle 31">
            <a:extLst>
              <a:ext uri="{FF2B5EF4-FFF2-40B4-BE49-F238E27FC236}">
                <a16:creationId xmlns:a16="http://schemas.microsoft.com/office/drawing/2014/main" id="{800864E0-70F7-DC99-BDC0-3AC13245F404}"/>
              </a:ext>
            </a:extLst>
          </p:cNvPr>
          <p:cNvSpPr/>
          <p:nvPr/>
        </p:nvSpPr>
        <p:spPr>
          <a:xfrm>
            <a:off x="8915400" y="4191000"/>
            <a:ext cx="38100" cy="68580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ZoneTexte 32">
            <a:extLst>
              <a:ext uri="{FF2B5EF4-FFF2-40B4-BE49-F238E27FC236}">
                <a16:creationId xmlns:a16="http://schemas.microsoft.com/office/drawing/2014/main" id="{9233C10A-C3B6-3980-0734-561E703C319D}"/>
              </a:ext>
            </a:extLst>
          </p:cNvPr>
          <p:cNvSpPr txBox="1"/>
          <p:nvPr/>
        </p:nvSpPr>
        <p:spPr>
          <a:xfrm>
            <a:off x="9118600" y="4165600"/>
            <a:ext cx="2413000" cy="369332"/>
          </a:xfrm>
          <a:prstGeom prst="rect">
            <a:avLst/>
          </a:prstGeom>
          <a:noFill/>
        </p:spPr>
        <p:txBody>
          <a:bodyPr vert="horz" wrap="square" lIns="0" tIns="0" rIns="0" bIns="0" rtlCol="0">
            <a:noAutofit/>
          </a:bodyPr>
          <a:lstStyle/>
          <a:p>
            <a:pPr>
              <a:lnSpc>
                <a:spcPct val="105000"/>
              </a:lnSpc>
            </a:pPr>
            <a:r>
              <a:rPr lang="fr-FR" sz="1500">
                <a:solidFill>
                  <a:srgbClr val="1D1D1F"/>
                </a:solidFill>
                <a:latin typeface="Manrope Medium" pitchFamily="2" charset="0"/>
              </a:rPr>
              <a:t>Jamais au nom d'un autre</a:t>
            </a:r>
          </a:p>
        </p:txBody>
      </p:sp>
      <p:sp>
        <p:nvSpPr>
          <p:cNvPr id="34" name="ZoneTexte 33">
            <a:extLst>
              <a:ext uri="{FF2B5EF4-FFF2-40B4-BE49-F238E27FC236}">
                <a16:creationId xmlns:a16="http://schemas.microsoft.com/office/drawing/2014/main" id="{F8D4F0C3-B9C5-E257-1DAA-D344BD783961}"/>
              </a:ext>
            </a:extLst>
          </p:cNvPr>
          <p:cNvSpPr txBox="1"/>
          <p:nvPr/>
        </p:nvSpPr>
        <p:spPr>
          <a:xfrm>
            <a:off x="9118600" y="4775200"/>
            <a:ext cx="2413000" cy="369332"/>
          </a:xfrm>
          <a:prstGeom prst="rect">
            <a:avLst/>
          </a:prstGeom>
          <a:noFill/>
        </p:spPr>
        <p:txBody>
          <a:bodyPr vert="horz" wrap="square" lIns="0" tIns="0" rIns="0" bIns="0" rtlCol="0">
            <a:noAutofit/>
          </a:bodyPr>
          <a:lstStyle/>
          <a:p>
            <a:pPr>
              <a:lnSpc>
                <a:spcPct val="115000"/>
              </a:lnSpc>
            </a:pPr>
            <a:r>
              <a:rPr lang="fr-FR" sz="1200">
                <a:solidFill>
                  <a:srgbClr val="5F6B76"/>
                </a:solidFill>
                <a:latin typeface="Manrope" pitchFamily="2" charset="0"/>
              </a:rPr>
              <a:t>Une adresse déjà connue exige la connexion.</a:t>
            </a:r>
          </a:p>
        </p:txBody>
      </p:sp>
    </p:spTree>
    <p:extLst>
      <p:ext uri="{BB962C8B-B14F-4D97-AF65-F5344CB8AC3E}">
        <p14:creationId xmlns:p14="http://schemas.microsoft.com/office/powerpoint/2010/main" val="26194442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37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37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37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37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nodeType="withEffect">
                                  <p:stCondLst>
                                    <p:cond delay="37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59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59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59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5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nodeType="withEffect">
                                  <p:stCondLst>
                                    <p:cond delay="5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81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8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8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81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nodeType="withEffect">
                                  <p:stCondLst>
                                    <p:cond delay="81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103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103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103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10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12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12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12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147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par>
                                <p:cTn id="80" presetID="10" presetClass="entr" presetSubtype="0" fill="hold" grpId="0" nodeType="withEffect">
                                  <p:stCondLst>
                                    <p:cond delay="147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par>
                                <p:cTn id="83" presetID="10" presetClass="entr" presetSubtype="0" fill="hold" grpId="0" nodeType="withEffect">
                                  <p:stCondLst>
                                    <p:cond delay="147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500"/>
                                        <p:tgtEl>
                                          <p:spTgt spid="28"/>
                                        </p:tgtEl>
                                      </p:cBhvr>
                                    </p:animEffect>
                                  </p:childTnLst>
                                </p:cTn>
                              </p:par>
                              <p:par>
                                <p:cTn id="86" presetID="10" presetClass="entr" presetSubtype="0" fill="hold" grpId="0" nodeType="withEffect">
                                  <p:stCondLst>
                                    <p:cond delay="169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par>
                                <p:cTn id="89" presetID="10" presetClass="entr" presetSubtype="0" fill="hold" grpId="0" nodeType="withEffect">
                                  <p:stCondLst>
                                    <p:cond delay="169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500"/>
                                        <p:tgtEl>
                                          <p:spTgt spid="30"/>
                                        </p:tgtEl>
                                      </p:cBhvr>
                                    </p:animEffect>
                                  </p:childTnLst>
                                </p:cTn>
                              </p:par>
                              <p:par>
                                <p:cTn id="92" presetID="10" presetClass="entr" presetSubtype="0" fill="hold" grpId="0" nodeType="withEffect">
                                  <p:stCondLst>
                                    <p:cond delay="169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500"/>
                                        <p:tgtEl>
                                          <p:spTgt spid="31"/>
                                        </p:tgtEl>
                                      </p:cBhvr>
                                    </p:animEffect>
                                  </p:childTnLst>
                                </p:cTn>
                              </p:par>
                              <p:par>
                                <p:cTn id="95" presetID="10" presetClass="entr" presetSubtype="0" fill="hold" grpId="0" nodeType="withEffect">
                                  <p:stCondLst>
                                    <p:cond delay="1910"/>
                                  </p:stCondLst>
                                  <p:childTnLst>
                                    <p:set>
                                      <p:cBhvr>
                                        <p:cTn id="96" dur="1" fill="hold">
                                          <p:stCondLst>
                                            <p:cond delay="0"/>
                                          </p:stCondLst>
                                        </p:cTn>
                                        <p:tgtEl>
                                          <p:spTgt spid="32"/>
                                        </p:tgtEl>
                                        <p:attrNameLst>
                                          <p:attrName>style.visibility</p:attrName>
                                        </p:attrNameLst>
                                      </p:cBhvr>
                                      <p:to>
                                        <p:strVal val="visible"/>
                                      </p:to>
                                    </p:set>
                                    <p:animEffect transition="in" filter="fade">
                                      <p:cBhvr>
                                        <p:cTn id="97" dur="500"/>
                                        <p:tgtEl>
                                          <p:spTgt spid="32"/>
                                        </p:tgtEl>
                                      </p:cBhvr>
                                    </p:animEffect>
                                  </p:childTnLst>
                                </p:cTn>
                              </p:par>
                              <p:par>
                                <p:cTn id="98" presetID="10" presetClass="entr" presetSubtype="0" fill="hold" grpId="0" nodeType="withEffect">
                                  <p:stCondLst>
                                    <p:cond delay="191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0" dur="500"/>
                                        <p:tgtEl>
                                          <p:spTgt spid="33"/>
                                        </p:tgtEl>
                                      </p:cBhvr>
                                    </p:animEffect>
                                  </p:childTnLst>
                                </p:cTn>
                              </p:par>
                              <p:par>
                                <p:cTn id="101" presetID="10" presetClass="entr" presetSubtype="0" fill="hold" grpId="0" nodeType="withEffect">
                                  <p:stCondLst>
                                    <p:cond delay="191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3"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p:bldP spid="9" grpId="0" animBg="1"/>
      <p:bldP spid="10" grpId="0"/>
      <p:bldP spid="11" grpId="0"/>
      <p:bldP spid="12" grpId="0"/>
      <p:bldP spid="14" grpId="0" animBg="1"/>
      <p:bldP spid="15" grpId="0"/>
      <p:bldP spid="16" grpId="0"/>
      <p:bldP spid="17" grpId="0"/>
      <p:bldP spid="19" grpId="0" animBg="1"/>
      <p:bldP spid="20" grpId="0"/>
      <p:bldP spid="21" grpId="0"/>
      <p:bldP spid="22" grpId="0"/>
      <p:bldP spid="23" grpId="0" animBg="1"/>
      <p:bldP spid="24" grpId="0"/>
      <p:bldP spid="25" grpId="0"/>
      <p:bldP spid="26" grpId="0" animBg="1"/>
      <p:bldP spid="27" grpId="0"/>
      <p:bldP spid="28" grpId="0"/>
      <p:bldP spid="29" grpId="0" animBg="1"/>
      <p:bldP spid="30" grpId="0"/>
      <p:bldP spid="31" grpId="0"/>
      <p:bldP spid="32" grpId="0" animBg="1"/>
      <p:bldP spid="33" grpId="0"/>
      <p:bldP spid="3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 name="ZoneTexte 1"/>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24577A"/>
                </a:solidFill>
                <a:latin typeface="Manrope SemiBold" pitchFamily="2" charset="0"/>
              </a:rPr>
              <a:t>LA STACK</a:t>
            </a:r>
          </a:p>
        </p:txBody>
      </p:sp>
      <p:sp>
        <p:nvSpPr>
          <p:cNvPr id="3" name="ZoneTexte 2"/>
          <p:cNvSpPr txBox="1"/>
          <p:nvPr/>
        </p:nvSpPr>
        <p:spPr>
          <a:xfrm>
            <a:off x="914400" y="990600"/>
            <a:ext cx="10363200" cy="369332"/>
          </a:xfrm>
          <a:prstGeom prst="rect">
            <a:avLst/>
          </a:prstGeom>
          <a:noFill/>
        </p:spPr>
        <p:txBody>
          <a:bodyPr vert="horz" wrap="square" lIns="0" tIns="0" rIns="0" bIns="0" rtlCol="0">
            <a:noAutofit/>
          </a:bodyPr>
          <a:lstStyle/>
          <a:p>
            <a:pPr>
              <a:lnSpc>
                <a:spcPct val="115000"/>
              </a:lnSpc>
            </a:pPr>
            <a:r>
              <a:rPr lang="fr-FR" sz="3200" spc="-50">
                <a:solidFill>
                  <a:srgbClr val="1D1D1F"/>
                </a:solidFill>
                <a:latin typeface="Manrope SemiBold" pitchFamily="2" charset="0"/>
              </a:rPr>
              <a:t>Trois outils éprouvés, choisis pour une </a:t>
            </a:r>
            <a:r>
              <a:rPr lang="fr-FR" sz="3200" spc="-50">
                <a:solidFill>
                  <a:srgbClr val="24577A"/>
                </a:solidFill>
                <a:latin typeface="Manrope SemiBold" pitchFamily="2" charset="0"/>
              </a:rPr>
              <a:t>raison</a:t>
            </a:r>
            <a:r>
              <a:rPr lang="fr-FR" sz="3200" spc="-50">
                <a:solidFill>
                  <a:srgbClr val="1D1D1F"/>
                </a:solidFill>
                <a:latin typeface="Manrope SemiBold" pitchFamily="2" charset="0"/>
              </a:rPr>
              <a:t>.</a:t>
            </a:r>
          </a:p>
        </p:txBody>
      </p:sp>
      <p:sp>
        <p:nvSpPr>
          <p:cNvPr id="4" name="Rectangle 3"/>
          <p:cNvSpPr/>
          <p:nvPr/>
        </p:nvSpPr>
        <p:spPr>
          <a:xfrm>
            <a:off x="914400" y="2032000"/>
            <a:ext cx="3200400" cy="2743200"/>
          </a:xfrm>
          <a:prstGeom prst="roundRect">
            <a:avLst>
              <a:gd name="adj" fmla="val 8000"/>
            </a:avLst>
          </a:prstGeom>
          <a:solidFill>
            <a:srgbClr val="FFFFFF"/>
          </a:solidFill>
          <a:ln w="9525">
            <a:solidFill>
              <a:srgbClr val="E2E8ED"/>
            </a:solidFill>
          </a:ln>
        </p:spPr>
        <p:txBody>
          <a:bodyPr rtlCol="0" anchor="ctr"/>
          <a:lstStyle/>
          <a:p>
            <a:pPr algn="ctr"/>
            <a:endParaRPr lang="fr-FR"/>
          </a:p>
        </p:txBody>
      </p:sp>
      <p:sp>
        <p:nvSpPr>
          <p:cNvPr id="5" name="ZoneTexte 4"/>
          <p:cNvSpPr txBox="1"/>
          <p:nvPr/>
        </p:nvSpPr>
        <p:spPr>
          <a:xfrm>
            <a:off x="1219200" y="2286000"/>
            <a:ext cx="2590800" cy="369332"/>
          </a:xfrm>
          <a:prstGeom prst="rect">
            <a:avLst/>
          </a:prstGeom>
          <a:noFill/>
        </p:spPr>
        <p:txBody>
          <a:bodyPr vert="horz" wrap="square" lIns="0" tIns="0" rIns="0" bIns="0" rtlCol="0">
            <a:noAutofit/>
          </a:bodyPr>
          <a:lstStyle/>
          <a:p>
            <a:pPr>
              <a:lnSpc>
                <a:spcPct val="115000"/>
              </a:lnSpc>
            </a:pPr>
            <a:r>
              <a:rPr lang="fr-FR" sz="1000" spc="220">
                <a:solidFill>
                  <a:srgbClr val="24577A"/>
                </a:solidFill>
                <a:latin typeface="Manrope SemiBold" pitchFamily="2" charset="0"/>
              </a:rPr>
              <a:t>INTERFACE</a:t>
            </a:r>
          </a:p>
        </p:txBody>
      </p:sp>
      <p:sp>
        <p:nvSpPr>
          <p:cNvPr id="6" name="ZoneTexte 5"/>
          <p:cNvSpPr txBox="1"/>
          <p:nvPr/>
        </p:nvSpPr>
        <p:spPr>
          <a:xfrm>
            <a:off x="1219200" y="2565400"/>
            <a:ext cx="2590800" cy="381000"/>
          </a:xfrm>
          <a:prstGeom prst="rect">
            <a:avLst/>
          </a:prstGeom>
          <a:noFill/>
        </p:spPr>
        <p:txBody>
          <a:bodyPr vert="horz" wrap="square" lIns="0" tIns="0" rIns="0" bIns="0" rtlCol="0">
            <a:noAutofit/>
          </a:bodyPr>
          <a:lstStyle/>
          <a:p>
            <a:pPr>
              <a:lnSpc>
                <a:spcPct val="115000"/>
              </a:lnSpc>
            </a:pPr>
            <a:r>
              <a:rPr lang="fr-FR" sz="2400">
                <a:solidFill>
                  <a:srgbClr val="1D1D1F"/>
                </a:solidFill>
                <a:latin typeface="Manrope SemiBold" pitchFamily="2" charset="0"/>
              </a:rPr>
              <a:t>React + Vite</a:t>
            </a:r>
          </a:p>
        </p:txBody>
      </p:sp>
      <p:sp>
        <p:nvSpPr>
          <p:cNvPr id="7" name="ZoneTexte 6"/>
          <p:cNvSpPr txBox="1"/>
          <p:nvPr/>
        </p:nvSpPr>
        <p:spPr>
          <a:xfrm>
            <a:off x="1219200" y="3048000"/>
            <a:ext cx="2590800" cy="1473200"/>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React 19 et Vite 8. Des composants réutilisables, une seule page qui ne recharge jamais, un outillage à jour.</a:t>
            </a:r>
          </a:p>
          <a:p>
            <a:pPr>
              <a:lnSpc>
                <a:spcPct val="115000"/>
              </a:lnSpc>
            </a:pPr>
            <a:r>
              <a:rPr lang="fr-FR" sz="1150">
                <a:solidFill>
                  <a:srgbClr val="24577A"/>
                </a:solidFill>
                <a:latin typeface="Manrope Medium" pitchFamily="2" charset="0"/>
              </a:rPr>
              <a:t>Écartés : Vue, Create React App (abandonné en 2025).</a:t>
            </a:r>
          </a:p>
        </p:txBody>
      </p:sp>
      <p:sp>
        <p:nvSpPr>
          <p:cNvPr id="8" name="Rectangle 7"/>
          <p:cNvSpPr/>
          <p:nvPr/>
        </p:nvSpPr>
        <p:spPr>
          <a:xfrm>
            <a:off x="4495800" y="2032000"/>
            <a:ext cx="3200400" cy="2743200"/>
          </a:xfrm>
          <a:prstGeom prst="roundRect">
            <a:avLst>
              <a:gd name="adj" fmla="val 8000"/>
            </a:avLst>
          </a:prstGeom>
          <a:solidFill>
            <a:srgbClr val="FFFFFF"/>
          </a:solidFill>
          <a:ln w="9525">
            <a:solidFill>
              <a:srgbClr val="E2E8ED"/>
            </a:solidFill>
          </a:ln>
        </p:spPr>
        <p:txBody>
          <a:bodyPr rtlCol="0" anchor="ctr"/>
          <a:lstStyle/>
          <a:p>
            <a:pPr algn="ctr"/>
            <a:endParaRPr lang="fr-FR"/>
          </a:p>
        </p:txBody>
      </p:sp>
      <p:sp>
        <p:nvSpPr>
          <p:cNvPr id="9" name="ZoneTexte 8"/>
          <p:cNvSpPr txBox="1"/>
          <p:nvPr/>
        </p:nvSpPr>
        <p:spPr>
          <a:xfrm>
            <a:off x="4800600" y="2286000"/>
            <a:ext cx="2590800" cy="369332"/>
          </a:xfrm>
          <a:prstGeom prst="rect">
            <a:avLst/>
          </a:prstGeom>
          <a:noFill/>
        </p:spPr>
        <p:txBody>
          <a:bodyPr vert="horz" wrap="square" lIns="0" tIns="0" rIns="0" bIns="0" rtlCol="0">
            <a:noAutofit/>
          </a:bodyPr>
          <a:lstStyle/>
          <a:p>
            <a:pPr>
              <a:lnSpc>
                <a:spcPct val="115000"/>
              </a:lnSpc>
            </a:pPr>
            <a:r>
              <a:rPr lang="fr-FR" sz="1000" spc="220">
                <a:solidFill>
                  <a:srgbClr val="24577A"/>
                </a:solidFill>
                <a:latin typeface="Manrope SemiBold" pitchFamily="2" charset="0"/>
              </a:rPr>
              <a:t>SERVEUR</a:t>
            </a:r>
          </a:p>
        </p:txBody>
      </p:sp>
      <p:sp>
        <p:nvSpPr>
          <p:cNvPr id="10" name="ZoneTexte 9"/>
          <p:cNvSpPr txBox="1"/>
          <p:nvPr/>
        </p:nvSpPr>
        <p:spPr>
          <a:xfrm>
            <a:off x="4800600" y="2565400"/>
            <a:ext cx="2590800" cy="381000"/>
          </a:xfrm>
          <a:prstGeom prst="rect">
            <a:avLst/>
          </a:prstGeom>
          <a:noFill/>
        </p:spPr>
        <p:txBody>
          <a:bodyPr vert="horz" wrap="square" lIns="0" tIns="0" rIns="0" bIns="0" rtlCol="0">
            <a:noAutofit/>
          </a:bodyPr>
          <a:lstStyle/>
          <a:p>
            <a:pPr>
              <a:lnSpc>
                <a:spcPct val="115000"/>
              </a:lnSpc>
            </a:pPr>
            <a:r>
              <a:rPr lang="fr-FR" sz="2400">
                <a:solidFill>
                  <a:srgbClr val="1D1D1F"/>
                </a:solidFill>
                <a:latin typeface="Manrope SemiBold" pitchFamily="2" charset="0"/>
              </a:rPr>
              <a:t>Flask</a:t>
            </a:r>
          </a:p>
        </p:txBody>
      </p:sp>
      <p:sp>
        <p:nvSpPr>
          <p:cNvPr id="11" name="ZoneTexte 10"/>
          <p:cNvSpPr txBox="1"/>
          <p:nvPr/>
        </p:nvSpPr>
        <p:spPr>
          <a:xfrm>
            <a:off x="4800600" y="3048000"/>
            <a:ext cx="2590800" cy="1473200"/>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Python 3 et Flask 3.1. Léger et lisible : une route, une fonction. Cinq modules sous /api, un contrat écrit avant le code.</a:t>
            </a:r>
          </a:p>
          <a:p>
            <a:pPr>
              <a:lnSpc>
                <a:spcPct val="115000"/>
              </a:lnSpc>
            </a:pPr>
            <a:r>
              <a:rPr lang="fr-FR" sz="1150">
                <a:solidFill>
                  <a:srgbClr val="24577A"/>
                </a:solidFill>
                <a:latin typeface="Manrope Medium" pitchFamily="2" charset="0"/>
              </a:rPr>
              <a:t>Écartés : Django (trop de briques inutiles pour une API JSON), FastAPI, Express.</a:t>
            </a:r>
          </a:p>
        </p:txBody>
      </p:sp>
      <p:sp>
        <p:nvSpPr>
          <p:cNvPr id="12" name="Rectangle 11"/>
          <p:cNvSpPr/>
          <p:nvPr/>
        </p:nvSpPr>
        <p:spPr>
          <a:xfrm>
            <a:off x="8077200" y="2032000"/>
            <a:ext cx="3200400" cy="2743200"/>
          </a:xfrm>
          <a:prstGeom prst="roundRect">
            <a:avLst>
              <a:gd name="adj" fmla="val 8000"/>
            </a:avLst>
          </a:prstGeom>
          <a:solidFill>
            <a:srgbClr val="FFFFFF"/>
          </a:solidFill>
          <a:ln w="9525">
            <a:solidFill>
              <a:srgbClr val="E2E8ED"/>
            </a:solidFill>
          </a:ln>
        </p:spPr>
        <p:txBody>
          <a:bodyPr rtlCol="0" anchor="ctr"/>
          <a:lstStyle/>
          <a:p>
            <a:pPr algn="ctr"/>
            <a:endParaRPr lang="fr-FR"/>
          </a:p>
        </p:txBody>
      </p:sp>
      <p:sp>
        <p:nvSpPr>
          <p:cNvPr id="13" name="ZoneTexte 12"/>
          <p:cNvSpPr txBox="1"/>
          <p:nvPr/>
        </p:nvSpPr>
        <p:spPr>
          <a:xfrm>
            <a:off x="8382000" y="2286000"/>
            <a:ext cx="2590800" cy="369332"/>
          </a:xfrm>
          <a:prstGeom prst="rect">
            <a:avLst/>
          </a:prstGeom>
          <a:noFill/>
        </p:spPr>
        <p:txBody>
          <a:bodyPr vert="horz" wrap="square" lIns="0" tIns="0" rIns="0" bIns="0" rtlCol="0">
            <a:noAutofit/>
          </a:bodyPr>
          <a:lstStyle/>
          <a:p>
            <a:pPr>
              <a:lnSpc>
                <a:spcPct val="115000"/>
              </a:lnSpc>
            </a:pPr>
            <a:r>
              <a:rPr lang="fr-FR" sz="1000" spc="220">
                <a:solidFill>
                  <a:srgbClr val="24577A"/>
                </a:solidFill>
                <a:latin typeface="Manrope SemiBold" pitchFamily="2" charset="0"/>
              </a:rPr>
              <a:t>DONNÉES</a:t>
            </a:r>
          </a:p>
        </p:txBody>
      </p:sp>
      <p:sp>
        <p:nvSpPr>
          <p:cNvPr id="14" name="ZoneTexte 13"/>
          <p:cNvSpPr txBox="1"/>
          <p:nvPr/>
        </p:nvSpPr>
        <p:spPr>
          <a:xfrm>
            <a:off x="8382000" y="2565400"/>
            <a:ext cx="2590800" cy="381000"/>
          </a:xfrm>
          <a:prstGeom prst="rect">
            <a:avLst/>
          </a:prstGeom>
          <a:noFill/>
        </p:spPr>
        <p:txBody>
          <a:bodyPr vert="horz" wrap="square" lIns="0" tIns="0" rIns="0" bIns="0" rtlCol="0">
            <a:noAutofit/>
          </a:bodyPr>
          <a:lstStyle/>
          <a:p>
            <a:pPr>
              <a:lnSpc>
                <a:spcPct val="115000"/>
              </a:lnSpc>
            </a:pPr>
            <a:r>
              <a:rPr lang="fr-FR" sz="2400">
                <a:solidFill>
                  <a:srgbClr val="1D1D1F"/>
                </a:solidFill>
                <a:latin typeface="Manrope SemiBold" pitchFamily="2" charset="0"/>
              </a:rPr>
              <a:t>SQLite</a:t>
            </a:r>
          </a:p>
        </p:txBody>
      </p:sp>
      <p:sp>
        <p:nvSpPr>
          <p:cNvPr id="15" name="ZoneTexte 14"/>
          <p:cNvSpPr txBox="1"/>
          <p:nvPr/>
        </p:nvSpPr>
        <p:spPr>
          <a:xfrm>
            <a:off x="8382000" y="3048000"/>
            <a:ext cx="2590800" cy="1473200"/>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Un fichier, aucune installation, clés étrangères actives, SQL paramétré. Limite connue : un seul écrivain à la fois ; un moteur client-serveur prendrait le relais si la charge grandit.</a:t>
            </a:r>
          </a:p>
          <a:p>
            <a:pPr>
              <a:lnSpc>
                <a:spcPct val="115000"/>
              </a:lnSpc>
            </a:pPr>
            <a:r>
              <a:rPr lang="fr-FR" sz="1150">
                <a:solidFill>
                  <a:srgbClr val="24577A"/>
                </a:solidFill>
                <a:latin typeface="Manrope Medium" pitchFamily="2" charset="0"/>
              </a:rPr>
              <a:t>Écartés : PostgreSQL, MySQL.</a:t>
            </a:r>
          </a:p>
        </p:txBody>
      </p:sp>
      <p:sp>
        <p:nvSpPr>
          <p:cNvPr id="16" name="Rectangle 15"/>
          <p:cNvSpPr/>
          <p:nvPr/>
        </p:nvSpPr>
        <p:spPr>
          <a:xfrm>
            <a:off x="914400" y="5080000"/>
            <a:ext cx="10363200" cy="1270000"/>
          </a:xfrm>
          <a:prstGeom prst="roundRect">
            <a:avLst>
              <a:gd name="adj" fmla="val 10714"/>
            </a:avLst>
          </a:prstGeom>
          <a:solidFill>
            <a:srgbClr val="F0F5F8"/>
          </a:solidFill>
          <a:ln>
            <a:noFill/>
          </a:ln>
        </p:spPr>
        <p:txBody>
          <a:bodyPr rtlCol="0" anchor="ctr"/>
          <a:lstStyle/>
          <a:p>
            <a:pPr algn="ctr"/>
            <a:endParaRPr lang="fr-FR"/>
          </a:p>
        </p:txBody>
      </p:sp>
      <p:sp>
        <p:nvSpPr>
          <p:cNvPr id="17" name="Rectangle 16"/>
          <p:cNvSpPr/>
          <p:nvPr/>
        </p:nvSpPr>
        <p:spPr>
          <a:xfrm>
            <a:off x="914400" y="5080000"/>
            <a:ext cx="50800" cy="1270000"/>
          </a:xfrm>
          <a:prstGeom prst="rect">
            <a:avLst/>
          </a:prstGeom>
          <a:solidFill>
            <a:srgbClr val="24577A"/>
          </a:solidFill>
          <a:ln>
            <a:noFill/>
          </a:ln>
        </p:spPr>
        <p:txBody>
          <a:bodyPr rtlCol="0" anchor="ctr"/>
          <a:lstStyle/>
          <a:p>
            <a:pPr algn="ctr"/>
            <a:endParaRPr lang="fr-FR"/>
          </a:p>
        </p:txBody>
      </p:sp>
      <p:sp>
        <p:nvSpPr>
          <p:cNvPr id="18" name="ZoneTexte 17"/>
          <p:cNvSpPr txBox="1"/>
          <p:nvPr/>
        </p:nvSpPr>
        <p:spPr>
          <a:xfrm>
            <a:off x="1270000" y="5308600"/>
            <a:ext cx="8890000" cy="369332"/>
          </a:xfrm>
          <a:prstGeom prst="rect">
            <a:avLst/>
          </a:prstGeom>
          <a:noFill/>
        </p:spPr>
        <p:txBody>
          <a:bodyPr vert="horz" wrap="square" lIns="0" tIns="0" rIns="0" bIns="0" rtlCol="0">
            <a:noAutofit/>
          </a:bodyPr>
          <a:lstStyle/>
          <a:p>
            <a:pPr>
              <a:lnSpc>
                <a:spcPct val="115000"/>
              </a:lnSpc>
            </a:pPr>
            <a:r>
              <a:rPr lang="fr-FR" sz="1800">
                <a:solidFill>
                  <a:srgbClr val="1D1D1F"/>
                </a:solidFill>
                <a:latin typeface="Manrope Medium" pitchFamily="2" charset="0"/>
              </a:rPr>
              <a:t>Chaque choix est écrit noir sur blanc.</a:t>
            </a:r>
          </a:p>
        </p:txBody>
      </p:sp>
      <p:sp>
        <p:nvSpPr>
          <p:cNvPr id="19" name="ZoneTexte 18"/>
          <p:cNvSpPr txBox="1"/>
          <p:nvPr/>
        </p:nvSpPr>
        <p:spPr>
          <a:xfrm>
            <a:off x="1270000" y="5715000"/>
            <a:ext cx="9652000" cy="570000"/>
          </a:xfrm>
          <a:prstGeom prst="rect">
            <a:avLst/>
          </a:prstGeom>
          <a:noFill/>
        </p:spPr>
        <p:txBody>
          <a:bodyPr vert="horz" wrap="square" lIns="0" tIns="0" rIns="0" bIns="0" rtlCol="0">
            <a:noAutofit/>
          </a:bodyPr>
          <a:lstStyle/>
          <a:p>
            <a:pPr>
              <a:lnSpc>
                <a:spcPct val="115000"/>
              </a:lnSpc>
            </a:pPr>
            <a:r>
              <a:rPr lang="fr-FR" sz="1350">
                <a:solidFill>
                  <a:srgbClr val="5F6B76"/>
                </a:solidFill>
                <a:latin typeface="Manrope" pitchFamily="2" charset="0"/>
              </a:rPr>
              <a:t>Trois documents dans le dépôt, un par domaine, avec les alternatives étudiées et leurs sources : interface, données et métier, comptes et sécurité.</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8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8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8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8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8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8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8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8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8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8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8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8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8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8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8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8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p:bldP spid="8" grpId="0" animBg="1"/>
      <p:bldP spid="9" grpId="0"/>
      <p:bldP spid="10" grpId="0"/>
      <p:bldP spid="11" grpId="0"/>
      <p:bldP spid="12" grpId="0" animBg="1"/>
      <p:bldP spid="13" grpId="0"/>
      <p:bldP spid="14" grpId="0"/>
      <p:bldP spid="15" grpId="0"/>
      <p:bldP spid="16" grpId="0" animBg="1"/>
      <p:bldP spid="17" grpId="0" animBg="1"/>
      <p:bldP spid="18" grpId="0"/>
      <p:bldP spid="19"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 name="ZoneTexte 1"/>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24577A"/>
                </a:solidFill>
                <a:latin typeface="Manrope SemiBold" pitchFamily="2" charset="0"/>
              </a:rPr>
              <a:t>L'ARCHITECTURE</a:t>
            </a:r>
          </a:p>
        </p:txBody>
      </p:sp>
      <p:sp>
        <p:nvSpPr>
          <p:cNvPr id="3" name="ZoneTexte 2"/>
          <p:cNvSpPr txBox="1"/>
          <p:nvPr/>
        </p:nvSpPr>
        <p:spPr>
          <a:xfrm>
            <a:off x="914400" y="990600"/>
            <a:ext cx="10363200" cy="369332"/>
          </a:xfrm>
          <a:prstGeom prst="rect">
            <a:avLst/>
          </a:prstGeom>
          <a:noFill/>
        </p:spPr>
        <p:txBody>
          <a:bodyPr vert="horz" wrap="square" lIns="0" tIns="0" rIns="0" bIns="0" rtlCol="0">
            <a:noAutofit/>
          </a:bodyPr>
          <a:lstStyle/>
          <a:p>
            <a:pPr>
              <a:lnSpc>
                <a:spcPct val="115000"/>
              </a:lnSpc>
            </a:pPr>
            <a:r>
              <a:rPr lang="fr-FR" sz="3200" spc="-50">
                <a:solidFill>
                  <a:srgbClr val="1D1D1F"/>
                </a:solidFill>
                <a:latin typeface="Manrope SemiBold" pitchFamily="2" charset="0"/>
              </a:rPr>
              <a:t>Trois couches, un seul </a:t>
            </a:r>
            <a:r>
              <a:rPr lang="fr-FR" sz="3200" spc="-50">
                <a:solidFill>
                  <a:srgbClr val="24577A"/>
                </a:solidFill>
                <a:latin typeface="Manrope SemiBold" pitchFamily="2" charset="0"/>
              </a:rPr>
              <a:t>contrat</a:t>
            </a:r>
            <a:r>
              <a:rPr lang="fr-FR" sz="3200" spc="-50">
                <a:solidFill>
                  <a:srgbClr val="1D1D1F"/>
                </a:solidFill>
                <a:latin typeface="Manrope SemiBold" pitchFamily="2" charset="0"/>
              </a:rPr>
              <a:t>.</a:t>
            </a:r>
          </a:p>
        </p:txBody>
      </p:sp>
      <p:sp>
        <p:nvSpPr>
          <p:cNvPr id="4" name="Rectangle 3"/>
          <p:cNvSpPr/>
          <p:nvPr/>
        </p:nvSpPr>
        <p:spPr>
          <a:xfrm>
            <a:off x="914400" y="2032000"/>
            <a:ext cx="3200400" cy="2311400"/>
          </a:xfrm>
          <a:prstGeom prst="roundRect">
            <a:avLst>
              <a:gd name="adj" fmla="val 8000"/>
            </a:avLst>
          </a:prstGeom>
          <a:solidFill>
            <a:srgbClr val="FFFFFF"/>
          </a:solidFill>
          <a:ln w="9525">
            <a:solidFill>
              <a:srgbClr val="E2E8ED"/>
            </a:solidFill>
          </a:ln>
        </p:spPr>
        <p:txBody>
          <a:bodyPr rtlCol="0" anchor="ctr"/>
          <a:lstStyle/>
          <a:p>
            <a:pPr algn="ctr"/>
            <a:endParaRPr lang="fr-FR"/>
          </a:p>
        </p:txBody>
      </p:sp>
      <p:sp>
        <p:nvSpPr>
          <p:cNvPr id="5" name="ZoneTexte 4"/>
          <p:cNvSpPr txBox="1"/>
          <p:nvPr/>
        </p:nvSpPr>
        <p:spPr>
          <a:xfrm>
            <a:off x="1219200" y="2286000"/>
            <a:ext cx="2590800" cy="369332"/>
          </a:xfrm>
          <a:prstGeom prst="rect">
            <a:avLst/>
          </a:prstGeom>
          <a:noFill/>
        </p:spPr>
        <p:txBody>
          <a:bodyPr vert="horz" wrap="square" lIns="0" tIns="0" rIns="0" bIns="0" rtlCol="0">
            <a:noAutofit/>
          </a:bodyPr>
          <a:lstStyle/>
          <a:p>
            <a:pPr>
              <a:lnSpc>
                <a:spcPct val="115000"/>
              </a:lnSpc>
            </a:pPr>
            <a:r>
              <a:rPr lang="fr-FR" sz="1000" spc="220">
                <a:solidFill>
                  <a:srgbClr val="24577A"/>
                </a:solidFill>
                <a:latin typeface="Manrope SemiBold" pitchFamily="2" charset="0"/>
              </a:rPr>
              <a:t>NAVIGATEUR</a:t>
            </a:r>
          </a:p>
        </p:txBody>
      </p:sp>
      <p:sp>
        <p:nvSpPr>
          <p:cNvPr id="6" name="ZoneTexte 5"/>
          <p:cNvSpPr txBox="1"/>
          <p:nvPr/>
        </p:nvSpPr>
        <p:spPr>
          <a:xfrm>
            <a:off x="1219200" y="2565400"/>
            <a:ext cx="2590800" cy="381000"/>
          </a:xfrm>
          <a:prstGeom prst="rect">
            <a:avLst/>
          </a:prstGeom>
          <a:noFill/>
        </p:spPr>
        <p:txBody>
          <a:bodyPr vert="horz" wrap="square" lIns="0" tIns="0" rIns="0" bIns="0" rtlCol="0">
            <a:noAutofit/>
          </a:bodyPr>
          <a:lstStyle/>
          <a:p>
            <a:pPr>
              <a:lnSpc>
                <a:spcPct val="115000"/>
              </a:lnSpc>
            </a:pPr>
            <a:r>
              <a:rPr lang="fr-FR" sz="2400">
                <a:solidFill>
                  <a:srgbClr val="1D1D1F"/>
                </a:solidFill>
                <a:latin typeface="Manrope SemiBold" pitchFamily="2" charset="0"/>
              </a:rPr>
              <a:t>React</a:t>
            </a:r>
          </a:p>
        </p:txBody>
      </p:sp>
      <p:sp>
        <p:nvSpPr>
          <p:cNvPr id="7" name="ZoneTexte 6"/>
          <p:cNvSpPr txBox="1"/>
          <p:nvPr/>
        </p:nvSpPr>
        <p:spPr>
          <a:xfrm>
            <a:off x="1219200" y="3048000"/>
            <a:ext cx="2590800" cy="1041400"/>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Une page par écran, React Router pour naviguer sans recharger. Chaque écran appelle l'API avec fetch, cookie de session joint.</a:t>
            </a:r>
          </a:p>
        </p:txBody>
      </p:sp>
      <p:cxnSp>
        <p:nvCxnSpPr>
          <p:cNvPr id="8" name="Connecteur droit 7"/>
          <p:cNvCxnSpPr/>
          <p:nvPr/>
        </p:nvCxnSpPr>
        <p:spPr>
          <a:xfrm>
            <a:off x="4165600" y="3187700"/>
            <a:ext cx="279400" cy="0"/>
          </a:xfrm>
          <a:prstGeom prst="line">
            <a:avLst/>
          </a:prstGeom>
          <a:ln w="15875">
            <a:solidFill>
              <a:srgbClr val="5F6B76"/>
            </a:solidFill>
            <a:tailEnd type="triangle" w="med" len="med"/>
          </a:ln>
        </p:spPr>
      </p:cxnSp>
      <p:sp>
        <p:nvSpPr>
          <p:cNvPr id="9" name="Rectangle 8"/>
          <p:cNvSpPr/>
          <p:nvPr/>
        </p:nvSpPr>
        <p:spPr>
          <a:xfrm>
            <a:off x="4495800" y="2032000"/>
            <a:ext cx="3200400" cy="2311400"/>
          </a:xfrm>
          <a:prstGeom prst="roundRect">
            <a:avLst>
              <a:gd name="adj" fmla="val 8000"/>
            </a:avLst>
          </a:prstGeom>
          <a:solidFill>
            <a:srgbClr val="FFFFFF"/>
          </a:solidFill>
          <a:ln w="9525">
            <a:solidFill>
              <a:srgbClr val="E2E8ED"/>
            </a:solidFill>
          </a:ln>
        </p:spPr>
        <p:txBody>
          <a:bodyPr rtlCol="0" anchor="ctr"/>
          <a:lstStyle/>
          <a:p>
            <a:pPr algn="ctr"/>
            <a:endParaRPr lang="fr-FR"/>
          </a:p>
        </p:txBody>
      </p:sp>
      <p:sp>
        <p:nvSpPr>
          <p:cNvPr id="10" name="ZoneTexte 9"/>
          <p:cNvSpPr txBox="1"/>
          <p:nvPr/>
        </p:nvSpPr>
        <p:spPr>
          <a:xfrm>
            <a:off x="4800600" y="2286000"/>
            <a:ext cx="2590800" cy="369332"/>
          </a:xfrm>
          <a:prstGeom prst="rect">
            <a:avLst/>
          </a:prstGeom>
          <a:noFill/>
        </p:spPr>
        <p:txBody>
          <a:bodyPr vert="horz" wrap="square" lIns="0" tIns="0" rIns="0" bIns="0" rtlCol="0">
            <a:noAutofit/>
          </a:bodyPr>
          <a:lstStyle/>
          <a:p>
            <a:pPr>
              <a:lnSpc>
                <a:spcPct val="115000"/>
              </a:lnSpc>
            </a:pPr>
            <a:r>
              <a:rPr lang="fr-FR" sz="1000" spc="220">
                <a:solidFill>
                  <a:srgbClr val="24577A"/>
                </a:solidFill>
                <a:latin typeface="Manrope SemiBold" pitchFamily="2" charset="0"/>
              </a:rPr>
              <a:t>API</a:t>
            </a:r>
          </a:p>
        </p:txBody>
      </p:sp>
      <p:sp>
        <p:nvSpPr>
          <p:cNvPr id="11" name="ZoneTexte 10"/>
          <p:cNvSpPr txBox="1"/>
          <p:nvPr/>
        </p:nvSpPr>
        <p:spPr>
          <a:xfrm>
            <a:off x="4800600" y="2565400"/>
            <a:ext cx="2590800" cy="381000"/>
          </a:xfrm>
          <a:prstGeom prst="rect">
            <a:avLst/>
          </a:prstGeom>
          <a:noFill/>
        </p:spPr>
        <p:txBody>
          <a:bodyPr vert="horz" wrap="square" lIns="0" tIns="0" rIns="0" bIns="0" rtlCol="0">
            <a:noAutofit/>
          </a:bodyPr>
          <a:lstStyle/>
          <a:p>
            <a:pPr>
              <a:lnSpc>
                <a:spcPct val="115000"/>
              </a:lnSpc>
            </a:pPr>
            <a:r>
              <a:rPr lang="fr-FR" sz="2400">
                <a:solidFill>
                  <a:srgbClr val="1D1D1F"/>
                </a:solidFill>
                <a:latin typeface="Manrope SemiBold" pitchFamily="2" charset="0"/>
              </a:rPr>
              <a:t>Flask</a:t>
            </a:r>
          </a:p>
        </p:txBody>
      </p:sp>
      <p:sp>
        <p:nvSpPr>
          <p:cNvPr id="12" name="ZoneTexte 11"/>
          <p:cNvSpPr txBox="1"/>
          <p:nvPr/>
        </p:nvSpPr>
        <p:spPr>
          <a:xfrm>
            <a:off x="4800600" y="3048000"/>
            <a:ext cx="2590800" cy="1041400"/>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34 routes JSON sous /api, en cinq modules : annonces, comptes, vérification, recruteur, administration. Chaque réponse a son code et son message.</a:t>
            </a:r>
          </a:p>
        </p:txBody>
      </p:sp>
      <p:cxnSp>
        <p:nvCxnSpPr>
          <p:cNvPr id="13" name="Connecteur droit 12"/>
          <p:cNvCxnSpPr/>
          <p:nvPr/>
        </p:nvCxnSpPr>
        <p:spPr>
          <a:xfrm>
            <a:off x="7747000" y="3187700"/>
            <a:ext cx="279400" cy="0"/>
          </a:xfrm>
          <a:prstGeom prst="line">
            <a:avLst/>
          </a:prstGeom>
          <a:ln w="15875">
            <a:solidFill>
              <a:srgbClr val="5F6B76"/>
            </a:solidFill>
            <a:tailEnd type="triangle" w="med" len="med"/>
          </a:ln>
        </p:spPr>
      </p:cxnSp>
      <p:sp>
        <p:nvSpPr>
          <p:cNvPr id="14" name="Rectangle 13"/>
          <p:cNvSpPr/>
          <p:nvPr/>
        </p:nvSpPr>
        <p:spPr>
          <a:xfrm>
            <a:off x="8077200" y="2032000"/>
            <a:ext cx="3200400" cy="2311400"/>
          </a:xfrm>
          <a:prstGeom prst="roundRect">
            <a:avLst>
              <a:gd name="adj" fmla="val 8000"/>
            </a:avLst>
          </a:prstGeom>
          <a:solidFill>
            <a:srgbClr val="FFFFFF"/>
          </a:solidFill>
          <a:ln w="9525">
            <a:solidFill>
              <a:srgbClr val="E2E8ED"/>
            </a:solidFill>
          </a:ln>
        </p:spPr>
        <p:txBody>
          <a:bodyPr rtlCol="0" anchor="ctr"/>
          <a:lstStyle/>
          <a:p>
            <a:pPr algn="ctr"/>
            <a:endParaRPr lang="fr-FR"/>
          </a:p>
        </p:txBody>
      </p:sp>
      <p:sp>
        <p:nvSpPr>
          <p:cNvPr id="15" name="ZoneTexte 14"/>
          <p:cNvSpPr txBox="1"/>
          <p:nvPr/>
        </p:nvSpPr>
        <p:spPr>
          <a:xfrm>
            <a:off x="8382000" y="2286000"/>
            <a:ext cx="2590800" cy="369332"/>
          </a:xfrm>
          <a:prstGeom prst="rect">
            <a:avLst/>
          </a:prstGeom>
          <a:noFill/>
        </p:spPr>
        <p:txBody>
          <a:bodyPr vert="horz" wrap="square" lIns="0" tIns="0" rIns="0" bIns="0" rtlCol="0">
            <a:noAutofit/>
          </a:bodyPr>
          <a:lstStyle/>
          <a:p>
            <a:pPr>
              <a:lnSpc>
                <a:spcPct val="115000"/>
              </a:lnSpc>
            </a:pPr>
            <a:r>
              <a:rPr lang="fr-FR" sz="1000" spc="220">
                <a:solidFill>
                  <a:srgbClr val="24577A"/>
                </a:solidFill>
                <a:latin typeface="Manrope SemiBold" pitchFamily="2" charset="0"/>
              </a:rPr>
              <a:t>BASE</a:t>
            </a:r>
          </a:p>
        </p:txBody>
      </p:sp>
      <p:sp>
        <p:nvSpPr>
          <p:cNvPr id="16" name="ZoneTexte 15"/>
          <p:cNvSpPr txBox="1"/>
          <p:nvPr/>
        </p:nvSpPr>
        <p:spPr>
          <a:xfrm>
            <a:off x="8382000" y="2565400"/>
            <a:ext cx="2590800" cy="381000"/>
          </a:xfrm>
          <a:prstGeom prst="rect">
            <a:avLst/>
          </a:prstGeom>
          <a:noFill/>
        </p:spPr>
        <p:txBody>
          <a:bodyPr vert="horz" wrap="square" lIns="0" tIns="0" rIns="0" bIns="0" rtlCol="0">
            <a:noAutofit/>
          </a:bodyPr>
          <a:lstStyle/>
          <a:p>
            <a:pPr>
              <a:lnSpc>
                <a:spcPct val="115000"/>
              </a:lnSpc>
            </a:pPr>
            <a:r>
              <a:rPr lang="fr-FR" sz="2400">
                <a:solidFill>
                  <a:srgbClr val="1D1D1F"/>
                </a:solidFill>
                <a:latin typeface="Manrope SemiBold" pitchFamily="2" charset="0"/>
              </a:rPr>
              <a:t>SQLite</a:t>
            </a:r>
          </a:p>
        </p:txBody>
      </p:sp>
      <p:sp>
        <p:nvSpPr>
          <p:cNvPr id="17" name="ZoneTexte 16"/>
          <p:cNvSpPr txBox="1"/>
          <p:nvPr/>
        </p:nvSpPr>
        <p:spPr>
          <a:xfrm>
            <a:off x="8382000" y="3048000"/>
            <a:ext cx="2590800" cy="1041400"/>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9 tables, clés étrangères actives, requêtes paramétrées. Un seul fichier, hors du dépôt comme les réglages (.env).</a:t>
            </a:r>
          </a:p>
        </p:txBody>
      </p:sp>
      <p:sp>
        <p:nvSpPr>
          <p:cNvPr id="18" name="Rectangle 17"/>
          <p:cNvSpPr/>
          <p:nvPr/>
        </p:nvSpPr>
        <p:spPr>
          <a:xfrm>
            <a:off x="914400" y="4699000"/>
            <a:ext cx="10363200" cy="1295400"/>
          </a:xfrm>
          <a:prstGeom prst="roundRect">
            <a:avLst>
              <a:gd name="adj" fmla="val 10714"/>
            </a:avLst>
          </a:prstGeom>
          <a:solidFill>
            <a:srgbClr val="F0F5F8"/>
          </a:solidFill>
          <a:ln>
            <a:noFill/>
          </a:ln>
        </p:spPr>
        <p:txBody>
          <a:bodyPr rtlCol="0" anchor="ctr"/>
          <a:lstStyle/>
          <a:p>
            <a:pPr algn="ctr"/>
            <a:endParaRPr lang="fr-FR"/>
          </a:p>
        </p:txBody>
      </p:sp>
      <p:sp>
        <p:nvSpPr>
          <p:cNvPr id="19" name="Rectangle 18"/>
          <p:cNvSpPr/>
          <p:nvPr/>
        </p:nvSpPr>
        <p:spPr>
          <a:xfrm>
            <a:off x="914400" y="4699000"/>
            <a:ext cx="50800" cy="1295400"/>
          </a:xfrm>
          <a:prstGeom prst="rect">
            <a:avLst/>
          </a:prstGeom>
          <a:solidFill>
            <a:srgbClr val="24577A"/>
          </a:solidFill>
          <a:ln>
            <a:noFill/>
          </a:ln>
        </p:spPr>
        <p:txBody>
          <a:bodyPr rtlCol="0" anchor="ctr"/>
          <a:lstStyle/>
          <a:p>
            <a:pPr algn="ctr"/>
            <a:endParaRPr lang="fr-FR"/>
          </a:p>
        </p:txBody>
      </p:sp>
      <p:sp>
        <p:nvSpPr>
          <p:cNvPr id="20" name="ZoneTexte 19"/>
          <p:cNvSpPr txBox="1"/>
          <p:nvPr/>
        </p:nvSpPr>
        <p:spPr>
          <a:xfrm>
            <a:off x="1270000" y="4927600"/>
            <a:ext cx="8890000" cy="369332"/>
          </a:xfrm>
          <a:prstGeom prst="rect">
            <a:avLst/>
          </a:prstGeom>
          <a:noFill/>
        </p:spPr>
        <p:txBody>
          <a:bodyPr vert="horz" wrap="square" lIns="0" tIns="0" rIns="0" bIns="0" rtlCol="0">
            <a:noAutofit/>
          </a:bodyPr>
          <a:lstStyle/>
          <a:p>
            <a:pPr>
              <a:lnSpc>
                <a:spcPct val="115000"/>
              </a:lnSpc>
            </a:pPr>
            <a:r>
              <a:rPr lang="fr-FR" sz="1800">
                <a:solidFill>
                  <a:srgbClr val="1D1D1F"/>
                </a:solidFill>
                <a:latin typeface="Manrope Medium" pitchFamily="2" charset="0"/>
              </a:rPr>
              <a:t>Le chemin d'une requête, de l'écran à la base.</a:t>
            </a:r>
          </a:p>
        </p:txBody>
      </p:sp>
      <p:sp>
        <p:nvSpPr>
          <p:cNvPr id="21" name="ZoneTexte 20"/>
          <p:cNvSpPr txBox="1"/>
          <p:nvPr/>
        </p:nvSpPr>
        <p:spPr>
          <a:xfrm>
            <a:off x="1270000" y="5334000"/>
            <a:ext cx="9652000" cy="595400"/>
          </a:xfrm>
          <a:prstGeom prst="rect">
            <a:avLst/>
          </a:prstGeom>
          <a:noFill/>
        </p:spPr>
        <p:txBody>
          <a:bodyPr vert="horz" wrap="square" lIns="0" tIns="0" rIns="0" bIns="0" rtlCol="0">
            <a:noAutofit/>
          </a:bodyPr>
          <a:lstStyle/>
          <a:p>
            <a:pPr>
              <a:lnSpc>
                <a:spcPct val="115000"/>
              </a:lnSpc>
            </a:pPr>
            <a:r>
              <a:rPr lang="fr-FR" sz="1350">
                <a:solidFill>
                  <a:srgbClr val="5F6B76"/>
                </a:solidFill>
                <a:latin typeface="Manrope" pitchFamily="2" charset="0"/>
              </a:rPr>
              <a:t>Clic sur une offre → fetch GET /api/ads/12 → module annonces → SELECT paramétré dans SQLite → JSON et code 200 → l'écran se met à jour, sans rechargement. Une erreur suit le même chemin, avec le code et le message prévus par le contrat.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8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8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8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8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8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8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8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8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8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8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8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8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8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8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8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8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8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8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p:bldP spid="8" grpId="0" animBg="1"/>
      <p:bldP spid="9" grpId="0" animBg="1"/>
      <p:bldP spid="10" grpId="0"/>
      <p:bldP spid="11" grpId="0"/>
      <p:bldP spid="12" grpId="0"/>
      <p:bldP spid="13" grpId="0" animBg="1"/>
      <p:bldP spid="14" grpId="0" animBg="1"/>
      <p:bldP spid="15" grpId="0"/>
      <p:bldP spid="16" grpId="0"/>
      <p:bldP spid="17" grpId="0"/>
      <p:bldP spid="18" grpId="0" animBg="1"/>
      <p:bldP spid="19" grpId="0" animBg="1"/>
      <p:bldP spid="20" grpId="0"/>
      <p:bldP spid="21"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 name="ZoneTexte 1"/>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24577A"/>
                </a:solidFill>
                <a:latin typeface="Manrope SemiBold" pitchFamily="2" charset="0"/>
              </a:rPr>
              <a:t>LES DONNÉES</a:t>
            </a:r>
          </a:p>
        </p:txBody>
      </p:sp>
      <p:sp>
        <p:nvSpPr>
          <p:cNvPr id="3" name="ZoneTexte 2"/>
          <p:cNvSpPr txBox="1"/>
          <p:nvPr/>
        </p:nvSpPr>
        <p:spPr>
          <a:xfrm>
            <a:off x="914400" y="990600"/>
            <a:ext cx="10363200" cy="369332"/>
          </a:xfrm>
          <a:prstGeom prst="rect">
            <a:avLst/>
          </a:prstGeom>
          <a:noFill/>
        </p:spPr>
        <p:txBody>
          <a:bodyPr vert="horz" wrap="square" lIns="0" tIns="0" rIns="0" bIns="0" rtlCol="0">
            <a:noAutofit/>
          </a:bodyPr>
          <a:lstStyle/>
          <a:p>
            <a:pPr>
              <a:lnSpc>
                <a:spcPct val="115000"/>
              </a:lnSpc>
            </a:pPr>
            <a:r>
              <a:rPr lang="fr-FR" sz="3200" spc="-50">
                <a:solidFill>
                  <a:srgbClr val="1D1D1F"/>
                </a:solidFill>
                <a:latin typeface="Manrope SemiBold" pitchFamily="2" charset="0"/>
              </a:rPr>
              <a:t>Neuf tables, des liens qui </a:t>
            </a:r>
            <a:r>
              <a:rPr lang="fr-FR" sz="3200" spc="-50">
                <a:solidFill>
                  <a:srgbClr val="24577A"/>
                </a:solidFill>
                <a:latin typeface="Manrope SemiBold" pitchFamily="2" charset="0"/>
              </a:rPr>
              <a:t>protègent</a:t>
            </a:r>
            <a:r>
              <a:rPr lang="fr-FR" sz="3200" spc="-50">
                <a:solidFill>
                  <a:srgbClr val="1D1D1F"/>
                </a:solidFill>
                <a:latin typeface="Manrope SemiBold" pitchFamily="2" charset="0"/>
              </a:rPr>
              <a:t>.</a:t>
            </a:r>
          </a:p>
        </p:txBody>
      </p:sp>
      <p:sp>
        <p:nvSpPr>
          <p:cNvPr id="4" name="Rectangle 3"/>
          <p:cNvSpPr/>
          <p:nvPr/>
        </p:nvSpPr>
        <p:spPr>
          <a:xfrm>
            <a:off x="914400" y="1854200"/>
            <a:ext cx="3000000" cy="1320800"/>
          </a:xfrm>
          <a:prstGeom prst="roundRect">
            <a:avLst>
              <a:gd name="adj" fmla="val 8000"/>
            </a:avLst>
          </a:prstGeom>
          <a:solidFill>
            <a:srgbClr val="FFFFFF"/>
          </a:solidFill>
          <a:ln w="9525">
            <a:solidFill>
              <a:srgbClr val="E2E8ED"/>
            </a:solidFill>
          </a:ln>
        </p:spPr>
        <p:txBody>
          <a:bodyPr rtlCol="0" anchor="ctr"/>
          <a:lstStyle/>
          <a:p>
            <a:pPr algn="ctr"/>
            <a:endParaRPr lang="fr-FR"/>
          </a:p>
        </p:txBody>
      </p:sp>
      <p:sp>
        <p:nvSpPr>
          <p:cNvPr id="5" name="ZoneTexte 4"/>
          <p:cNvSpPr txBox="1"/>
          <p:nvPr/>
        </p:nvSpPr>
        <p:spPr>
          <a:xfrm>
            <a:off x="1219200" y="2082800"/>
            <a:ext cx="2390400" cy="330200"/>
          </a:xfrm>
          <a:prstGeom prst="rect">
            <a:avLst/>
          </a:prstGeom>
          <a:noFill/>
        </p:spPr>
        <p:txBody>
          <a:bodyPr vert="horz" wrap="square" lIns="0" tIns="0" rIns="0" bIns="0" rtlCol="0">
            <a:noAutofit/>
          </a:bodyPr>
          <a:lstStyle/>
          <a:p>
            <a:pPr>
              <a:lnSpc>
                <a:spcPct val="115000"/>
              </a:lnSpc>
            </a:pPr>
            <a:r>
              <a:rPr lang="fr-FR" sz="1500">
                <a:solidFill>
                  <a:srgbClr val="1D1D1F"/>
                </a:solidFill>
                <a:latin typeface="Manrope SemiBold" pitchFamily="2" charset="0"/>
              </a:rPr>
              <a:t>companies</a:t>
            </a:r>
          </a:p>
        </p:txBody>
      </p:sp>
      <p:sp>
        <p:nvSpPr>
          <p:cNvPr id="6" name="ZoneTexte 5"/>
          <p:cNvSpPr txBox="1"/>
          <p:nvPr/>
        </p:nvSpPr>
        <p:spPr>
          <a:xfrm>
            <a:off x="1219200" y="2438400"/>
            <a:ext cx="2390400" cy="6858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nom, description, lieu, site, SIREN unique à 9 chiffres</a:t>
            </a:r>
          </a:p>
        </p:txBody>
      </p:sp>
      <p:sp>
        <p:nvSpPr>
          <p:cNvPr id="7" name="Rectangle 6"/>
          <p:cNvSpPr/>
          <p:nvPr/>
        </p:nvSpPr>
        <p:spPr>
          <a:xfrm>
            <a:off x="4596000" y="1854200"/>
            <a:ext cx="3000000" cy="1320800"/>
          </a:xfrm>
          <a:prstGeom prst="roundRect">
            <a:avLst>
              <a:gd name="adj" fmla="val 8000"/>
            </a:avLst>
          </a:prstGeom>
          <a:solidFill>
            <a:srgbClr val="FFFFFF"/>
          </a:solidFill>
          <a:ln w="9525">
            <a:solidFill>
              <a:srgbClr val="E2E8ED"/>
            </a:solidFill>
          </a:ln>
        </p:spPr>
        <p:txBody>
          <a:bodyPr rtlCol="0" anchor="ctr"/>
          <a:lstStyle/>
          <a:p>
            <a:pPr algn="ctr"/>
            <a:endParaRPr lang="fr-FR"/>
          </a:p>
        </p:txBody>
      </p:sp>
      <p:sp>
        <p:nvSpPr>
          <p:cNvPr id="8" name="ZoneTexte 7"/>
          <p:cNvSpPr txBox="1"/>
          <p:nvPr/>
        </p:nvSpPr>
        <p:spPr>
          <a:xfrm>
            <a:off x="4900800" y="2082800"/>
            <a:ext cx="2390400" cy="330200"/>
          </a:xfrm>
          <a:prstGeom prst="rect">
            <a:avLst/>
          </a:prstGeom>
          <a:noFill/>
        </p:spPr>
        <p:txBody>
          <a:bodyPr vert="horz" wrap="square" lIns="0" tIns="0" rIns="0" bIns="0" rtlCol="0">
            <a:noAutofit/>
          </a:bodyPr>
          <a:lstStyle/>
          <a:p>
            <a:pPr>
              <a:lnSpc>
                <a:spcPct val="115000"/>
              </a:lnSpc>
            </a:pPr>
            <a:r>
              <a:rPr lang="fr-FR" sz="1500">
                <a:solidFill>
                  <a:srgbClr val="1D1D1F"/>
                </a:solidFill>
                <a:latin typeface="Manrope SemiBold" pitchFamily="2" charset="0"/>
              </a:rPr>
              <a:t>categories</a:t>
            </a:r>
          </a:p>
        </p:txBody>
      </p:sp>
      <p:sp>
        <p:nvSpPr>
          <p:cNvPr id="9" name="ZoneTexte 8"/>
          <p:cNvSpPr txBox="1"/>
          <p:nvPr/>
        </p:nvSpPr>
        <p:spPr>
          <a:xfrm>
            <a:off x="4900800" y="2438400"/>
            <a:ext cx="2390400" cy="6858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nom unique</a:t>
            </a:r>
          </a:p>
        </p:txBody>
      </p:sp>
      <p:sp>
        <p:nvSpPr>
          <p:cNvPr id="10" name="Rectangle 9"/>
          <p:cNvSpPr/>
          <p:nvPr/>
        </p:nvSpPr>
        <p:spPr>
          <a:xfrm>
            <a:off x="8277600" y="1854200"/>
            <a:ext cx="3000000" cy="1320800"/>
          </a:xfrm>
          <a:prstGeom prst="roundRect">
            <a:avLst>
              <a:gd name="adj" fmla="val 8000"/>
            </a:avLst>
          </a:prstGeom>
          <a:solidFill>
            <a:srgbClr val="FFFFFF"/>
          </a:solidFill>
          <a:ln w="9525">
            <a:solidFill>
              <a:srgbClr val="E2E8ED"/>
            </a:solidFill>
          </a:ln>
        </p:spPr>
        <p:txBody>
          <a:bodyPr rtlCol="0" anchor="ctr"/>
          <a:lstStyle/>
          <a:p>
            <a:pPr algn="ctr"/>
            <a:endParaRPr lang="fr-FR"/>
          </a:p>
        </p:txBody>
      </p:sp>
      <p:sp>
        <p:nvSpPr>
          <p:cNvPr id="11" name="ZoneTexte 10"/>
          <p:cNvSpPr txBox="1"/>
          <p:nvPr/>
        </p:nvSpPr>
        <p:spPr>
          <a:xfrm>
            <a:off x="8582400" y="2082800"/>
            <a:ext cx="2390400" cy="330200"/>
          </a:xfrm>
          <a:prstGeom prst="rect">
            <a:avLst/>
          </a:prstGeom>
          <a:noFill/>
        </p:spPr>
        <p:txBody>
          <a:bodyPr vert="horz" wrap="square" lIns="0" tIns="0" rIns="0" bIns="0" rtlCol="0">
            <a:noAutofit/>
          </a:bodyPr>
          <a:lstStyle/>
          <a:p>
            <a:pPr>
              <a:lnSpc>
                <a:spcPct val="115000"/>
              </a:lnSpc>
            </a:pPr>
            <a:r>
              <a:rPr lang="fr-FR" sz="1500">
                <a:solidFill>
                  <a:srgbClr val="1D1D1F"/>
                </a:solidFill>
                <a:latin typeface="Manrope SemiBold" pitchFamily="2" charset="0"/>
              </a:rPr>
              <a:t>people</a:t>
            </a:r>
          </a:p>
        </p:txBody>
      </p:sp>
      <p:sp>
        <p:nvSpPr>
          <p:cNvPr id="12" name="ZoneTexte 11"/>
          <p:cNvSpPr txBox="1"/>
          <p:nvPr/>
        </p:nvSpPr>
        <p:spPr>
          <a:xfrm>
            <a:off x="8582400" y="2438400"/>
            <a:ext cx="2390400" cy="6858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prénom, nom, e-mail unique, mot de passe haché, rôle user ou admin, company_id → companies</a:t>
            </a:r>
          </a:p>
        </p:txBody>
      </p:sp>
      <p:sp>
        <p:nvSpPr>
          <p:cNvPr id="13" name="Rectangle 12"/>
          <p:cNvSpPr/>
          <p:nvPr/>
        </p:nvSpPr>
        <p:spPr>
          <a:xfrm>
            <a:off x="2755200" y="3556000"/>
            <a:ext cx="3000000" cy="1320800"/>
          </a:xfrm>
          <a:prstGeom prst="roundRect">
            <a:avLst>
              <a:gd name="adj" fmla="val 8000"/>
            </a:avLst>
          </a:prstGeom>
          <a:solidFill>
            <a:srgbClr val="FFFFFF"/>
          </a:solidFill>
          <a:ln w="9525">
            <a:solidFill>
              <a:srgbClr val="E2E8ED"/>
            </a:solidFill>
          </a:ln>
        </p:spPr>
        <p:txBody>
          <a:bodyPr rtlCol="0" anchor="ctr"/>
          <a:lstStyle/>
          <a:p>
            <a:pPr algn="ctr"/>
            <a:endParaRPr lang="fr-FR"/>
          </a:p>
        </p:txBody>
      </p:sp>
      <p:sp>
        <p:nvSpPr>
          <p:cNvPr id="14" name="ZoneTexte 13"/>
          <p:cNvSpPr txBox="1"/>
          <p:nvPr/>
        </p:nvSpPr>
        <p:spPr>
          <a:xfrm>
            <a:off x="3060000" y="3784600"/>
            <a:ext cx="2390400" cy="330200"/>
          </a:xfrm>
          <a:prstGeom prst="rect">
            <a:avLst/>
          </a:prstGeom>
          <a:noFill/>
        </p:spPr>
        <p:txBody>
          <a:bodyPr vert="horz" wrap="square" lIns="0" tIns="0" rIns="0" bIns="0" rtlCol="0">
            <a:noAutofit/>
          </a:bodyPr>
          <a:lstStyle/>
          <a:p>
            <a:pPr>
              <a:lnSpc>
                <a:spcPct val="115000"/>
              </a:lnSpc>
            </a:pPr>
            <a:r>
              <a:rPr lang="fr-FR" sz="1500">
                <a:solidFill>
                  <a:srgbClr val="1D1D1F"/>
                </a:solidFill>
                <a:latin typeface="Manrope SemiBold" pitchFamily="2" charset="0"/>
              </a:rPr>
              <a:t>ads</a:t>
            </a:r>
          </a:p>
        </p:txBody>
      </p:sp>
      <p:sp>
        <p:nvSpPr>
          <p:cNvPr id="15" name="ZoneTexte 14"/>
          <p:cNvSpPr txBox="1"/>
          <p:nvPr/>
        </p:nvSpPr>
        <p:spPr>
          <a:xfrm>
            <a:off x="3060000" y="4140200"/>
            <a:ext cx="2390400" cy="6858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titre, description, salaire, lieu, contrat, statut open ou closed ; company_id, category_id, contact_id → people</a:t>
            </a:r>
          </a:p>
        </p:txBody>
      </p:sp>
      <p:sp>
        <p:nvSpPr>
          <p:cNvPr id="16" name="Rectangle 15"/>
          <p:cNvSpPr/>
          <p:nvPr/>
        </p:nvSpPr>
        <p:spPr>
          <a:xfrm>
            <a:off x="6436800" y="3556000"/>
            <a:ext cx="3000000" cy="1320800"/>
          </a:xfrm>
          <a:prstGeom prst="roundRect">
            <a:avLst>
              <a:gd name="adj" fmla="val 8000"/>
            </a:avLst>
          </a:prstGeom>
          <a:solidFill>
            <a:srgbClr val="FFFFFF"/>
          </a:solidFill>
          <a:ln w="9525">
            <a:solidFill>
              <a:srgbClr val="E2E8ED"/>
            </a:solidFill>
          </a:ln>
        </p:spPr>
        <p:txBody>
          <a:bodyPr rtlCol="0" anchor="ctr"/>
          <a:lstStyle/>
          <a:p>
            <a:pPr algn="ctr"/>
            <a:endParaRPr lang="fr-FR"/>
          </a:p>
        </p:txBody>
      </p:sp>
      <p:sp>
        <p:nvSpPr>
          <p:cNvPr id="17" name="ZoneTexte 16"/>
          <p:cNvSpPr txBox="1"/>
          <p:nvPr/>
        </p:nvSpPr>
        <p:spPr>
          <a:xfrm>
            <a:off x="6741600" y="3784600"/>
            <a:ext cx="2390400" cy="330200"/>
          </a:xfrm>
          <a:prstGeom prst="rect">
            <a:avLst/>
          </a:prstGeom>
          <a:noFill/>
        </p:spPr>
        <p:txBody>
          <a:bodyPr vert="horz" wrap="square" lIns="0" tIns="0" rIns="0" bIns="0" rtlCol="0">
            <a:noAutofit/>
          </a:bodyPr>
          <a:lstStyle/>
          <a:p>
            <a:pPr>
              <a:lnSpc>
                <a:spcPct val="115000"/>
              </a:lnSpc>
            </a:pPr>
            <a:r>
              <a:rPr lang="fr-FR" sz="1500">
                <a:solidFill>
                  <a:srgbClr val="1D1D1F"/>
                </a:solidFill>
                <a:latin typeface="Manrope SemiBold" pitchFamily="2" charset="0"/>
              </a:rPr>
              <a:t>applications</a:t>
            </a:r>
          </a:p>
        </p:txBody>
      </p:sp>
      <p:sp>
        <p:nvSpPr>
          <p:cNvPr id="18" name="ZoneTexte 17"/>
          <p:cNvSpPr txBox="1"/>
          <p:nvPr/>
        </p:nvSpPr>
        <p:spPr>
          <a:xfrm>
            <a:off x="6741600" y="4140200"/>
            <a:ext cx="2390400" cy="6858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message, statut pending, accepted ou rejected, dates des e-mails ; ad_id, person_id (une seule par annonce)</a:t>
            </a:r>
          </a:p>
        </p:txBody>
      </p:sp>
      <p:cxnSp>
        <p:nvCxnSpPr>
          <p:cNvPr id="19" name="Connecteur droit 18"/>
          <p:cNvCxnSpPr/>
          <p:nvPr/>
        </p:nvCxnSpPr>
        <p:spPr>
          <a:xfrm flipH="1" flipV="1">
            <a:off x="2414400" y="3175000"/>
            <a:ext cx="1040800" cy="381000"/>
          </a:xfrm>
          <a:prstGeom prst="line">
            <a:avLst/>
          </a:prstGeom>
          <a:ln w="15875">
            <a:solidFill>
              <a:srgbClr val="5F6B76"/>
            </a:solidFill>
            <a:tailEnd type="triangle" w="med" len="med"/>
          </a:ln>
        </p:spPr>
      </p:cxnSp>
      <p:cxnSp>
        <p:nvCxnSpPr>
          <p:cNvPr id="20" name="Connecteur droit 19"/>
          <p:cNvCxnSpPr/>
          <p:nvPr/>
        </p:nvCxnSpPr>
        <p:spPr>
          <a:xfrm flipV="1">
            <a:off x="5055200" y="3175000"/>
            <a:ext cx="1040800" cy="381000"/>
          </a:xfrm>
          <a:prstGeom prst="line">
            <a:avLst/>
          </a:prstGeom>
          <a:ln w="15875">
            <a:solidFill>
              <a:srgbClr val="5F6B76"/>
            </a:solidFill>
            <a:tailEnd type="triangle" w="med" len="med"/>
          </a:ln>
        </p:spPr>
      </p:cxnSp>
      <p:cxnSp>
        <p:nvCxnSpPr>
          <p:cNvPr id="21" name="Connecteur droit 20"/>
          <p:cNvCxnSpPr/>
          <p:nvPr/>
        </p:nvCxnSpPr>
        <p:spPr>
          <a:xfrm flipV="1">
            <a:off x="8736800" y="3175000"/>
            <a:ext cx="1040800" cy="381000"/>
          </a:xfrm>
          <a:prstGeom prst="line">
            <a:avLst/>
          </a:prstGeom>
          <a:ln w="15875">
            <a:solidFill>
              <a:srgbClr val="5F6B76"/>
            </a:solidFill>
            <a:tailEnd type="triangle" w="med" len="med"/>
          </a:ln>
        </p:spPr>
      </p:cxnSp>
      <p:cxnSp>
        <p:nvCxnSpPr>
          <p:cNvPr id="22" name="Connecteur droit 21"/>
          <p:cNvCxnSpPr/>
          <p:nvPr/>
        </p:nvCxnSpPr>
        <p:spPr>
          <a:xfrm flipH="1">
            <a:off x="5755200" y="4216400"/>
            <a:ext cx="681600" cy="0"/>
          </a:xfrm>
          <a:prstGeom prst="line">
            <a:avLst/>
          </a:prstGeom>
          <a:ln w="15875">
            <a:solidFill>
              <a:srgbClr val="5F6B76"/>
            </a:solidFill>
            <a:tailEnd type="triangle" w="med" len="med"/>
          </a:ln>
        </p:spPr>
      </p:cxnSp>
      <p:sp>
        <p:nvSpPr>
          <p:cNvPr id="23" name="Rectangle 22"/>
          <p:cNvSpPr/>
          <p:nvPr/>
        </p:nvSpPr>
        <p:spPr>
          <a:xfrm>
            <a:off x="914400" y="5054600"/>
            <a:ext cx="10363200" cy="1244600"/>
          </a:xfrm>
          <a:prstGeom prst="roundRect">
            <a:avLst>
              <a:gd name="adj" fmla="val 10714"/>
            </a:avLst>
          </a:prstGeom>
          <a:solidFill>
            <a:srgbClr val="F0F5F8"/>
          </a:solidFill>
          <a:ln>
            <a:noFill/>
          </a:ln>
        </p:spPr>
        <p:txBody>
          <a:bodyPr rtlCol="0" anchor="ctr"/>
          <a:lstStyle/>
          <a:p>
            <a:pPr algn="ctr"/>
            <a:endParaRPr lang="fr-FR"/>
          </a:p>
        </p:txBody>
      </p:sp>
      <p:sp>
        <p:nvSpPr>
          <p:cNvPr id="24" name="Rectangle 23"/>
          <p:cNvSpPr/>
          <p:nvPr/>
        </p:nvSpPr>
        <p:spPr>
          <a:xfrm>
            <a:off x="914400" y="5054600"/>
            <a:ext cx="50800" cy="1244600"/>
          </a:xfrm>
          <a:prstGeom prst="rect">
            <a:avLst/>
          </a:prstGeom>
          <a:solidFill>
            <a:srgbClr val="24577A"/>
          </a:solidFill>
          <a:ln>
            <a:noFill/>
          </a:ln>
        </p:spPr>
        <p:txBody>
          <a:bodyPr rtlCol="0" anchor="ctr"/>
          <a:lstStyle/>
          <a:p>
            <a:pPr algn="ctr"/>
            <a:endParaRPr lang="fr-FR"/>
          </a:p>
        </p:txBody>
      </p:sp>
      <p:sp>
        <p:nvSpPr>
          <p:cNvPr id="25" name="ZoneTexte 24"/>
          <p:cNvSpPr txBox="1"/>
          <p:nvPr/>
        </p:nvSpPr>
        <p:spPr>
          <a:xfrm>
            <a:off x="1270000" y="5283200"/>
            <a:ext cx="8890000" cy="369332"/>
          </a:xfrm>
          <a:prstGeom prst="rect">
            <a:avLst/>
          </a:prstGeom>
          <a:noFill/>
        </p:spPr>
        <p:txBody>
          <a:bodyPr vert="horz" wrap="square" lIns="0" tIns="0" rIns="0" bIns="0" rtlCol="0">
            <a:noAutofit/>
          </a:bodyPr>
          <a:lstStyle/>
          <a:p>
            <a:pPr>
              <a:lnSpc>
                <a:spcPct val="115000"/>
              </a:lnSpc>
            </a:pPr>
            <a:r>
              <a:rPr lang="fr-FR" sz="1800">
                <a:solidFill>
                  <a:srgbClr val="1D1D1F"/>
                </a:solidFill>
                <a:latin typeface="Manrope Medium" pitchFamily="2" charset="0"/>
              </a:rPr>
              <a:t>Quatre tables annexes, supprimées avec leur parent.</a:t>
            </a:r>
          </a:p>
        </p:txBody>
      </p:sp>
      <p:sp>
        <p:nvSpPr>
          <p:cNvPr id="26" name="ZoneTexte 25"/>
          <p:cNvSpPr txBox="1"/>
          <p:nvPr/>
        </p:nvSpPr>
        <p:spPr>
          <a:xfrm>
            <a:off x="1270000" y="5689600"/>
            <a:ext cx="9652000" cy="544600"/>
          </a:xfrm>
          <a:prstGeom prst="rect">
            <a:avLst/>
          </a:prstGeom>
          <a:noFill/>
        </p:spPr>
        <p:txBody>
          <a:bodyPr vert="horz" wrap="square" lIns="0" tIns="0" rIns="0" bIns="0" rtlCol="0">
            <a:noAutofit/>
          </a:bodyPr>
          <a:lstStyle/>
          <a:p>
            <a:pPr>
              <a:lnSpc>
                <a:spcPct val="115000"/>
              </a:lnSpc>
            </a:pPr>
            <a:r>
              <a:rPr lang="fr-FR" sz="1350">
                <a:solidFill>
                  <a:srgbClr val="5F6B76"/>
                </a:solidFill>
                <a:latin typeface="Manrope" pitchFamily="2" charset="0"/>
              </a:rPr>
              <a:t>pending_registrations, pending_email_changes et person_cvs suivent people ; application_cvs suit applications. Les cinq tables métier, elles, refusent de supprimer une ligne encore utilisée.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8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8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8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8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8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8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8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8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8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8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8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8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8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8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8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8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8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8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85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8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8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8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85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animBg="1"/>
      <p:bldP spid="8" grpId="0"/>
      <p:bldP spid="9" grpId="0"/>
      <p:bldP spid="10" grpId="0" animBg="1"/>
      <p:bldP spid="11" grpId="0"/>
      <p:bldP spid="12" grpId="0"/>
      <p:bldP spid="13" grpId="0" animBg="1"/>
      <p:bldP spid="14" grpId="0"/>
      <p:bldP spid="15" grpId="0"/>
      <p:bldP spid="16" grpId="0" animBg="1"/>
      <p:bldP spid="17" grpId="0"/>
      <p:bldP spid="18" grpId="0"/>
      <p:bldP spid="19" grpId="0" animBg="1"/>
      <p:bldP spid="20" grpId="0" animBg="1"/>
      <p:bldP spid="21" grpId="0" animBg="1"/>
      <p:bldP spid="22" grpId="0" animBg="1"/>
      <p:bldP spid="23" grpId="0" animBg="1"/>
      <p:bldP spid="24" grpId="0" animBg="1"/>
      <p:bldP spid="25" grpId="0"/>
      <p:bldP spid="26"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 name="ZoneTexte 1"/>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24577A"/>
                </a:solidFill>
                <a:latin typeface="Manrope SemiBold" pitchFamily="2" charset="0"/>
              </a:rPr>
              <a:t>L'ORGANISATION</a:t>
            </a:r>
          </a:p>
        </p:txBody>
      </p:sp>
      <p:sp>
        <p:nvSpPr>
          <p:cNvPr id="3" name="ZoneTexte 2"/>
          <p:cNvSpPr txBox="1"/>
          <p:nvPr/>
        </p:nvSpPr>
        <p:spPr>
          <a:xfrm>
            <a:off x="914400" y="990600"/>
            <a:ext cx="10363200" cy="369332"/>
          </a:xfrm>
          <a:prstGeom prst="rect">
            <a:avLst/>
          </a:prstGeom>
          <a:noFill/>
        </p:spPr>
        <p:txBody>
          <a:bodyPr vert="horz" wrap="square" lIns="0" tIns="0" rIns="0" bIns="0" rtlCol="0">
            <a:noAutofit/>
          </a:bodyPr>
          <a:lstStyle/>
          <a:p>
            <a:pPr>
              <a:lnSpc>
                <a:spcPct val="115000"/>
              </a:lnSpc>
            </a:pPr>
            <a:r>
              <a:rPr lang="fr-FR" sz="3200" spc="-50">
                <a:solidFill>
                  <a:srgbClr val="1D1D1F"/>
                </a:solidFill>
                <a:latin typeface="Manrope SemiBold" pitchFamily="2" charset="0"/>
              </a:rPr>
              <a:t>Dix jours, trois rôles, un plan par </a:t>
            </a:r>
            <a:r>
              <a:rPr lang="fr-FR" sz="3200" spc="-50">
                <a:solidFill>
                  <a:srgbClr val="24577A"/>
                </a:solidFill>
                <a:latin typeface="Manrope SemiBold" pitchFamily="2" charset="0"/>
              </a:rPr>
              <a:t>jour</a:t>
            </a:r>
            <a:r>
              <a:rPr lang="fr-FR" sz="3200" spc="-50">
                <a:solidFill>
                  <a:srgbClr val="1D1D1F"/>
                </a:solidFill>
                <a:latin typeface="Manrope SemiBold" pitchFamily="2" charset="0"/>
              </a:rPr>
              <a:t>.</a:t>
            </a:r>
          </a:p>
        </p:txBody>
      </p:sp>
      <p:sp>
        <p:nvSpPr>
          <p:cNvPr id="4" name="ZoneTexte 3"/>
          <p:cNvSpPr txBox="1"/>
          <p:nvPr/>
        </p:nvSpPr>
        <p:spPr>
          <a:xfrm>
            <a:off x="2166800" y="1803400"/>
            <a:ext cx="2011000" cy="304800"/>
          </a:xfrm>
          <a:prstGeom prst="rect">
            <a:avLst/>
          </a:prstGeom>
          <a:noFill/>
        </p:spPr>
        <p:txBody>
          <a:bodyPr vert="horz" wrap="square" lIns="0" tIns="0" rIns="0" bIns="0" rtlCol="0">
            <a:noAutofit/>
          </a:bodyPr>
          <a:lstStyle/>
          <a:p>
            <a:pPr>
              <a:lnSpc>
                <a:spcPct val="115000"/>
              </a:lnSpc>
            </a:pPr>
            <a:r>
              <a:rPr lang="fr-FR" sz="1150" dirty="0">
                <a:solidFill>
                  <a:srgbClr val="24577A"/>
                </a:solidFill>
                <a:latin typeface="Manrope SemiBold" pitchFamily="2" charset="0"/>
              </a:rPr>
              <a:t>J1 – J3 · Base commune </a:t>
            </a:r>
            <a:r>
              <a:rPr lang="fr-FR" sz="1150">
                <a:solidFill>
                  <a:srgbClr val="24577A"/>
                </a:solidFill>
                <a:latin typeface="Manrope SemiBold" pitchFamily="2" charset="0"/>
              </a:rPr>
              <a:t>et BOOTSTRAP</a:t>
            </a:r>
            <a:endParaRPr lang="fr-FR" sz="1150" dirty="0">
              <a:solidFill>
                <a:srgbClr val="24577A"/>
              </a:solidFill>
              <a:latin typeface="Manrope SemiBold" pitchFamily="2" charset="0"/>
            </a:endParaRPr>
          </a:p>
        </p:txBody>
      </p:sp>
      <p:sp>
        <p:nvSpPr>
          <p:cNvPr id="5" name="ZoneTexte 4"/>
          <p:cNvSpPr txBox="1"/>
          <p:nvPr/>
        </p:nvSpPr>
        <p:spPr>
          <a:xfrm>
            <a:off x="2166800" y="2236402"/>
            <a:ext cx="2011000" cy="228600"/>
          </a:xfrm>
          <a:prstGeom prst="rect">
            <a:avLst/>
          </a:prstGeom>
          <a:noFill/>
        </p:spPr>
        <p:txBody>
          <a:bodyPr vert="horz" wrap="square" lIns="0" tIns="0" rIns="0" bIns="0" rtlCol="0">
            <a:noAutofit/>
          </a:bodyPr>
          <a:lstStyle/>
          <a:p>
            <a:pPr>
              <a:lnSpc>
                <a:spcPct val="115000"/>
              </a:lnSpc>
            </a:pPr>
            <a:r>
              <a:rPr lang="fr-FR" sz="950">
                <a:solidFill>
                  <a:srgbClr val="5F6B76"/>
                </a:solidFill>
                <a:latin typeface="Manrope" pitchFamily="2" charset="0"/>
              </a:rPr>
              <a:t>lun 05 → mer 07/10</a:t>
            </a:r>
          </a:p>
        </p:txBody>
      </p:sp>
      <p:sp>
        <p:nvSpPr>
          <p:cNvPr id="6" name="ZoneTexte 5"/>
          <p:cNvSpPr txBox="1"/>
          <p:nvPr/>
        </p:nvSpPr>
        <p:spPr>
          <a:xfrm>
            <a:off x="4482600" y="1803400"/>
            <a:ext cx="2011000" cy="304800"/>
          </a:xfrm>
          <a:prstGeom prst="rect">
            <a:avLst/>
          </a:prstGeom>
          <a:noFill/>
        </p:spPr>
        <p:txBody>
          <a:bodyPr vert="horz" wrap="square" lIns="0" tIns="0" rIns="0" bIns="0" rtlCol="0">
            <a:noAutofit/>
          </a:bodyPr>
          <a:lstStyle/>
          <a:p>
            <a:pPr>
              <a:lnSpc>
                <a:spcPct val="115000"/>
              </a:lnSpc>
            </a:pPr>
            <a:r>
              <a:rPr lang="fr-FR" sz="1150">
                <a:solidFill>
                  <a:srgbClr val="24577A"/>
                </a:solidFill>
                <a:latin typeface="Manrope SemiBold" pitchFamily="2" charset="0"/>
              </a:rPr>
              <a:t>J4 – J5 · Relier les parcours</a:t>
            </a:r>
          </a:p>
        </p:txBody>
      </p:sp>
      <p:sp>
        <p:nvSpPr>
          <p:cNvPr id="7" name="ZoneTexte 6"/>
          <p:cNvSpPr txBox="1"/>
          <p:nvPr/>
        </p:nvSpPr>
        <p:spPr>
          <a:xfrm>
            <a:off x="4482600" y="2120900"/>
            <a:ext cx="2011000" cy="228600"/>
          </a:xfrm>
          <a:prstGeom prst="rect">
            <a:avLst/>
          </a:prstGeom>
          <a:noFill/>
        </p:spPr>
        <p:txBody>
          <a:bodyPr vert="horz" wrap="square" lIns="0" tIns="0" rIns="0" bIns="0" rtlCol="0">
            <a:noAutofit/>
          </a:bodyPr>
          <a:lstStyle/>
          <a:p>
            <a:pPr>
              <a:lnSpc>
                <a:spcPct val="115000"/>
              </a:lnSpc>
            </a:pPr>
            <a:r>
              <a:rPr lang="fr-FR" sz="950">
                <a:solidFill>
                  <a:srgbClr val="5F6B76"/>
                </a:solidFill>
                <a:latin typeface="Manrope" pitchFamily="2" charset="0"/>
              </a:rPr>
              <a:t>jeu 08 → ven 09/10</a:t>
            </a:r>
          </a:p>
        </p:txBody>
      </p:sp>
      <p:sp>
        <p:nvSpPr>
          <p:cNvPr id="8" name="Rectangle 7"/>
          <p:cNvSpPr/>
          <p:nvPr/>
        </p:nvSpPr>
        <p:spPr>
          <a:xfrm>
            <a:off x="4325437" y="1803400"/>
            <a:ext cx="9525" cy="4368800"/>
          </a:xfrm>
          <a:prstGeom prst="rect">
            <a:avLst/>
          </a:prstGeom>
          <a:solidFill>
            <a:srgbClr val="E2E8ED"/>
          </a:solidFill>
          <a:ln>
            <a:noFill/>
          </a:ln>
        </p:spPr>
        <p:txBody>
          <a:bodyPr rtlCol="0" anchor="ctr"/>
          <a:lstStyle/>
          <a:p>
            <a:pPr algn="ctr"/>
            <a:endParaRPr lang="fr-FR"/>
          </a:p>
        </p:txBody>
      </p:sp>
      <p:sp>
        <p:nvSpPr>
          <p:cNvPr id="9" name="ZoneTexte 8"/>
          <p:cNvSpPr txBox="1"/>
          <p:nvPr/>
        </p:nvSpPr>
        <p:spPr>
          <a:xfrm>
            <a:off x="6798400" y="1803400"/>
            <a:ext cx="2011000" cy="304800"/>
          </a:xfrm>
          <a:prstGeom prst="rect">
            <a:avLst/>
          </a:prstGeom>
          <a:noFill/>
        </p:spPr>
        <p:txBody>
          <a:bodyPr vert="horz" wrap="square" lIns="0" tIns="0" rIns="0" bIns="0" rtlCol="0">
            <a:noAutofit/>
          </a:bodyPr>
          <a:lstStyle/>
          <a:p>
            <a:pPr>
              <a:lnSpc>
                <a:spcPct val="115000"/>
              </a:lnSpc>
            </a:pPr>
            <a:r>
              <a:rPr lang="fr-FR" sz="1150">
                <a:solidFill>
                  <a:srgbClr val="24577A"/>
                </a:solidFill>
                <a:latin typeface="Manrope SemiBold" pitchFamily="2" charset="0"/>
              </a:rPr>
              <a:t>J6 – J8 · Compléter le site</a:t>
            </a:r>
          </a:p>
        </p:txBody>
      </p:sp>
      <p:sp>
        <p:nvSpPr>
          <p:cNvPr id="10" name="ZoneTexte 9"/>
          <p:cNvSpPr txBox="1"/>
          <p:nvPr/>
        </p:nvSpPr>
        <p:spPr>
          <a:xfrm>
            <a:off x="6798400" y="2120900"/>
            <a:ext cx="2011000" cy="228600"/>
          </a:xfrm>
          <a:prstGeom prst="rect">
            <a:avLst/>
          </a:prstGeom>
          <a:noFill/>
        </p:spPr>
        <p:txBody>
          <a:bodyPr vert="horz" wrap="square" lIns="0" tIns="0" rIns="0" bIns="0" rtlCol="0">
            <a:noAutofit/>
          </a:bodyPr>
          <a:lstStyle/>
          <a:p>
            <a:pPr>
              <a:lnSpc>
                <a:spcPct val="115000"/>
              </a:lnSpc>
            </a:pPr>
            <a:r>
              <a:rPr lang="fr-FR" sz="950">
                <a:solidFill>
                  <a:srgbClr val="5F6B76"/>
                </a:solidFill>
                <a:latin typeface="Manrope" pitchFamily="2" charset="0"/>
              </a:rPr>
              <a:t>lun 12 → mer 14/10</a:t>
            </a:r>
          </a:p>
        </p:txBody>
      </p:sp>
      <p:sp>
        <p:nvSpPr>
          <p:cNvPr id="11" name="Rectangle 10"/>
          <p:cNvSpPr/>
          <p:nvPr/>
        </p:nvSpPr>
        <p:spPr>
          <a:xfrm>
            <a:off x="6641237" y="1803400"/>
            <a:ext cx="9525" cy="4368800"/>
          </a:xfrm>
          <a:prstGeom prst="rect">
            <a:avLst/>
          </a:prstGeom>
          <a:solidFill>
            <a:srgbClr val="E2E8ED"/>
          </a:solidFill>
          <a:ln>
            <a:noFill/>
          </a:ln>
        </p:spPr>
        <p:txBody>
          <a:bodyPr rtlCol="0" anchor="ctr"/>
          <a:lstStyle/>
          <a:p>
            <a:pPr algn="ctr"/>
            <a:endParaRPr lang="fr-FR"/>
          </a:p>
        </p:txBody>
      </p:sp>
      <p:sp>
        <p:nvSpPr>
          <p:cNvPr id="12" name="ZoneTexte 11"/>
          <p:cNvSpPr txBox="1"/>
          <p:nvPr/>
        </p:nvSpPr>
        <p:spPr>
          <a:xfrm>
            <a:off x="9114200" y="1803400"/>
            <a:ext cx="2011000" cy="304800"/>
          </a:xfrm>
          <a:prstGeom prst="rect">
            <a:avLst/>
          </a:prstGeom>
          <a:noFill/>
        </p:spPr>
        <p:txBody>
          <a:bodyPr vert="horz" wrap="square" lIns="0" tIns="0" rIns="0" bIns="0" rtlCol="0">
            <a:noAutofit/>
          </a:bodyPr>
          <a:lstStyle/>
          <a:p>
            <a:pPr>
              <a:lnSpc>
                <a:spcPct val="115000"/>
              </a:lnSpc>
            </a:pPr>
            <a:r>
              <a:rPr lang="fr-FR" sz="1150">
                <a:solidFill>
                  <a:srgbClr val="24577A"/>
                </a:solidFill>
                <a:latin typeface="Manrope SemiBold" pitchFamily="2" charset="0"/>
              </a:rPr>
              <a:t>J9 – J10 · Vérifier et rendre</a:t>
            </a:r>
          </a:p>
        </p:txBody>
      </p:sp>
      <p:sp>
        <p:nvSpPr>
          <p:cNvPr id="13" name="ZoneTexte 12"/>
          <p:cNvSpPr txBox="1"/>
          <p:nvPr/>
        </p:nvSpPr>
        <p:spPr>
          <a:xfrm>
            <a:off x="9114200" y="2120900"/>
            <a:ext cx="2011000" cy="228600"/>
          </a:xfrm>
          <a:prstGeom prst="rect">
            <a:avLst/>
          </a:prstGeom>
          <a:noFill/>
        </p:spPr>
        <p:txBody>
          <a:bodyPr vert="horz" wrap="square" lIns="0" tIns="0" rIns="0" bIns="0" rtlCol="0">
            <a:noAutofit/>
          </a:bodyPr>
          <a:lstStyle/>
          <a:p>
            <a:pPr>
              <a:lnSpc>
                <a:spcPct val="115000"/>
              </a:lnSpc>
            </a:pPr>
            <a:r>
              <a:rPr lang="fr-FR" sz="950">
                <a:solidFill>
                  <a:srgbClr val="5F6B76"/>
                </a:solidFill>
                <a:latin typeface="Manrope" pitchFamily="2" charset="0"/>
              </a:rPr>
              <a:t>jeu 15 → ven 16/10</a:t>
            </a:r>
          </a:p>
        </p:txBody>
      </p:sp>
      <p:sp>
        <p:nvSpPr>
          <p:cNvPr id="14" name="Rectangle 13"/>
          <p:cNvSpPr/>
          <p:nvPr/>
        </p:nvSpPr>
        <p:spPr>
          <a:xfrm>
            <a:off x="8957037" y="1803400"/>
            <a:ext cx="9525" cy="4368800"/>
          </a:xfrm>
          <a:prstGeom prst="rect">
            <a:avLst/>
          </a:prstGeom>
          <a:solidFill>
            <a:srgbClr val="E2E8ED"/>
          </a:solidFill>
          <a:ln>
            <a:noFill/>
          </a:ln>
        </p:spPr>
        <p:txBody>
          <a:bodyPr rtlCol="0" anchor="ctr"/>
          <a:lstStyle/>
          <a:p>
            <a:pPr algn="ctr"/>
            <a:endParaRPr lang="fr-FR"/>
          </a:p>
        </p:txBody>
      </p:sp>
      <p:sp>
        <p:nvSpPr>
          <p:cNvPr id="15" name="Rectangle 14"/>
          <p:cNvSpPr/>
          <p:nvPr/>
        </p:nvSpPr>
        <p:spPr>
          <a:xfrm>
            <a:off x="914400" y="2463800"/>
            <a:ext cx="10363200" cy="9525"/>
          </a:xfrm>
          <a:prstGeom prst="rect">
            <a:avLst/>
          </a:prstGeom>
          <a:solidFill>
            <a:srgbClr val="E2E8ED"/>
          </a:solidFill>
          <a:ln>
            <a:noFill/>
          </a:ln>
        </p:spPr>
        <p:txBody>
          <a:bodyPr rtlCol="0" anchor="ctr"/>
          <a:lstStyle/>
          <a:p>
            <a:pPr algn="ctr"/>
            <a:endParaRPr lang="fr-FR"/>
          </a:p>
        </p:txBody>
      </p:sp>
      <p:sp>
        <p:nvSpPr>
          <p:cNvPr id="16" name="ZoneTexte 15"/>
          <p:cNvSpPr txBox="1"/>
          <p:nvPr/>
        </p:nvSpPr>
        <p:spPr>
          <a:xfrm>
            <a:off x="914400" y="2667000"/>
            <a:ext cx="1000000" cy="304800"/>
          </a:xfrm>
          <a:prstGeom prst="rect">
            <a:avLst/>
          </a:prstGeom>
          <a:noFill/>
        </p:spPr>
        <p:txBody>
          <a:bodyPr vert="horz" wrap="square" lIns="0" tIns="0" rIns="0" bIns="0" rtlCol="0">
            <a:noAutofit/>
          </a:bodyPr>
          <a:lstStyle/>
          <a:p>
            <a:pPr>
              <a:lnSpc>
                <a:spcPct val="115000"/>
              </a:lnSpc>
            </a:pPr>
            <a:r>
              <a:rPr lang="fr-FR" sz="1500">
                <a:solidFill>
                  <a:srgbClr val="1D1D1F"/>
                </a:solidFill>
                <a:latin typeface="Manrope SemiBold" pitchFamily="2" charset="0"/>
              </a:rPr>
              <a:t>Axel</a:t>
            </a:r>
          </a:p>
        </p:txBody>
      </p:sp>
      <p:sp>
        <p:nvSpPr>
          <p:cNvPr id="17" name="ZoneTexte 16"/>
          <p:cNvSpPr txBox="1"/>
          <p:nvPr/>
        </p:nvSpPr>
        <p:spPr>
          <a:xfrm>
            <a:off x="914400" y="2971800"/>
            <a:ext cx="1000000" cy="600000"/>
          </a:xfrm>
          <a:prstGeom prst="rect">
            <a:avLst/>
          </a:prstGeom>
          <a:noFill/>
        </p:spPr>
        <p:txBody>
          <a:bodyPr vert="horz" wrap="square" lIns="0" tIns="0" rIns="0" bIns="0" rtlCol="0">
            <a:noAutofit/>
          </a:bodyPr>
          <a:lstStyle/>
          <a:p>
            <a:pPr>
              <a:lnSpc>
                <a:spcPct val="115000"/>
              </a:lnSpc>
            </a:pPr>
            <a:r>
              <a:rPr lang="fr-FR" sz="950">
                <a:solidFill>
                  <a:srgbClr val="24577A"/>
                </a:solidFill>
                <a:latin typeface="Manrope Medium" pitchFamily="2" charset="0"/>
              </a:rPr>
              <a:t>Front et gestion de projet</a:t>
            </a:r>
          </a:p>
        </p:txBody>
      </p:sp>
      <p:sp>
        <p:nvSpPr>
          <p:cNvPr id="18" name="ZoneTexte 17"/>
          <p:cNvSpPr txBox="1"/>
          <p:nvPr/>
        </p:nvSpPr>
        <p:spPr>
          <a:xfrm>
            <a:off x="2166800" y="2667000"/>
            <a:ext cx="2011000" cy="914400"/>
          </a:xfrm>
          <a:prstGeom prst="rect">
            <a:avLst/>
          </a:prstGeom>
          <a:noFill/>
        </p:spPr>
        <p:txBody>
          <a:bodyPr vert="horz" wrap="square" lIns="0" tIns="0" rIns="0" bIns="0" rtlCol="0">
            <a:noAutofit/>
          </a:bodyPr>
          <a:lstStyle/>
          <a:p>
            <a:pPr>
              <a:lnSpc>
                <a:spcPct val="115000"/>
              </a:lnSpc>
            </a:pPr>
            <a:r>
              <a:rPr lang="fr-FR" sz="1050" dirty="0">
                <a:solidFill>
                  <a:srgbClr val="5F6B76"/>
                </a:solidFill>
                <a:latin typeface="Manrope" pitchFamily="2" charset="0"/>
              </a:rPr>
              <a:t>–  </a:t>
            </a:r>
            <a:r>
              <a:rPr lang="fr-FR" sz="1050" dirty="0" err="1">
                <a:solidFill>
                  <a:srgbClr val="5F6B76"/>
                </a:solidFill>
                <a:latin typeface="Manrope" pitchFamily="2" charset="0"/>
              </a:rPr>
              <a:t>React</a:t>
            </a:r>
            <a:r>
              <a:rPr lang="fr-FR" sz="1050" dirty="0">
                <a:solidFill>
                  <a:srgbClr val="5F6B76"/>
                </a:solidFill>
                <a:latin typeface="Manrope" pitchFamily="2" charset="0"/>
              </a:rPr>
              <a:t>, Vite, proxy</a:t>
            </a:r>
          </a:p>
          <a:p>
            <a:pPr>
              <a:lnSpc>
                <a:spcPct val="115000"/>
              </a:lnSpc>
            </a:pPr>
            <a:r>
              <a:rPr lang="fr-FR" sz="1050" dirty="0">
                <a:solidFill>
                  <a:srgbClr val="5F6B76"/>
                </a:solidFill>
                <a:latin typeface="Manrope" pitchFamily="2" charset="0"/>
              </a:rPr>
              <a:t>–  Liste et détail avec </a:t>
            </a:r>
            <a:r>
              <a:rPr lang="fr-FR" sz="1050" dirty="0" err="1">
                <a:solidFill>
                  <a:srgbClr val="5F6B76"/>
                </a:solidFill>
                <a:latin typeface="Manrope" pitchFamily="2" charset="0"/>
              </a:rPr>
              <a:t>fetch</a:t>
            </a:r>
            <a:endParaRPr lang="fr-FR" sz="1050" dirty="0">
              <a:solidFill>
                <a:srgbClr val="5F6B76"/>
              </a:solidFill>
              <a:latin typeface="Manrope" pitchFamily="2" charset="0"/>
            </a:endParaRPr>
          </a:p>
          <a:p>
            <a:pPr>
              <a:lnSpc>
                <a:spcPct val="115000"/>
              </a:lnSpc>
            </a:pPr>
            <a:r>
              <a:rPr lang="fr-FR" sz="1050" dirty="0">
                <a:solidFill>
                  <a:srgbClr val="5F6B76"/>
                </a:solidFill>
                <a:latin typeface="Manrope" pitchFamily="2" charset="0"/>
              </a:rPr>
              <a:t>–  Navigation, détail dans la carte</a:t>
            </a:r>
          </a:p>
        </p:txBody>
      </p:sp>
      <p:sp>
        <p:nvSpPr>
          <p:cNvPr id="19" name="ZoneTexte 18"/>
          <p:cNvSpPr txBox="1"/>
          <p:nvPr/>
        </p:nvSpPr>
        <p:spPr>
          <a:xfrm>
            <a:off x="4482600" y="2667000"/>
            <a:ext cx="2011000" cy="9144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  Formulaire de candidature</a:t>
            </a:r>
          </a:p>
          <a:p>
            <a:pPr>
              <a:lnSpc>
                <a:spcPct val="115000"/>
              </a:lnSpc>
            </a:pPr>
            <a:r>
              <a:rPr lang="fr-FR" sz="1050">
                <a:solidFill>
                  <a:srgbClr val="5F6B76"/>
                </a:solidFill>
                <a:latin typeface="Manrope" pitchFamily="2" charset="0"/>
              </a:rPr>
              <a:t>–  Connexion, compte, mes candidatures</a:t>
            </a:r>
          </a:p>
        </p:txBody>
      </p:sp>
      <p:sp>
        <p:nvSpPr>
          <p:cNvPr id="20" name="ZoneTexte 19"/>
          <p:cNvSpPr txBox="1"/>
          <p:nvPr/>
        </p:nvSpPr>
        <p:spPr>
          <a:xfrm>
            <a:off x="6798400" y="2667000"/>
            <a:ext cx="2011000" cy="9144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  Administration et recherche</a:t>
            </a:r>
          </a:p>
          <a:p>
            <a:pPr>
              <a:lnSpc>
                <a:spcPct val="115000"/>
              </a:lnSpc>
            </a:pPr>
            <a:r>
              <a:rPr lang="fr-FR" sz="1050">
                <a:solidFill>
                  <a:srgbClr val="5F6B76"/>
                </a:solidFill>
                <a:latin typeface="Manrope" pitchFamily="2" charset="0"/>
              </a:rPr>
              <a:t>–  Espace recruteur</a:t>
            </a:r>
          </a:p>
          <a:p>
            <a:pPr>
              <a:lnSpc>
                <a:spcPct val="115000"/>
              </a:lnSpc>
            </a:pPr>
            <a:r>
              <a:rPr lang="fr-FR" sz="1050">
                <a:solidFill>
                  <a:srgbClr val="5F6B76"/>
                </a:solidFill>
                <a:latin typeface="Manrope" pitchFamily="2" charset="0"/>
              </a:rPr>
              <a:t>–  Candidatures reçues, clôture</a:t>
            </a:r>
          </a:p>
        </p:txBody>
      </p:sp>
      <p:sp>
        <p:nvSpPr>
          <p:cNvPr id="21" name="ZoneTexte 20"/>
          <p:cNvSpPr txBox="1"/>
          <p:nvPr/>
        </p:nvSpPr>
        <p:spPr>
          <a:xfrm>
            <a:off x="9114200" y="2667000"/>
            <a:ext cx="2011000" cy="9144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  Design, CV, tests des parcours</a:t>
            </a:r>
          </a:p>
          <a:p>
            <a:pPr>
              <a:lnSpc>
                <a:spcPct val="115000"/>
              </a:lnSpc>
            </a:pPr>
            <a:r>
              <a:rPr lang="fr-FR" sz="1050">
                <a:solidFill>
                  <a:srgbClr val="5F6B76"/>
                </a:solidFill>
                <a:latin typeface="Manrope" pitchFamily="2" charset="0"/>
              </a:rPr>
              <a:t>–  Relecture, rendu à midi</a:t>
            </a:r>
          </a:p>
        </p:txBody>
      </p:sp>
      <p:sp>
        <p:nvSpPr>
          <p:cNvPr id="22" name="Rectangle 21"/>
          <p:cNvSpPr/>
          <p:nvPr/>
        </p:nvSpPr>
        <p:spPr>
          <a:xfrm>
            <a:off x="914400" y="3729037"/>
            <a:ext cx="10363200" cy="9525"/>
          </a:xfrm>
          <a:prstGeom prst="rect">
            <a:avLst/>
          </a:prstGeom>
          <a:solidFill>
            <a:srgbClr val="E2E8ED"/>
          </a:solidFill>
          <a:ln>
            <a:noFill/>
          </a:ln>
        </p:spPr>
        <p:txBody>
          <a:bodyPr rtlCol="0" anchor="ctr"/>
          <a:lstStyle/>
          <a:p>
            <a:pPr algn="ctr"/>
            <a:endParaRPr lang="fr-FR"/>
          </a:p>
        </p:txBody>
      </p:sp>
      <p:sp>
        <p:nvSpPr>
          <p:cNvPr id="23" name="ZoneTexte 22"/>
          <p:cNvSpPr txBox="1"/>
          <p:nvPr/>
        </p:nvSpPr>
        <p:spPr>
          <a:xfrm>
            <a:off x="914400" y="3886200"/>
            <a:ext cx="1000000" cy="304800"/>
          </a:xfrm>
          <a:prstGeom prst="rect">
            <a:avLst/>
          </a:prstGeom>
          <a:noFill/>
        </p:spPr>
        <p:txBody>
          <a:bodyPr vert="horz" wrap="square" lIns="0" tIns="0" rIns="0" bIns="0" rtlCol="0">
            <a:noAutofit/>
          </a:bodyPr>
          <a:lstStyle/>
          <a:p>
            <a:pPr>
              <a:lnSpc>
                <a:spcPct val="115000"/>
              </a:lnSpc>
            </a:pPr>
            <a:r>
              <a:rPr lang="fr-FR" sz="1500">
                <a:solidFill>
                  <a:srgbClr val="1D1D1F"/>
                </a:solidFill>
                <a:latin typeface="Manrope SemiBold" pitchFamily="2" charset="0"/>
              </a:rPr>
              <a:t>Yohan</a:t>
            </a:r>
          </a:p>
        </p:txBody>
      </p:sp>
      <p:sp>
        <p:nvSpPr>
          <p:cNvPr id="24" name="ZoneTexte 23"/>
          <p:cNvSpPr txBox="1"/>
          <p:nvPr/>
        </p:nvSpPr>
        <p:spPr>
          <a:xfrm>
            <a:off x="914400" y="4191000"/>
            <a:ext cx="1000000" cy="600000"/>
          </a:xfrm>
          <a:prstGeom prst="rect">
            <a:avLst/>
          </a:prstGeom>
          <a:noFill/>
        </p:spPr>
        <p:txBody>
          <a:bodyPr vert="horz" wrap="square" lIns="0" tIns="0" rIns="0" bIns="0" rtlCol="0">
            <a:noAutofit/>
          </a:bodyPr>
          <a:lstStyle/>
          <a:p>
            <a:pPr>
              <a:lnSpc>
                <a:spcPct val="115000"/>
              </a:lnSpc>
            </a:pPr>
            <a:r>
              <a:rPr lang="fr-FR" sz="950">
                <a:solidFill>
                  <a:srgbClr val="24577A"/>
                </a:solidFill>
                <a:latin typeface="Manrope Medium" pitchFamily="2" charset="0"/>
              </a:rPr>
              <a:t>Données et utilisateurs</a:t>
            </a:r>
          </a:p>
        </p:txBody>
      </p:sp>
      <p:sp>
        <p:nvSpPr>
          <p:cNvPr id="25" name="ZoneTexte 24"/>
          <p:cNvSpPr txBox="1"/>
          <p:nvPr/>
        </p:nvSpPr>
        <p:spPr>
          <a:xfrm>
            <a:off x="2166800" y="3886200"/>
            <a:ext cx="2011000" cy="9144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  Schéma, données de départ</a:t>
            </a:r>
          </a:p>
          <a:p>
            <a:pPr>
              <a:lnSpc>
                <a:spcPct val="115000"/>
              </a:lnSpc>
            </a:pPr>
            <a:r>
              <a:rPr lang="fr-FR" sz="1050">
                <a:solidFill>
                  <a:srgbClr val="5F6B76"/>
                </a:solidFill>
                <a:latin typeface="Manrope" pitchFamily="2" charset="0"/>
              </a:rPr>
              <a:t>–  Premières routes, tests curl</a:t>
            </a:r>
          </a:p>
          <a:p>
            <a:pPr>
              <a:lnSpc>
                <a:spcPct val="115000"/>
              </a:lnSpc>
            </a:pPr>
            <a:r>
              <a:rPr lang="fr-FR" sz="1050">
                <a:solidFill>
                  <a:srgbClr val="5F6B76"/>
                </a:solidFill>
                <a:latin typeface="Manrope" pitchFamily="2" charset="0"/>
              </a:rPr>
              <a:t>–  Routes /api, filtres, contrat</a:t>
            </a:r>
          </a:p>
        </p:txBody>
      </p:sp>
      <p:sp>
        <p:nvSpPr>
          <p:cNvPr id="26" name="ZoneTexte 25"/>
          <p:cNvSpPr txBox="1"/>
          <p:nvPr/>
        </p:nvSpPr>
        <p:spPr>
          <a:xfrm>
            <a:off x="4482600" y="3886200"/>
            <a:ext cx="2011000" cy="9144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  CRUD, candidature, clôture</a:t>
            </a:r>
          </a:p>
          <a:p>
            <a:pPr>
              <a:lnSpc>
                <a:spcPct val="115000"/>
              </a:lnSpc>
            </a:pPr>
            <a:r>
              <a:rPr lang="fr-FR" sz="1050">
                <a:solidFill>
                  <a:srgbClr val="5F6B76"/>
                </a:solidFill>
                <a:latin typeface="Manrope" pitchFamily="2" charset="0"/>
              </a:rPr>
              <a:t>–  Pagination, contrôles métier</a:t>
            </a:r>
          </a:p>
        </p:txBody>
      </p:sp>
      <p:sp>
        <p:nvSpPr>
          <p:cNvPr id="27" name="ZoneTexte 26"/>
          <p:cNvSpPr txBox="1"/>
          <p:nvPr/>
        </p:nvSpPr>
        <p:spPr>
          <a:xfrm>
            <a:off x="6798400" y="3886200"/>
            <a:ext cx="2011000" cy="9144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  Routes admin, SIREN</a:t>
            </a:r>
          </a:p>
          <a:p>
            <a:pPr>
              <a:lnSpc>
                <a:spcPct val="115000"/>
              </a:lnSpc>
            </a:pPr>
            <a:r>
              <a:rPr lang="fr-FR" sz="1050">
                <a:solidFill>
                  <a:srgbClr val="5F6B76"/>
                </a:solidFill>
                <a:latin typeface="Manrope" pitchFamily="2" charset="0"/>
              </a:rPr>
              <a:t>–  Routes recruteur, catégories</a:t>
            </a:r>
          </a:p>
          <a:p>
            <a:pPr>
              <a:lnSpc>
                <a:spcPct val="115000"/>
              </a:lnSpc>
            </a:pPr>
            <a:r>
              <a:rPr lang="fr-FR" sz="1050">
                <a:solidFill>
                  <a:srgbClr val="5F6B76"/>
                </a:solidFill>
                <a:latin typeface="Manrope" pitchFamily="2" charset="0"/>
              </a:rPr>
              <a:t>–  E-mails de candidature et de décision</a:t>
            </a:r>
          </a:p>
        </p:txBody>
      </p:sp>
      <p:sp>
        <p:nvSpPr>
          <p:cNvPr id="28" name="ZoneTexte 27"/>
          <p:cNvSpPr txBox="1"/>
          <p:nvPr/>
        </p:nvSpPr>
        <p:spPr>
          <a:xfrm>
            <a:off x="9114200" y="3886200"/>
            <a:ext cx="2011000" cy="9144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  Modifier, supprimer une annonce ; CV</a:t>
            </a:r>
          </a:p>
          <a:p>
            <a:pPr>
              <a:lnSpc>
                <a:spcPct val="115000"/>
              </a:lnSpc>
            </a:pPr>
            <a:r>
              <a:rPr lang="fr-FR" sz="1050">
                <a:solidFill>
                  <a:srgbClr val="5F6B76"/>
                </a:solidFill>
                <a:latin typeface="Manrope" pitchFamily="2" charset="0"/>
              </a:rPr>
              <a:t>–  Installation à neuf, relecture</a:t>
            </a:r>
          </a:p>
        </p:txBody>
      </p:sp>
      <p:sp>
        <p:nvSpPr>
          <p:cNvPr id="29" name="Rectangle 28"/>
          <p:cNvSpPr/>
          <p:nvPr/>
        </p:nvSpPr>
        <p:spPr>
          <a:xfrm>
            <a:off x="914400" y="4948237"/>
            <a:ext cx="10363200" cy="9525"/>
          </a:xfrm>
          <a:prstGeom prst="rect">
            <a:avLst/>
          </a:prstGeom>
          <a:solidFill>
            <a:srgbClr val="E2E8ED"/>
          </a:solidFill>
          <a:ln>
            <a:noFill/>
          </a:ln>
        </p:spPr>
        <p:txBody>
          <a:bodyPr rtlCol="0" anchor="ctr"/>
          <a:lstStyle/>
          <a:p>
            <a:pPr algn="ctr"/>
            <a:endParaRPr lang="fr-FR"/>
          </a:p>
        </p:txBody>
      </p:sp>
      <p:sp>
        <p:nvSpPr>
          <p:cNvPr id="30" name="ZoneTexte 29"/>
          <p:cNvSpPr txBox="1"/>
          <p:nvPr/>
        </p:nvSpPr>
        <p:spPr>
          <a:xfrm>
            <a:off x="914400" y="5105400"/>
            <a:ext cx="1000000" cy="304800"/>
          </a:xfrm>
          <a:prstGeom prst="rect">
            <a:avLst/>
          </a:prstGeom>
          <a:noFill/>
        </p:spPr>
        <p:txBody>
          <a:bodyPr vert="horz" wrap="square" lIns="0" tIns="0" rIns="0" bIns="0" rtlCol="0">
            <a:noAutofit/>
          </a:bodyPr>
          <a:lstStyle/>
          <a:p>
            <a:pPr>
              <a:lnSpc>
                <a:spcPct val="115000"/>
              </a:lnSpc>
            </a:pPr>
            <a:r>
              <a:rPr lang="fr-FR" sz="1500">
                <a:solidFill>
                  <a:srgbClr val="1D1D1F"/>
                </a:solidFill>
                <a:latin typeface="Manrope SemiBold" pitchFamily="2" charset="0"/>
              </a:rPr>
              <a:t>Ismail</a:t>
            </a:r>
          </a:p>
        </p:txBody>
      </p:sp>
      <p:sp>
        <p:nvSpPr>
          <p:cNvPr id="31" name="ZoneTexte 30"/>
          <p:cNvSpPr txBox="1"/>
          <p:nvPr/>
        </p:nvSpPr>
        <p:spPr>
          <a:xfrm>
            <a:off x="914400" y="5410200"/>
            <a:ext cx="1000000" cy="600000"/>
          </a:xfrm>
          <a:prstGeom prst="rect">
            <a:avLst/>
          </a:prstGeom>
          <a:noFill/>
        </p:spPr>
        <p:txBody>
          <a:bodyPr vert="horz" wrap="square" lIns="0" tIns="0" rIns="0" bIns="0" rtlCol="0">
            <a:noAutofit/>
          </a:bodyPr>
          <a:lstStyle/>
          <a:p>
            <a:pPr>
              <a:lnSpc>
                <a:spcPct val="115000"/>
              </a:lnSpc>
            </a:pPr>
            <a:r>
              <a:rPr lang="fr-FR" sz="950">
                <a:solidFill>
                  <a:srgbClr val="24577A"/>
                </a:solidFill>
                <a:latin typeface="Manrope Medium" pitchFamily="2" charset="0"/>
              </a:rPr>
              <a:t>Comptes et sécurité</a:t>
            </a:r>
          </a:p>
        </p:txBody>
      </p:sp>
      <p:sp>
        <p:nvSpPr>
          <p:cNvPr id="32" name="ZoneTexte 31"/>
          <p:cNvSpPr txBox="1"/>
          <p:nvPr/>
        </p:nvSpPr>
        <p:spPr>
          <a:xfrm>
            <a:off x="2166800" y="5105400"/>
            <a:ext cx="2011000" cy="9144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  Arrivée le J2, rattrapage SQL</a:t>
            </a:r>
          </a:p>
          <a:p>
            <a:pPr>
              <a:lnSpc>
                <a:spcPct val="115000"/>
              </a:lnSpc>
            </a:pPr>
            <a:r>
              <a:rPr lang="fr-FR" sz="1050">
                <a:solidFill>
                  <a:srgbClr val="5F6B76"/>
                </a:solidFill>
                <a:latin typeface="Manrope" pitchFamily="2" charset="0"/>
              </a:rPr>
              <a:t>–  Inscription, connexion, hachage</a:t>
            </a:r>
          </a:p>
        </p:txBody>
      </p:sp>
      <p:sp>
        <p:nvSpPr>
          <p:cNvPr id="33" name="ZoneTexte 32"/>
          <p:cNvSpPr txBox="1"/>
          <p:nvPr/>
        </p:nvSpPr>
        <p:spPr>
          <a:xfrm>
            <a:off x="4482600" y="5105400"/>
            <a:ext cx="2011000" cy="9144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  Sessions, droits, validation des entrées</a:t>
            </a:r>
          </a:p>
          <a:p>
            <a:pPr>
              <a:lnSpc>
                <a:spcPct val="115000"/>
              </a:lnSpc>
            </a:pPr>
            <a:r>
              <a:rPr lang="fr-FR" sz="1050">
                <a:solidFill>
                  <a:srgbClr val="5F6B76"/>
                </a:solidFill>
                <a:latin typeface="Manrope" pitchFamily="2" charset="0"/>
              </a:rPr>
              <a:t>–  Compte admin, route /me</a:t>
            </a:r>
          </a:p>
        </p:txBody>
      </p:sp>
      <p:sp>
        <p:nvSpPr>
          <p:cNvPr id="34" name="ZoneTexte 33"/>
          <p:cNvSpPr txBox="1"/>
          <p:nvPr/>
        </p:nvSpPr>
        <p:spPr>
          <a:xfrm>
            <a:off x="6798400" y="5105400"/>
            <a:ext cx="2011000" cy="9144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  Limite d'essais (429), confirmation par e-mail</a:t>
            </a:r>
          </a:p>
          <a:p>
            <a:pPr>
              <a:lnSpc>
                <a:spcPct val="115000"/>
              </a:lnSpc>
            </a:pPr>
            <a:r>
              <a:rPr lang="fr-FR" sz="1050">
                <a:solidFill>
                  <a:srgbClr val="5F6B76"/>
                </a:solidFill>
                <a:latin typeface="Manrope" pitchFamily="2" charset="0"/>
              </a:rPr>
              <a:t>–  Sécurité des comptes, relecture des routes</a:t>
            </a:r>
          </a:p>
          <a:p>
            <a:pPr>
              <a:lnSpc>
                <a:spcPct val="115000"/>
              </a:lnSpc>
            </a:pPr>
            <a:r>
              <a:rPr lang="fr-FR" sz="1050">
                <a:solidFill>
                  <a:srgbClr val="5F6B76"/>
                </a:solidFill>
                <a:latin typeface="Manrope" pitchFamily="2" charset="0"/>
              </a:rPr>
              <a:t>–  Changement d'e-mail</a:t>
            </a:r>
          </a:p>
        </p:txBody>
      </p:sp>
      <p:sp>
        <p:nvSpPr>
          <p:cNvPr id="35" name="ZoneTexte 34"/>
          <p:cNvSpPr txBox="1"/>
          <p:nvPr/>
        </p:nvSpPr>
        <p:spPr>
          <a:xfrm>
            <a:off x="9114200" y="5105400"/>
            <a:ext cx="2011000" cy="914400"/>
          </a:xfrm>
          <a:prstGeom prst="rect">
            <a:avLst/>
          </a:prstGeom>
          <a:noFill/>
        </p:spPr>
        <p:txBody>
          <a:bodyPr vert="horz" wrap="square" lIns="0" tIns="0" rIns="0" bIns="0" rtlCol="0">
            <a:noAutofit/>
          </a:bodyPr>
          <a:lstStyle/>
          <a:p>
            <a:pPr>
              <a:lnSpc>
                <a:spcPct val="115000"/>
              </a:lnSpc>
            </a:pPr>
            <a:r>
              <a:rPr lang="fr-FR" sz="1050">
                <a:solidFill>
                  <a:srgbClr val="5F6B76"/>
                </a:solidFill>
                <a:latin typeface="Manrope" pitchFamily="2" charset="0"/>
              </a:rPr>
              <a:t>–  Test complet de la sécurité</a:t>
            </a:r>
          </a:p>
          <a:p>
            <a:pPr>
              <a:lnSpc>
                <a:spcPct val="115000"/>
              </a:lnSpc>
            </a:pPr>
            <a:r>
              <a:rPr lang="fr-FR" sz="1050">
                <a:solidFill>
                  <a:srgbClr val="5F6B76"/>
                </a:solidFill>
                <a:latin typeface="Manrope" pitchFamily="2" charset="0"/>
              </a:rPr>
              <a:t>–  Relecture, répétition</a:t>
            </a:r>
          </a:p>
        </p:txBody>
      </p:sp>
      <p:sp>
        <p:nvSpPr>
          <p:cNvPr id="36" name="Rectangle 35"/>
          <p:cNvSpPr/>
          <p:nvPr/>
        </p:nvSpPr>
        <p:spPr>
          <a:xfrm>
            <a:off x="914400" y="6167437"/>
            <a:ext cx="10363200" cy="9525"/>
          </a:xfrm>
          <a:prstGeom prst="rect">
            <a:avLst/>
          </a:prstGeom>
          <a:solidFill>
            <a:srgbClr val="E2E8ED"/>
          </a:solidFill>
          <a:ln>
            <a:noFill/>
          </a:ln>
        </p:spPr>
        <p:txBody>
          <a:bodyPr rtlCol="0" anchor="ctr"/>
          <a:lstStyle/>
          <a:p>
            <a:pPr algn="ctr"/>
            <a:endParaRPr lang="fr-FR"/>
          </a:p>
        </p:txBody>
      </p:sp>
      <p:sp>
        <p:nvSpPr>
          <p:cNvPr id="37" name="ZoneTexte 36"/>
          <p:cNvSpPr txBox="1"/>
          <p:nvPr/>
        </p:nvSpPr>
        <p:spPr>
          <a:xfrm>
            <a:off x="914400" y="6350000"/>
            <a:ext cx="10363200" cy="369332"/>
          </a:xfrm>
          <a:prstGeom prst="rect">
            <a:avLst/>
          </a:prstGeom>
          <a:noFill/>
        </p:spPr>
        <p:txBody>
          <a:bodyPr vert="horz" wrap="square" lIns="0" tIns="0" rIns="0" bIns="0" rtlCol="0">
            <a:noAutofit/>
          </a:bodyPr>
          <a:lstStyle/>
          <a:p>
            <a:pPr>
              <a:lnSpc>
                <a:spcPct val="115000"/>
              </a:lnSpc>
            </a:pPr>
            <a:r>
              <a:rPr lang="fr-FR" sz="1500">
                <a:solidFill>
                  <a:srgbClr val="24577A"/>
                </a:solidFill>
                <a:latin typeface="Manrope Medium" pitchFamily="2" charset="0"/>
              </a:rPr>
              <a:t>Mi-parcours le J8 au matin, code gelé le J9 au soir, rendu le J10 à midi.</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8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8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8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8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8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8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8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8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8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8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8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8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8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8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8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8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8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8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85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8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8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8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85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par>
                                <p:cTn id="80" presetID="10" presetClass="entr" presetSubtype="0" fill="hold" grpId="0" nodeType="withEffect">
                                  <p:stCondLst>
                                    <p:cond delay="85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par>
                                <p:cTn id="83" presetID="10" presetClass="entr" presetSubtype="0" fill="hold" grpId="0" nodeType="withEffect">
                                  <p:stCondLst>
                                    <p:cond delay="85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500"/>
                                        <p:tgtEl>
                                          <p:spTgt spid="28"/>
                                        </p:tgtEl>
                                      </p:cBhvr>
                                    </p:animEffect>
                                  </p:childTnLst>
                                </p:cTn>
                              </p:par>
                              <p:par>
                                <p:cTn id="86" presetID="10" presetClass="entr" presetSubtype="0" fill="hold" grpId="0" nodeType="withEffect">
                                  <p:stCondLst>
                                    <p:cond delay="85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par>
                                <p:cTn id="89" presetID="10" presetClass="entr" presetSubtype="0" fill="hold" grpId="0" nodeType="withEffect">
                                  <p:stCondLst>
                                    <p:cond delay="85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500"/>
                                        <p:tgtEl>
                                          <p:spTgt spid="30"/>
                                        </p:tgtEl>
                                      </p:cBhvr>
                                    </p:animEffect>
                                  </p:childTnLst>
                                </p:cTn>
                              </p:par>
                              <p:par>
                                <p:cTn id="92" presetID="10" presetClass="entr" presetSubtype="0" fill="hold" grpId="0" nodeType="withEffect">
                                  <p:stCondLst>
                                    <p:cond delay="85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500"/>
                                        <p:tgtEl>
                                          <p:spTgt spid="31"/>
                                        </p:tgtEl>
                                      </p:cBhvr>
                                    </p:animEffect>
                                  </p:childTnLst>
                                </p:cTn>
                              </p:par>
                              <p:par>
                                <p:cTn id="95" presetID="10" presetClass="entr" presetSubtype="0" fill="hold" grpId="0" nodeType="withEffect">
                                  <p:stCondLst>
                                    <p:cond delay="850"/>
                                  </p:stCondLst>
                                  <p:childTnLst>
                                    <p:set>
                                      <p:cBhvr>
                                        <p:cTn id="96" dur="1" fill="hold">
                                          <p:stCondLst>
                                            <p:cond delay="0"/>
                                          </p:stCondLst>
                                        </p:cTn>
                                        <p:tgtEl>
                                          <p:spTgt spid="32"/>
                                        </p:tgtEl>
                                        <p:attrNameLst>
                                          <p:attrName>style.visibility</p:attrName>
                                        </p:attrNameLst>
                                      </p:cBhvr>
                                      <p:to>
                                        <p:strVal val="visible"/>
                                      </p:to>
                                    </p:set>
                                    <p:animEffect transition="in" filter="fade">
                                      <p:cBhvr>
                                        <p:cTn id="97" dur="500"/>
                                        <p:tgtEl>
                                          <p:spTgt spid="32"/>
                                        </p:tgtEl>
                                      </p:cBhvr>
                                    </p:animEffect>
                                  </p:childTnLst>
                                </p:cTn>
                              </p:par>
                              <p:par>
                                <p:cTn id="98" presetID="10" presetClass="entr" presetSubtype="0" fill="hold" grpId="0" nodeType="withEffect">
                                  <p:stCondLst>
                                    <p:cond delay="85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0" dur="500"/>
                                        <p:tgtEl>
                                          <p:spTgt spid="33"/>
                                        </p:tgtEl>
                                      </p:cBhvr>
                                    </p:animEffect>
                                  </p:childTnLst>
                                </p:cTn>
                              </p:par>
                              <p:par>
                                <p:cTn id="101" presetID="10" presetClass="entr" presetSubtype="0" fill="hold" grpId="0" nodeType="withEffect">
                                  <p:stCondLst>
                                    <p:cond delay="85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3" dur="500"/>
                                        <p:tgtEl>
                                          <p:spTgt spid="34"/>
                                        </p:tgtEl>
                                      </p:cBhvr>
                                    </p:animEffect>
                                  </p:childTnLst>
                                </p:cTn>
                              </p:par>
                              <p:par>
                                <p:cTn id="104" presetID="10" presetClass="entr" presetSubtype="0" fill="hold" grpId="0" nodeType="withEffect">
                                  <p:stCondLst>
                                    <p:cond delay="850"/>
                                  </p:stCondLst>
                                  <p:childTnLst>
                                    <p:set>
                                      <p:cBhvr>
                                        <p:cTn id="105" dur="1" fill="hold">
                                          <p:stCondLst>
                                            <p:cond delay="0"/>
                                          </p:stCondLst>
                                        </p:cTn>
                                        <p:tgtEl>
                                          <p:spTgt spid="35"/>
                                        </p:tgtEl>
                                        <p:attrNameLst>
                                          <p:attrName>style.visibility</p:attrName>
                                        </p:attrNameLst>
                                      </p:cBhvr>
                                      <p:to>
                                        <p:strVal val="visible"/>
                                      </p:to>
                                    </p:set>
                                    <p:animEffect transition="in" filter="fade">
                                      <p:cBhvr>
                                        <p:cTn id="106" dur="500"/>
                                        <p:tgtEl>
                                          <p:spTgt spid="35"/>
                                        </p:tgtEl>
                                      </p:cBhvr>
                                    </p:animEffect>
                                  </p:childTnLst>
                                </p:cTn>
                              </p:par>
                              <p:par>
                                <p:cTn id="107" presetID="10" presetClass="entr" presetSubtype="0" fill="hold" grpId="0" nodeType="withEffect">
                                  <p:stCondLst>
                                    <p:cond delay="85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500"/>
                                        <p:tgtEl>
                                          <p:spTgt spid="36"/>
                                        </p:tgtEl>
                                      </p:cBhvr>
                                    </p:animEffect>
                                  </p:childTnLst>
                                </p:cTn>
                              </p:par>
                              <p:par>
                                <p:cTn id="110" presetID="10" presetClass="entr" presetSubtype="0" fill="hold" grpId="0" nodeType="withEffect">
                                  <p:stCondLst>
                                    <p:cond delay="85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animBg="1"/>
      <p:bldP spid="9" grpId="0"/>
      <p:bldP spid="10" grpId="0"/>
      <p:bldP spid="11" grpId="0" animBg="1"/>
      <p:bldP spid="12" grpId="0"/>
      <p:bldP spid="13" grpId="0"/>
      <p:bldP spid="14" grpId="0" animBg="1"/>
      <p:bldP spid="15" grpId="0" animBg="1"/>
      <p:bldP spid="16" grpId="0"/>
      <p:bldP spid="17" grpId="0"/>
      <p:bldP spid="18" grpId="0"/>
      <p:bldP spid="19" grpId="0"/>
      <p:bldP spid="20" grpId="0"/>
      <p:bldP spid="21" grpId="0"/>
      <p:bldP spid="22" grpId="0" animBg="1"/>
      <p:bldP spid="23" grpId="0"/>
      <p:bldP spid="24" grpId="0"/>
      <p:bldP spid="25" grpId="0"/>
      <p:bldP spid="26" grpId="0"/>
      <p:bldP spid="27" grpId="0"/>
      <p:bldP spid="28" grpId="0"/>
      <p:bldP spid="29" grpId="0" animBg="1"/>
      <p:bldP spid="30" grpId="0"/>
      <p:bldP spid="31" grpId="0"/>
      <p:bldP spid="32" grpId="0"/>
      <p:bldP spid="33" grpId="0"/>
      <p:bldP spid="34" grpId="0"/>
      <p:bldP spid="35" grpId="0"/>
      <p:bldP spid="36" grpId="0" animBg="1"/>
      <p:bldP spid="37"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 name="ZoneTexte 1"/>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24577A"/>
                </a:solidFill>
                <a:latin typeface="Manrope SemiBold" pitchFamily="2" charset="0"/>
              </a:rPr>
              <a:t>LA MÉTHODE</a:t>
            </a:r>
          </a:p>
        </p:txBody>
      </p:sp>
      <p:sp>
        <p:nvSpPr>
          <p:cNvPr id="3" name="ZoneTexte 2"/>
          <p:cNvSpPr txBox="1"/>
          <p:nvPr/>
        </p:nvSpPr>
        <p:spPr>
          <a:xfrm>
            <a:off x="914400" y="990600"/>
            <a:ext cx="10363200" cy="369332"/>
          </a:xfrm>
          <a:prstGeom prst="rect">
            <a:avLst/>
          </a:prstGeom>
          <a:noFill/>
        </p:spPr>
        <p:txBody>
          <a:bodyPr vert="horz" wrap="square" lIns="0" tIns="0" rIns="0" bIns="0" rtlCol="0">
            <a:noAutofit/>
          </a:bodyPr>
          <a:lstStyle/>
          <a:p>
            <a:pPr>
              <a:lnSpc>
                <a:spcPct val="115000"/>
              </a:lnSpc>
            </a:pPr>
            <a:r>
              <a:rPr lang="fr-FR" sz="3200" spc="-50">
                <a:solidFill>
                  <a:srgbClr val="1D1D1F"/>
                </a:solidFill>
                <a:latin typeface="Manrope SemiBold" pitchFamily="2" charset="0"/>
              </a:rPr>
              <a:t>Un cadre simple, tenu dix </a:t>
            </a:r>
            <a:r>
              <a:rPr lang="fr-FR" sz="3200" spc="-50">
                <a:solidFill>
                  <a:srgbClr val="24577A"/>
                </a:solidFill>
                <a:latin typeface="Manrope SemiBold" pitchFamily="2" charset="0"/>
              </a:rPr>
              <a:t>jours</a:t>
            </a:r>
            <a:r>
              <a:rPr lang="fr-FR" sz="3200" spc="-50">
                <a:solidFill>
                  <a:srgbClr val="1D1D1F"/>
                </a:solidFill>
                <a:latin typeface="Manrope SemiBold" pitchFamily="2" charset="0"/>
              </a:rPr>
              <a:t>.</a:t>
            </a:r>
          </a:p>
        </p:txBody>
      </p:sp>
      <p:sp>
        <p:nvSpPr>
          <p:cNvPr id="4" name="Rectangle 3"/>
          <p:cNvSpPr/>
          <p:nvPr/>
        </p:nvSpPr>
        <p:spPr>
          <a:xfrm>
            <a:off x="914400" y="2032000"/>
            <a:ext cx="3200400" cy="2286000"/>
          </a:xfrm>
          <a:prstGeom prst="roundRect">
            <a:avLst>
              <a:gd name="adj" fmla="val 8000"/>
            </a:avLst>
          </a:prstGeom>
          <a:solidFill>
            <a:srgbClr val="FFFFFF"/>
          </a:solidFill>
          <a:ln w="9525">
            <a:solidFill>
              <a:srgbClr val="E2E8ED"/>
            </a:solidFill>
          </a:ln>
        </p:spPr>
        <p:txBody>
          <a:bodyPr rtlCol="0" anchor="ctr"/>
          <a:lstStyle/>
          <a:p>
            <a:pPr algn="ctr"/>
            <a:endParaRPr lang="fr-FR"/>
          </a:p>
        </p:txBody>
      </p:sp>
      <p:sp>
        <p:nvSpPr>
          <p:cNvPr id="5" name="ZoneTexte 4"/>
          <p:cNvSpPr txBox="1"/>
          <p:nvPr/>
        </p:nvSpPr>
        <p:spPr>
          <a:xfrm>
            <a:off x="1219200" y="2286000"/>
            <a:ext cx="2590800" cy="369332"/>
          </a:xfrm>
          <a:prstGeom prst="rect">
            <a:avLst/>
          </a:prstGeom>
          <a:noFill/>
        </p:spPr>
        <p:txBody>
          <a:bodyPr vert="horz" wrap="square" lIns="0" tIns="0" rIns="0" bIns="0" rtlCol="0">
            <a:noAutofit/>
          </a:bodyPr>
          <a:lstStyle/>
          <a:p>
            <a:pPr>
              <a:lnSpc>
                <a:spcPct val="115000"/>
              </a:lnSpc>
            </a:pPr>
            <a:r>
              <a:rPr lang="fr-FR" sz="1000" spc="220">
                <a:solidFill>
                  <a:srgbClr val="24577A"/>
                </a:solidFill>
                <a:latin typeface="Manrope SemiBold" pitchFamily="2" charset="0"/>
              </a:rPr>
              <a:t>SUIVI</a:t>
            </a:r>
          </a:p>
        </p:txBody>
      </p:sp>
      <p:sp>
        <p:nvSpPr>
          <p:cNvPr id="6" name="ZoneTexte 5"/>
          <p:cNvSpPr txBox="1"/>
          <p:nvPr/>
        </p:nvSpPr>
        <p:spPr>
          <a:xfrm>
            <a:off x="1219200" y="2565400"/>
            <a:ext cx="2590800" cy="381000"/>
          </a:xfrm>
          <a:prstGeom prst="rect">
            <a:avLst/>
          </a:prstGeom>
          <a:noFill/>
        </p:spPr>
        <p:txBody>
          <a:bodyPr vert="horz" wrap="square" lIns="0" tIns="0" rIns="0" bIns="0" rtlCol="0">
            <a:noAutofit/>
          </a:bodyPr>
          <a:lstStyle/>
          <a:p>
            <a:pPr>
              <a:lnSpc>
                <a:spcPct val="115000"/>
              </a:lnSpc>
            </a:pPr>
            <a:r>
              <a:rPr lang="fr-FR" sz="2400">
                <a:solidFill>
                  <a:srgbClr val="1D1D1F"/>
                </a:solidFill>
                <a:latin typeface="Manrope SemiBold" pitchFamily="2" charset="0"/>
              </a:rPr>
              <a:t>Un plan par jour</a:t>
            </a:r>
          </a:p>
        </p:txBody>
      </p:sp>
      <p:sp>
        <p:nvSpPr>
          <p:cNvPr id="7" name="ZoneTexte 6"/>
          <p:cNvSpPr txBox="1"/>
          <p:nvPr/>
        </p:nvSpPr>
        <p:spPr>
          <a:xfrm>
            <a:off x="1219200" y="3048000"/>
            <a:ext cx="2590800" cy="1016000"/>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Un planning sur dix jours, révisé le 06, le 08 et le 11 octobre ; chaque matin, un document de tâches par personne, conservé dans le dossier de gestion du projet.</a:t>
            </a:r>
          </a:p>
        </p:txBody>
      </p:sp>
      <p:sp>
        <p:nvSpPr>
          <p:cNvPr id="8" name="Rectangle 7"/>
          <p:cNvSpPr/>
          <p:nvPr/>
        </p:nvSpPr>
        <p:spPr>
          <a:xfrm>
            <a:off x="4495800" y="2032000"/>
            <a:ext cx="3200400" cy="2286000"/>
          </a:xfrm>
          <a:prstGeom prst="roundRect">
            <a:avLst>
              <a:gd name="adj" fmla="val 8000"/>
            </a:avLst>
          </a:prstGeom>
          <a:solidFill>
            <a:srgbClr val="FFFFFF"/>
          </a:solidFill>
          <a:ln w="9525">
            <a:solidFill>
              <a:srgbClr val="E2E8ED"/>
            </a:solidFill>
          </a:ln>
        </p:spPr>
        <p:txBody>
          <a:bodyPr rtlCol="0" anchor="ctr"/>
          <a:lstStyle/>
          <a:p>
            <a:pPr algn="ctr"/>
            <a:endParaRPr lang="fr-FR"/>
          </a:p>
        </p:txBody>
      </p:sp>
      <p:sp>
        <p:nvSpPr>
          <p:cNvPr id="9" name="ZoneTexte 8"/>
          <p:cNvSpPr txBox="1"/>
          <p:nvPr/>
        </p:nvSpPr>
        <p:spPr>
          <a:xfrm>
            <a:off x="4800600" y="2286000"/>
            <a:ext cx="2590800" cy="369332"/>
          </a:xfrm>
          <a:prstGeom prst="rect">
            <a:avLst/>
          </a:prstGeom>
          <a:noFill/>
        </p:spPr>
        <p:txBody>
          <a:bodyPr vert="horz" wrap="square" lIns="0" tIns="0" rIns="0" bIns="0" rtlCol="0">
            <a:noAutofit/>
          </a:bodyPr>
          <a:lstStyle/>
          <a:p>
            <a:pPr>
              <a:lnSpc>
                <a:spcPct val="115000"/>
              </a:lnSpc>
            </a:pPr>
            <a:r>
              <a:rPr lang="fr-FR" sz="1000" spc="220">
                <a:solidFill>
                  <a:srgbClr val="24577A"/>
                </a:solidFill>
                <a:latin typeface="Manrope SemiBold" pitchFamily="2" charset="0"/>
              </a:rPr>
              <a:t>GIT</a:t>
            </a:r>
          </a:p>
        </p:txBody>
      </p:sp>
      <p:sp>
        <p:nvSpPr>
          <p:cNvPr id="10" name="ZoneTexte 9"/>
          <p:cNvSpPr txBox="1"/>
          <p:nvPr/>
        </p:nvSpPr>
        <p:spPr>
          <a:xfrm>
            <a:off x="4800600" y="2565400"/>
            <a:ext cx="2590800" cy="381000"/>
          </a:xfrm>
          <a:prstGeom prst="rect">
            <a:avLst/>
          </a:prstGeom>
          <a:noFill/>
        </p:spPr>
        <p:txBody>
          <a:bodyPr vert="horz" wrap="square" lIns="0" tIns="0" rIns="0" bIns="0" rtlCol="0">
            <a:noAutofit/>
          </a:bodyPr>
          <a:lstStyle/>
          <a:p>
            <a:pPr>
              <a:lnSpc>
                <a:spcPct val="115000"/>
              </a:lnSpc>
            </a:pPr>
            <a:r>
              <a:rPr lang="fr-FR" sz="2400">
                <a:solidFill>
                  <a:srgbClr val="1D1D1F"/>
                </a:solidFill>
                <a:latin typeface="Manrope SemiBold" pitchFamily="2" charset="0"/>
              </a:rPr>
              <a:t>Branche par sujet</a:t>
            </a:r>
          </a:p>
        </p:txBody>
      </p:sp>
      <p:sp>
        <p:nvSpPr>
          <p:cNvPr id="11" name="ZoneTexte 10"/>
          <p:cNvSpPr txBox="1"/>
          <p:nvPr/>
        </p:nvSpPr>
        <p:spPr>
          <a:xfrm>
            <a:off x="4800600" y="3048000"/>
            <a:ext cx="2590800" cy="1016000"/>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22 branches feature/ et fix/, 28 fusions, 122 commits sur main, nommés par sujet et version. Une branche par sujet, une seule personne fusionne.</a:t>
            </a:r>
          </a:p>
        </p:txBody>
      </p:sp>
      <p:sp>
        <p:nvSpPr>
          <p:cNvPr id="12" name="Rectangle 11"/>
          <p:cNvSpPr/>
          <p:nvPr/>
        </p:nvSpPr>
        <p:spPr>
          <a:xfrm>
            <a:off x="8077200" y="2032000"/>
            <a:ext cx="3200400" cy="2286000"/>
          </a:xfrm>
          <a:prstGeom prst="roundRect">
            <a:avLst>
              <a:gd name="adj" fmla="val 8000"/>
            </a:avLst>
          </a:prstGeom>
          <a:solidFill>
            <a:srgbClr val="FFFFFF"/>
          </a:solidFill>
          <a:ln w="9525">
            <a:solidFill>
              <a:srgbClr val="E2E8ED"/>
            </a:solidFill>
          </a:ln>
        </p:spPr>
        <p:txBody>
          <a:bodyPr rtlCol="0" anchor="ctr"/>
          <a:lstStyle/>
          <a:p>
            <a:pPr algn="ctr"/>
            <a:endParaRPr lang="fr-FR"/>
          </a:p>
        </p:txBody>
      </p:sp>
      <p:sp>
        <p:nvSpPr>
          <p:cNvPr id="13" name="ZoneTexte 12"/>
          <p:cNvSpPr txBox="1"/>
          <p:nvPr/>
        </p:nvSpPr>
        <p:spPr>
          <a:xfrm>
            <a:off x="8382000" y="2286000"/>
            <a:ext cx="2590800" cy="369332"/>
          </a:xfrm>
          <a:prstGeom prst="rect">
            <a:avLst/>
          </a:prstGeom>
          <a:noFill/>
        </p:spPr>
        <p:txBody>
          <a:bodyPr vert="horz" wrap="square" lIns="0" tIns="0" rIns="0" bIns="0" rtlCol="0">
            <a:noAutofit/>
          </a:bodyPr>
          <a:lstStyle/>
          <a:p>
            <a:pPr>
              <a:lnSpc>
                <a:spcPct val="115000"/>
              </a:lnSpc>
            </a:pPr>
            <a:r>
              <a:rPr lang="fr-FR" sz="1000" spc="220">
                <a:solidFill>
                  <a:srgbClr val="24577A"/>
                </a:solidFill>
                <a:latin typeface="Manrope SemiBold" pitchFamily="2" charset="0"/>
              </a:rPr>
              <a:t>RYTHME</a:t>
            </a:r>
          </a:p>
        </p:txBody>
      </p:sp>
      <p:sp>
        <p:nvSpPr>
          <p:cNvPr id="14" name="ZoneTexte 13"/>
          <p:cNvSpPr txBox="1"/>
          <p:nvPr/>
        </p:nvSpPr>
        <p:spPr>
          <a:xfrm>
            <a:off x="8382000" y="2565400"/>
            <a:ext cx="2590800" cy="381000"/>
          </a:xfrm>
          <a:prstGeom prst="rect">
            <a:avLst/>
          </a:prstGeom>
          <a:noFill/>
        </p:spPr>
        <p:txBody>
          <a:bodyPr vert="horz" wrap="square" lIns="0" tIns="0" rIns="0" bIns="0" rtlCol="0">
            <a:noAutofit/>
          </a:bodyPr>
          <a:lstStyle/>
          <a:p>
            <a:pPr>
              <a:lnSpc>
                <a:spcPct val="115000"/>
              </a:lnSpc>
            </a:pPr>
            <a:r>
              <a:rPr lang="fr-FR" sz="2400">
                <a:solidFill>
                  <a:srgbClr val="1D1D1F"/>
                </a:solidFill>
                <a:latin typeface="Manrope SemiBold" pitchFamily="2" charset="0"/>
              </a:rPr>
              <a:t>Matin et soir</a:t>
            </a:r>
          </a:p>
        </p:txBody>
      </p:sp>
      <p:sp>
        <p:nvSpPr>
          <p:cNvPr id="15" name="ZoneTexte 14"/>
          <p:cNvSpPr txBox="1"/>
          <p:nvPr/>
        </p:nvSpPr>
        <p:spPr>
          <a:xfrm>
            <a:off x="8382000" y="3048000"/>
            <a:ext cx="2590800" cy="1016000"/>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Le matin, chacun reçoit ses tâches du jour. Le soir, point sur Teams — fait, suite, blocages — puis tests, relecture et fusion.</a:t>
            </a:r>
          </a:p>
        </p:txBody>
      </p:sp>
      <p:sp>
        <p:nvSpPr>
          <p:cNvPr id="16" name="ZoneTexte 15"/>
          <p:cNvSpPr txBox="1"/>
          <p:nvPr/>
        </p:nvSpPr>
        <p:spPr>
          <a:xfrm>
            <a:off x="914400" y="4800600"/>
            <a:ext cx="3200400" cy="369332"/>
          </a:xfrm>
          <a:prstGeom prst="rect">
            <a:avLst/>
          </a:prstGeom>
          <a:noFill/>
        </p:spPr>
        <p:txBody>
          <a:bodyPr vert="horz" wrap="square" lIns="0" tIns="0" rIns="0" bIns="0" rtlCol="0">
            <a:noAutofit/>
          </a:bodyPr>
          <a:lstStyle/>
          <a:p>
            <a:pPr>
              <a:lnSpc>
                <a:spcPct val="115000"/>
              </a:lnSpc>
            </a:pPr>
            <a:r>
              <a:rPr lang="fr-FR" sz="1700">
                <a:solidFill>
                  <a:srgbClr val="1D1D1F"/>
                </a:solidFill>
                <a:latin typeface="Manrope Medium" pitchFamily="2" charset="0"/>
              </a:rPr>
              <a:t>Branche</a:t>
            </a:r>
          </a:p>
        </p:txBody>
      </p:sp>
      <p:sp>
        <p:nvSpPr>
          <p:cNvPr id="17" name="ZoneTexte 16"/>
          <p:cNvSpPr txBox="1"/>
          <p:nvPr/>
        </p:nvSpPr>
        <p:spPr>
          <a:xfrm>
            <a:off x="914400" y="5156200"/>
            <a:ext cx="3048000" cy="369332"/>
          </a:xfrm>
          <a:prstGeom prst="rect">
            <a:avLst/>
          </a:prstGeom>
          <a:noFill/>
        </p:spPr>
        <p:txBody>
          <a:bodyPr vert="horz" wrap="square" lIns="0" tIns="0" rIns="0" bIns="0" rtlCol="0">
            <a:noAutofit/>
          </a:bodyPr>
          <a:lstStyle/>
          <a:p>
            <a:pPr>
              <a:lnSpc>
                <a:spcPct val="115000"/>
              </a:lnSpc>
            </a:pPr>
            <a:r>
              <a:rPr lang="fr-FR" sz="1300">
                <a:solidFill>
                  <a:srgbClr val="5F6B76"/>
                </a:solidFill>
                <a:latin typeface="Manrope" pitchFamily="2" charset="0"/>
              </a:rPr>
              <a:t>créée depuis main à jour</a:t>
            </a:r>
          </a:p>
        </p:txBody>
      </p:sp>
      <p:sp>
        <p:nvSpPr>
          <p:cNvPr id="18" name="ZoneTexte 17"/>
          <p:cNvSpPr txBox="1"/>
          <p:nvPr/>
        </p:nvSpPr>
        <p:spPr>
          <a:xfrm>
            <a:off x="4495800" y="4800600"/>
            <a:ext cx="3200400" cy="369332"/>
          </a:xfrm>
          <a:prstGeom prst="rect">
            <a:avLst/>
          </a:prstGeom>
          <a:noFill/>
        </p:spPr>
        <p:txBody>
          <a:bodyPr vert="horz" wrap="square" lIns="0" tIns="0" rIns="0" bIns="0" rtlCol="0">
            <a:noAutofit/>
          </a:bodyPr>
          <a:lstStyle/>
          <a:p>
            <a:pPr>
              <a:lnSpc>
                <a:spcPct val="115000"/>
              </a:lnSpc>
            </a:pPr>
            <a:r>
              <a:rPr lang="fr-FR" sz="1700">
                <a:solidFill>
                  <a:srgbClr val="1D1D1F"/>
                </a:solidFill>
                <a:latin typeface="Manrope Medium" pitchFamily="2" charset="0"/>
              </a:rPr>
              <a:t>Tests et relecture</a:t>
            </a:r>
          </a:p>
        </p:txBody>
      </p:sp>
      <p:sp>
        <p:nvSpPr>
          <p:cNvPr id="19" name="ZoneTexte 18"/>
          <p:cNvSpPr txBox="1"/>
          <p:nvPr/>
        </p:nvSpPr>
        <p:spPr>
          <a:xfrm>
            <a:off x="4495800" y="5156200"/>
            <a:ext cx="3048000" cy="369332"/>
          </a:xfrm>
          <a:prstGeom prst="rect">
            <a:avLst/>
          </a:prstGeom>
          <a:noFill/>
        </p:spPr>
        <p:txBody>
          <a:bodyPr vert="horz" wrap="square" lIns="0" tIns="0" rIns="0" bIns="0" rtlCol="0">
            <a:noAutofit/>
          </a:bodyPr>
          <a:lstStyle/>
          <a:p>
            <a:pPr>
              <a:lnSpc>
                <a:spcPct val="115000"/>
              </a:lnSpc>
            </a:pPr>
            <a:r>
              <a:rPr lang="fr-FR" sz="1300">
                <a:solidFill>
                  <a:srgbClr val="5F6B76"/>
                </a:solidFill>
                <a:latin typeface="Manrope" pitchFamily="2" charset="0"/>
              </a:rPr>
              <a:t>avant chaque fusion</a:t>
            </a:r>
          </a:p>
        </p:txBody>
      </p:sp>
      <p:sp>
        <p:nvSpPr>
          <p:cNvPr id="20" name="ZoneTexte 19"/>
          <p:cNvSpPr txBox="1"/>
          <p:nvPr/>
        </p:nvSpPr>
        <p:spPr>
          <a:xfrm>
            <a:off x="8077200" y="4800600"/>
            <a:ext cx="3200400" cy="369332"/>
          </a:xfrm>
          <a:prstGeom prst="rect">
            <a:avLst/>
          </a:prstGeom>
          <a:noFill/>
        </p:spPr>
        <p:txBody>
          <a:bodyPr vert="horz" wrap="square" lIns="0" tIns="0" rIns="0" bIns="0" rtlCol="0">
            <a:noAutofit/>
          </a:bodyPr>
          <a:lstStyle/>
          <a:p>
            <a:pPr>
              <a:lnSpc>
                <a:spcPct val="115000"/>
              </a:lnSpc>
            </a:pPr>
            <a:r>
              <a:rPr lang="fr-FR" sz="1700">
                <a:solidFill>
                  <a:srgbClr val="1D1D1F"/>
                </a:solidFill>
                <a:latin typeface="Manrope Medium" pitchFamily="2" charset="0"/>
              </a:rPr>
              <a:t>main</a:t>
            </a:r>
          </a:p>
        </p:txBody>
      </p:sp>
      <p:sp>
        <p:nvSpPr>
          <p:cNvPr id="21" name="ZoneTexte 20"/>
          <p:cNvSpPr txBox="1"/>
          <p:nvPr/>
        </p:nvSpPr>
        <p:spPr>
          <a:xfrm>
            <a:off x="8077200" y="5156200"/>
            <a:ext cx="3048000" cy="369332"/>
          </a:xfrm>
          <a:prstGeom prst="rect">
            <a:avLst/>
          </a:prstGeom>
          <a:noFill/>
        </p:spPr>
        <p:txBody>
          <a:bodyPr vert="horz" wrap="square" lIns="0" tIns="0" rIns="0" bIns="0" rtlCol="0">
            <a:noAutofit/>
          </a:bodyPr>
          <a:lstStyle/>
          <a:p>
            <a:pPr>
              <a:lnSpc>
                <a:spcPct val="115000"/>
              </a:lnSpc>
            </a:pPr>
            <a:r>
              <a:rPr lang="fr-FR" sz="1300">
                <a:solidFill>
                  <a:srgbClr val="5F6B76"/>
                </a:solidFill>
                <a:latin typeface="Manrope" pitchFamily="2" charset="0"/>
              </a:rPr>
              <a:t>poussée sur les deux dépôts</a:t>
            </a:r>
          </a:p>
        </p:txBody>
      </p:sp>
      <p:cxnSp>
        <p:nvCxnSpPr>
          <p:cNvPr id="22" name="Connecteur droit 21"/>
          <p:cNvCxnSpPr/>
          <p:nvPr/>
        </p:nvCxnSpPr>
        <p:spPr>
          <a:xfrm>
            <a:off x="3835400" y="4953000"/>
            <a:ext cx="406400" cy="0"/>
          </a:xfrm>
          <a:prstGeom prst="line">
            <a:avLst/>
          </a:prstGeom>
          <a:ln w="15875">
            <a:solidFill>
              <a:srgbClr val="5F6B76"/>
            </a:solidFill>
            <a:tailEnd type="triangle" w="med" len="med"/>
          </a:ln>
        </p:spPr>
      </p:cxnSp>
      <p:cxnSp>
        <p:nvCxnSpPr>
          <p:cNvPr id="23" name="Connecteur droit 22"/>
          <p:cNvCxnSpPr/>
          <p:nvPr/>
        </p:nvCxnSpPr>
        <p:spPr>
          <a:xfrm>
            <a:off x="7416800" y="4953000"/>
            <a:ext cx="406400" cy="0"/>
          </a:xfrm>
          <a:prstGeom prst="line">
            <a:avLst/>
          </a:prstGeom>
          <a:ln w="15875">
            <a:solidFill>
              <a:srgbClr val="5F6B76"/>
            </a:solidFill>
            <a:tailEnd type="triangle" w="med" len="med"/>
          </a:ln>
        </p:spPr>
      </p:cxnSp>
      <p:sp>
        <p:nvSpPr>
          <p:cNvPr id="24" name="ZoneTexte 23"/>
          <p:cNvSpPr txBox="1"/>
          <p:nvPr/>
        </p:nvSpPr>
        <p:spPr>
          <a:xfrm>
            <a:off x="914400" y="5791200"/>
            <a:ext cx="10363200" cy="369332"/>
          </a:xfrm>
          <a:prstGeom prst="rect">
            <a:avLst/>
          </a:prstGeom>
          <a:noFill/>
        </p:spPr>
        <p:txBody>
          <a:bodyPr vert="horz" wrap="square" lIns="0" tIns="0" rIns="0" bIns="0" rtlCol="0">
            <a:noAutofit/>
          </a:bodyPr>
          <a:lstStyle/>
          <a:p>
            <a:pPr>
              <a:lnSpc>
                <a:spcPct val="115000"/>
              </a:lnSpc>
            </a:pPr>
            <a:r>
              <a:rPr lang="fr-FR" sz="1600">
                <a:solidFill>
                  <a:srgbClr val="24577A"/>
                </a:solidFill>
                <a:latin typeface="Manrope Medium" pitchFamily="2" charset="0"/>
              </a:rPr>
              <a:t>Une évolution se décide sur le papier, puis se livre sans surprise.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8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8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8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8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8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8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8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8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8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8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8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8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8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8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8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8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8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8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85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8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8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p:bldP spid="8" grpId="0" animBg="1"/>
      <p:bldP spid="9" grpId="0"/>
      <p:bldP spid="10" grpId="0"/>
      <p:bldP spid="11" grpId="0"/>
      <p:bldP spid="12" grpId="0" animBg="1"/>
      <p:bldP spid="13" grpId="0"/>
      <p:bldP spid="14" grpId="0"/>
      <p:bldP spid="15" grpId="0"/>
      <p:bldP spid="16" grpId="0"/>
      <p:bldP spid="17" grpId="0"/>
      <p:bldP spid="18" grpId="0"/>
      <p:bldP spid="19" grpId="0"/>
      <p:bldP spid="20" grpId="0"/>
      <p:bldP spid="21" grpId="0"/>
      <p:bldP spid="22" grpId="0" animBg="1"/>
      <p:bldP spid="23" grpId="0" animBg="1"/>
      <p:bldP spid="24"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 name="ZoneTexte 1"/>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24577A"/>
                </a:solidFill>
                <a:latin typeface="Manrope SemiBold" pitchFamily="2" charset="0"/>
              </a:rPr>
              <a:t>LES DIFFICULTÉS</a:t>
            </a:r>
          </a:p>
        </p:txBody>
      </p:sp>
      <p:sp>
        <p:nvSpPr>
          <p:cNvPr id="3" name="ZoneTexte 2"/>
          <p:cNvSpPr txBox="1"/>
          <p:nvPr/>
        </p:nvSpPr>
        <p:spPr>
          <a:xfrm>
            <a:off x="914400" y="990600"/>
            <a:ext cx="10363200" cy="369332"/>
          </a:xfrm>
          <a:prstGeom prst="rect">
            <a:avLst/>
          </a:prstGeom>
          <a:noFill/>
        </p:spPr>
        <p:txBody>
          <a:bodyPr vert="horz" wrap="square" lIns="0" tIns="0" rIns="0" bIns="0" rtlCol="0">
            <a:noAutofit/>
          </a:bodyPr>
          <a:lstStyle/>
          <a:p>
            <a:pPr>
              <a:lnSpc>
                <a:spcPct val="115000"/>
              </a:lnSpc>
            </a:pPr>
            <a:r>
              <a:rPr lang="fr-FR" sz="3200" spc="-50">
                <a:solidFill>
                  <a:srgbClr val="1D1D1F"/>
                </a:solidFill>
                <a:latin typeface="Manrope SemiBold" pitchFamily="2" charset="0"/>
              </a:rPr>
              <a:t>Ce qui a résisté, et ce que nous en </a:t>
            </a:r>
            <a:r>
              <a:rPr lang="fr-FR" sz="3200" spc="-50">
                <a:solidFill>
                  <a:srgbClr val="24577A"/>
                </a:solidFill>
                <a:latin typeface="Manrope SemiBold" pitchFamily="2" charset="0"/>
              </a:rPr>
              <a:t>gardons</a:t>
            </a:r>
            <a:r>
              <a:rPr lang="fr-FR" sz="3200" spc="-50">
                <a:solidFill>
                  <a:srgbClr val="1D1D1F"/>
                </a:solidFill>
                <a:latin typeface="Manrope SemiBold" pitchFamily="2" charset="0"/>
              </a:rPr>
              <a:t>.</a:t>
            </a:r>
          </a:p>
        </p:txBody>
      </p:sp>
      <p:sp>
        <p:nvSpPr>
          <p:cNvPr id="4" name="ZoneTexte 3"/>
          <p:cNvSpPr txBox="1"/>
          <p:nvPr/>
        </p:nvSpPr>
        <p:spPr>
          <a:xfrm>
            <a:off x="914400" y="1993900"/>
            <a:ext cx="508000" cy="369332"/>
          </a:xfrm>
          <a:prstGeom prst="rect">
            <a:avLst/>
          </a:prstGeom>
          <a:noFill/>
        </p:spPr>
        <p:txBody>
          <a:bodyPr vert="horz" wrap="square" lIns="0" tIns="0" rIns="0" bIns="0" rtlCol="0">
            <a:noAutofit/>
          </a:bodyPr>
          <a:lstStyle/>
          <a:p>
            <a:pPr>
              <a:lnSpc>
                <a:spcPct val="115000"/>
              </a:lnSpc>
            </a:pPr>
            <a:r>
              <a:rPr lang="fr-FR" sz="1500">
                <a:solidFill>
                  <a:srgbClr val="24577A"/>
                </a:solidFill>
                <a:latin typeface="Manrope SemiBold" pitchFamily="2" charset="0"/>
              </a:rPr>
              <a:t>01</a:t>
            </a:r>
          </a:p>
        </p:txBody>
      </p:sp>
      <p:sp>
        <p:nvSpPr>
          <p:cNvPr id="5" name="ZoneTexte 4"/>
          <p:cNvSpPr txBox="1"/>
          <p:nvPr/>
        </p:nvSpPr>
        <p:spPr>
          <a:xfrm>
            <a:off x="1524000" y="1955800"/>
            <a:ext cx="9753600" cy="381000"/>
          </a:xfrm>
          <a:prstGeom prst="rect">
            <a:avLst/>
          </a:prstGeom>
          <a:noFill/>
        </p:spPr>
        <p:txBody>
          <a:bodyPr vert="horz" wrap="square" lIns="0" tIns="0" rIns="0" bIns="0" rtlCol="0">
            <a:noAutofit/>
          </a:bodyPr>
          <a:lstStyle/>
          <a:p>
            <a:pPr>
              <a:lnSpc>
                <a:spcPct val="115000"/>
              </a:lnSpc>
            </a:pPr>
            <a:r>
              <a:rPr lang="fr-FR" sz="1900">
                <a:solidFill>
                  <a:srgbClr val="1D1D1F"/>
                </a:solidFill>
                <a:latin typeface="Manrope Medium" pitchFamily="2" charset="0"/>
              </a:rPr>
              <a:t>Une équipe complétée en cours de route</a:t>
            </a:r>
          </a:p>
        </p:txBody>
      </p:sp>
      <p:sp>
        <p:nvSpPr>
          <p:cNvPr id="6" name="ZoneTexte 5"/>
          <p:cNvSpPr txBox="1"/>
          <p:nvPr/>
        </p:nvSpPr>
        <p:spPr>
          <a:xfrm>
            <a:off x="1524000" y="2362200"/>
            <a:ext cx="9753600" cy="500000"/>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Un rattrapage ciblé le deuxième jour, puis un document de tâches par personne chaque matin : la charge a été rééquilibrée deux fois sans perdre le plan.</a:t>
            </a:r>
          </a:p>
        </p:txBody>
      </p:sp>
      <p:sp>
        <p:nvSpPr>
          <p:cNvPr id="7" name="Rectangle 6"/>
          <p:cNvSpPr/>
          <p:nvPr/>
        </p:nvSpPr>
        <p:spPr>
          <a:xfrm>
            <a:off x="914400" y="2895600"/>
            <a:ext cx="10363200" cy="9525"/>
          </a:xfrm>
          <a:prstGeom prst="rect">
            <a:avLst/>
          </a:prstGeom>
          <a:solidFill>
            <a:srgbClr val="E2E8ED"/>
          </a:solidFill>
          <a:ln>
            <a:noFill/>
          </a:ln>
        </p:spPr>
        <p:txBody>
          <a:bodyPr rtlCol="0" anchor="ctr"/>
          <a:lstStyle/>
          <a:p>
            <a:pPr algn="ctr"/>
            <a:endParaRPr lang="fr-FR"/>
          </a:p>
        </p:txBody>
      </p:sp>
      <p:sp>
        <p:nvSpPr>
          <p:cNvPr id="8" name="ZoneTexte 7"/>
          <p:cNvSpPr txBox="1"/>
          <p:nvPr/>
        </p:nvSpPr>
        <p:spPr>
          <a:xfrm>
            <a:off x="914400" y="3009900"/>
            <a:ext cx="508000" cy="369332"/>
          </a:xfrm>
          <a:prstGeom prst="rect">
            <a:avLst/>
          </a:prstGeom>
          <a:noFill/>
        </p:spPr>
        <p:txBody>
          <a:bodyPr vert="horz" wrap="square" lIns="0" tIns="0" rIns="0" bIns="0" rtlCol="0">
            <a:noAutofit/>
          </a:bodyPr>
          <a:lstStyle/>
          <a:p>
            <a:pPr>
              <a:lnSpc>
                <a:spcPct val="115000"/>
              </a:lnSpc>
            </a:pPr>
            <a:r>
              <a:rPr lang="fr-FR" sz="1500">
                <a:solidFill>
                  <a:srgbClr val="24577A"/>
                </a:solidFill>
                <a:latin typeface="Manrope SemiBold" pitchFamily="2" charset="0"/>
              </a:rPr>
              <a:t>02</a:t>
            </a:r>
          </a:p>
        </p:txBody>
      </p:sp>
      <p:sp>
        <p:nvSpPr>
          <p:cNvPr id="9" name="ZoneTexte 8"/>
          <p:cNvSpPr txBox="1"/>
          <p:nvPr/>
        </p:nvSpPr>
        <p:spPr>
          <a:xfrm>
            <a:off x="1524000" y="2971800"/>
            <a:ext cx="9753600" cy="381000"/>
          </a:xfrm>
          <a:prstGeom prst="rect">
            <a:avLst/>
          </a:prstGeom>
          <a:noFill/>
        </p:spPr>
        <p:txBody>
          <a:bodyPr vert="horz" wrap="square" lIns="0" tIns="0" rIns="0" bIns="0" rtlCol="0">
            <a:noAutofit/>
          </a:bodyPr>
          <a:lstStyle/>
          <a:p>
            <a:pPr>
              <a:lnSpc>
                <a:spcPct val="115000"/>
              </a:lnSpc>
            </a:pPr>
            <a:r>
              <a:rPr lang="fr-FR" sz="1900">
                <a:solidFill>
                  <a:srgbClr val="1D1D1F"/>
                </a:solidFill>
                <a:latin typeface="Manrope Medium" pitchFamily="2" charset="0"/>
              </a:rPr>
              <a:t>Deux branches qui modifient le même fichier</a:t>
            </a:r>
          </a:p>
        </p:txBody>
      </p:sp>
      <p:sp>
        <p:nvSpPr>
          <p:cNvPr id="10" name="ZoneTexte 9"/>
          <p:cNvSpPr txBox="1"/>
          <p:nvPr/>
        </p:nvSpPr>
        <p:spPr>
          <a:xfrm>
            <a:off x="1524000" y="3378200"/>
            <a:ext cx="9753600" cy="500000"/>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Un conflit résolu ensemble le troisième jour, puis une règle tenue jusqu'au bout : une branche par sujet, tests et relecture avant chaque fusion.</a:t>
            </a:r>
          </a:p>
        </p:txBody>
      </p:sp>
      <p:sp>
        <p:nvSpPr>
          <p:cNvPr id="11" name="Rectangle 10"/>
          <p:cNvSpPr/>
          <p:nvPr/>
        </p:nvSpPr>
        <p:spPr>
          <a:xfrm>
            <a:off x="914400" y="3911600"/>
            <a:ext cx="10363200" cy="9525"/>
          </a:xfrm>
          <a:prstGeom prst="rect">
            <a:avLst/>
          </a:prstGeom>
          <a:solidFill>
            <a:srgbClr val="E2E8ED"/>
          </a:solidFill>
          <a:ln>
            <a:noFill/>
          </a:ln>
        </p:spPr>
        <p:txBody>
          <a:bodyPr rtlCol="0" anchor="ctr"/>
          <a:lstStyle/>
          <a:p>
            <a:pPr algn="ctr"/>
            <a:endParaRPr lang="fr-FR"/>
          </a:p>
        </p:txBody>
      </p:sp>
      <p:sp>
        <p:nvSpPr>
          <p:cNvPr id="12" name="ZoneTexte 11"/>
          <p:cNvSpPr txBox="1"/>
          <p:nvPr/>
        </p:nvSpPr>
        <p:spPr>
          <a:xfrm>
            <a:off x="914400" y="4025900"/>
            <a:ext cx="508000" cy="369332"/>
          </a:xfrm>
          <a:prstGeom prst="rect">
            <a:avLst/>
          </a:prstGeom>
          <a:noFill/>
        </p:spPr>
        <p:txBody>
          <a:bodyPr vert="horz" wrap="square" lIns="0" tIns="0" rIns="0" bIns="0" rtlCol="0">
            <a:noAutofit/>
          </a:bodyPr>
          <a:lstStyle/>
          <a:p>
            <a:pPr>
              <a:lnSpc>
                <a:spcPct val="115000"/>
              </a:lnSpc>
            </a:pPr>
            <a:r>
              <a:rPr lang="fr-FR" sz="1500">
                <a:solidFill>
                  <a:srgbClr val="24577A"/>
                </a:solidFill>
                <a:latin typeface="Manrope SemiBold" pitchFamily="2" charset="0"/>
              </a:rPr>
              <a:t>03</a:t>
            </a:r>
          </a:p>
        </p:txBody>
      </p:sp>
      <p:sp>
        <p:nvSpPr>
          <p:cNvPr id="13" name="ZoneTexte 12"/>
          <p:cNvSpPr txBox="1"/>
          <p:nvPr/>
        </p:nvSpPr>
        <p:spPr>
          <a:xfrm>
            <a:off x="1524000" y="3987800"/>
            <a:ext cx="9753600" cy="381000"/>
          </a:xfrm>
          <a:prstGeom prst="rect">
            <a:avLst/>
          </a:prstGeom>
          <a:noFill/>
        </p:spPr>
        <p:txBody>
          <a:bodyPr vert="horz" wrap="square" lIns="0" tIns="0" rIns="0" bIns="0" rtlCol="0">
            <a:noAutofit/>
          </a:bodyPr>
          <a:lstStyle/>
          <a:p>
            <a:pPr>
              <a:lnSpc>
                <a:spcPct val="115000"/>
              </a:lnSpc>
            </a:pPr>
            <a:r>
              <a:rPr lang="fr-FR" sz="1900">
                <a:solidFill>
                  <a:srgbClr val="1D1D1F"/>
                </a:solidFill>
                <a:latin typeface="Manrope Medium" pitchFamily="2" charset="0"/>
              </a:rPr>
              <a:t>Un serveur d'envoi qui refuse</a:t>
            </a:r>
          </a:p>
        </p:txBody>
      </p:sp>
      <p:sp>
        <p:nvSpPr>
          <p:cNvPr id="14" name="ZoneTexte 13"/>
          <p:cNvSpPr txBox="1"/>
          <p:nvPr/>
        </p:nvSpPr>
        <p:spPr>
          <a:xfrm>
            <a:off x="1524000" y="4394200"/>
            <a:ext cx="9753600" cy="500000"/>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Le premier fournisseur d'e-mails a rejeté la connexion ; passage à un autre avec un mot de passe d'application. Les secrets restent hors du dépôt.</a:t>
            </a:r>
          </a:p>
        </p:txBody>
      </p:sp>
      <p:sp>
        <p:nvSpPr>
          <p:cNvPr id="15" name="Rectangle 14"/>
          <p:cNvSpPr/>
          <p:nvPr/>
        </p:nvSpPr>
        <p:spPr>
          <a:xfrm>
            <a:off x="914400" y="4927600"/>
            <a:ext cx="10363200" cy="9525"/>
          </a:xfrm>
          <a:prstGeom prst="rect">
            <a:avLst/>
          </a:prstGeom>
          <a:solidFill>
            <a:srgbClr val="E2E8ED"/>
          </a:solidFill>
          <a:ln>
            <a:noFill/>
          </a:ln>
        </p:spPr>
        <p:txBody>
          <a:bodyPr rtlCol="0" anchor="ctr"/>
          <a:lstStyle/>
          <a:p>
            <a:pPr algn="ctr"/>
            <a:endParaRPr lang="fr-FR"/>
          </a:p>
        </p:txBody>
      </p:sp>
      <p:sp>
        <p:nvSpPr>
          <p:cNvPr id="16" name="ZoneTexte 15"/>
          <p:cNvSpPr txBox="1"/>
          <p:nvPr/>
        </p:nvSpPr>
        <p:spPr>
          <a:xfrm>
            <a:off x="914400" y="5041900"/>
            <a:ext cx="508000" cy="369332"/>
          </a:xfrm>
          <a:prstGeom prst="rect">
            <a:avLst/>
          </a:prstGeom>
          <a:noFill/>
        </p:spPr>
        <p:txBody>
          <a:bodyPr vert="horz" wrap="square" lIns="0" tIns="0" rIns="0" bIns="0" rtlCol="0">
            <a:noAutofit/>
          </a:bodyPr>
          <a:lstStyle/>
          <a:p>
            <a:pPr>
              <a:lnSpc>
                <a:spcPct val="115000"/>
              </a:lnSpc>
            </a:pPr>
            <a:r>
              <a:rPr lang="fr-FR" sz="1500">
                <a:solidFill>
                  <a:srgbClr val="24577A"/>
                </a:solidFill>
                <a:latin typeface="Manrope SemiBold" pitchFamily="2" charset="0"/>
              </a:rPr>
              <a:t>04</a:t>
            </a:r>
          </a:p>
        </p:txBody>
      </p:sp>
      <p:sp>
        <p:nvSpPr>
          <p:cNvPr id="17" name="ZoneTexte 16"/>
          <p:cNvSpPr txBox="1"/>
          <p:nvPr/>
        </p:nvSpPr>
        <p:spPr>
          <a:xfrm>
            <a:off x="1524000" y="5003800"/>
            <a:ext cx="9753600" cy="381000"/>
          </a:xfrm>
          <a:prstGeom prst="rect">
            <a:avLst/>
          </a:prstGeom>
          <a:noFill/>
        </p:spPr>
        <p:txBody>
          <a:bodyPr vert="horz" wrap="square" lIns="0" tIns="0" rIns="0" bIns="0" rtlCol="0">
            <a:noAutofit/>
          </a:bodyPr>
          <a:lstStyle/>
          <a:p>
            <a:pPr>
              <a:lnSpc>
                <a:spcPct val="115000"/>
              </a:lnSpc>
            </a:pPr>
            <a:r>
              <a:rPr lang="fr-FR" sz="1900">
                <a:solidFill>
                  <a:srgbClr val="1D1D1F"/>
                </a:solidFill>
                <a:latin typeface="Manrope Medium" pitchFamily="2" charset="0"/>
              </a:rPr>
              <a:t>Un retour de mi-parcours exigeant</a:t>
            </a:r>
          </a:p>
        </p:txBody>
      </p:sp>
      <p:sp>
        <p:nvSpPr>
          <p:cNvPr id="18" name="ZoneTexte 17"/>
          <p:cNvSpPr txBox="1"/>
          <p:nvPr/>
        </p:nvSpPr>
        <p:spPr>
          <a:xfrm>
            <a:off x="1524000" y="5410200"/>
            <a:ext cx="9753600" cy="500000"/>
          </a:xfrm>
          <a:prstGeom prst="rect">
            <a:avLst/>
          </a:prstGeom>
          <a:noFill/>
        </p:spPr>
        <p:txBody>
          <a:bodyPr vert="horz" wrap="square" lIns="0" tIns="0" rIns="0" bIns="0" rtlCol="0">
            <a:noAutofit/>
          </a:bodyPr>
          <a:lstStyle/>
          <a:p>
            <a:pPr>
              <a:lnSpc>
                <a:spcPct val="115000"/>
              </a:lnSpc>
            </a:pPr>
            <a:r>
              <a:rPr lang="fr-FR" sz="1250">
                <a:solidFill>
                  <a:srgbClr val="5F6B76"/>
                </a:solidFill>
                <a:latin typeface="Manrope" pitchFamily="2" charset="0"/>
              </a:rPr>
              <a:t>Parler du projet plutôt que du chemin : pitch réécrit pour un client, choix techniques documentés avec leurs alternatives, routes expliquées.</a:t>
            </a:r>
          </a:p>
        </p:txBody>
      </p:sp>
      <p:sp>
        <p:nvSpPr>
          <p:cNvPr id="19" name="Rectangle 18"/>
          <p:cNvSpPr/>
          <p:nvPr/>
        </p:nvSpPr>
        <p:spPr>
          <a:xfrm>
            <a:off x="914400" y="5943600"/>
            <a:ext cx="10363200" cy="9525"/>
          </a:xfrm>
          <a:prstGeom prst="rect">
            <a:avLst/>
          </a:prstGeom>
          <a:solidFill>
            <a:srgbClr val="E2E8ED"/>
          </a:solidFill>
          <a:ln>
            <a:noFill/>
          </a:ln>
        </p:spPr>
        <p:txBody>
          <a:bodyPr rtlCol="0" anchor="ctr"/>
          <a:lstStyle/>
          <a:p>
            <a:pPr algn="ctr"/>
            <a:endParaRPr lang="fr-FR"/>
          </a:p>
        </p:txBody>
      </p:sp>
      <p:sp>
        <p:nvSpPr>
          <p:cNvPr id="20" name="ZoneTexte 19"/>
          <p:cNvSpPr txBox="1"/>
          <p:nvPr/>
        </p:nvSpPr>
        <p:spPr>
          <a:xfrm>
            <a:off x="914400" y="6096000"/>
            <a:ext cx="10363200" cy="369332"/>
          </a:xfrm>
          <a:prstGeom prst="rect">
            <a:avLst/>
          </a:prstGeom>
          <a:noFill/>
        </p:spPr>
        <p:txBody>
          <a:bodyPr vert="horz" wrap="square" lIns="0" tIns="0" rIns="0" bIns="0" rtlCol="0">
            <a:noAutofit/>
          </a:bodyPr>
          <a:lstStyle/>
          <a:p>
            <a:pPr>
              <a:lnSpc>
                <a:spcPct val="115000"/>
              </a:lnSpc>
            </a:pPr>
            <a:r>
              <a:rPr lang="fr-FR" sz="1600">
                <a:solidFill>
                  <a:srgbClr val="24577A"/>
                </a:solidFill>
                <a:latin typeface="Manrope Medium" pitchFamily="2" charset="0"/>
              </a:rPr>
              <a:t>Ce que nous gardons : écrire avant de coder, vérifier chaque soir.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8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8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8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8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8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8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8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8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8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8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8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8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8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8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8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8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8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animBg="1"/>
      <p:bldP spid="8" grpId="0"/>
      <p:bldP spid="9" grpId="0"/>
      <p:bldP spid="10" grpId="0"/>
      <p:bldP spid="11" grpId="0" animBg="1"/>
      <p:bldP spid="12" grpId="0"/>
      <p:bldP spid="13" grpId="0"/>
      <p:bldP spid="14" grpId="0"/>
      <p:bldP spid="15" grpId="0" animBg="1"/>
      <p:bldP spid="16" grpId="0"/>
      <p:bldP spid="17" grpId="0"/>
      <p:bldP spid="18" grpId="0"/>
      <p:bldP spid="19" grpId="0" animBg="1"/>
      <p:bldP spid="20"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A1952C92-207F-7FAE-72BD-B82A78524649}"/>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24577A"/>
                </a:solidFill>
                <a:latin typeface="Manrope SemiBold" pitchFamily="2" charset="0"/>
              </a:rPr>
              <a:t>DÉMONSTRATION</a:t>
            </a:r>
          </a:p>
        </p:txBody>
      </p:sp>
      <p:sp>
        <p:nvSpPr>
          <p:cNvPr id="3" name="ZoneTexte 2">
            <a:extLst>
              <a:ext uri="{FF2B5EF4-FFF2-40B4-BE49-F238E27FC236}">
                <a16:creationId xmlns:a16="http://schemas.microsoft.com/office/drawing/2014/main" id="{B79BF206-EA42-D569-936A-A03D88329883}"/>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1D1D1F"/>
                </a:solidFill>
                <a:latin typeface="Manrope SemiBold" pitchFamily="2" charset="0"/>
              </a:rPr>
              <a:t>Voyez par </a:t>
            </a:r>
            <a:r>
              <a:rPr lang="fr-FR" sz="3600" spc="-50">
                <a:gradFill flip="none" rotWithShape="1">
                  <a:gsLst>
                    <a:gs pos="0">
                      <a:srgbClr val="24577A"/>
                    </a:gs>
                    <a:gs pos="100000">
                      <a:srgbClr val="24577A"/>
                    </a:gs>
                  </a:gsLst>
                  <a:lin ang="0" scaled="1"/>
                  <a:tileRect/>
                </a:gradFill>
                <a:latin typeface="Manrope SemiBold" pitchFamily="2" charset="0"/>
              </a:rPr>
              <a:t>vous-même</a:t>
            </a:r>
            <a:r>
              <a:rPr lang="fr-FR" sz="3600" spc="-50">
                <a:solidFill>
                  <a:srgbClr val="1D1D1F"/>
                </a:solidFill>
                <a:latin typeface="Manrope SemiBold" pitchFamily="2" charset="0"/>
              </a:rPr>
              <a:t>.</a:t>
            </a:r>
          </a:p>
        </p:txBody>
      </p:sp>
      <p:sp>
        <p:nvSpPr>
          <p:cNvPr id="4" name="ZoneTexte 3">
            <a:extLst>
              <a:ext uri="{FF2B5EF4-FFF2-40B4-BE49-F238E27FC236}">
                <a16:creationId xmlns:a16="http://schemas.microsoft.com/office/drawing/2014/main" id="{4AA09A13-534E-1BF8-64E8-9F284B72F429}"/>
              </a:ext>
            </a:extLst>
          </p:cNvPr>
          <p:cNvSpPr txBox="1"/>
          <p:nvPr/>
        </p:nvSpPr>
        <p:spPr>
          <a:xfrm>
            <a:off x="914400" y="2159000"/>
            <a:ext cx="508000" cy="369332"/>
          </a:xfrm>
          <a:prstGeom prst="rect">
            <a:avLst/>
          </a:prstGeom>
          <a:noFill/>
        </p:spPr>
        <p:txBody>
          <a:bodyPr vert="horz" wrap="square" lIns="0" tIns="0" rIns="0" bIns="0" rtlCol="0">
            <a:noAutofit/>
          </a:bodyPr>
          <a:lstStyle/>
          <a:p>
            <a:pPr>
              <a:lnSpc>
                <a:spcPct val="115000"/>
              </a:lnSpc>
            </a:pPr>
            <a:r>
              <a:rPr lang="fr-FR" sz="1500">
                <a:solidFill>
                  <a:srgbClr val="24577A"/>
                </a:solidFill>
                <a:latin typeface="Manrope SemiBold" pitchFamily="2" charset="0"/>
              </a:rPr>
              <a:t>01</a:t>
            </a:r>
          </a:p>
        </p:txBody>
      </p:sp>
      <p:sp>
        <p:nvSpPr>
          <p:cNvPr id="5" name="ZoneTexte 4">
            <a:extLst>
              <a:ext uri="{FF2B5EF4-FFF2-40B4-BE49-F238E27FC236}">
                <a16:creationId xmlns:a16="http://schemas.microsoft.com/office/drawing/2014/main" id="{EF0D1DC9-C773-2AC7-235E-70E4F5369835}"/>
              </a:ext>
            </a:extLst>
          </p:cNvPr>
          <p:cNvSpPr txBox="1"/>
          <p:nvPr/>
        </p:nvSpPr>
        <p:spPr>
          <a:xfrm>
            <a:off x="1524000" y="2120900"/>
            <a:ext cx="8890000" cy="381000"/>
          </a:xfrm>
          <a:prstGeom prst="rect">
            <a:avLst/>
          </a:prstGeom>
          <a:noFill/>
        </p:spPr>
        <p:txBody>
          <a:bodyPr vert="horz" wrap="square" lIns="0" tIns="0" rIns="0" bIns="0" rtlCol="0">
            <a:noAutofit/>
          </a:bodyPr>
          <a:lstStyle/>
          <a:p>
            <a:pPr>
              <a:lnSpc>
                <a:spcPct val="115000"/>
              </a:lnSpc>
            </a:pPr>
            <a:r>
              <a:rPr lang="fr-FR" sz="2100">
                <a:solidFill>
                  <a:srgbClr val="1D1D1F"/>
                </a:solidFill>
                <a:latin typeface="Manrope Medium" pitchFamily="2" charset="0"/>
              </a:rPr>
              <a:t>Trouver une offre et lire son détail</a:t>
            </a:r>
          </a:p>
        </p:txBody>
      </p:sp>
      <p:sp>
        <p:nvSpPr>
          <p:cNvPr id="6" name="Rectangle 5">
            <a:extLst>
              <a:ext uri="{FF2B5EF4-FFF2-40B4-BE49-F238E27FC236}">
                <a16:creationId xmlns:a16="http://schemas.microsoft.com/office/drawing/2014/main" id="{F7360111-4E65-85DF-D7C5-34E17F40CD35}"/>
              </a:ext>
            </a:extLst>
          </p:cNvPr>
          <p:cNvSpPr/>
          <p:nvPr/>
        </p:nvSpPr>
        <p:spPr>
          <a:xfrm>
            <a:off x="914400" y="2616200"/>
            <a:ext cx="10363200" cy="9525"/>
          </a:xfrm>
          <a:prstGeom prst="rect">
            <a:avLst/>
          </a:prstGeom>
          <a:solidFill>
            <a:srgbClr val="E2E8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ZoneTexte 6">
            <a:extLst>
              <a:ext uri="{FF2B5EF4-FFF2-40B4-BE49-F238E27FC236}">
                <a16:creationId xmlns:a16="http://schemas.microsoft.com/office/drawing/2014/main" id="{82804FF0-174D-CDBB-A031-2233FAD77983}"/>
              </a:ext>
            </a:extLst>
          </p:cNvPr>
          <p:cNvSpPr txBox="1"/>
          <p:nvPr/>
        </p:nvSpPr>
        <p:spPr>
          <a:xfrm>
            <a:off x="914400" y="2870200"/>
            <a:ext cx="508000" cy="369332"/>
          </a:xfrm>
          <a:prstGeom prst="rect">
            <a:avLst/>
          </a:prstGeom>
          <a:noFill/>
        </p:spPr>
        <p:txBody>
          <a:bodyPr vert="horz" wrap="square" lIns="0" tIns="0" rIns="0" bIns="0" rtlCol="0">
            <a:noAutofit/>
          </a:bodyPr>
          <a:lstStyle/>
          <a:p>
            <a:pPr>
              <a:lnSpc>
                <a:spcPct val="115000"/>
              </a:lnSpc>
            </a:pPr>
            <a:r>
              <a:rPr lang="fr-FR" sz="1500">
                <a:solidFill>
                  <a:srgbClr val="24577A"/>
                </a:solidFill>
                <a:latin typeface="Manrope SemiBold" pitchFamily="2" charset="0"/>
              </a:rPr>
              <a:t>02</a:t>
            </a:r>
          </a:p>
        </p:txBody>
      </p:sp>
      <p:sp>
        <p:nvSpPr>
          <p:cNvPr id="8" name="ZoneTexte 7">
            <a:extLst>
              <a:ext uri="{FF2B5EF4-FFF2-40B4-BE49-F238E27FC236}">
                <a16:creationId xmlns:a16="http://schemas.microsoft.com/office/drawing/2014/main" id="{AB41F3AD-BD21-964B-E146-A640C3809E79}"/>
              </a:ext>
            </a:extLst>
          </p:cNvPr>
          <p:cNvSpPr txBox="1"/>
          <p:nvPr/>
        </p:nvSpPr>
        <p:spPr>
          <a:xfrm>
            <a:off x="1524000" y="2832100"/>
            <a:ext cx="8890000" cy="381000"/>
          </a:xfrm>
          <a:prstGeom prst="rect">
            <a:avLst/>
          </a:prstGeom>
          <a:noFill/>
        </p:spPr>
        <p:txBody>
          <a:bodyPr vert="horz" wrap="square" lIns="0" tIns="0" rIns="0" bIns="0" rtlCol="0">
            <a:noAutofit/>
          </a:bodyPr>
          <a:lstStyle/>
          <a:p>
            <a:pPr>
              <a:lnSpc>
                <a:spcPct val="115000"/>
              </a:lnSpc>
            </a:pPr>
            <a:r>
              <a:rPr lang="fr-FR" sz="2100">
                <a:solidFill>
                  <a:srgbClr val="1D1D1F"/>
                </a:solidFill>
                <a:latin typeface="Manrope Medium" pitchFamily="2" charset="0"/>
              </a:rPr>
              <a:t>Postuler, sans compte</a:t>
            </a:r>
          </a:p>
        </p:txBody>
      </p:sp>
      <p:sp>
        <p:nvSpPr>
          <p:cNvPr id="9" name="Rectangle 8">
            <a:extLst>
              <a:ext uri="{FF2B5EF4-FFF2-40B4-BE49-F238E27FC236}">
                <a16:creationId xmlns:a16="http://schemas.microsoft.com/office/drawing/2014/main" id="{5234B607-918B-425B-3396-9DB3A2A656D1}"/>
              </a:ext>
            </a:extLst>
          </p:cNvPr>
          <p:cNvSpPr/>
          <p:nvPr/>
        </p:nvSpPr>
        <p:spPr>
          <a:xfrm>
            <a:off x="914400" y="3327400"/>
            <a:ext cx="10363200" cy="9525"/>
          </a:xfrm>
          <a:prstGeom prst="rect">
            <a:avLst/>
          </a:prstGeom>
          <a:solidFill>
            <a:srgbClr val="E2E8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79DC2418-D3FA-19ED-102A-0B496A8A9C2C}"/>
              </a:ext>
            </a:extLst>
          </p:cNvPr>
          <p:cNvSpPr txBox="1"/>
          <p:nvPr/>
        </p:nvSpPr>
        <p:spPr>
          <a:xfrm>
            <a:off x="914400" y="3581400"/>
            <a:ext cx="508000" cy="369332"/>
          </a:xfrm>
          <a:prstGeom prst="rect">
            <a:avLst/>
          </a:prstGeom>
          <a:noFill/>
        </p:spPr>
        <p:txBody>
          <a:bodyPr vert="horz" wrap="square" lIns="0" tIns="0" rIns="0" bIns="0" rtlCol="0">
            <a:noAutofit/>
          </a:bodyPr>
          <a:lstStyle/>
          <a:p>
            <a:pPr>
              <a:lnSpc>
                <a:spcPct val="115000"/>
              </a:lnSpc>
            </a:pPr>
            <a:r>
              <a:rPr lang="fr-FR" sz="1500">
                <a:solidFill>
                  <a:srgbClr val="24577A"/>
                </a:solidFill>
                <a:latin typeface="Manrope SemiBold" pitchFamily="2" charset="0"/>
              </a:rPr>
              <a:t>03</a:t>
            </a:r>
          </a:p>
        </p:txBody>
      </p:sp>
      <p:sp>
        <p:nvSpPr>
          <p:cNvPr id="11" name="ZoneTexte 10">
            <a:extLst>
              <a:ext uri="{FF2B5EF4-FFF2-40B4-BE49-F238E27FC236}">
                <a16:creationId xmlns:a16="http://schemas.microsoft.com/office/drawing/2014/main" id="{A5CEEF4C-2485-EAFF-B3E1-F2E249C3D67B}"/>
              </a:ext>
            </a:extLst>
          </p:cNvPr>
          <p:cNvSpPr txBox="1"/>
          <p:nvPr/>
        </p:nvSpPr>
        <p:spPr>
          <a:xfrm>
            <a:off x="1524000" y="3543300"/>
            <a:ext cx="8890000" cy="381000"/>
          </a:xfrm>
          <a:prstGeom prst="rect">
            <a:avLst/>
          </a:prstGeom>
          <a:noFill/>
        </p:spPr>
        <p:txBody>
          <a:bodyPr vert="horz" wrap="square" lIns="0" tIns="0" rIns="0" bIns="0" rtlCol="0">
            <a:noAutofit/>
          </a:bodyPr>
          <a:lstStyle/>
          <a:p>
            <a:pPr>
              <a:lnSpc>
                <a:spcPct val="115000"/>
              </a:lnSpc>
            </a:pPr>
            <a:r>
              <a:rPr lang="fr-FR" sz="2100">
                <a:solidFill>
                  <a:srgbClr val="1D1D1F"/>
                </a:solidFill>
                <a:latin typeface="Manrope Medium" pitchFamily="2" charset="0"/>
              </a:rPr>
              <a:t>Créer un compte et confirmer son adresse</a:t>
            </a:r>
          </a:p>
        </p:txBody>
      </p:sp>
      <p:sp>
        <p:nvSpPr>
          <p:cNvPr id="12" name="Rectangle 11">
            <a:extLst>
              <a:ext uri="{FF2B5EF4-FFF2-40B4-BE49-F238E27FC236}">
                <a16:creationId xmlns:a16="http://schemas.microsoft.com/office/drawing/2014/main" id="{00FE70F1-A4DA-DC6E-91C5-B52AC6B12D74}"/>
              </a:ext>
            </a:extLst>
          </p:cNvPr>
          <p:cNvSpPr/>
          <p:nvPr/>
        </p:nvSpPr>
        <p:spPr>
          <a:xfrm>
            <a:off x="914400" y="4038600"/>
            <a:ext cx="10363200" cy="9525"/>
          </a:xfrm>
          <a:prstGeom prst="rect">
            <a:avLst/>
          </a:prstGeom>
          <a:solidFill>
            <a:srgbClr val="E2E8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ZoneTexte 12">
            <a:extLst>
              <a:ext uri="{FF2B5EF4-FFF2-40B4-BE49-F238E27FC236}">
                <a16:creationId xmlns:a16="http://schemas.microsoft.com/office/drawing/2014/main" id="{3AAFA6CF-09ED-00C3-C25D-07101DF2C697}"/>
              </a:ext>
            </a:extLst>
          </p:cNvPr>
          <p:cNvSpPr txBox="1"/>
          <p:nvPr/>
        </p:nvSpPr>
        <p:spPr>
          <a:xfrm>
            <a:off x="914400" y="4292600"/>
            <a:ext cx="508000" cy="369332"/>
          </a:xfrm>
          <a:prstGeom prst="rect">
            <a:avLst/>
          </a:prstGeom>
          <a:noFill/>
        </p:spPr>
        <p:txBody>
          <a:bodyPr vert="horz" wrap="square" lIns="0" tIns="0" rIns="0" bIns="0" rtlCol="0">
            <a:noAutofit/>
          </a:bodyPr>
          <a:lstStyle/>
          <a:p>
            <a:pPr>
              <a:lnSpc>
                <a:spcPct val="115000"/>
              </a:lnSpc>
            </a:pPr>
            <a:r>
              <a:rPr lang="fr-FR" sz="1500">
                <a:solidFill>
                  <a:srgbClr val="24577A"/>
                </a:solidFill>
                <a:latin typeface="Manrope SemiBold" pitchFamily="2" charset="0"/>
              </a:rPr>
              <a:t>04</a:t>
            </a:r>
          </a:p>
        </p:txBody>
      </p:sp>
      <p:sp>
        <p:nvSpPr>
          <p:cNvPr id="14" name="ZoneTexte 13">
            <a:extLst>
              <a:ext uri="{FF2B5EF4-FFF2-40B4-BE49-F238E27FC236}">
                <a16:creationId xmlns:a16="http://schemas.microsoft.com/office/drawing/2014/main" id="{B80589C9-7E51-1CC2-AF1F-2CEFCB23163E}"/>
              </a:ext>
            </a:extLst>
          </p:cNvPr>
          <p:cNvSpPr txBox="1"/>
          <p:nvPr/>
        </p:nvSpPr>
        <p:spPr>
          <a:xfrm>
            <a:off x="1524000" y="4254500"/>
            <a:ext cx="8890000" cy="381000"/>
          </a:xfrm>
          <a:prstGeom prst="rect">
            <a:avLst/>
          </a:prstGeom>
          <a:noFill/>
        </p:spPr>
        <p:txBody>
          <a:bodyPr vert="horz" wrap="square" lIns="0" tIns="0" rIns="0" bIns="0" rtlCol="0">
            <a:noAutofit/>
          </a:bodyPr>
          <a:lstStyle/>
          <a:p>
            <a:pPr>
              <a:lnSpc>
                <a:spcPct val="115000"/>
              </a:lnSpc>
            </a:pPr>
            <a:r>
              <a:rPr lang="fr-FR" sz="2100">
                <a:solidFill>
                  <a:srgbClr val="1D1D1F"/>
                </a:solidFill>
                <a:latin typeface="Manrope Medium" pitchFamily="2" charset="0"/>
              </a:rPr>
              <a:t>Retrouver ses candidatures et leur état</a:t>
            </a:r>
          </a:p>
        </p:txBody>
      </p:sp>
      <p:sp>
        <p:nvSpPr>
          <p:cNvPr id="15" name="Rectangle 14">
            <a:extLst>
              <a:ext uri="{FF2B5EF4-FFF2-40B4-BE49-F238E27FC236}">
                <a16:creationId xmlns:a16="http://schemas.microsoft.com/office/drawing/2014/main" id="{BEBBE369-397F-3D4F-FEAF-132EC2F5FA38}"/>
              </a:ext>
            </a:extLst>
          </p:cNvPr>
          <p:cNvSpPr/>
          <p:nvPr/>
        </p:nvSpPr>
        <p:spPr>
          <a:xfrm>
            <a:off x="914400" y="4749800"/>
            <a:ext cx="10363200" cy="9525"/>
          </a:xfrm>
          <a:prstGeom prst="rect">
            <a:avLst/>
          </a:prstGeom>
          <a:solidFill>
            <a:srgbClr val="E2E8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04110B85-601A-0DD5-1F49-F34E3E22B1FA}"/>
              </a:ext>
            </a:extLst>
          </p:cNvPr>
          <p:cNvSpPr txBox="1"/>
          <p:nvPr/>
        </p:nvSpPr>
        <p:spPr>
          <a:xfrm>
            <a:off x="914400" y="5003800"/>
            <a:ext cx="508000" cy="369332"/>
          </a:xfrm>
          <a:prstGeom prst="rect">
            <a:avLst/>
          </a:prstGeom>
          <a:noFill/>
        </p:spPr>
        <p:txBody>
          <a:bodyPr vert="horz" wrap="square" lIns="0" tIns="0" rIns="0" bIns="0" rtlCol="0">
            <a:noAutofit/>
          </a:bodyPr>
          <a:lstStyle/>
          <a:p>
            <a:pPr>
              <a:lnSpc>
                <a:spcPct val="115000"/>
              </a:lnSpc>
            </a:pPr>
            <a:r>
              <a:rPr lang="fr-FR" sz="1500">
                <a:solidFill>
                  <a:srgbClr val="24577A"/>
                </a:solidFill>
                <a:latin typeface="Manrope SemiBold" pitchFamily="2" charset="0"/>
              </a:rPr>
              <a:t>05</a:t>
            </a:r>
          </a:p>
        </p:txBody>
      </p:sp>
      <p:sp>
        <p:nvSpPr>
          <p:cNvPr id="17" name="ZoneTexte 16">
            <a:extLst>
              <a:ext uri="{FF2B5EF4-FFF2-40B4-BE49-F238E27FC236}">
                <a16:creationId xmlns:a16="http://schemas.microsoft.com/office/drawing/2014/main" id="{D03E69CE-2649-721F-467A-4FEB04133431}"/>
              </a:ext>
            </a:extLst>
          </p:cNvPr>
          <p:cNvSpPr txBox="1"/>
          <p:nvPr/>
        </p:nvSpPr>
        <p:spPr>
          <a:xfrm>
            <a:off x="1524000" y="4965700"/>
            <a:ext cx="8890000" cy="381000"/>
          </a:xfrm>
          <a:prstGeom prst="rect">
            <a:avLst/>
          </a:prstGeom>
          <a:noFill/>
        </p:spPr>
        <p:txBody>
          <a:bodyPr vert="horz" wrap="square" lIns="0" tIns="0" rIns="0" bIns="0" rtlCol="0">
            <a:noAutofit/>
          </a:bodyPr>
          <a:lstStyle/>
          <a:p>
            <a:pPr>
              <a:lnSpc>
                <a:spcPct val="115000"/>
              </a:lnSpc>
            </a:pPr>
            <a:r>
              <a:rPr lang="fr-FR" sz="2100">
                <a:solidFill>
                  <a:srgbClr val="1D1D1F"/>
                </a:solidFill>
                <a:latin typeface="Manrope Medium" pitchFamily="2" charset="0"/>
              </a:rPr>
              <a:t>Recruter, puis administrer la plateforme</a:t>
            </a:r>
          </a:p>
        </p:txBody>
      </p:sp>
      <p:sp>
        <p:nvSpPr>
          <p:cNvPr id="18" name="Rectangle 17">
            <a:extLst>
              <a:ext uri="{FF2B5EF4-FFF2-40B4-BE49-F238E27FC236}">
                <a16:creationId xmlns:a16="http://schemas.microsoft.com/office/drawing/2014/main" id="{17B321E9-A4C1-08A8-D14F-B0AFC04C95B4}"/>
              </a:ext>
            </a:extLst>
          </p:cNvPr>
          <p:cNvSpPr/>
          <p:nvPr/>
        </p:nvSpPr>
        <p:spPr>
          <a:xfrm>
            <a:off x="914400" y="5461000"/>
            <a:ext cx="10363200" cy="9525"/>
          </a:xfrm>
          <a:prstGeom prst="rect">
            <a:avLst/>
          </a:prstGeom>
          <a:solidFill>
            <a:srgbClr val="E2E8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66174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3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3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3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5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5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5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7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7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9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9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9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1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1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11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animBg="1"/>
      <p:bldP spid="7" grpId="0"/>
      <p:bldP spid="8" grpId="0"/>
      <p:bldP spid="9" grpId="0" animBg="1"/>
      <p:bldP spid="10" grpId="0"/>
      <p:bldP spid="11" grpId="0"/>
      <p:bldP spid="12" grpId="0" animBg="1"/>
      <p:bldP spid="13" grpId="0"/>
      <p:bldP spid="14" grpId="0"/>
      <p:bldP spid="15" grpId="0" animBg="1"/>
      <p:bldP spid="16" grpId="0"/>
      <p:bldP spid="17" grpId="0"/>
      <p:bldP spid="1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B"/>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03A74D5E-6F25-BE2A-DBB0-2DA863D880CF}"/>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24577A"/>
                </a:solidFill>
                <a:latin typeface="Manrope SemiBold" pitchFamily="2" charset="0"/>
              </a:rPr>
              <a:t>POUR ALLER PLUS LOIN</a:t>
            </a:r>
          </a:p>
        </p:txBody>
      </p:sp>
      <p:sp>
        <p:nvSpPr>
          <p:cNvPr id="3" name="ZoneTexte 2">
            <a:extLst>
              <a:ext uri="{FF2B5EF4-FFF2-40B4-BE49-F238E27FC236}">
                <a16:creationId xmlns:a16="http://schemas.microsoft.com/office/drawing/2014/main" id="{0A56B22C-41DC-B7A6-5E06-4F578D44ADF4}"/>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dirty="0">
                <a:solidFill>
                  <a:srgbClr val="1D1D1F"/>
                </a:solidFill>
                <a:latin typeface="Manrope SemiBold" pitchFamily="2" charset="0"/>
              </a:rPr>
              <a:t>Des données qui vont vous </a:t>
            </a:r>
            <a:r>
              <a:rPr lang="fr-FR" sz="3600" spc="-50" dirty="0">
                <a:gradFill flip="none" rotWithShape="1">
                  <a:gsLst>
                    <a:gs pos="0">
                      <a:srgbClr val="24577A"/>
                    </a:gs>
                    <a:gs pos="100000">
                      <a:srgbClr val="24577A"/>
                    </a:gs>
                  </a:gsLst>
                  <a:lin ang="0" scaled="1"/>
                  <a:tileRect/>
                </a:gradFill>
                <a:latin typeface="Manrope SemiBold" pitchFamily="2" charset="0"/>
              </a:rPr>
              <a:t>convaincre</a:t>
            </a:r>
            <a:r>
              <a:rPr lang="fr-FR" sz="3600" spc="-50" dirty="0">
                <a:solidFill>
                  <a:srgbClr val="1D1D1F"/>
                </a:solidFill>
                <a:latin typeface="Manrope SemiBold" pitchFamily="2" charset="0"/>
              </a:rPr>
              <a:t>.</a:t>
            </a:r>
          </a:p>
        </p:txBody>
      </p:sp>
      <p:sp>
        <p:nvSpPr>
          <p:cNvPr id="4" name="ZoneTexte 3">
            <a:extLst>
              <a:ext uri="{FF2B5EF4-FFF2-40B4-BE49-F238E27FC236}">
                <a16:creationId xmlns:a16="http://schemas.microsoft.com/office/drawing/2014/main" id="{D0181DF8-C271-20FC-5CC8-8F79D8CC31EF}"/>
              </a:ext>
            </a:extLst>
          </p:cNvPr>
          <p:cNvSpPr txBox="1"/>
          <p:nvPr/>
        </p:nvSpPr>
        <p:spPr>
          <a:xfrm>
            <a:off x="914400" y="2108200"/>
            <a:ext cx="3302000" cy="369332"/>
          </a:xfrm>
          <a:prstGeom prst="rect">
            <a:avLst/>
          </a:prstGeom>
          <a:noFill/>
        </p:spPr>
        <p:txBody>
          <a:bodyPr vert="horz" wrap="square" lIns="0" tIns="0" rIns="0" bIns="0" rtlCol="0">
            <a:noAutofit/>
          </a:bodyPr>
          <a:lstStyle/>
          <a:p>
            <a:r>
              <a:rPr lang="fr-FR" sz="4800" dirty="0">
                <a:solidFill>
                  <a:srgbClr val="1D1D1F"/>
                </a:solidFill>
                <a:latin typeface="Manrope SemiBold" pitchFamily="2" charset="0"/>
              </a:rPr>
              <a:t>3</a:t>
            </a:r>
          </a:p>
        </p:txBody>
      </p:sp>
      <p:sp>
        <p:nvSpPr>
          <p:cNvPr id="5" name="ZoneTexte 4">
            <a:extLst>
              <a:ext uri="{FF2B5EF4-FFF2-40B4-BE49-F238E27FC236}">
                <a16:creationId xmlns:a16="http://schemas.microsoft.com/office/drawing/2014/main" id="{EDA1ECDA-1497-45CD-BD74-2CEC64A70AEC}"/>
              </a:ext>
            </a:extLst>
          </p:cNvPr>
          <p:cNvSpPr txBox="1"/>
          <p:nvPr/>
        </p:nvSpPr>
        <p:spPr>
          <a:xfrm>
            <a:off x="914400" y="2921000"/>
            <a:ext cx="3302000" cy="369332"/>
          </a:xfrm>
          <a:prstGeom prst="rect">
            <a:avLst/>
          </a:prstGeom>
          <a:noFill/>
        </p:spPr>
        <p:txBody>
          <a:bodyPr vert="horz" wrap="square" lIns="0" tIns="0" rIns="0" bIns="0" rtlCol="0">
            <a:noAutofit/>
          </a:bodyPr>
          <a:lstStyle/>
          <a:p>
            <a:pPr>
              <a:lnSpc>
                <a:spcPct val="115000"/>
              </a:lnSpc>
            </a:pPr>
            <a:r>
              <a:rPr lang="fr-FR" sz="1600" dirty="0">
                <a:solidFill>
                  <a:srgbClr val="24577A"/>
                </a:solidFill>
                <a:latin typeface="Manrope Medium" pitchFamily="2" charset="0"/>
              </a:rPr>
              <a:t>Documents sur nos choix techniques</a:t>
            </a:r>
          </a:p>
        </p:txBody>
      </p:sp>
      <p:sp>
        <p:nvSpPr>
          <p:cNvPr id="6" name="ZoneTexte 5">
            <a:extLst>
              <a:ext uri="{FF2B5EF4-FFF2-40B4-BE49-F238E27FC236}">
                <a16:creationId xmlns:a16="http://schemas.microsoft.com/office/drawing/2014/main" id="{83971BEE-3FA5-59E8-95BD-17AD400FE8DB}"/>
              </a:ext>
            </a:extLst>
          </p:cNvPr>
          <p:cNvSpPr txBox="1"/>
          <p:nvPr/>
        </p:nvSpPr>
        <p:spPr>
          <a:xfrm>
            <a:off x="914400" y="3225800"/>
            <a:ext cx="3175000" cy="369332"/>
          </a:xfrm>
          <a:prstGeom prst="rect">
            <a:avLst/>
          </a:prstGeom>
          <a:noFill/>
        </p:spPr>
        <p:txBody>
          <a:bodyPr vert="horz" wrap="square" lIns="0" tIns="0" rIns="0" bIns="0" rtlCol="0">
            <a:noAutofit/>
          </a:bodyPr>
          <a:lstStyle/>
          <a:p>
            <a:pPr>
              <a:lnSpc>
                <a:spcPct val="115000"/>
              </a:lnSpc>
            </a:pPr>
            <a:endParaRPr lang="fr-FR" sz="1200" dirty="0">
              <a:solidFill>
                <a:srgbClr val="5F6B76"/>
              </a:solidFill>
              <a:latin typeface="Manrope" pitchFamily="2" charset="0"/>
            </a:endParaRPr>
          </a:p>
        </p:txBody>
      </p:sp>
      <p:sp>
        <p:nvSpPr>
          <p:cNvPr id="7" name="ZoneTexte 6">
            <a:extLst>
              <a:ext uri="{FF2B5EF4-FFF2-40B4-BE49-F238E27FC236}">
                <a16:creationId xmlns:a16="http://schemas.microsoft.com/office/drawing/2014/main" id="{F926D2D8-F79B-DC39-A73B-C1C0008B2F0D}"/>
              </a:ext>
            </a:extLst>
          </p:cNvPr>
          <p:cNvSpPr txBox="1"/>
          <p:nvPr/>
        </p:nvSpPr>
        <p:spPr>
          <a:xfrm>
            <a:off x="4470400" y="2108200"/>
            <a:ext cx="3302000" cy="369332"/>
          </a:xfrm>
          <a:prstGeom prst="rect">
            <a:avLst/>
          </a:prstGeom>
          <a:noFill/>
        </p:spPr>
        <p:txBody>
          <a:bodyPr vert="horz" wrap="square" lIns="0" tIns="0" rIns="0" bIns="0" rtlCol="0">
            <a:noAutofit/>
          </a:bodyPr>
          <a:lstStyle/>
          <a:p>
            <a:endParaRPr lang="fr-FR" sz="4800" dirty="0">
              <a:solidFill>
                <a:srgbClr val="1D1D1F"/>
              </a:solidFill>
              <a:latin typeface="Manrope SemiBold" pitchFamily="2" charset="0"/>
            </a:endParaRPr>
          </a:p>
        </p:txBody>
      </p:sp>
      <p:sp>
        <p:nvSpPr>
          <p:cNvPr id="8" name="ZoneTexte 7">
            <a:extLst>
              <a:ext uri="{FF2B5EF4-FFF2-40B4-BE49-F238E27FC236}">
                <a16:creationId xmlns:a16="http://schemas.microsoft.com/office/drawing/2014/main" id="{C76DBFF5-2D56-D501-5D99-C1394B92F06A}"/>
              </a:ext>
            </a:extLst>
          </p:cNvPr>
          <p:cNvSpPr txBox="1"/>
          <p:nvPr/>
        </p:nvSpPr>
        <p:spPr>
          <a:xfrm>
            <a:off x="4470400" y="2108200"/>
            <a:ext cx="1625600" cy="369332"/>
          </a:xfrm>
          <a:prstGeom prst="rect">
            <a:avLst/>
          </a:prstGeom>
          <a:noFill/>
        </p:spPr>
        <p:txBody>
          <a:bodyPr vert="horz" wrap="square" lIns="0" tIns="0" rIns="0" bIns="0" rtlCol="0">
            <a:noAutofit/>
          </a:bodyPr>
          <a:lstStyle/>
          <a:p>
            <a:pPr>
              <a:lnSpc>
                <a:spcPct val="115000"/>
              </a:lnSpc>
            </a:pPr>
            <a:r>
              <a:rPr lang="fr-FR" sz="2000" dirty="0">
                <a:solidFill>
                  <a:srgbClr val="24577A"/>
                </a:solidFill>
                <a:latin typeface="Manrope Medium" pitchFamily="2" charset="0"/>
              </a:rPr>
              <a:t>Cadre légal défini</a:t>
            </a:r>
          </a:p>
        </p:txBody>
      </p:sp>
      <p:sp>
        <p:nvSpPr>
          <p:cNvPr id="9" name="ZoneTexte 8">
            <a:extLst>
              <a:ext uri="{FF2B5EF4-FFF2-40B4-BE49-F238E27FC236}">
                <a16:creationId xmlns:a16="http://schemas.microsoft.com/office/drawing/2014/main" id="{C067B3FA-9455-35EC-6FE4-6ABA2949F60D}"/>
              </a:ext>
            </a:extLst>
          </p:cNvPr>
          <p:cNvSpPr txBox="1"/>
          <p:nvPr/>
        </p:nvSpPr>
        <p:spPr>
          <a:xfrm>
            <a:off x="4470400" y="2921000"/>
            <a:ext cx="3175000" cy="369332"/>
          </a:xfrm>
          <a:prstGeom prst="rect">
            <a:avLst/>
          </a:prstGeom>
          <a:noFill/>
        </p:spPr>
        <p:txBody>
          <a:bodyPr vert="horz" wrap="square" lIns="0" tIns="0" rIns="0" bIns="0" rtlCol="0">
            <a:noAutofit/>
          </a:bodyPr>
          <a:lstStyle/>
          <a:p>
            <a:pPr>
              <a:lnSpc>
                <a:spcPct val="115000"/>
              </a:lnSpc>
            </a:pPr>
            <a:r>
              <a:rPr lang="fr-FR" sz="1200" dirty="0">
                <a:solidFill>
                  <a:srgbClr val="5F6B76"/>
                </a:solidFill>
                <a:latin typeface="Manrope" pitchFamily="2" charset="0"/>
              </a:rPr>
              <a:t>Contrat API et encart "Mentions légales et données personnelles"</a:t>
            </a:r>
          </a:p>
        </p:txBody>
      </p:sp>
      <p:sp>
        <p:nvSpPr>
          <p:cNvPr id="10" name="ZoneTexte 9">
            <a:extLst>
              <a:ext uri="{FF2B5EF4-FFF2-40B4-BE49-F238E27FC236}">
                <a16:creationId xmlns:a16="http://schemas.microsoft.com/office/drawing/2014/main" id="{3D42C13E-D061-6212-514C-2B5DEA2C6CB5}"/>
              </a:ext>
            </a:extLst>
          </p:cNvPr>
          <p:cNvSpPr txBox="1"/>
          <p:nvPr/>
        </p:nvSpPr>
        <p:spPr>
          <a:xfrm>
            <a:off x="8026400" y="2108200"/>
            <a:ext cx="1849120" cy="369332"/>
          </a:xfrm>
          <a:prstGeom prst="rect">
            <a:avLst/>
          </a:prstGeom>
          <a:noFill/>
        </p:spPr>
        <p:txBody>
          <a:bodyPr vert="horz" wrap="square" lIns="0" tIns="0" rIns="0" bIns="0" rtlCol="0">
            <a:noAutofit/>
          </a:bodyPr>
          <a:lstStyle/>
          <a:p>
            <a:endParaRPr lang="fr-FR" sz="4800" dirty="0">
              <a:solidFill>
                <a:srgbClr val="1D1D1F"/>
              </a:solidFill>
              <a:latin typeface="Manrope SemiBold" pitchFamily="2" charset="0"/>
            </a:endParaRPr>
          </a:p>
        </p:txBody>
      </p:sp>
      <p:sp>
        <p:nvSpPr>
          <p:cNvPr id="11" name="ZoneTexte 10">
            <a:extLst>
              <a:ext uri="{FF2B5EF4-FFF2-40B4-BE49-F238E27FC236}">
                <a16:creationId xmlns:a16="http://schemas.microsoft.com/office/drawing/2014/main" id="{964D72AC-4CCF-74ED-409B-644DE9DF4721}"/>
              </a:ext>
            </a:extLst>
          </p:cNvPr>
          <p:cNvSpPr txBox="1"/>
          <p:nvPr/>
        </p:nvSpPr>
        <p:spPr>
          <a:xfrm>
            <a:off x="8026400" y="2108200"/>
            <a:ext cx="1849120" cy="369332"/>
          </a:xfrm>
          <a:prstGeom prst="rect">
            <a:avLst/>
          </a:prstGeom>
          <a:noFill/>
        </p:spPr>
        <p:txBody>
          <a:bodyPr vert="horz" wrap="square" lIns="0" tIns="0" rIns="0" bIns="0" rtlCol="0">
            <a:noAutofit/>
          </a:bodyPr>
          <a:lstStyle>
            <a:defPPr>
              <a:defRPr lang="fr-FR"/>
            </a:defPPr>
            <a:lvl1pPr>
              <a:lnSpc>
                <a:spcPct val="115000"/>
              </a:lnSpc>
              <a:defRPr sz="2000">
                <a:solidFill>
                  <a:srgbClr val="24577A"/>
                </a:solidFill>
                <a:latin typeface="Manrope Medium" pitchFamily="2" charset="0"/>
              </a:defRPr>
            </a:lvl1pPr>
          </a:lstStyle>
          <a:p>
            <a:r>
              <a:rPr lang="fr-FR" dirty="0"/>
              <a:t>Une entreprise moderne</a:t>
            </a:r>
          </a:p>
        </p:txBody>
      </p:sp>
      <p:sp>
        <p:nvSpPr>
          <p:cNvPr id="12" name="ZoneTexte 11">
            <a:extLst>
              <a:ext uri="{FF2B5EF4-FFF2-40B4-BE49-F238E27FC236}">
                <a16:creationId xmlns:a16="http://schemas.microsoft.com/office/drawing/2014/main" id="{76C28A6D-22D2-7A1D-510D-B9021999BBBC}"/>
              </a:ext>
            </a:extLst>
          </p:cNvPr>
          <p:cNvSpPr txBox="1"/>
          <p:nvPr/>
        </p:nvSpPr>
        <p:spPr>
          <a:xfrm>
            <a:off x="8026400" y="2921000"/>
            <a:ext cx="3175000" cy="369332"/>
          </a:xfrm>
          <a:prstGeom prst="rect">
            <a:avLst/>
          </a:prstGeom>
          <a:noFill/>
        </p:spPr>
        <p:txBody>
          <a:bodyPr vert="horz" wrap="square" lIns="0" tIns="0" rIns="0" bIns="0" rtlCol="0">
            <a:noAutofit/>
          </a:bodyPr>
          <a:lstStyle/>
          <a:p>
            <a:pPr>
              <a:lnSpc>
                <a:spcPct val="115000"/>
              </a:lnSpc>
            </a:pPr>
            <a:r>
              <a:rPr lang="fr-FR" sz="1200" dirty="0">
                <a:solidFill>
                  <a:srgbClr val="5F6B76"/>
                </a:solidFill>
                <a:latin typeface="Manrope" pitchFamily="2" charset="0"/>
              </a:rPr>
              <a:t>L’IA au service de notre équipe</a:t>
            </a:r>
          </a:p>
        </p:txBody>
      </p:sp>
      <p:sp>
        <p:nvSpPr>
          <p:cNvPr id="13" name="Rectangle : coins arrondis 12">
            <a:hlinkClick r:id="rId3"/>
            <a:extLst>
              <a:ext uri="{FF2B5EF4-FFF2-40B4-BE49-F238E27FC236}">
                <a16:creationId xmlns:a16="http://schemas.microsoft.com/office/drawing/2014/main" id="{2D56565A-BAEE-C09A-9403-7EAD2F8B2010}"/>
              </a:ext>
            </a:extLst>
          </p:cNvPr>
          <p:cNvSpPr/>
          <p:nvPr/>
        </p:nvSpPr>
        <p:spPr>
          <a:xfrm>
            <a:off x="914400" y="4241800"/>
            <a:ext cx="10363200" cy="1498600"/>
          </a:xfrm>
          <a:prstGeom prst="roundRect">
            <a:avLst>
              <a:gd name="adj" fmla="val 10169"/>
            </a:avLst>
          </a:prstGeom>
          <a:solidFill>
            <a:srgbClr val="F0F5F8"/>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hlinkClick r:id="rId3"/>
            <a:extLst>
              <a:ext uri="{FF2B5EF4-FFF2-40B4-BE49-F238E27FC236}">
                <a16:creationId xmlns:a16="http://schemas.microsoft.com/office/drawing/2014/main" id="{D2C842D4-D0D9-DC49-D715-71959A90AE4A}"/>
              </a:ext>
            </a:extLst>
          </p:cNvPr>
          <p:cNvSpPr/>
          <p:nvPr/>
        </p:nvSpPr>
        <p:spPr>
          <a:xfrm>
            <a:off x="914400" y="4241800"/>
            <a:ext cx="50800" cy="149860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ZoneTexte 14">
            <a:hlinkClick r:id="rId3"/>
            <a:extLst>
              <a:ext uri="{FF2B5EF4-FFF2-40B4-BE49-F238E27FC236}">
                <a16:creationId xmlns:a16="http://schemas.microsoft.com/office/drawing/2014/main" id="{5B9FA308-37A5-197E-D0C6-06152F590F01}"/>
              </a:ext>
            </a:extLst>
          </p:cNvPr>
          <p:cNvSpPr txBox="1"/>
          <p:nvPr/>
        </p:nvSpPr>
        <p:spPr>
          <a:xfrm>
            <a:off x="1270000" y="4470400"/>
            <a:ext cx="9652000" cy="369332"/>
          </a:xfrm>
          <a:prstGeom prst="rect">
            <a:avLst/>
          </a:prstGeom>
          <a:noFill/>
        </p:spPr>
        <p:txBody>
          <a:bodyPr vert="horz" wrap="square" lIns="0" tIns="0" rIns="0" bIns="0" rtlCol="0">
            <a:noAutofit/>
          </a:bodyPr>
          <a:lstStyle/>
          <a:p>
            <a:pPr>
              <a:lnSpc>
                <a:spcPct val="115000"/>
              </a:lnSpc>
            </a:pPr>
            <a:r>
              <a:rPr lang="fr-FR" sz="1900">
                <a:solidFill>
                  <a:srgbClr val="1D1D1F"/>
                </a:solidFill>
                <a:latin typeface="Manrope Medium" pitchFamily="2" charset="0"/>
              </a:rPr>
              <a:t>Lire la documentation technique</a:t>
            </a:r>
          </a:p>
        </p:txBody>
      </p:sp>
      <p:sp>
        <p:nvSpPr>
          <p:cNvPr id="16" name="ZoneTexte 15">
            <a:hlinkClick r:id="rId3"/>
            <a:extLst>
              <a:ext uri="{FF2B5EF4-FFF2-40B4-BE49-F238E27FC236}">
                <a16:creationId xmlns:a16="http://schemas.microsoft.com/office/drawing/2014/main" id="{E5F9EAB9-59EF-1F33-F8D7-CC236FB3A39C}"/>
              </a:ext>
            </a:extLst>
          </p:cNvPr>
          <p:cNvSpPr txBox="1"/>
          <p:nvPr/>
        </p:nvSpPr>
        <p:spPr>
          <a:xfrm>
            <a:off x="1270000" y="4876800"/>
            <a:ext cx="9652000" cy="369332"/>
          </a:xfrm>
          <a:prstGeom prst="rect">
            <a:avLst/>
          </a:prstGeom>
          <a:noFill/>
        </p:spPr>
        <p:txBody>
          <a:bodyPr vert="horz" wrap="square" lIns="0" tIns="0" rIns="0" bIns="0" rtlCol="0">
            <a:noAutofit/>
          </a:bodyPr>
          <a:lstStyle/>
          <a:p>
            <a:pPr>
              <a:lnSpc>
                <a:spcPct val="115000"/>
              </a:lnSpc>
            </a:pPr>
            <a:r>
              <a:rPr lang="fr-FR" sz="1350">
                <a:solidFill>
                  <a:srgbClr val="5F6B76"/>
                </a:solidFill>
                <a:latin typeface="Manrope" pitchFamily="2" charset="0"/>
              </a:rPr>
              <a:t>Choix techniques, contrat d'API, schéma des données : tout est écrit dans le dépôt.</a:t>
            </a:r>
          </a:p>
        </p:txBody>
      </p:sp>
      <p:sp>
        <p:nvSpPr>
          <p:cNvPr id="17" name="ZoneTexte 16">
            <a:hlinkClick r:id="rId3"/>
            <a:extLst>
              <a:ext uri="{FF2B5EF4-FFF2-40B4-BE49-F238E27FC236}">
                <a16:creationId xmlns:a16="http://schemas.microsoft.com/office/drawing/2014/main" id="{55C6E446-6170-1D22-66CE-5DC633060E71}"/>
              </a:ext>
            </a:extLst>
          </p:cNvPr>
          <p:cNvSpPr txBox="1"/>
          <p:nvPr/>
        </p:nvSpPr>
        <p:spPr>
          <a:xfrm>
            <a:off x="1270000" y="5283200"/>
            <a:ext cx="9652000" cy="369332"/>
          </a:xfrm>
          <a:prstGeom prst="rect">
            <a:avLst/>
          </a:prstGeom>
          <a:noFill/>
        </p:spPr>
        <p:txBody>
          <a:bodyPr vert="horz" wrap="square" lIns="0" tIns="0" rIns="0" bIns="0" rtlCol="0">
            <a:noAutofit/>
          </a:bodyPr>
          <a:lstStyle/>
          <a:p>
            <a:pPr>
              <a:lnSpc>
                <a:spcPct val="115000"/>
              </a:lnSpc>
            </a:pPr>
            <a:r>
              <a:rPr lang="fr-FR" sz="1050">
                <a:solidFill>
                  <a:srgbClr val="24577A"/>
                </a:solidFill>
                <a:latin typeface="Manrope" pitchFamily="2" charset="0"/>
              </a:rPr>
              <a:t>https://github.com/EpitechMscProPromo2029/T-WEB-501-PAR-5-1-job_board-5/blob/main/docs/choix_techniques_front.md</a:t>
            </a:r>
          </a:p>
        </p:txBody>
      </p:sp>
    </p:spTree>
    <p:extLst>
      <p:ext uri="{BB962C8B-B14F-4D97-AF65-F5344CB8AC3E}">
        <p14:creationId xmlns:p14="http://schemas.microsoft.com/office/powerpoint/2010/main" val="664265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nodePh="1">
                                  <p:stCondLst>
                                    <p:cond delay="450"/>
                                  </p:stCondLst>
                                  <p:endCondLst>
                                    <p:cond evt="begin" delay="0">
                                      <p:tn val="17"/>
                                    </p:cond>
                                  </p:end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nodePh="1">
                                  <p:stCondLst>
                                    <p:cond delay="750"/>
                                  </p:stCondLst>
                                  <p:endCondLst>
                                    <p:cond evt="begin" delay="0">
                                      <p:tn val="20"/>
                                    </p:cond>
                                  </p:end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nodePh="1">
                                  <p:stCondLst>
                                    <p:cond delay="1050"/>
                                  </p:stCondLst>
                                  <p:endCondLst>
                                    <p:cond evt="begin" delay="0">
                                      <p:tn val="29"/>
                                    </p:cond>
                                  </p:end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13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13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3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3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P spid="12" grpId="0"/>
      <p:bldP spid="13" grpId="0" animBg="1"/>
      <p:bldP spid="14" grpId="0" animBg="1"/>
      <p:bldP spid="15" grpId="0"/>
      <p:bldP spid="16" grpId="0"/>
      <p:bldP spid="17" grpId="0"/>
    </p:bldLst>
  </p:timing>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TotalTime>
  <Words>3624</Words>
  <Application>Microsoft Office PowerPoint</Application>
  <PresentationFormat>Grand écran</PresentationFormat>
  <Paragraphs>338</Paragraphs>
  <Slides>15</Slides>
  <Notes>15</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15</vt:i4>
      </vt:variant>
    </vt:vector>
  </HeadingPairs>
  <TitlesOfParts>
    <vt:vector size="22" baseType="lpstr">
      <vt:lpstr>Aptos</vt:lpstr>
      <vt:lpstr>Aptos Display</vt:lpstr>
      <vt:lpstr>Arial</vt:lpstr>
      <vt:lpstr>Manrope</vt:lpstr>
      <vt:lpstr>Manrope Medium</vt:lpstr>
      <vt:lpstr>Manrope SemiBold</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Axel Follet</dc:creator>
  <cp:lastModifiedBy>Axel Follet</cp:lastModifiedBy>
  <cp:revision>14</cp:revision>
  <dcterms:created xsi:type="dcterms:W3CDTF">2026-10-13T12:08:52Z</dcterms:created>
  <dcterms:modified xsi:type="dcterms:W3CDTF">2026-10-16T14:20:14Z</dcterms:modified>
</cp:coreProperties>
</file>